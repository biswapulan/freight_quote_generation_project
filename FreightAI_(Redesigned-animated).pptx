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Naresh Ramavath from IIT Kharagpur. My team and I are presenting FreightAI — our project for the Infosys Springboard Virtual Internship, titled Agentic AI for Maritime Freight Pricing and Route Optimization. Our mentor for this project was Bala, and we are grateful for his guidance through every milestone. Here is the one-line context: when a company wants to ship goods by sea, someone has to tell them what it will cost. Today that someone is a human broker with spreadsheets and email. We turned that into a live web platform where AI agents draft the quote, check the weather on the actual sea route, validate customs rules, and score the risk before any human approves it. Everything I show you today is deployed and running live at the link on this slide, so you can try it yourself after the talk. Over the next few minutes I will show you why we built this, how it works inside, and what we learned. Let's start with why freight quoting needed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did we build? In one sentence: a single web platform that takes a shipment from an idea to a confirmed booking, with AI doing the heavy lifting in between. The customer enters their shipment once — origin port, destination, cargo type, weight. The system instantly drafts priced quote options. But unlike a normal calculator, four AI services wake up at the same time. A machine learning model predicts what the market would actually charge. A weather agent checks storms along the real sea route. A customs engine validates the paperwork rules for that cargo and country pair. And a risk engine decides whether the quote can go out automatically or needs a human to approve it first. Everything runs live on Vercel right now, and it is backed by a full automated test suite — sixty-three tests, all passing, including fifty international customs scenarios and twenty-two booking flow tests. The rest of the slides unpack each of these pieces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some background on how freight quoting actually works today, because that is what shaped our design. Sea freight carries the bulk of world trade, and almost every container starts with the same slow ritual. A shipper emails their cargo details to a freight forwarder. The broker digs through rate sheets, maybe checks two or three carrier price lists, and emails back a number. That takes a day or two. Then comes revision after revision — more emails, more PDFs — before the shipper even sees a real price. Two to four days for a quote that is mostly arithmetic. And the painful part is what happens after booking: a storm delays the vessel, or a customs officer finds a missing certificate, and everyone is surprised. The information was always there; nobody checked it before the price was given. The industry runs on email threads and PDFs, in silos — the shipper, the agent and the customs officer never look at the same screen. That is the gap we wanted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dug into that process, we found four concrete problems. First, pricing is manual — brokers copy numbers out of spreadsheets and old emails, so the same shipment gets different prices from different people, and nobody can explain why. Second, weather blindness — the quote is issued with zero knowledge of a storm sitting right on the shipping lane; the delay shows up only after the customer has already booked and paid. Third, customs errors — a single wrong HS code digit or one missing certificate, and cargo sits at the border costing storage fees every day. And fourth, there is no risk check at all — a suspiciously cheap quote, a high-risk route, dangerous cargo: nothing stops it from being issued automatically. Each problem alone is annoying; together they mean the customer gets a fast-looking number that is actually slow, blind and unverified. We set our goals around fixing exactly these four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those four problems, we set ourselves four goals — and they map one to one. Goal one: prices should be instant and fair. Not a broker's guess — a machine learning model trained on five thousand real freight records, answering in seconds. Goal two: check the real route. When we quote Chennai to Rotterdam, we sample the actual ocean waypoints in between and ask a live marine weather API what the waves and wind are doing there right now. Goal three: get customs right. Instead of hoping the agent remembers the rules, we retrieve them — a retrieval system reads the actual regulations and generates the document checklist automatically. And goal four: gate the risk. Every shipment gets a five-factor risk score, and low scores flow out instantly while high scores are held for a human decision. Simple goals, but together they change what a quote means — from a static number to a verified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solution on one slide. In the center is the FreightAI core — the quote and booking engine. Around it sit the four services you will meet in detail later. On the left, ML pricing and the weather check: they make sure the number is right and the route is safe. On the right, the customs RAG assistant and the risk gate: they make sure the paperwork exists and a human sees anything suspicious. The arrows matter: every quote request passes through all four before a price ever reaches the customer. And underneath everything is the human workflow — shipper, company agent, customs officer — all working from the same data on the same platform, instead of three disconnected email threads. Nothing is black-box either: each service explains itself, showing the rule price next to the ML price, the wave heights behind the weather risk, and the exact factor contributions behind the risk score. That transparency was deliberate — people only trust AI they can inspect.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how the system is designed. At the top is the React 19 client — a single web app that renders a different dashboard depending on who logs in: shipper, company agent, customs officer or admin. It talks to a Django REST backend over standard REST calls. That backend is the brain of the workflow: it owns authentication, quotes, and the whole booking state machine from milestone four. Below the core sit the four intelligence services, drawn here as siblings because they run in parallel: the ML pricing model, the weather agent, the customs RAG engine and the five-factor risk engine. They are separate Django apps, so each one can be tested and evolved on its own — our test suite covers each phase independently. At the bottom is the data layer, where every quote, decision and status change is stored as an audit trail. One design rule to notice: every quote must pass through all four services before it gets priced. The architecture enforces the process — nothing skips the weather check or the customs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walk the system end to end, exactly as a shipment experiences it. Step one, input: origin and destination ports, cargo type, HS code, weight, volume and the Incoterm — one form, one submission. Step two is where the AI wakes up: the orchestrator fans all four services out in parallel, so the ML price, the weather scan, the customs check and the risk score are computed together rather than one after another. Step three, quote: the customer sees competing carrier options, each with a line-item cost build-up, not a single opaque number. Step four is the human part — the carrier agent verifies capacity and documents, and customs reviews the dossier. Step five, booking, with an immutable reference. Now look at the rail underneath, because this is the part that makes it a system rather than a calculator. Every stage is a named state with exactly one endpoint that can produce it — DRAFT from quotes/estimate, OPTIONS_AVAILABLE from quotes/generate, then select, verify, customs sign-off, and finally booking confirm. The backend refuses any transition that is not on this path. And notice what a counter-offer does: it creates a tracked revision that the customer must explicitly accept. The original quote is never overwritten, so the question of what was offered and when always has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one: pricing. I want to be precise here, because the ML model is only half of it. Underneath sits a deterministic rule engine, from milestone one — it computes great-circle distance between the ports, resolves chargeable weight as the greater of actual and volumetric weight, applies the Incoterms 2020 split so we know which costs are ours to quote, and then builds the price up in ten steps: base freight, bunker and currency surcharges, terminal handling at both ends, ISPS and documentation, haulage legs, hazardous handling where it applies, cargo insurance on the CIF formula, and finally margin. That build-up is what the customer sees line by line. On top of that sits milestone two: a Gradient Boosted Regressor trained on five thousand lanes, four thousand for training and a thousand held out. We benchmarked four families — linear and ridge land at 0.85, random forest 0.96, extra trees 0.97, and gradient boosting wins at 0.9792 R-squared, with a mean absolute percentage error of five and a half percent, about sixty-four dollars a quote. The strongest drivers are chargeable weight, lane distance and the bunker fuel index — exactly what an experienced broker would weigh, which is a good sign the model learned the domain rather than noise. And critically, the model never overrules the rule engine silently: both prices sit side by side on every quote. Every number on this slide comes from our benchmark report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one: pricing. I want to be precise here, because the ML model is only half of it. Underneath sits a deterministic rule engine, from milestone one — it computes great-circle distance between the ports, resolves chargeable weight as the greater of actual and volumetric weight, applies the Incoterms 2020 split so we know which costs are ours to quote, and then builds the price up in ten steps: base freight, bunker and currency surcharges, terminal handling at both ends, ISPS and documentation, haulage legs, hazardous handling where it applies, cargo insurance on the CIF formula, and finally margin. That build-up is what the customer sees line by line. On top of that sits milestone two: a Gradient Boosted Regressor trained on five thousand lanes, four thousand for training and a thousand held out. We benchmarked four families — linear and ridge land at 0.85, random forest 0.96, extra trees 0.97, and gradient boosting wins at 0.9792 R-squared, with a mean absolute percentage error of five and a half percent, about sixty-four dollars a quote. The strongest drivers are chargeable weight, lane distance and the bunker fuel index — exactly what an experienced broker would weigh, which is a good sign the model learned the domain rather than noise. And critically, the model never overrules the rule engine silently: both prices sit side by side on every quote. Every number on this slide comes from our benchmark report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the rule engine sits milestone two: a Gradient Boosted Regressor. Think of it as a series of small decision trees. The first tree makes an initial prediction; every following tree learns to reduce the errors left by the trees before it. After two hundred boosting stages, the combined prediction is the final price. The formula at the bottom is the conceptual form of that additive model — an initial prediction plus the learning-rate-weighted sum of every tree's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on five thousand lanes with twelve input features — four thousand for training and a thousand held out for testing. We benchmarked the model families on the same held-out set: linear and ridge land at 0.85 R-squared, random forest 0.96, extra trees 0.97, and gradient boosting wins at 0.9792 with the lowest mean absolute error. Every number on this slide comes from our benchmark report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champion model explains about ninety-eight percent of price variance, with a mean absolute percentage error of five and a half percent, and more than eighty percent of predictions land within ten percent of the actual price. The strongest drivers are transport mode, distance and fuel price — exactly what an experienced broker would weigh, which is a good sign the model learned the domain rather than noise. And critically, the model never overrules the rule engine silently: the orchestrator combines the rule price and the ML price, applies the risk premium, and both prices sit side by side on every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two: the live weather check. This one came from a simple question — why does a quote know the price but not the ocean? Here is how it works. When a route is quoted, we sample it into between two and ten sea waypoints using great-circle interpolation. For each waypoint we call the Open-Meteo marine and forecast APIs and pull real telemetry: significant wave height, wind speed, storm warnings, precipitation. Each observation is converted into a zero-to-one-hundred risk score — waves above three meters, for example, push the score toward the dangerous end — and the route rolls up into a delay probability and estimated delay hours, which appear right on the quote. So the customer sees, before booking, that waypoint three has a forty-seven percent delay risk this week. Two engineering details I am proud of. First, resilience: if Open-Meteo is unreachable, a deterministic seasonal fallback keeps the pipeline running — we have an automated test proving that. Second, caching: waypoint data is cached for six hours, so live data stays fast without hammering the API. The quote now knows the ocean before the ship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three: the customs rules assistant — my favourite piece, because it is a proper RAG system. The problem is that customs law is enormous and country-specific, and no human remembers it all. Our pipeline has four stages. The shipment query carries the six-digit HS code, the commodity and the country pair. Then hybrid retrieval: BM25 lexical matching catches exact legal terms and code references, TF-IDF vector search catches conceptual matches, and reciprocal rank fusion merges the two rankings. Then re-ranking boosts results where the country matches and the HS prefix aligns, so Indian electronics rules beat generic global text. Finally, generation turns the top evidence chunks into a document checklist — bill of lading, commercial invoice, packing list, certificate of origin, plus whatever that cargo specifically requires. The corpus spans ten jurisdictions: the EU under the Union Customs Code, the US with CBP and export administration rules, China, India's CBIC and ICEGATE, Singapore's TradeNet, the UK's HMRC and CDS, Japan, Australia's Border Force, the UAE and Brazil's Siscomex — chunked to two to four hundred characters so retrieval stays precise. And here is the rule that matters most: every checklist item must carry a citation to the regulation it came from. No citation, no rule. That is our anti-hallucination contract, and it is enforced, not aspirational. Fifty statutory scenarios, five per jurisdiction, all fifty pass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four is the gatekeeper: the risk score and approval gate. Every shipment gets a composite score from five weighted factors — and this formula is in the code, not just on the slide. Weather carries thirty percent, straight from the marine telemetry we just saw. Customs and compliance carry twenty-five: document completeness, embargo hits, tariff flags. Route and chokepoint risk carry twenty — think the Suez, the Malacca Strait, Bab-el-Mandeb. Port congestion carries fifteen, and cargo sensitivity — hazardous goods, perishables, restricted commodities — carries ten. The score then lands on a four-band policy. Zero to thirty issues the quote instantly. Thirty-one to sixty issues it with a cautionary advisory attached. Sixty-one to eighty is held for senior broker review. Above eighty is blocked outright — and separately, a customs rejection is a hard block whatever the numeric score says, because a compliance failure is not something you average away. The flow on the right shows that in practice, and the important detail is the last line: when a quote is held, it goes to a named human with the full factor breakdown attached, so they can see immediately that it was, say, the weather factor and the missing certificate that stopped it. AI proposes; the gate disposes; and a person is always accountable for the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actually uses FreightAI? Three roles, in sequence — and the screenshots you see are the actual dashboards, captured live from the running app. First the shipper, on the left: their home screen shows shipments, quotes and tracking at a glance. They enter the shipment once, compare priced options side by side, select one company's quote, and later confirm the booking. Second, the company agent, in the middle: their incoming-requests queue is the M4 verification desk. The selected company reviews capacity, route, documents and commercial terms — and can approve, revise, reject, or ask the customer for information. A revision never overwrites the original quote; it creates a tracked revision. Third, the customs officer, on the right: the booking-clearances desk only ever shows requests a company has already approved. The officer checks the paperwork and customs risk, then clears or rejects with a written reason. Only after customs clears does the customer get the final confirm button. Around this flow sit strict isolation rules — competing carriers never see each other's queues, customs never sees a company's verification desk — and our twenty-two booking-flow tests verify those permissions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actually uses FreightAI? Three roles, in sequence — and the screenshots you see are the actual dashboards, captured live from the running app. First the shipper, on the left: their home screen shows shipments, quotes and tracking at a glance. They enter the shipment once, compare priced options side by side, select one company's quote, and later confirm the booking. Second, the company agent, in the middle: their incoming-requests queue is the M4 verification desk. The selected company reviews capacity, route, documents and commercial terms — and can approve, revise, reject, or ask the customer for information. A revision never overwrites the original quote; it creates a tracked revision. Third, the customs officer, on the right: the booking-clearances desk only ever shows requests a company has already approved. The officer checks the paperwork and customs risk, then clears or rejects with a written reason. Only after customs clears does the customer get the final confirm button. Around this flow sit strict isolation rules — competing carriers never see each other's queues, customs never sees a company's verification desk — and our twenty-two booking-flow tests verify those permissions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toolbox, grouped the way we divided the work. Frontend: React 19 with Vite 6 — fast builds, one app shell that renders a different dashboard per role, Axios interceptors that keep the JWT session alive, and Context API for shared state like locations and quotes. Backend: Django 5 with Django REST Framework. The interesting part is not CRUD — it is the state machine that governs the whole booking workflow and the JWT role guards that enforce isolation between competing companies. AI and ML: scikit-learn for the Gradient Boosting pipeline, persisted with joblib; the hybrid BM25 plus TF-IDF retrieval for customs; and Open-Meteo's marine and forecast APIs for live telemetry. Data and deployment: Django ORM stores with a MongoDB audit trail, the full Pytest suite — sixty-three tests — and Vercel for hosting. We even added a keep-alive ping so the free-tier backend does not sleep during demos; that came from a real deployment lesson. Nothing exotic — every choice was boring on purpose, so we could spend our time on the AI logic, not on debugging shiny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Enough diagrams — let me show you the real thing. All four screenshots here are live captures from the running application, one per role. Top left is the shipper's request-quote screen: enter origin, destination, cargo and weight, and the AI analysis appears right in the quote — the ML-predicted price next to the rule-based price, weather alerts for the route, the customs checklist, and the risk score with its explanation. Next is the agent dashboard, where a company agent works their verification queue — shipment details, AI price guidance, risk context, and the approve, revise or request-information actions. Third is the customs portal, where an officer sees consignments, uploaded documents, and the customs risk assessment before clearing them for booking. And on the right, the admin's platform-control view — users, companies, quotes and the audit trail across the whole system. The band below shows the demo logins, which the server seeds automatically at start-up, so you can log in as each role and walk the full journey yourself. And this same app is deployed on Vercel at the address at the top — live right now. I would genuinely encourage you to run a quote while we take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all this actually change? Start with the headline: a quote that took the industry twenty-four to forty-eight hours now takes seconds — and it is a better quote, not just a faster one, because it arrives with the weather and customs work already done. Everything else on this row comes straight from our test and benchmark reports. The model explains ninety-eight percent of price variance at five and a half percent average error, which is a number you can defend to a customer. Fifty out of fifty customs scenarios pass across ten jurisdictions. Sixty-three of sixty-three automated tests pass. Underneath the metrics, the qualitative change splits by audience. For shippers: competing carrier options instead of one broker's pick, delay probability visible before they commit, and a line-item cost build-up instead of an opaque total — surcharges and margin, shown. For carriers, customs and the business: the AI drafts and a named human approves, the margin floor cannot be breached silently, paperwork is checked at quote time rather than at the port, and every price, revision and clearance leaves an immutable audit trail. That is the real shift — freight quoting moves from an opinion to a verified, auditable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its war stories — here are four of ours, each from real commits. First: external APIs fail. Open-Meteo goes down, and of course it picks demo day. We built a deterministic seasonal fallback plus a six-hour geohash-grid cache, and wrote a test that runs the entire pipeline with the API offline, so an outage degrades gracefully instead of killing a quote. Second: multi-tenant isolation. Competing carriers share one database, and trust-me-it-is-isolated is not an answer. We pushed tenant scoping down to the ORM querysets rather than filtering in views, and our booking tests assert the negative cases explicitly — that one carrier's agent gets nothing when reaching for another's queue. Third: customs retrieval quality. Plain keyword search kept missing legal meaning, and the opposite failure is worse — a model that confidently invents a regulation. Hybrid BM25 plus vector retrieval with RRF fixed the recall, citation-required generation fixed the invention, and the fifty-scenario benchmark catches regressions. Fourth, the one that taught us most about commercial software: negotiation without data loss. Our first counter-offer implementation simply updated the quote's price — and destroyed the record of what was originally offered. We made revisions append-only, so the original is never mutated. Every one of these fixes landed with a test, which is why the suite still passes sixty-three of sixty-three.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we take FreightAI next? Four directions, in rough order of impact. First, live vessel tracking: we already compute the route waypoints, so ingesting AIS transponder feeds turns them into actual vessel positions and continuously updated ETAs — the delay warnings get sharper and they keep working after departure, not just at quote time. Second, document OCR: today the shipper types the HS code and the officer reads the PDF. Computer vision on bills of lading and commercial invoices would extract the code, weight and declared value before a human touches the form, which removes the single most common source of customs error. Third, carbon and ESG scoring: CO2 per lane from distance, vessel class and load factor, with the greener option surfaced at the moment of booking — the industry is under real regulatory pressure here and the data we already hold is most of what it needs. Fourth, and the one I would build first as an engineer: a retraining loop. Right now the model is trained once on five thousand historical lanes. Feeding booked-versus-predicted rates back in would let it track the spot market as it moves, instead of slowly drifting away from it. All four are additive — each is another service beside the four we have, not a rewrite. That was the payoff of building modular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three lessons this project taught us — the things I would tell a team starting something like this tomorrow. First, AI earns trust only when it shows its working. Our first ML price was just a number, and people were rightly suspicious of it. The moment we put the rule-based price beside the prediction, broke the risk score into factor-level bars, and put a citation under every customs rule, the suspicion disappeared. Users do not need the mathematics; they need to see the reasoning. Second, design for the integration that is down. The weather API will be unavailable during your most important demo — the interesting question is what your system does then. Fallbacks, caches and an offline test are not defensive extras you add at the end; on the day it matters they are the product. Third, ship the whole loop, not the demo slice. It would have been easy to stop at a pretty quote calculator and call it done. The quote turned out to be the easy half; the valuable half was everything after it — approvals, revisions that do not destroy history, customs clearance, booking, the audit trail — with tests proving each one. That full loop is what turned this from coursework into something a freight company could genuinely pilot. And building it as a six-person team, milestone by milestone, taught us code review, testing discipline, and how to split work that actually integrates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FreightAI — thank you so much for your attention. To recap in one breath: my team and I built a live platform where a shipment gets an AI-predicted price, a marine weather check on its real route, a customs rules review with cited evidence, and a five-factor risk gate before any human approves and books it — backed by sixty-three passing tests and a fifty-scenario customs benchmark. The QR code on the right and the link on the left take you straight to the deployed application — sign up as a retail shipper, generate a quote, and you will see the ML price, the weather alerts and the risk explanation on one screen. I am happy to take questions now — on the machine learning model, the RAG pipeline, the risk gating policy, the booking workflow, or the deployment. If I do not know an answer on the spot, I will find out and follow up. Thank you to our mentor Bala and to Infosys Springboard for the opportunity and the guidance throughout this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freight-quote-generation-system-grp.vercel.app" TargetMode="Externa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3" name="img_1_0" descr="/private/tmp/claude-501/-Users-nareshramavath-Downloads/8e612fae-240f-42aa-9685-f77b61758c75/scratchpad/orig/ppt/media/image1.png">    </p:cNvPr>
          <p:cNvPicPr>
            <a:picLocks noChangeAspect="1"/>
          </p:cNvPicPr>
          <p:nvPr/>
        </p:nvPicPr>
        <p:blipFill>
          <a:blip r:embed="rId1"/>
          <a:stretch>
            <a:fillRect/>
          </a:stretch>
        </p:blipFill>
        <p:spPr>
          <a:xfrm>
            <a:off x="0" y="0"/>
            <a:ext cx="12191695" cy="6858000"/>
          </a:xfrm>
          <a:prstGeom prst="rect">
            <a:avLst/>
          </a:prstGeom>
        </p:spPr>
      </p:pic>
      <p:sp>
        <p:nvSpPr>
          <p:cNvPr id="4" name="shp_1_1"/>
          <p:cNvSpPr/>
          <p:nvPr/>
        </p:nvSpPr>
        <p:spPr>
          <a:xfrm>
            <a:off x="0" y="0"/>
            <a:ext cx="12191695" cy="6858000"/>
          </a:xfrm>
          <a:prstGeom prst="rect">
            <a:avLst/>
          </a:prstGeom>
          <a:solidFill>
            <a:srgbClr val="0A1628">
              <a:alpha val="65000"/>
            </a:srgbClr>
          </a:solidFill>
          <a:ln w="12700">
            <a:solidFill>
              <a:srgbClr val="0A1628"/>
            </a:solidFill>
            <a:prstDash val="solid"/>
          </a:ln>
        </p:spPr>
      </p:sp>
      <p:sp>
        <p:nvSpPr>
          <p:cNvPr id="5" name="shp_1_2"/>
          <p:cNvSpPr/>
          <p:nvPr/>
        </p:nvSpPr>
        <p:spPr>
          <a:xfrm>
            <a:off x="548640" y="502920"/>
            <a:ext cx="2103120" cy="603504"/>
          </a:xfrm>
          <a:prstGeom prst="roundRect">
            <a:avLst>
              <a:gd name="adj" fmla="val 15152"/>
            </a:avLst>
          </a:prstGeom>
          <a:solidFill>
            <a:srgbClr val="FFFFFF"/>
          </a:solidFill>
          <a:ln w="9525">
            <a:solidFill>
              <a:srgbClr val="FFFFFF"/>
            </a:solidFill>
            <a:prstDash val="solid"/>
          </a:ln>
        </p:spPr>
      </p:sp>
      <p:pic>
        <p:nvPicPr>
          <p:cNvPr id="6" name="img_1_3" descr="/private/tmp/claude-501/-Users-nareshramavath-Downloads/8e612fae-240f-42aa-9685-f77b61758c75/scratchpad/orig/ppt/media/image2.png">    </p:cNvPr>
          <p:cNvPicPr>
            <a:picLocks noChangeAspect="1"/>
          </p:cNvPicPr>
          <p:nvPr/>
        </p:nvPicPr>
        <p:blipFill>
          <a:blip r:embed="rId2"/>
          <a:stretch>
            <a:fillRect/>
          </a:stretch>
        </p:blipFill>
        <p:spPr>
          <a:xfrm>
            <a:off x="685800" y="557784"/>
            <a:ext cx="1828800" cy="498348"/>
          </a:xfrm>
          <a:prstGeom prst="rect">
            <a:avLst/>
          </a:prstGeom>
        </p:spPr>
      </p:pic>
      <p:sp>
        <p:nvSpPr>
          <p:cNvPr id="7" name="txt_1_4"/>
          <p:cNvSpPr txBox="1"/>
          <p:nvPr/>
        </p:nvSpPr>
        <p:spPr>
          <a:xfrm>
            <a:off x="548640" y="1508760"/>
            <a:ext cx="7315200" cy="274320"/>
          </a:xfrm>
          <a:prstGeom prst="rect">
            <a:avLst/>
          </a:prstGeom>
          <a:noFill/>
          <a:ln/>
        </p:spPr>
        <p:txBody>
          <a:bodyPr wrap="square" lIns="0" tIns="0" rIns="0" bIns="0" rtlCol="0" anchor="t"/>
          <a:lstStyle/>
          <a:p>
            <a:pPr indent="0" marL="0">
              <a:buNone/>
            </a:pPr>
            <a:r>
              <a:rPr lang="en-US" sz="1200" b="1" spc="300" kern="0" dirty="0">
                <a:solidFill>
                  <a:srgbClr val="F5A524"/>
                </a:solidFill>
                <a:latin typeface="Calibri" pitchFamily="34" charset="0"/>
                <a:ea typeface="Calibri" pitchFamily="34" charset="-122"/>
                <a:cs typeface="Calibri" pitchFamily="34" charset="-120"/>
              </a:rPr>
              <a:t>INFOSYS SPRINGBOARD · VIRTUAL INTERNSHIP 7.0</a:t>
            </a:r>
            <a:endParaRPr lang="en-US" sz="1200" dirty="0"/>
          </a:p>
        </p:txBody>
      </p:sp>
      <p:sp>
        <p:nvSpPr>
          <p:cNvPr id="8" name="txt_1_5"/>
          <p:cNvSpPr txBox="1"/>
          <p:nvPr/>
        </p:nvSpPr>
        <p:spPr>
          <a:xfrm>
            <a:off x="548640" y="1783080"/>
            <a:ext cx="7315200" cy="96012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FreightAI</a:t>
            </a:r>
            <a:endParaRPr lang="en-US" sz="6000" dirty="0"/>
          </a:p>
        </p:txBody>
      </p:sp>
      <p:sp>
        <p:nvSpPr>
          <p:cNvPr id="9" name="txt_1_6"/>
          <p:cNvSpPr txBox="1"/>
          <p:nvPr/>
        </p:nvSpPr>
        <p:spPr>
          <a:xfrm>
            <a:off x="548640" y="2761488"/>
            <a:ext cx="7863840" cy="457200"/>
          </a:xfrm>
          <a:prstGeom prst="rect">
            <a:avLst/>
          </a:prstGeom>
          <a:noFill/>
          <a:ln/>
        </p:spPr>
        <p:txBody>
          <a:bodyPr wrap="square" lIns="0" tIns="0" rIns="0" bIns="0" rtlCol="0" anchor="t"/>
          <a:lstStyle/>
          <a:p>
            <a:pPr indent="0" marL="0">
              <a:buNone/>
            </a:pPr>
            <a:r>
              <a:rPr lang="en-US" sz="2300" dirty="0">
                <a:solidFill>
                  <a:srgbClr val="FFFFFF"/>
                </a:solidFill>
                <a:latin typeface="Calibri" pitchFamily="34" charset="0"/>
                <a:ea typeface="Calibri" pitchFamily="34" charset="-122"/>
                <a:cs typeface="Calibri" pitchFamily="34" charset="-120"/>
              </a:rPr>
              <a:t>Agentic AI for Maritime Freight Pricing and Route Optimization</a:t>
            </a:r>
            <a:endParaRPr lang="en-US" sz="2300" dirty="0"/>
          </a:p>
        </p:txBody>
      </p:sp>
      <p:sp>
        <p:nvSpPr>
          <p:cNvPr id="10" name="txt_1_7"/>
          <p:cNvSpPr txBox="1"/>
          <p:nvPr/>
        </p:nvSpPr>
        <p:spPr>
          <a:xfrm>
            <a:off x="548640" y="3246120"/>
            <a:ext cx="7863840" cy="365760"/>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AI pricing, live marine weather, customs intelligence and a risk approval gate — in one platform.</a:t>
            </a:r>
            <a:endParaRPr lang="en-US" sz="1500" dirty="0"/>
          </a:p>
        </p:txBody>
      </p:sp>
      <p:sp>
        <p:nvSpPr>
          <p:cNvPr id="11" name="txt_1_8"/>
          <p:cNvSpPr txBox="1"/>
          <p:nvPr/>
        </p:nvSpPr>
        <p:spPr>
          <a:xfrm>
            <a:off x="548640" y="3931920"/>
            <a:ext cx="1828800" cy="457200"/>
          </a:xfrm>
          <a:prstGeom prst="rect">
            <a:avLst/>
          </a:prstGeom>
          <a:noFill/>
          <a:ln/>
        </p:spPr>
        <p:txBody>
          <a:bodyPr wrap="square" lIns="0" tIns="0" rIns="0" bIns="0" rtlCol="0" anchor="t"/>
          <a:lstStyle/>
          <a:p>
            <a:pPr indent="0" marL="0">
              <a:buNone/>
            </a:pPr>
            <a:r>
              <a:rPr lang="en-US" sz="2800" b="1" dirty="0">
                <a:solidFill>
                  <a:srgbClr val="F5A524"/>
                </a:solidFill>
                <a:latin typeface="Calibri" pitchFamily="34" charset="0"/>
                <a:ea typeface="Calibri" pitchFamily="34" charset="-122"/>
                <a:cs typeface="Calibri" pitchFamily="34" charset="-120"/>
              </a:rPr>
              <a:t>63 / 63</a:t>
            </a:r>
            <a:endParaRPr lang="en-US" sz="2800" dirty="0"/>
          </a:p>
        </p:txBody>
      </p:sp>
      <p:sp>
        <p:nvSpPr>
          <p:cNvPr id="12" name="txt_1_9"/>
          <p:cNvSpPr txBox="1"/>
          <p:nvPr/>
        </p:nvSpPr>
        <p:spPr>
          <a:xfrm>
            <a:off x="548640" y="4407408"/>
            <a:ext cx="1828800" cy="256032"/>
          </a:xfrm>
          <a:prstGeom prst="rect">
            <a:avLst/>
          </a:prstGeom>
          <a:noFill/>
          <a:ln/>
        </p:spPr>
        <p:txBody>
          <a:bodyPr wrap="square" lIns="0" tIns="0" rIns="0" bIns="0" rtlCol="0" anchor="t"/>
          <a:lstStyle/>
          <a:p>
            <a:pPr indent="0" marL="0">
              <a:buNone/>
            </a:pPr>
            <a:r>
              <a:rPr lang="en-US" sz="1000" b="1" spc="150" kern="0" dirty="0">
                <a:solidFill>
                  <a:srgbClr val="AEBBCF"/>
                </a:solidFill>
                <a:latin typeface="Calibri" pitchFamily="34" charset="0"/>
                <a:ea typeface="Calibri" pitchFamily="34" charset="-122"/>
                <a:cs typeface="Calibri" pitchFamily="34" charset="-120"/>
              </a:rPr>
              <a:t>TESTS PASSING</a:t>
            </a:r>
            <a:endParaRPr lang="en-US" sz="1000" dirty="0"/>
          </a:p>
        </p:txBody>
      </p:sp>
      <p:sp>
        <p:nvSpPr>
          <p:cNvPr id="13" name="txt_1_10"/>
          <p:cNvSpPr txBox="1"/>
          <p:nvPr/>
        </p:nvSpPr>
        <p:spPr>
          <a:xfrm>
            <a:off x="2514600" y="3931920"/>
            <a:ext cx="1828800" cy="457200"/>
          </a:xfrm>
          <a:prstGeom prst="rect">
            <a:avLst/>
          </a:prstGeom>
          <a:noFill/>
          <a:ln/>
        </p:spPr>
        <p:txBody>
          <a:bodyPr wrap="square" lIns="0" tIns="0" rIns="0" bIns="0" rtlCol="0" anchor="t"/>
          <a:lstStyle/>
          <a:p>
            <a:pPr indent="0" marL="0">
              <a:buNone/>
            </a:pPr>
            <a:r>
              <a:rPr lang="en-US" sz="2800" b="1" dirty="0">
                <a:solidFill>
                  <a:srgbClr val="F5A524"/>
                </a:solidFill>
                <a:latin typeface="Calibri" pitchFamily="34" charset="0"/>
                <a:ea typeface="Calibri" pitchFamily="34" charset="-122"/>
                <a:cs typeface="Calibri" pitchFamily="34" charset="-120"/>
              </a:rPr>
              <a:t>R² 0.9792</a:t>
            </a:r>
            <a:endParaRPr lang="en-US" sz="2800" dirty="0"/>
          </a:p>
        </p:txBody>
      </p:sp>
      <p:sp>
        <p:nvSpPr>
          <p:cNvPr id="14" name="txt_1_11"/>
          <p:cNvSpPr txBox="1"/>
          <p:nvPr/>
        </p:nvSpPr>
        <p:spPr>
          <a:xfrm>
            <a:off x="2514600" y="4407408"/>
            <a:ext cx="1828800" cy="256032"/>
          </a:xfrm>
          <a:prstGeom prst="rect">
            <a:avLst/>
          </a:prstGeom>
          <a:noFill/>
          <a:ln/>
        </p:spPr>
        <p:txBody>
          <a:bodyPr wrap="square" lIns="0" tIns="0" rIns="0" bIns="0" rtlCol="0" anchor="t"/>
          <a:lstStyle/>
          <a:p>
            <a:pPr indent="0" marL="0">
              <a:buNone/>
            </a:pPr>
            <a:r>
              <a:rPr lang="en-US" sz="1000" b="1" spc="150" kern="0" dirty="0">
                <a:solidFill>
                  <a:srgbClr val="AEBBCF"/>
                </a:solidFill>
                <a:latin typeface="Calibri" pitchFamily="34" charset="0"/>
                <a:ea typeface="Calibri" pitchFamily="34" charset="-122"/>
                <a:cs typeface="Calibri" pitchFamily="34" charset="-120"/>
              </a:rPr>
              <a:t>ML PRICE ACCURACY</a:t>
            </a:r>
            <a:endParaRPr lang="en-US" sz="1000" dirty="0"/>
          </a:p>
        </p:txBody>
      </p:sp>
      <p:sp>
        <p:nvSpPr>
          <p:cNvPr id="15" name="txt_1_12"/>
          <p:cNvSpPr txBox="1"/>
          <p:nvPr/>
        </p:nvSpPr>
        <p:spPr>
          <a:xfrm>
            <a:off x="4480560" y="3931920"/>
            <a:ext cx="1828800" cy="457200"/>
          </a:xfrm>
          <a:prstGeom prst="rect">
            <a:avLst/>
          </a:prstGeom>
          <a:noFill/>
          <a:ln/>
        </p:spPr>
        <p:txBody>
          <a:bodyPr wrap="square" lIns="0" tIns="0" rIns="0" bIns="0" rtlCol="0" anchor="t"/>
          <a:lstStyle/>
          <a:p>
            <a:pPr indent="0" marL="0">
              <a:buNone/>
            </a:pPr>
            <a:r>
              <a:rPr lang="en-US" sz="2800" b="1" dirty="0">
                <a:solidFill>
                  <a:srgbClr val="F5A524"/>
                </a:solidFill>
                <a:latin typeface="Calibri" pitchFamily="34" charset="0"/>
                <a:ea typeface="Calibri" pitchFamily="34" charset="-122"/>
                <a:cs typeface="Calibri" pitchFamily="34" charset="-120"/>
              </a:rPr>
              <a:t>10</a:t>
            </a:r>
            <a:endParaRPr lang="en-US" sz="2800" dirty="0"/>
          </a:p>
        </p:txBody>
      </p:sp>
      <p:sp>
        <p:nvSpPr>
          <p:cNvPr id="16" name="txt_1_13"/>
          <p:cNvSpPr txBox="1"/>
          <p:nvPr/>
        </p:nvSpPr>
        <p:spPr>
          <a:xfrm>
            <a:off x="4480560" y="4407408"/>
            <a:ext cx="1828800" cy="256032"/>
          </a:xfrm>
          <a:prstGeom prst="rect">
            <a:avLst/>
          </a:prstGeom>
          <a:noFill/>
          <a:ln/>
        </p:spPr>
        <p:txBody>
          <a:bodyPr wrap="square" lIns="0" tIns="0" rIns="0" bIns="0" rtlCol="0" anchor="t"/>
          <a:lstStyle/>
          <a:p>
            <a:pPr indent="0" marL="0">
              <a:buNone/>
            </a:pPr>
            <a:r>
              <a:rPr lang="en-US" sz="1000" b="1" spc="150" kern="0" dirty="0">
                <a:solidFill>
                  <a:srgbClr val="AEBBCF"/>
                </a:solidFill>
                <a:latin typeface="Calibri" pitchFamily="34" charset="0"/>
                <a:ea typeface="Calibri" pitchFamily="34" charset="-122"/>
                <a:cs typeface="Calibri" pitchFamily="34" charset="-120"/>
              </a:rPr>
              <a:t>CUSTOMS JURISDICTIONS</a:t>
            </a:r>
            <a:endParaRPr lang="en-US" sz="1000" dirty="0"/>
          </a:p>
        </p:txBody>
      </p:sp>
      <p:sp>
        <p:nvSpPr>
          <p:cNvPr id="17" name="txt_1_14"/>
          <p:cNvSpPr txBox="1"/>
          <p:nvPr/>
        </p:nvSpPr>
        <p:spPr>
          <a:xfrm>
            <a:off x="6446520" y="3931920"/>
            <a:ext cx="1828800" cy="457200"/>
          </a:xfrm>
          <a:prstGeom prst="rect">
            <a:avLst/>
          </a:prstGeom>
          <a:noFill/>
          <a:ln/>
        </p:spPr>
        <p:txBody>
          <a:bodyPr wrap="square" lIns="0" tIns="0" rIns="0" bIns="0" rtlCol="0" anchor="t"/>
          <a:lstStyle/>
          <a:p>
            <a:pPr indent="0" marL="0">
              <a:buNone/>
            </a:pPr>
            <a:r>
              <a:rPr lang="en-US" sz="2800" b="1" dirty="0">
                <a:solidFill>
                  <a:srgbClr val="F5A524"/>
                </a:solidFill>
                <a:latin typeface="Calibri" pitchFamily="34" charset="0"/>
                <a:ea typeface="Calibri" pitchFamily="34" charset="-122"/>
                <a:cs typeface="Calibri" pitchFamily="34" charset="-120"/>
              </a:rPr>
              <a:t>4</a:t>
            </a:r>
            <a:endParaRPr lang="en-US" sz="2800" dirty="0"/>
          </a:p>
        </p:txBody>
      </p:sp>
      <p:sp>
        <p:nvSpPr>
          <p:cNvPr id="18" name="txt_1_15"/>
          <p:cNvSpPr txBox="1"/>
          <p:nvPr/>
        </p:nvSpPr>
        <p:spPr>
          <a:xfrm>
            <a:off x="6446520" y="4407408"/>
            <a:ext cx="1828800" cy="256032"/>
          </a:xfrm>
          <a:prstGeom prst="rect">
            <a:avLst/>
          </a:prstGeom>
          <a:noFill/>
          <a:ln/>
        </p:spPr>
        <p:txBody>
          <a:bodyPr wrap="square" lIns="0" tIns="0" rIns="0" bIns="0" rtlCol="0" anchor="t"/>
          <a:lstStyle/>
          <a:p>
            <a:pPr indent="0" marL="0">
              <a:buNone/>
            </a:pPr>
            <a:r>
              <a:rPr lang="en-US" sz="1000" b="1" spc="150" kern="0" dirty="0">
                <a:solidFill>
                  <a:srgbClr val="AEBBCF"/>
                </a:solidFill>
                <a:latin typeface="Calibri" pitchFamily="34" charset="0"/>
                <a:ea typeface="Calibri" pitchFamily="34" charset="-122"/>
                <a:cs typeface="Calibri" pitchFamily="34" charset="-120"/>
              </a:rPr>
              <a:t>AI SERVICES IN-LINE</a:t>
            </a:r>
            <a:endParaRPr lang="en-US" sz="1000" dirty="0"/>
          </a:p>
        </p:txBody>
      </p:sp>
      <p:sp>
        <p:nvSpPr>
          <p:cNvPr id="19" name="txt_1_16"/>
          <p:cNvSpPr txBox="1"/>
          <p:nvPr/>
        </p:nvSpPr>
        <p:spPr>
          <a:xfrm>
            <a:off x="548640" y="4983480"/>
            <a:ext cx="45720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GROUP 1 · SIX ENGINEERS</a:t>
            </a:r>
            <a:endParaRPr lang="en-US" sz="1050" dirty="0"/>
          </a:p>
        </p:txBody>
      </p:sp>
      <p:sp>
        <p:nvSpPr>
          <p:cNvPr id="20" name="txt_1_17"/>
          <p:cNvSpPr txBox="1"/>
          <p:nvPr/>
        </p:nvSpPr>
        <p:spPr>
          <a:xfrm>
            <a:off x="548640" y="5303520"/>
            <a:ext cx="2286000" cy="23774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Naresh Ramavath</a:t>
            </a:r>
            <a:endParaRPr lang="en-US" sz="1350" dirty="0"/>
          </a:p>
        </p:txBody>
      </p:sp>
      <p:sp>
        <p:nvSpPr>
          <p:cNvPr id="21" name="txt_1_18"/>
          <p:cNvSpPr txBox="1"/>
          <p:nvPr/>
        </p:nvSpPr>
        <p:spPr>
          <a:xfrm>
            <a:off x="548640" y="5541264"/>
            <a:ext cx="2286000" cy="219456"/>
          </a:xfrm>
          <a:prstGeom prst="rect">
            <a:avLst/>
          </a:prstGeom>
          <a:noFill/>
          <a:ln/>
        </p:spPr>
        <p:txBody>
          <a:bodyPr wrap="square" lIns="0" tIns="0" rIns="0" bIns="0" rtlCol="0" anchor="t"/>
          <a:lstStyle/>
          <a:p>
            <a:pPr indent="0" marL="0">
              <a:buNone/>
            </a:pPr>
            <a:r>
              <a:rPr lang="en-US" sz="1050" dirty="0">
                <a:solidFill>
                  <a:srgbClr val="AEBBCF"/>
                </a:solidFill>
                <a:latin typeface="Calibri" pitchFamily="34" charset="0"/>
                <a:ea typeface="Calibri" pitchFamily="34" charset="-122"/>
                <a:cs typeface="Calibri" pitchFamily="34" charset="-120"/>
              </a:rPr>
              <a:t>Lead · Architecture · RAG</a:t>
            </a:r>
            <a:endParaRPr lang="en-US" sz="1050" dirty="0"/>
          </a:p>
        </p:txBody>
      </p:sp>
      <p:sp>
        <p:nvSpPr>
          <p:cNvPr id="22" name="txt_1_19"/>
          <p:cNvSpPr txBox="1"/>
          <p:nvPr/>
        </p:nvSpPr>
        <p:spPr>
          <a:xfrm>
            <a:off x="2926080" y="5303520"/>
            <a:ext cx="2286000" cy="23774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Nutan Jadhav</a:t>
            </a:r>
            <a:endParaRPr lang="en-US" sz="1350" dirty="0"/>
          </a:p>
        </p:txBody>
      </p:sp>
      <p:sp>
        <p:nvSpPr>
          <p:cNvPr id="23" name="txt_1_20"/>
          <p:cNvSpPr txBox="1"/>
          <p:nvPr/>
        </p:nvSpPr>
        <p:spPr>
          <a:xfrm>
            <a:off x="2926080" y="5541264"/>
            <a:ext cx="2286000" cy="219456"/>
          </a:xfrm>
          <a:prstGeom prst="rect">
            <a:avLst/>
          </a:prstGeom>
          <a:noFill/>
          <a:ln/>
        </p:spPr>
        <p:txBody>
          <a:bodyPr wrap="square" lIns="0" tIns="0" rIns="0" bIns="0" rtlCol="0" anchor="t"/>
          <a:lstStyle/>
          <a:p>
            <a:pPr indent="0" marL="0">
              <a:buNone/>
            </a:pPr>
            <a:r>
              <a:rPr lang="en-US" sz="1050" dirty="0">
                <a:solidFill>
                  <a:srgbClr val="AEBBCF"/>
                </a:solidFill>
                <a:latin typeface="Calibri" pitchFamily="34" charset="0"/>
                <a:ea typeface="Calibri" pitchFamily="34" charset="-122"/>
                <a:cs typeface="Calibri" pitchFamily="34" charset="-120"/>
              </a:rPr>
              <a:t>Frontend</a:t>
            </a:r>
            <a:endParaRPr lang="en-US" sz="1050" dirty="0"/>
          </a:p>
        </p:txBody>
      </p:sp>
      <p:sp>
        <p:nvSpPr>
          <p:cNvPr id="24" name="txt_1_21"/>
          <p:cNvSpPr txBox="1"/>
          <p:nvPr/>
        </p:nvSpPr>
        <p:spPr>
          <a:xfrm>
            <a:off x="5303520" y="5303520"/>
            <a:ext cx="2286000" cy="23774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Biswajit Pradhan</a:t>
            </a:r>
            <a:endParaRPr lang="en-US" sz="1350" dirty="0"/>
          </a:p>
        </p:txBody>
      </p:sp>
      <p:sp>
        <p:nvSpPr>
          <p:cNvPr id="25" name="txt_1_22"/>
          <p:cNvSpPr txBox="1"/>
          <p:nvPr/>
        </p:nvSpPr>
        <p:spPr>
          <a:xfrm>
            <a:off x="5303520" y="5541264"/>
            <a:ext cx="2286000" cy="219456"/>
          </a:xfrm>
          <a:prstGeom prst="rect">
            <a:avLst/>
          </a:prstGeom>
          <a:noFill/>
          <a:ln/>
        </p:spPr>
        <p:txBody>
          <a:bodyPr wrap="square" lIns="0" tIns="0" rIns="0" bIns="0" rtlCol="0" anchor="t"/>
          <a:lstStyle/>
          <a:p>
            <a:pPr indent="0" marL="0">
              <a:buNone/>
            </a:pPr>
            <a:r>
              <a:rPr lang="en-US" sz="1050" dirty="0">
                <a:solidFill>
                  <a:srgbClr val="AEBBCF"/>
                </a:solidFill>
                <a:latin typeface="Calibri" pitchFamily="34" charset="0"/>
                <a:ea typeface="Calibri" pitchFamily="34" charset="-122"/>
                <a:cs typeface="Calibri" pitchFamily="34" charset="-120"/>
              </a:rPr>
              <a:t>Machine Learning</a:t>
            </a:r>
            <a:endParaRPr lang="en-US" sz="1050" dirty="0"/>
          </a:p>
        </p:txBody>
      </p:sp>
      <p:sp>
        <p:nvSpPr>
          <p:cNvPr id="26" name="txt_1_23"/>
          <p:cNvSpPr txBox="1"/>
          <p:nvPr/>
        </p:nvSpPr>
        <p:spPr>
          <a:xfrm>
            <a:off x="548640" y="5833872"/>
            <a:ext cx="2286000" cy="23774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Syona Jain</a:t>
            </a:r>
            <a:endParaRPr lang="en-US" sz="1350" dirty="0"/>
          </a:p>
        </p:txBody>
      </p:sp>
      <p:sp>
        <p:nvSpPr>
          <p:cNvPr id="27" name="txt_1_24"/>
          <p:cNvSpPr txBox="1"/>
          <p:nvPr/>
        </p:nvSpPr>
        <p:spPr>
          <a:xfrm>
            <a:off x="548640" y="6071616"/>
            <a:ext cx="2286000" cy="219456"/>
          </a:xfrm>
          <a:prstGeom prst="rect">
            <a:avLst/>
          </a:prstGeom>
          <a:noFill/>
          <a:ln/>
        </p:spPr>
        <p:txBody>
          <a:bodyPr wrap="square" lIns="0" tIns="0" rIns="0" bIns="0" rtlCol="0" anchor="t"/>
          <a:lstStyle/>
          <a:p>
            <a:pPr indent="0" marL="0">
              <a:buNone/>
            </a:pPr>
            <a:r>
              <a:rPr lang="en-US" sz="1050" dirty="0">
                <a:solidFill>
                  <a:srgbClr val="AEBBCF"/>
                </a:solidFill>
                <a:latin typeface="Calibri" pitchFamily="34" charset="0"/>
                <a:ea typeface="Calibri" pitchFamily="34" charset="-122"/>
                <a:cs typeface="Calibri" pitchFamily="34" charset="-120"/>
              </a:rPr>
              <a:t>Frontend · UI/UX</a:t>
            </a:r>
            <a:endParaRPr lang="en-US" sz="1050" dirty="0"/>
          </a:p>
        </p:txBody>
      </p:sp>
      <p:sp>
        <p:nvSpPr>
          <p:cNvPr id="28" name="txt_1_25"/>
          <p:cNvSpPr txBox="1"/>
          <p:nvPr/>
        </p:nvSpPr>
        <p:spPr>
          <a:xfrm>
            <a:off x="2926080" y="5833872"/>
            <a:ext cx="2286000" cy="23774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Arpita Dash</a:t>
            </a:r>
            <a:endParaRPr lang="en-US" sz="1350" dirty="0"/>
          </a:p>
        </p:txBody>
      </p:sp>
      <p:sp>
        <p:nvSpPr>
          <p:cNvPr id="29" name="txt_1_26"/>
          <p:cNvSpPr txBox="1"/>
          <p:nvPr/>
        </p:nvSpPr>
        <p:spPr>
          <a:xfrm>
            <a:off x="2926080" y="6071616"/>
            <a:ext cx="2286000" cy="219456"/>
          </a:xfrm>
          <a:prstGeom prst="rect">
            <a:avLst/>
          </a:prstGeom>
          <a:noFill/>
          <a:ln/>
        </p:spPr>
        <p:txBody>
          <a:bodyPr wrap="square" lIns="0" tIns="0" rIns="0" bIns="0" rtlCol="0" anchor="t"/>
          <a:lstStyle/>
          <a:p>
            <a:pPr indent="0" marL="0">
              <a:buNone/>
            </a:pPr>
            <a:r>
              <a:rPr lang="en-US" sz="1050" dirty="0">
                <a:solidFill>
                  <a:srgbClr val="AEBBCF"/>
                </a:solidFill>
                <a:latin typeface="Calibri" pitchFamily="34" charset="0"/>
                <a:ea typeface="Calibri" pitchFamily="34" charset="-122"/>
                <a:cs typeface="Calibri" pitchFamily="34" charset="-120"/>
              </a:rPr>
              <a:t>Telemetry · Risk</a:t>
            </a:r>
            <a:endParaRPr lang="en-US" sz="1050" dirty="0"/>
          </a:p>
        </p:txBody>
      </p:sp>
      <p:sp>
        <p:nvSpPr>
          <p:cNvPr id="30" name="txt_1_27"/>
          <p:cNvSpPr txBox="1"/>
          <p:nvPr/>
        </p:nvSpPr>
        <p:spPr>
          <a:xfrm>
            <a:off x="5303520" y="5833872"/>
            <a:ext cx="2286000" cy="23774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Ishanvi Chavan</a:t>
            </a:r>
            <a:endParaRPr lang="en-US" sz="1350" dirty="0"/>
          </a:p>
        </p:txBody>
      </p:sp>
      <p:sp>
        <p:nvSpPr>
          <p:cNvPr id="31" name="txt_1_28"/>
          <p:cNvSpPr txBox="1"/>
          <p:nvPr/>
        </p:nvSpPr>
        <p:spPr>
          <a:xfrm>
            <a:off x="5303520" y="6071616"/>
            <a:ext cx="2286000" cy="219456"/>
          </a:xfrm>
          <a:prstGeom prst="rect">
            <a:avLst/>
          </a:prstGeom>
          <a:noFill/>
          <a:ln/>
        </p:spPr>
        <p:txBody>
          <a:bodyPr wrap="square" lIns="0" tIns="0" rIns="0" bIns="0" rtlCol="0" anchor="t"/>
          <a:lstStyle/>
          <a:p>
            <a:pPr indent="0" marL="0">
              <a:buNone/>
            </a:pPr>
            <a:r>
              <a:rPr lang="en-US" sz="1050" dirty="0">
                <a:solidFill>
                  <a:srgbClr val="AEBBCF"/>
                </a:solidFill>
                <a:latin typeface="Calibri" pitchFamily="34" charset="0"/>
                <a:ea typeface="Calibri" pitchFamily="34" charset="-122"/>
                <a:cs typeface="Calibri" pitchFamily="34" charset="-120"/>
              </a:rPr>
              <a:t>QA · DevOps</a:t>
            </a:r>
            <a:endParaRPr lang="en-US" sz="1050" dirty="0"/>
          </a:p>
        </p:txBody>
      </p:sp>
      <p:sp>
        <p:nvSpPr>
          <p:cNvPr id="32" name="txt_1_29"/>
          <p:cNvSpPr txBox="1"/>
          <p:nvPr/>
        </p:nvSpPr>
        <p:spPr>
          <a:xfrm>
            <a:off x="548640" y="6382512"/>
            <a:ext cx="8229600" cy="256032"/>
          </a:xfrm>
          <a:prstGeom prst="rect">
            <a:avLst/>
          </a:prstGeom>
          <a:noFill/>
          <a:ln/>
        </p:spPr>
        <p:txBody>
          <a:bodyPr wrap="square" lIns="0" tIns="0" rIns="0" bIns="0" rtlCol="0" anchor="t"/>
          <a:lstStyle/>
          <a:p>
            <a:pPr indent="0" marL="0">
              <a:buNone/>
            </a:pPr>
            <a:r>
              <a:rPr lang="en-US" sz="1100" dirty="0">
                <a:solidFill>
                  <a:srgbClr val="71819A"/>
                </a:solidFill>
                <a:latin typeface="Calibri" pitchFamily="34" charset="0"/>
                <a:ea typeface="Calibri" pitchFamily="34" charset="-122"/>
                <a:cs typeface="Calibri" pitchFamily="34" charset="-120"/>
              </a:rPr>
              <a:t>Mentor: Bala   ·   Live: freight-quote-generation-system-grp.vercel.app</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97" fill="hold">
                      <p:stCondLst>
                        <p:cond delay="indefinite"/>
                        <p:cond evt="onBegin" delay="0">
                          <p:tn val="2"/>
                        </p:cond>
                      </p:stCondLst>
                      <p:childTnLst>
                        <p:par>
                          <p:cTn id="98"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childTnLst>
                                </p:cTn>
                              </p:par>
                              <p:par>
                                <p:cTn id="8" presetID="10" presetClass="entr" presetSubtype="0" fill="hold" grpId="0" nodeType="withEffect" decel="100000">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11" presetID="10" presetClass="entr" presetSubtype="0" fill="hold" grpId="0" nodeType="withEffect" decel="100000">
                                  <p:stCondLst>
                                    <p:cond delay="2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6" presetID="42" presetClass="entr" presetSubtype="0" fill="hold" grpId="0" nodeType="withEffect" decel="100000">
                                  <p:stCondLst>
                                    <p:cond delay="4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700"/>
                                        <p:tgtEl>
                                          <p:spTgt spid="8"/>
                                        </p:tgtEl>
                                      </p:cBhvr>
                                    </p:animEffect>
                                    <p:anim calcmode="lin" valueType="num">
                                      <p:cBhvr>
                                        <p:cTn id="14" dur="700" fill="hold"/>
                                        <p:tgtEl>
                                          <p:spTgt spid="8"/>
                                        </p:tgtEl>
                                        <p:attrNameLst>
                                          <p:attrName>ppt_x</p:attrName>
                                        </p:attrNameLst>
                                      </p:cBhvr>
                                      <p:tavLst>
                                        <p:tav tm="0">
                                          <p:val>
                                            <p:strVal val="#ppt_x"/>
                                          </p:val>
                                        </p:tav>
                                        <p:tav tm="100000">
                                          <p:val>
                                            <p:strVal val="#ppt_x"/>
                                          </p:val>
                                        </p:tav>
                                      </p:tavLst>
                                    </p:anim>
                                    <p:anim calcmode="lin" valueType="num">
                                      <p:cBhvr>
                                        <p:cTn id="15" dur="700" fill="hold"/>
                                        <p:tgtEl>
                                          <p:spTgt spid="8"/>
                                        </p:tgtEl>
                                        <p:attrNameLst>
                                          <p:attrName>ppt_y</p:attrName>
                                        </p:attrNameLst>
                                      </p:cBhvr>
                                      <p:tavLst>
                                        <p:tav tm="0">
                                          <p:val>
                                            <p:strVal val="#ppt_y+0.05"/>
                                          </p:val>
                                        </p:tav>
                                        <p:tav tm="100000">
                                          <p:val>
                                            <p:strVal val="#ppt_y"/>
                                          </p:val>
                                        </p:tav>
                                      </p:tavLst>
                                    </p:anim>
                                  </p:childTnLst>
                                </p:cTn>
                              </p:par>
                              <p:par>
                                <p:cTn id="19" presetID="10" presetClass="entr" presetSubtype="0" fill="hold" grpId="0" nodeType="withEffect" decel="100000">
                                  <p:stCondLst>
                                    <p:cond delay="7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22" presetID="10" presetClass="entr" presetSubtype="0" fill="hold" grpId="0" nodeType="withEffect" decel="100000">
                                  <p:stCondLst>
                                    <p:cond delay="9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7" presetID="42" presetClass="entr" presetSubtype="0" fill="hold" grpId="0" nodeType="withEffect" decel="100000">
                                  <p:stCondLst>
                                    <p:cond delay="115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anim calcmode="lin" valueType="num">
                                      <p:cBhvr>
                                        <p:cTn id="25" dur="500" fill="hold"/>
                                        <p:tgtEl>
                                          <p:spTgt spid="11"/>
                                        </p:tgtEl>
                                        <p:attrNameLst>
                                          <p:attrName>ppt_x</p:attrName>
                                        </p:attrNameLst>
                                      </p:cBhvr>
                                      <p:tavLst>
                                        <p:tav tm="0">
                                          <p:val>
                                            <p:strVal val="#ppt_x"/>
                                          </p:val>
                                        </p:tav>
                                        <p:tav tm="100000">
                                          <p:val>
                                            <p:strVal val="#ppt_x"/>
                                          </p:val>
                                        </p:tav>
                                      </p:tavLst>
                                    </p:anim>
                                    <p:anim calcmode="lin" valueType="num">
                                      <p:cBhvr>
                                        <p:cTn id="26" dur="500" fill="hold"/>
                                        <p:tgtEl>
                                          <p:spTgt spid="11"/>
                                        </p:tgtEl>
                                        <p:attrNameLst>
                                          <p:attrName>ppt_y</p:attrName>
                                        </p:attrNameLst>
                                      </p:cBhvr>
                                      <p:tavLst>
                                        <p:tav tm="0">
                                          <p:val>
                                            <p:strVal val="#ppt_y+0.05"/>
                                          </p:val>
                                        </p:tav>
                                        <p:tav tm="100000">
                                          <p:val>
                                            <p:strVal val="#ppt_y"/>
                                          </p:val>
                                        </p:tav>
                                      </p:tavLst>
                                    </p:anim>
                                  </p:childTnLst>
                                </p:cTn>
                              </p:par>
                              <p:par>
                                <p:cTn id="30" presetID="10" presetClass="entr" presetSubtype="0" fill="hold" grpId="0" nodeType="withEffect" decel="100000">
                                  <p:stCondLst>
                                    <p:cond delay="115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5" presetID="42" presetClass="entr" presetSubtype="0" fill="hold" grpId="0" nodeType="withEffect" decel="100000">
                                  <p:stCondLst>
                                    <p:cond delay="12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0.05"/>
                                          </p:val>
                                        </p:tav>
                                        <p:tav tm="100000">
                                          <p:val>
                                            <p:strVal val="#ppt_y"/>
                                          </p:val>
                                        </p:tav>
                                      </p:tavLst>
                                    </p:anim>
                                  </p:childTnLst>
                                </p:cTn>
                              </p:par>
                              <p:par>
                                <p:cTn id="38" presetID="10" presetClass="entr" presetSubtype="0" fill="hold" grpId="0" nodeType="withEffect" decel="100000">
                                  <p:stCondLst>
                                    <p:cond delay="127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43" presetID="42" presetClass="entr" presetSubtype="0" fill="hold" grpId="0" nodeType="withEffect" decel="100000">
                                  <p:stCondLst>
                                    <p:cond delay="139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p:cTn id="41" dur="500" fill="hold"/>
                                        <p:tgtEl>
                                          <p:spTgt spid="15"/>
                                        </p:tgtEl>
                                        <p:attrNameLst>
                                          <p:attrName>ppt_x</p:attrName>
                                        </p:attrNameLst>
                                      </p:cBhvr>
                                      <p:tavLst>
                                        <p:tav tm="0">
                                          <p:val>
                                            <p:strVal val="#ppt_x"/>
                                          </p:val>
                                        </p:tav>
                                        <p:tav tm="100000">
                                          <p:val>
                                            <p:strVal val="#ppt_x"/>
                                          </p:val>
                                        </p:tav>
                                      </p:tavLst>
                                    </p:anim>
                                    <p:anim calcmode="lin" valueType="num">
                                      <p:cBhvr>
                                        <p:cTn id="42" dur="500" fill="hold"/>
                                        <p:tgtEl>
                                          <p:spTgt spid="15"/>
                                        </p:tgtEl>
                                        <p:attrNameLst>
                                          <p:attrName>ppt_y</p:attrName>
                                        </p:attrNameLst>
                                      </p:cBhvr>
                                      <p:tavLst>
                                        <p:tav tm="0">
                                          <p:val>
                                            <p:strVal val="#ppt_y+0.05"/>
                                          </p:val>
                                        </p:tav>
                                        <p:tav tm="100000">
                                          <p:val>
                                            <p:strVal val="#ppt_y"/>
                                          </p:val>
                                        </p:tav>
                                      </p:tavLst>
                                    </p:anim>
                                  </p:childTnLst>
                                </p:cTn>
                              </p:par>
                              <p:par>
                                <p:cTn id="46" presetID="10" presetClass="entr" presetSubtype="0" fill="hold" grpId="0" nodeType="withEffect" decel="100000">
                                  <p:stCondLst>
                                    <p:cond delay="139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51" presetID="42" presetClass="entr" presetSubtype="0" fill="hold" grpId="0" nodeType="withEffect" decel="100000">
                                  <p:stCondLst>
                                    <p:cond delay="151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anim calcmode="lin" valueType="num">
                                      <p:cBhvr>
                                        <p:cTn id="49" dur="500" fill="hold"/>
                                        <p:tgtEl>
                                          <p:spTgt spid="17"/>
                                        </p:tgtEl>
                                        <p:attrNameLst>
                                          <p:attrName>ppt_x</p:attrName>
                                        </p:attrNameLst>
                                      </p:cBhvr>
                                      <p:tavLst>
                                        <p:tav tm="0">
                                          <p:val>
                                            <p:strVal val="#ppt_x"/>
                                          </p:val>
                                        </p:tav>
                                        <p:tav tm="100000">
                                          <p:val>
                                            <p:strVal val="#ppt_x"/>
                                          </p:val>
                                        </p:tav>
                                      </p:tavLst>
                                    </p:anim>
                                    <p:anim calcmode="lin" valueType="num">
                                      <p:cBhvr>
                                        <p:cTn id="50" dur="500" fill="hold"/>
                                        <p:tgtEl>
                                          <p:spTgt spid="17"/>
                                        </p:tgtEl>
                                        <p:attrNameLst>
                                          <p:attrName>ppt_y</p:attrName>
                                        </p:attrNameLst>
                                      </p:cBhvr>
                                      <p:tavLst>
                                        <p:tav tm="0">
                                          <p:val>
                                            <p:strVal val="#ppt_y+0.05"/>
                                          </p:val>
                                        </p:tav>
                                        <p:tav tm="100000">
                                          <p:val>
                                            <p:strVal val="#ppt_y"/>
                                          </p:val>
                                        </p:tav>
                                      </p:tavLst>
                                    </p:anim>
                                  </p:childTnLst>
                                </p:cTn>
                              </p:par>
                              <p:par>
                                <p:cTn id="54" presetID="10" presetClass="entr" presetSubtype="0" fill="hold" grpId="0" nodeType="withEffect" decel="100000">
                                  <p:stCondLst>
                                    <p:cond delay="151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7" presetID="10" presetClass="entr" presetSubtype="0" fill="hold" grpId="0" nodeType="withEffect" decel="100000">
                                  <p:stCondLst>
                                    <p:cond delay="1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60" presetID="10" presetClass="entr" presetSubtype="0" fill="hold" grpId="0" nodeType="withEffect" decel="100000">
                                  <p:stCondLst>
                                    <p:cond delay="185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3" presetID="10" presetClass="entr" presetSubtype="0" fill="hold" grpId="0" nodeType="withEffect" decel="100000">
                                  <p:stCondLst>
                                    <p:cond delay="185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6" presetID="10" presetClass="entr" presetSubtype="0" fill="hold" grpId="0" nodeType="withEffect" decel="100000">
                                  <p:stCondLst>
                                    <p:cond delay="193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9" presetID="10" presetClass="entr" presetSubtype="0" fill="hold" grpId="0" nodeType="withEffect" decel="100000">
                                  <p:stCondLst>
                                    <p:cond delay="193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72" presetID="10" presetClass="entr" presetSubtype="0" fill="hold" grpId="0" nodeType="withEffect" decel="100000">
                                  <p:stCondLst>
                                    <p:cond delay="201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5" presetID="10" presetClass="entr" presetSubtype="0" fill="hold" grpId="0" nodeType="withEffect" decel="100000">
                                  <p:stCondLst>
                                    <p:cond delay="201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8" presetID="10" presetClass="entr" presetSubtype="0" fill="hold" grpId="0" nodeType="withEffect" decel="100000">
                                  <p:stCondLst>
                                    <p:cond delay="209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81" presetID="10" presetClass="entr" presetSubtype="0" fill="hold" grpId="0" nodeType="withEffect" decel="100000">
                                  <p:stCondLst>
                                    <p:cond delay="209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4" presetID="10" presetClass="entr" presetSubtype="0" fill="hold" grpId="0" nodeType="withEffect" decel="100000">
                                  <p:stCondLst>
                                    <p:cond delay="217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7" presetID="10" presetClass="entr" presetSubtype="0" fill="hold" grpId="0" nodeType="withEffect" decel="100000">
                                  <p:stCondLst>
                                    <p:cond delay="217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90" presetID="10" presetClass="entr" presetSubtype="0" fill="hold" grpId="0" nodeType="withEffect" decel="100000">
                                  <p:stCondLst>
                                    <p:cond delay="225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3" presetID="10" presetClass="entr" presetSubtype="0" fill="hold" grpId="0" nodeType="withEffect" decel="100000">
                                  <p:stCondLst>
                                    <p:cond delay="225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par>
                                <p:cTn id="96" presetID="10" presetClass="entr" presetSubtype="0" fill="hold" grpId="0" nodeType="withEffect" decel="100000">
                                  <p:stCondLst>
                                    <p:cond delay="240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3" name="txt_2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INTRODUCTION</a:t>
            </a:r>
            <a:endParaRPr lang="en-US" sz="1100" dirty="0"/>
          </a:p>
        </p:txBody>
      </p:sp>
      <p:sp>
        <p:nvSpPr>
          <p:cNvPr id="4" name="txt_2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What We Built</a:t>
            </a:r>
            <a:endParaRPr lang="en-US" sz="3200" dirty="0"/>
          </a:p>
        </p:txBody>
      </p:sp>
      <p:sp>
        <p:nvSpPr>
          <p:cNvPr id="5" name="txt_2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One web platform where a shipment is priced by AI, weather-checked, customs-checked and risk-approved — before booking.</a:t>
            </a:r>
            <a:endParaRPr lang="en-US" sz="1500" dirty="0"/>
          </a:p>
        </p:txBody>
      </p:sp>
      <p:sp>
        <p:nvSpPr>
          <p:cNvPr id="6" name="shp_2_3"/>
          <p:cNvSpPr/>
          <p:nvPr/>
        </p:nvSpPr>
        <p:spPr>
          <a:xfrm>
            <a:off x="548640" y="2011680"/>
            <a:ext cx="3515258" cy="4023360"/>
          </a:xfrm>
          <a:prstGeom prst="roundRect">
            <a:avLst>
              <a:gd name="adj" fmla="val 2601"/>
            </a:avLst>
          </a:prstGeom>
          <a:solidFill>
            <a:srgbClr val="112038"/>
          </a:solidFill>
          <a:ln w="9525">
            <a:solidFill>
              <a:srgbClr val="243A5E"/>
            </a:solidFill>
            <a:prstDash val="solid"/>
          </a:ln>
        </p:spPr>
      </p:sp>
      <p:sp>
        <p:nvSpPr>
          <p:cNvPr id="7" name="shp_2_4"/>
          <p:cNvSpPr/>
          <p:nvPr/>
        </p:nvSpPr>
        <p:spPr>
          <a:xfrm>
            <a:off x="868680" y="2331720"/>
            <a:ext cx="640080" cy="640080"/>
          </a:xfrm>
          <a:prstGeom prst="ellipse">
            <a:avLst/>
          </a:prstGeom>
          <a:solidFill>
            <a:srgbClr val="3B2A0C"/>
          </a:solidFill>
          <a:ln w="9525">
            <a:solidFill>
              <a:srgbClr val="F5A524"/>
            </a:solidFill>
            <a:prstDash val="solid"/>
          </a:ln>
        </p:spPr>
      </p:sp>
      <p:pic>
        <p:nvPicPr>
          <p:cNvPr id="8" name="img_2_5" descr="preencoded.png">    </p:cNvPr>
          <p:cNvPicPr>
            <a:picLocks noChangeAspect="1"/>
          </p:cNvPicPr>
          <p:nvPr/>
        </p:nvPicPr>
        <p:blipFill>
          <a:blip r:embed="rId1"/>
          <a:stretch>
            <a:fillRect/>
          </a:stretch>
        </p:blipFill>
        <p:spPr>
          <a:xfrm>
            <a:off x="1022299" y="2485339"/>
            <a:ext cx="332842" cy="332842"/>
          </a:xfrm>
          <a:prstGeom prst="rect">
            <a:avLst/>
          </a:prstGeom>
        </p:spPr>
      </p:pic>
      <p:sp>
        <p:nvSpPr>
          <p:cNvPr id="9" name="txt_2_6"/>
          <p:cNvSpPr txBox="1"/>
          <p:nvPr/>
        </p:nvSpPr>
        <p:spPr>
          <a:xfrm>
            <a:off x="868680" y="3182112"/>
            <a:ext cx="287517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JOURNEY</a:t>
            </a:r>
            <a:endParaRPr lang="en-US" sz="1050" dirty="0"/>
          </a:p>
        </p:txBody>
      </p:sp>
      <p:sp>
        <p:nvSpPr>
          <p:cNvPr id="10" name="txt_2_7"/>
          <p:cNvSpPr txBox="1"/>
          <p:nvPr/>
        </p:nvSpPr>
        <p:spPr>
          <a:xfrm>
            <a:off x="868680" y="3566160"/>
            <a:ext cx="2875178" cy="22860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One shipment form — ports, cargo, HS code, weight.</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Four AI services run in parallel, in-line.</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Carrier agent and customs officer approve in turn.</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Booking confirmed with an immutable reference.</a:t>
            </a:r>
            <a:endParaRPr lang="en-US" sz="1400" dirty="0"/>
          </a:p>
        </p:txBody>
      </p:sp>
      <p:sp>
        <p:nvSpPr>
          <p:cNvPr id="11" name="shp_2_8"/>
          <p:cNvSpPr/>
          <p:nvPr/>
        </p:nvSpPr>
        <p:spPr>
          <a:xfrm>
            <a:off x="4338218" y="2011680"/>
            <a:ext cx="3515258" cy="4023360"/>
          </a:xfrm>
          <a:prstGeom prst="roundRect">
            <a:avLst>
              <a:gd name="adj" fmla="val 2601"/>
            </a:avLst>
          </a:prstGeom>
          <a:solidFill>
            <a:srgbClr val="112038"/>
          </a:solidFill>
          <a:ln w="9525">
            <a:solidFill>
              <a:srgbClr val="243A5E"/>
            </a:solidFill>
            <a:prstDash val="solid"/>
          </a:ln>
        </p:spPr>
      </p:sp>
      <p:sp>
        <p:nvSpPr>
          <p:cNvPr id="12" name="shp_2_9"/>
          <p:cNvSpPr/>
          <p:nvPr/>
        </p:nvSpPr>
        <p:spPr>
          <a:xfrm>
            <a:off x="4658258" y="2331720"/>
            <a:ext cx="640080" cy="640080"/>
          </a:xfrm>
          <a:prstGeom prst="ellipse">
            <a:avLst/>
          </a:prstGeom>
          <a:solidFill>
            <a:srgbClr val="3B2A0C"/>
          </a:solidFill>
          <a:ln w="9525">
            <a:solidFill>
              <a:srgbClr val="F5A524"/>
            </a:solidFill>
            <a:prstDash val="solid"/>
          </a:ln>
        </p:spPr>
      </p:sp>
      <p:pic>
        <p:nvPicPr>
          <p:cNvPr id="13" name="img_2_10" descr="preencoded.png">    </p:cNvPr>
          <p:cNvPicPr>
            <a:picLocks noChangeAspect="1"/>
          </p:cNvPicPr>
          <p:nvPr/>
        </p:nvPicPr>
        <p:blipFill>
          <a:blip r:embed="rId2"/>
          <a:stretch>
            <a:fillRect/>
          </a:stretch>
        </p:blipFill>
        <p:spPr>
          <a:xfrm>
            <a:off x="4811878" y="2485339"/>
            <a:ext cx="332842" cy="332842"/>
          </a:xfrm>
          <a:prstGeom prst="rect">
            <a:avLst/>
          </a:prstGeom>
        </p:spPr>
      </p:pic>
      <p:sp>
        <p:nvSpPr>
          <p:cNvPr id="14" name="txt_2_11"/>
          <p:cNvSpPr txBox="1"/>
          <p:nvPr/>
        </p:nvSpPr>
        <p:spPr>
          <a:xfrm>
            <a:off x="4658258" y="3182112"/>
            <a:ext cx="287517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INTELLIGENCE</a:t>
            </a:r>
            <a:endParaRPr lang="en-US" sz="1050" dirty="0"/>
          </a:p>
        </p:txBody>
      </p:sp>
      <p:sp>
        <p:nvSpPr>
          <p:cNvPr id="15" name="txt_2_12"/>
          <p:cNvSpPr txBox="1"/>
          <p:nvPr/>
        </p:nvSpPr>
        <p:spPr>
          <a:xfrm>
            <a:off x="4658258" y="3566160"/>
            <a:ext cx="2875178" cy="22860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ML predicts the market spot rate (R² 0.9792).</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Marine telemetry scans the real sea waypoints.</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Hybrid RAG cites the customs rule, never invents it.</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A 5-factor MCDA score decides approve or hold.</a:t>
            </a:r>
            <a:endParaRPr lang="en-US" sz="1400" dirty="0"/>
          </a:p>
        </p:txBody>
      </p:sp>
      <p:sp>
        <p:nvSpPr>
          <p:cNvPr id="16" name="shp_2_13"/>
          <p:cNvSpPr/>
          <p:nvPr/>
        </p:nvSpPr>
        <p:spPr>
          <a:xfrm>
            <a:off x="8127797" y="2011680"/>
            <a:ext cx="3515258" cy="4023360"/>
          </a:xfrm>
          <a:prstGeom prst="roundRect">
            <a:avLst>
              <a:gd name="adj" fmla="val 2601"/>
            </a:avLst>
          </a:prstGeom>
          <a:solidFill>
            <a:srgbClr val="112038"/>
          </a:solidFill>
          <a:ln w="9525">
            <a:solidFill>
              <a:srgbClr val="243A5E"/>
            </a:solidFill>
            <a:prstDash val="solid"/>
          </a:ln>
        </p:spPr>
      </p:sp>
      <p:sp>
        <p:nvSpPr>
          <p:cNvPr id="17" name="shp_2_14"/>
          <p:cNvSpPr/>
          <p:nvPr/>
        </p:nvSpPr>
        <p:spPr>
          <a:xfrm>
            <a:off x="8447837" y="2331720"/>
            <a:ext cx="640080" cy="640080"/>
          </a:xfrm>
          <a:prstGeom prst="ellipse">
            <a:avLst/>
          </a:prstGeom>
          <a:solidFill>
            <a:srgbClr val="3B2A0C"/>
          </a:solidFill>
          <a:ln w="9525">
            <a:solidFill>
              <a:srgbClr val="F5A524"/>
            </a:solidFill>
            <a:prstDash val="solid"/>
          </a:ln>
        </p:spPr>
      </p:sp>
      <p:pic>
        <p:nvPicPr>
          <p:cNvPr id="18" name="img_2_15" descr="preencoded.png">    </p:cNvPr>
          <p:cNvPicPr>
            <a:picLocks noChangeAspect="1"/>
          </p:cNvPicPr>
          <p:nvPr/>
        </p:nvPicPr>
        <p:blipFill>
          <a:blip r:embed="rId3"/>
          <a:stretch>
            <a:fillRect/>
          </a:stretch>
        </p:blipFill>
        <p:spPr>
          <a:xfrm>
            <a:off x="8601456" y="2485339"/>
            <a:ext cx="332842" cy="332842"/>
          </a:xfrm>
          <a:prstGeom prst="rect">
            <a:avLst/>
          </a:prstGeom>
        </p:spPr>
      </p:pic>
      <p:sp>
        <p:nvSpPr>
          <p:cNvPr id="19" name="txt_2_16"/>
          <p:cNvSpPr txBox="1"/>
          <p:nvPr/>
        </p:nvSpPr>
        <p:spPr>
          <a:xfrm>
            <a:off x="8447837" y="3182112"/>
            <a:ext cx="287517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EVIDENCE</a:t>
            </a:r>
            <a:endParaRPr lang="en-US" sz="1050" dirty="0"/>
          </a:p>
        </p:txBody>
      </p:sp>
      <p:sp>
        <p:nvSpPr>
          <p:cNvPr id="20" name="txt_2_17"/>
          <p:cNvSpPr txBox="1"/>
          <p:nvPr/>
        </p:nvSpPr>
        <p:spPr>
          <a:xfrm>
            <a:off x="8447837" y="3566160"/>
            <a:ext cx="2875178" cy="22860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Deployed live on Vercel, four seeded roles.</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63 of 63 automated tests passing.</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50 customs scenarios across 10 jurisdictions.</a:t>
            </a:r>
            <a:endParaRPr lang="en-US" sz="1400" dirty="0"/>
          </a:p>
          <a:p>
            <a:pPr marL="177800" indent="-177800">
              <a:spcAft>
                <a:spcPts val="1200"/>
              </a:spcAft>
              <a:buSzPct val="100000"/>
              <a:buChar char="▸"/>
            </a:pPr>
            <a:r>
              <a:rPr lang="en-US" sz="1400" dirty="0">
                <a:solidFill>
                  <a:srgbClr val="AEBBCF"/>
                </a:solidFill>
                <a:latin typeface="Calibri" pitchFamily="34" charset="0"/>
                <a:ea typeface="Calibri" pitchFamily="34" charset="-122"/>
                <a:cs typeface="Calibri" pitchFamily="34" charset="-120"/>
              </a:rPr>
              <a:t>22 booking-flow and tenant-isolation tests.</a:t>
            </a:r>
            <a:endParaRPr lang="en-US" sz="1400" dirty="0"/>
          </a:p>
        </p:txBody>
      </p:sp>
      <p:sp>
        <p:nvSpPr>
          <p:cNvPr id="21" name="txt_2_18"/>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22" name="txt_2_19"/>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02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38" presetID="10" presetClass="entr" presetSubtype="0" fill="hold" grpId="0" nodeType="withEffect" decel="100000">
                                  <p:stCondLst>
                                    <p:cond delay="2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64" fill="hold">
                      <p:stCondLst>
                        <p:cond delay="indefinite"/>
                      </p:stCondLst>
                      <p:childTnLst>
                        <p:par>
                          <p:cTn id="65" fill="hold">
                            <p:stCondLst>
                              <p:cond delay="0"/>
                            </p:stCondLst>
                            <p:childTnLst>
                              <p:par>
                                <p:cTn id="45" presetID="42" presetClass="entr" presetSubtype="0" fill="hold" grpId="0" nodeType="clickEffect" decel="100000">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decel="100000">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decel="100000">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decel="100000">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3" presetID="10" presetClass="entr" presetSubtype="0" fill="hold" grpId="0" nodeType="withEffect" decel="100000">
                                  <p:stCondLst>
                                    <p:cond delay="25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89" fill="hold">
                      <p:stCondLst>
                        <p:cond delay="indefinite"/>
                      </p:stCondLst>
                      <p:childTnLst>
                        <p:par>
                          <p:cTn id="90" fill="hold">
                            <p:stCondLst>
                              <p:cond delay="0"/>
                            </p:stCondLst>
                            <p:childTnLst>
                              <p:par>
                                <p:cTn id="70" presetID="42" presetClass="entr" presetSubtype="0" fill="hold" grpId="0" nodeType="clickEffect" decel="100000">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decel="100000">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0.05"/>
                                          </p:val>
                                        </p:tav>
                                        <p:tav tm="100000">
                                          <p:val>
                                            <p:strVal val="#ppt_y"/>
                                          </p:val>
                                        </p:tav>
                                      </p:tavLst>
                                    </p:anim>
                                  </p:childTnLst>
                                </p:cTn>
                              </p:par>
                              <p:par>
                                <p:cTn id="80" presetID="42" presetClass="entr" presetSubtype="0" fill="hold" grpId="0" nodeType="withEffect" decel="100000">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decel="100000">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0.05"/>
                                          </p:val>
                                        </p:tav>
                                        <p:tav tm="100000">
                                          <p:val>
                                            <p:strVal val="#ppt_y"/>
                                          </p:val>
                                        </p:tav>
                                      </p:tavLst>
                                    </p:anim>
                                  </p:childTnLst>
                                </p:cTn>
                              </p:par>
                              <p:par>
                                <p:cTn id="88" presetID="10" presetClass="entr" presetSubtype="0" fill="hold" grpId="0" nodeType="withEffect" decel="100000">
                                  <p:stCondLst>
                                    <p:cond delay="25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3" name="txt_3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BACKGROUND</a:t>
            </a:r>
            <a:endParaRPr lang="en-US" sz="1100" dirty="0"/>
          </a:p>
        </p:txBody>
      </p:sp>
      <p:sp>
        <p:nvSpPr>
          <p:cNvPr id="4" name="txt_3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Why Freight Quoting Needed a Fix</a:t>
            </a:r>
            <a:endParaRPr lang="en-US" sz="3200" dirty="0"/>
          </a:p>
        </p:txBody>
      </p:sp>
      <p:sp>
        <p:nvSpPr>
          <p:cNvPr id="5" name="txt_3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Sea freight moves most of world trade — yet the quote behind every booking is still a spreadsheet, an email thread and a broker's memory.</a:t>
            </a:r>
            <a:endParaRPr lang="en-US" sz="1500" dirty="0"/>
          </a:p>
        </p:txBody>
      </p:sp>
      <p:sp>
        <p:nvSpPr>
          <p:cNvPr id="6" name="shp_3_3"/>
          <p:cNvSpPr/>
          <p:nvPr/>
        </p:nvSpPr>
        <p:spPr>
          <a:xfrm>
            <a:off x="1935442" y="2697480"/>
            <a:ext cx="8320811" cy="0"/>
          </a:xfrm>
          <a:prstGeom prst="line">
            <a:avLst/>
          </a:prstGeom>
          <a:noFill/>
          <a:ln w="25400">
            <a:solidFill>
              <a:srgbClr val="243A5E"/>
            </a:solidFill>
            <a:prstDash val="solid"/>
          </a:ln>
        </p:spPr>
      </p:sp>
      <p:sp>
        <p:nvSpPr>
          <p:cNvPr id="7" name="txt_3_4"/>
          <p:cNvSpPr txBox="1"/>
          <p:nvPr/>
        </p:nvSpPr>
        <p:spPr>
          <a:xfrm>
            <a:off x="548640" y="2057400"/>
            <a:ext cx="2773604" cy="274320"/>
          </a:xfrm>
          <a:prstGeom prst="rect">
            <a:avLst/>
          </a:prstGeom>
          <a:noFill/>
          <a:ln/>
        </p:spPr>
        <p:txBody>
          <a:bodyPr wrap="square" lIns="0" tIns="0" rIns="0" bIns="0" rtlCol="0" anchor="t"/>
          <a:lstStyle/>
          <a:p>
            <a:pPr algn="ctr" indent="0" marL="0">
              <a:buNone/>
            </a:pPr>
            <a:r>
              <a:rPr lang="en-US" sz="1200" b="1" spc="200" kern="0" dirty="0">
                <a:solidFill>
                  <a:srgbClr val="F5A524"/>
                </a:solidFill>
                <a:latin typeface="Calibri" pitchFamily="34" charset="0"/>
                <a:ea typeface="Calibri" pitchFamily="34" charset="-122"/>
                <a:cs typeface="Calibri" pitchFamily="34" charset="-120"/>
              </a:rPr>
              <a:t>DAY 0</a:t>
            </a:r>
            <a:endParaRPr lang="en-US" sz="1200" dirty="0"/>
          </a:p>
        </p:txBody>
      </p:sp>
      <p:sp>
        <p:nvSpPr>
          <p:cNvPr id="8" name="shp_3_5"/>
          <p:cNvSpPr/>
          <p:nvPr/>
        </p:nvSpPr>
        <p:spPr>
          <a:xfrm>
            <a:off x="1789138" y="2551176"/>
            <a:ext cx="292608" cy="292608"/>
          </a:xfrm>
          <a:prstGeom prst="ellipse">
            <a:avLst/>
          </a:prstGeom>
          <a:solidFill>
            <a:srgbClr val="F5A524"/>
          </a:solidFill>
          <a:ln w="38100">
            <a:solidFill>
              <a:srgbClr val="0A1628"/>
            </a:solidFill>
            <a:prstDash val="solid"/>
          </a:ln>
        </p:spPr>
      </p:sp>
      <p:sp>
        <p:nvSpPr>
          <p:cNvPr id="9" name="txt_3_6"/>
          <p:cNvSpPr txBox="1"/>
          <p:nvPr/>
        </p:nvSpPr>
        <p:spPr>
          <a:xfrm>
            <a:off x="731520" y="3017520"/>
            <a:ext cx="2407844" cy="731520"/>
          </a:xfrm>
          <a:prstGeom prst="rect">
            <a:avLst/>
          </a:prstGeom>
          <a:noFill/>
          <a:ln/>
        </p:spPr>
        <p:txBody>
          <a:bodyPr wrap="square" lIns="0" tIns="0" rIns="0" bIns="0" rtlCol="0" anchor="t"/>
          <a:lstStyle/>
          <a:p>
            <a:pPr algn="ctr" indent="0" marL="0">
              <a:buNone/>
            </a:pPr>
            <a:r>
              <a:rPr lang="en-US" sz="1400" dirty="0">
                <a:solidFill>
                  <a:srgbClr val="F1F5F9"/>
                </a:solidFill>
                <a:latin typeface="Calibri" pitchFamily="34" charset="0"/>
                <a:ea typeface="Calibri" pitchFamily="34" charset="-122"/>
                <a:cs typeface="Calibri" pitchFamily="34" charset="-120"/>
              </a:rPr>
              <a:t>Shipper emails cargo details and port pair</a:t>
            </a:r>
            <a:endParaRPr lang="en-US" sz="1400" dirty="0"/>
          </a:p>
        </p:txBody>
      </p:sp>
      <p:sp>
        <p:nvSpPr>
          <p:cNvPr id="10" name="txt_3_7"/>
          <p:cNvSpPr txBox="1"/>
          <p:nvPr/>
        </p:nvSpPr>
        <p:spPr>
          <a:xfrm>
            <a:off x="3322244" y="2057400"/>
            <a:ext cx="2773604" cy="274320"/>
          </a:xfrm>
          <a:prstGeom prst="rect">
            <a:avLst/>
          </a:prstGeom>
          <a:noFill/>
          <a:ln/>
        </p:spPr>
        <p:txBody>
          <a:bodyPr wrap="square" lIns="0" tIns="0" rIns="0" bIns="0" rtlCol="0" anchor="t"/>
          <a:lstStyle/>
          <a:p>
            <a:pPr algn="ctr" indent="0" marL="0">
              <a:buNone/>
            </a:pPr>
            <a:r>
              <a:rPr lang="en-US" sz="1200" b="1" spc="200" kern="0" dirty="0">
                <a:solidFill>
                  <a:srgbClr val="F5A524"/>
                </a:solidFill>
                <a:latin typeface="Calibri" pitchFamily="34" charset="0"/>
                <a:ea typeface="Calibri" pitchFamily="34" charset="-122"/>
                <a:cs typeface="Calibri" pitchFamily="34" charset="-120"/>
              </a:rPr>
              <a:t>DAY 1–2</a:t>
            </a:r>
            <a:endParaRPr lang="en-US" sz="1200" dirty="0"/>
          </a:p>
        </p:txBody>
      </p:sp>
      <p:sp>
        <p:nvSpPr>
          <p:cNvPr id="11" name="shp_3_8"/>
          <p:cNvSpPr/>
          <p:nvPr/>
        </p:nvSpPr>
        <p:spPr>
          <a:xfrm>
            <a:off x="4562742" y="2551176"/>
            <a:ext cx="292608" cy="292608"/>
          </a:xfrm>
          <a:prstGeom prst="ellipse">
            <a:avLst/>
          </a:prstGeom>
          <a:solidFill>
            <a:srgbClr val="F5A524"/>
          </a:solidFill>
          <a:ln w="38100">
            <a:solidFill>
              <a:srgbClr val="0A1628"/>
            </a:solidFill>
            <a:prstDash val="solid"/>
          </a:ln>
        </p:spPr>
      </p:sp>
      <p:sp>
        <p:nvSpPr>
          <p:cNvPr id="12" name="txt_3_9"/>
          <p:cNvSpPr txBox="1"/>
          <p:nvPr/>
        </p:nvSpPr>
        <p:spPr>
          <a:xfrm>
            <a:off x="3505124" y="3017520"/>
            <a:ext cx="2407844" cy="731520"/>
          </a:xfrm>
          <a:prstGeom prst="rect">
            <a:avLst/>
          </a:prstGeom>
          <a:noFill/>
          <a:ln/>
        </p:spPr>
        <p:txBody>
          <a:bodyPr wrap="square" lIns="0" tIns="0" rIns="0" bIns="0" rtlCol="0" anchor="t"/>
          <a:lstStyle/>
          <a:p>
            <a:pPr algn="ctr" indent="0" marL="0">
              <a:buNone/>
            </a:pPr>
            <a:r>
              <a:rPr lang="en-US" sz="1400" dirty="0">
                <a:solidFill>
                  <a:srgbClr val="F1F5F9"/>
                </a:solidFill>
                <a:latin typeface="Calibri" pitchFamily="34" charset="0"/>
                <a:ea typeface="Calibri" pitchFamily="34" charset="-122"/>
                <a:cs typeface="Calibri" pitchFamily="34" charset="-120"/>
              </a:rPr>
              <a:t>Broker works rate sheets, quotes one carrier</a:t>
            </a:r>
            <a:endParaRPr lang="en-US" sz="1400" dirty="0"/>
          </a:p>
        </p:txBody>
      </p:sp>
      <p:sp>
        <p:nvSpPr>
          <p:cNvPr id="13" name="txt_3_10"/>
          <p:cNvSpPr txBox="1"/>
          <p:nvPr/>
        </p:nvSpPr>
        <p:spPr>
          <a:xfrm>
            <a:off x="6095848" y="2057400"/>
            <a:ext cx="2773604" cy="274320"/>
          </a:xfrm>
          <a:prstGeom prst="rect">
            <a:avLst/>
          </a:prstGeom>
          <a:noFill/>
          <a:ln/>
        </p:spPr>
        <p:txBody>
          <a:bodyPr wrap="square" lIns="0" tIns="0" rIns="0" bIns="0" rtlCol="0" anchor="t"/>
          <a:lstStyle/>
          <a:p>
            <a:pPr algn="ctr" indent="0" marL="0">
              <a:buNone/>
            </a:pPr>
            <a:r>
              <a:rPr lang="en-US" sz="1200" b="1" spc="200" kern="0" dirty="0">
                <a:solidFill>
                  <a:srgbClr val="F5A524"/>
                </a:solidFill>
                <a:latin typeface="Calibri" pitchFamily="34" charset="0"/>
                <a:ea typeface="Calibri" pitchFamily="34" charset="-122"/>
                <a:cs typeface="Calibri" pitchFamily="34" charset="-120"/>
              </a:rPr>
              <a:t>DAY 2–4</a:t>
            </a:r>
            <a:endParaRPr lang="en-US" sz="1200" dirty="0"/>
          </a:p>
        </p:txBody>
      </p:sp>
      <p:sp>
        <p:nvSpPr>
          <p:cNvPr id="14" name="shp_3_11"/>
          <p:cNvSpPr/>
          <p:nvPr/>
        </p:nvSpPr>
        <p:spPr>
          <a:xfrm>
            <a:off x="7336345" y="2551176"/>
            <a:ext cx="292608" cy="292608"/>
          </a:xfrm>
          <a:prstGeom prst="ellipse">
            <a:avLst/>
          </a:prstGeom>
          <a:solidFill>
            <a:srgbClr val="F5A524"/>
          </a:solidFill>
          <a:ln w="38100">
            <a:solidFill>
              <a:srgbClr val="0A1628"/>
            </a:solidFill>
            <a:prstDash val="solid"/>
          </a:ln>
        </p:spPr>
      </p:sp>
      <p:sp>
        <p:nvSpPr>
          <p:cNvPr id="15" name="txt_3_12"/>
          <p:cNvSpPr txBox="1"/>
          <p:nvPr/>
        </p:nvSpPr>
        <p:spPr>
          <a:xfrm>
            <a:off x="6278728" y="3017520"/>
            <a:ext cx="2407844" cy="731520"/>
          </a:xfrm>
          <a:prstGeom prst="rect">
            <a:avLst/>
          </a:prstGeom>
          <a:noFill/>
          <a:ln/>
        </p:spPr>
        <p:txBody>
          <a:bodyPr wrap="square" lIns="0" tIns="0" rIns="0" bIns="0" rtlCol="0" anchor="t"/>
          <a:lstStyle/>
          <a:p>
            <a:pPr algn="ctr" indent="0" marL="0">
              <a:buNone/>
            </a:pPr>
            <a:r>
              <a:rPr lang="en-US" sz="1400" dirty="0">
                <a:solidFill>
                  <a:srgbClr val="F1F5F9"/>
                </a:solidFill>
                <a:latin typeface="Calibri" pitchFamily="34" charset="0"/>
                <a:ea typeface="Calibri" pitchFamily="34" charset="-122"/>
                <a:cs typeface="Calibri" pitchFamily="34" charset="-120"/>
              </a:rPr>
              <a:t>Revisions by PDF — no audit of who changed what</a:t>
            </a:r>
            <a:endParaRPr lang="en-US" sz="1400" dirty="0"/>
          </a:p>
        </p:txBody>
      </p:sp>
      <p:sp>
        <p:nvSpPr>
          <p:cNvPr id="16" name="txt_3_13"/>
          <p:cNvSpPr txBox="1"/>
          <p:nvPr/>
        </p:nvSpPr>
        <p:spPr>
          <a:xfrm>
            <a:off x="8869451" y="2057400"/>
            <a:ext cx="2773604" cy="274320"/>
          </a:xfrm>
          <a:prstGeom prst="rect">
            <a:avLst/>
          </a:prstGeom>
          <a:noFill/>
          <a:ln/>
        </p:spPr>
        <p:txBody>
          <a:bodyPr wrap="square" lIns="0" tIns="0" rIns="0" bIns="0" rtlCol="0" anchor="t"/>
          <a:lstStyle/>
          <a:p>
            <a:pPr algn="ctr" indent="0" marL="0">
              <a:buNone/>
            </a:pPr>
            <a:r>
              <a:rPr lang="en-US" sz="1200" b="1" spc="200" kern="0" dirty="0">
                <a:solidFill>
                  <a:srgbClr val="EF4444"/>
                </a:solidFill>
                <a:latin typeface="Calibri" pitchFamily="34" charset="0"/>
                <a:ea typeface="Calibri" pitchFamily="34" charset="-122"/>
                <a:cs typeface="Calibri" pitchFamily="34" charset="-120"/>
              </a:rPr>
              <a:t>AFTER BOOKING</a:t>
            </a:r>
            <a:endParaRPr lang="en-US" sz="1200" dirty="0"/>
          </a:p>
        </p:txBody>
      </p:sp>
      <p:sp>
        <p:nvSpPr>
          <p:cNvPr id="17" name="shp_3_14"/>
          <p:cNvSpPr/>
          <p:nvPr/>
        </p:nvSpPr>
        <p:spPr>
          <a:xfrm>
            <a:off x="10109949" y="2551176"/>
            <a:ext cx="292608" cy="292608"/>
          </a:xfrm>
          <a:prstGeom prst="ellipse">
            <a:avLst/>
          </a:prstGeom>
          <a:solidFill>
            <a:srgbClr val="EF4444"/>
          </a:solidFill>
          <a:ln w="38100">
            <a:solidFill>
              <a:srgbClr val="0A1628"/>
            </a:solidFill>
            <a:prstDash val="solid"/>
          </a:ln>
        </p:spPr>
      </p:sp>
      <p:sp>
        <p:nvSpPr>
          <p:cNvPr id="18" name="txt_3_15"/>
          <p:cNvSpPr txBox="1"/>
          <p:nvPr/>
        </p:nvSpPr>
        <p:spPr>
          <a:xfrm>
            <a:off x="9052331" y="3017520"/>
            <a:ext cx="2407844" cy="731520"/>
          </a:xfrm>
          <a:prstGeom prst="rect">
            <a:avLst/>
          </a:prstGeom>
          <a:noFill/>
          <a:ln/>
        </p:spPr>
        <p:txBody>
          <a:bodyPr wrap="square" lIns="0" tIns="0" rIns="0" bIns="0" rtlCol="0" anchor="t"/>
          <a:lstStyle/>
          <a:p>
            <a:pPr algn="ctr" indent="0" marL="0">
              <a:buNone/>
            </a:pPr>
            <a:r>
              <a:rPr lang="en-US" sz="1400" dirty="0">
                <a:solidFill>
                  <a:srgbClr val="F1F5F9"/>
                </a:solidFill>
                <a:latin typeface="Calibri" pitchFamily="34" charset="0"/>
                <a:ea typeface="Calibri" pitchFamily="34" charset="-122"/>
                <a:cs typeface="Calibri" pitchFamily="34" charset="-120"/>
              </a:rPr>
              <a:t>Storm delay, wrong HS code, demurrage</a:t>
            </a:r>
            <a:endParaRPr lang="en-US" sz="1400" dirty="0"/>
          </a:p>
        </p:txBody>
      </p:sp>
      <p:sp>
        <p:nvSpPr>
          <p:cNvPr id="19" name="shp_3_16"/>
          <p:cNvSpPr/>
          <p:nvPr/>
        </p:nvSpPr>
        <p:spPr>
          <a:xfrm>
            <a:off x="548640" y="4297680"/>
            <a:ext cx="3515258" cy="1600200"/>
          </a:xfrm>
          <a:prstGeom prst="roundRect">
            <a:avLst>
              <a:gd name="adj" fmla="val 5714"/>
            </a:avLst>
          </a:prstGeom>
          <a:solidFill>
            <a:srgbClr val="112038"/>
          </a:solidFill>
          <a:ln w="9525">
            <a:solidFill>
              <a:srgbClr val="243A5E"/>
            </a:solidFill>
            <a:prstDash val="solid"/>
          </a:ln>
        </p:spPr>
      </p:sp>
      <p:sp>
        <p:nvSpPr>
          <p:cNvPr id="20" name="txt_3_17"/>
          <p:cNvSpPr txBox="1"/>
          <p:nvPr/>
        </p:nvSpPr>
        <p:spPr>
          <a:xfrm>
            <a:off x="914400" y="4526280"/>
            <a:ext cx="2783738" cy="594360"/>
          </a:xfrm>
          <a:prstGeom prst="rect">
            <a:avLst/>
          </a:prstGeom>
          <a:noFill/>
          <a:ln/>
        </p:spPr>
        <p:txBody>
          <a:bodyPr wrap="square" lIns="0" tIns="0" rIns="0" bIns="0" rtlCol="0" anchor="t"/>
          <a:lstStyle/>
          <a:p>
            <a:pPr indent="0" marL="0">
              <a:buNone/>
            </a:pPr>
            <a:r>
              <a:rPr lang="en-US" sz="3200" b="1" dirty="0">
                <a:solidFill>
                  <a:srgbClr val="F5A524"/>
                </a:solidFill>
                <a:latin typeface="Calibri" pitchFamily="34" charset="0"/>
                <a:ea typeface="Calibri" pitchFamily="34" charset="-122"/>
                <a:cs typeface="Calibri" pitchFamily="34" charset="-120"/>
              </a:rPr>
              <a:t>24–48 hrs</a:t>
            </a:r>
            <a:endParaRPr lang="en-US" sz="3200" dirty="0"/>
          </a:p>
        </p:txBody>
      </p:sp>
      <p:sp>
        <p:nvSpPr>
          <p:cNvPr id="21" name="txt_3_18"/>
          <p:cNvSpPr txBox="1"/>
          <p:nvPr/>
        </p:nvSpPr>
        <p:spPr>
          <a:xfrm>
            <a:off x="914400" y="5166360"/>
            <a:ext cx="2783738" cy="4572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industry quote turnaround</a:t>
            </a:r>
            <a:endParaRPr lang="en-US" sz="1400" dirty="0"/>
          </a:p>
        </p:txBody>
      </p:sp>
      <p:sp>
        <p:nvSpPr>
          <p:cNvPr id="22" name="shp_3_19"/>
          <p:cNvSpPr/>
          <p:nvPr/>
        </p:nvSpPr>
        <p:spPr>
          <a:xfrm>
            <a:off x="4338218" y="4297680"/>
            <a:ext cx="3515258" cy="1600200"/>
          </a:xfrm>
          <a:prstGeom prst="roundRect">
            <a:avLst>
              <a:gd name="adj" fmla="val 5714"/>
            </a:avLst>
          </a:prstGeom>
          <a:solidFill>
            <a:srgbClr val="112038"/>
          </a:solidFill>
          <a:ln w="9525">
            <a:solidFill>
              <a:srgbClr val="243A5E"/>
            </a:solidFill>
            <a:prstDash val="solid"/>
          </a:ln>
        </p:spPr>
      </p:sp>
      <p:sp>
        <p:nvSpPr>
          <p:cNvPr id="23" name="txt_3_20"/>
          <p:cNvSpPr txBox="1"/>
          <p:nvPr/>
        </p:nvSpPr>
        <p:spPr>
          <a:xfrm>
            <a:off x="4703978" y="4526280"/>
            <a:ext cx="2783738" cy="594360"/>
          </a:xfrm>
          <a:prstGeom prst="rect">
            <a:avLst/>
          </a:prstGeom>
          <a:noFill/>
          <a:ln/>
        </p:spPr>
        <p:txBody>
          <a:bodyPr wrap="square" lIns="0" tIns="0" rIns="0" bIns="0" rtlCol="0" anchor="t"/>
          <a:lstStyle/>
          <a:p>
            <a:pPr indent="0" marL="0">
              <a:buNone/>
            </a:pPr>
            <a:r>
              <a:rPr lang="en-US" sz="3200" b="1" dirty="0">
                <a:solidFill>
                  <a:srgbClr val="F5A524"/>
                </a:solidFill>
                <a:latin typeface="Calibri" pitchFamily="34" charset="0"/>
                <a:ea typeface="Calibri" pitchFamily="34" charset="-122"/>
                <a:cs typeface="Calibri" pitchFamily="34" charset="-120"/>
              </a:rPr>
              <a:t>Spreadsheets</a:t>
            </a:r>
            <a:endParaRPr lang="en-US" sz="3200" dirty="0"/>
          </a:p>
        </p:txBody>
      </p:sp>
      <p:sp>
        <p:nvSpPr>
          <p:cNvPr id="24" name="txt_3_21"/>
          <p:cNvSpPr txBox="1"/>
          <p:nvPr/>
        </p:nvSpPr>
        <p:spPr>
          <a:xfrm>
            <a:off x="4703978" y="5166360"/>
            <a:ext cx="2783738" cy="4572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still the system of record</a:t>
            </a:r>
            <a:endParaRPr lang="en-US" sz="1400" dirty="0"/>
          </a:p>
        </p:txBody>
      </p:sp>
      <p:sp>
        <p:nvSpPr>
          <p:cNvPr id="25" name="shp_3_22"/>
          <p:cNvSpPr/>
          <p:nvPr/>
        </p:nvSpPr>
        <p:spPr>
          <a:xfrm>
            <a:off x="8127797" y="4297680"/>
            <a:ext cx="3515258" cy="1600200"/>
          </a:xfrm>
          <a:prstGeom prst="roundRect">
            <a:avLst>
              <a:gd name="adj" fmla="val 5714"/>
            </a:avLst>
          </a:prstGeom>
          <a:solidFill>
            <a:srgbClr val="112038"/>
          </a:solidFill>
          <a:ln w="9525">
            <a:solidFill>
              <a:srgbClr val="243A5E"/>
            </a:solidFill>
            <a:prstDash val="solid"/>
          </a:ln>
        </p:spPr>
      </p:sp>
      <p:sp>
        <p:nvSpPr>
          <p:cNvPr id="26" name="txt_3_23"/>
          <p:cNvSpPr txBox="1"/>
          <p:nvPr/>
        </p:nvSpPr>
        <p:spPr>
          <a:xfrm>
            <a:off x="8493557" y="4526280"/>
            <a:ext cx="2783738" cy="594360"/>
          </a:xfrm>
          <a:prstGeom prst="rect">
            <a:avLst/>
          </a:prstGeom>
          <a:noFill/>
          <a:ln/>
        </p:spPr>
        <p:txBody>
          <a:bodyPr wrap="square" lIns="0" tIns="0" rIns="0" bIns="0" rtlCol="0" anchor="t"/>
          <a:lstStyle/>
          <a:p>
            <a:pPr indent="0" marL="0">
              <a:buNone/>
            </a:pPr>
            <a:r>
              <a:rPr lang="en-US" sz="3200" b="1" dirty="0">
                <a:solidFill>
                  <a:srgbClr val="F5A524"/>
                </a:solidFill>
                <a:latin typeface="Calibri" pitchFamily="34" charset="0"/>
                <a:ea typeface="Calibri" pitchFamily="34" charset="-122"/>
                <a:cs typeface="Calibri" pitchFamily="34" charset="-120"/>
              </a:rPr>
              <a:t>After booking</a:t>
            </a:r>
            <a:endParaRPr lang="en-US" sz="3200" dirty="0"/>
          </a:p>
        </p:txBody>
      </p:sp>
      <p:sp>
        <p:nvSpPr>
          <p:cNvPr id="27" name="txt_3_24"/>
          <p:cNvSpPr txBox="1"/>
          <p:nvPr/>
        </p:nvSpPr>
        <p:spPr>
          <a:xfrm>
            <a:off x="8493557" y="5166360"/>
            <a:ext cx="2783738" cy="4572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when weather &amp; customs risk surfaces</a:t>
            </a:r>
            <a:endParaRPr lang="en-US" sz="1400" dirty="0"/>
          </a:p>
        </p:txBody>
      </p:sp>
      <p:sp>
        <p:nvSpPr>
          <p:cNvPr id="28" name="txt_3_2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29" name="txt_3_2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03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71" fill="hold">
                      <p:stCondLst>
                        <p:cond delay="indefinite"/>
                      </p:stCondLst>
                      <p:childTnLst>
                        <p:par>
                          <p:cTn id="72" fill="hold">
                            <p:stCondLst>
                              <p:cond delay="0"/>
                            </p:stCondLst>
                            <p:childTnLst>
                              <p:par>
                                <p:cTn id="18" presetID="22" presetClass="entr" presetSubtype="8"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1200"/>
                                        <p:tgtEl>
                                          <p:spTgt spid="6"/>
                                        </p:tgtEl>
                                      </p:cBhvr>
                                    </p:animEffect>
                                  </p:childTnLst>
                                </p:cTn>
                              </p:par>
                              <p:par>
                                <p:cTn id="21" presetID="10" presetClass="entr" presetSubtype="0" fill="hold" grpId="0" nodeType="withEffect" decel="100000">
                                  <p:stCondLst>
                                    <p:cond delay="1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6" presetID="53" presetClass="entr" presetSubtype="16" fill="hold" grpId="0" nodeType="withEffect" decel="100000">
                                  <p:stCondLst>
                                    <p:cond delay="150"/>
                                  </p:stCondLst>
                                  <p:childTnLst>
                                    <p:set>
                                      <p:cBhvr>
                                        <p:cTn id="22" dur="1" fill="hold">
                                          <p:stCondLst>
                                            <p:cond delay="0"/>
                                          </p:stCondLst>
                                        </p:cTn>
                                        <p:tgtEl>
                                          <p:spTgt spid="8"/>
                                        </p:tgtEl>
                                        <p:attrNameLst>
                                          <p:attrName>style.visibility</p:attrName>
                                        </p:attrNameLst>
                                      </p:cBhvr>
                                      <p:to>
                                        <p:strVal val="visible"/>
                                      </p:to>
                                    </p:set>
                                    <p:anim calcmode="lin" valueType="num">
                                      <p:cBhvr>
                                        <p:cTn id="23" dur="400" fill="hold"/>
                                        <p:tgtEl>
                                          <p:spTgt spid="8"/>
                                        </p:tgtEl>
                                        <p:attrNameLst>
                                          <p:attrName>ppt_w</p:attrName>
                                        </p:attrNameLst>
                                      </p:cBhvr>
                                      <p:tavLst>
                                        <p:tav tm="0">
                                          <p:val>
                                            <p:strVal val="#ppt_w*0.70"/>
                                          </p:val>
                                        </p:tav>
                                        <p:tav tm="100000">
                                          <p:val>
                                            <p:strVal val="#ppt_w"/>
                                          </p:val>
                                        </p:tav>
                                      </p:tavLst>
                                    </p:anim>
                                    <p:anim calcmode="lin" valueType="num">
                                      <p:cBhvr>
                                        <p:cTn id="24" dur="400" fill="hold"/>
                                        <p:tgtEl>
                                          <p:spTgt spid="8"/>
                                        </p:tgtEl>
                                        <p:attrNameLst>
                                          <p:attrName>ppt_h</p:attrName>
                                        </p:attrNameLst>
                                      </p:cBhvr>
                                      <p:tavLst>
                                        <p:tav tm="0">
                                          <p:val>
                                            <p:strVal val="#ppt_h*0.70"/>
                                          </p:val>
                                        </p:tav>
                                        <p:tav tm="100000">
                                          <p:val>
                                            <p:strVal val="#ppt_h"/>
                                          </p:val>
                                        </p:tav>
                                      </p:tavLst>
                                    </p:anim>
                                    <p:animEffect transition="in" filter="fade">
                                      <p:cBhvr>
                                        <p:cTn id="25" dur="400"/>
                                        <p:tgtEl>
                                          <p:spTgt spid="8"/>
                                        </p:tgtEl>
                                      </p:cBhvr>
                                    </p:animEffect>
                                  </p:childTnLst>
                                </p:cTn>
                              </p:par>
                              <p:par>
                                <p:cTn id="31" presetID="42" presetClass="entr" presetSubtype="0" fill="hold" grpId="0" nodeType="withEffect" decel="100000">
                                  <p:stCondLst>
                                    <p:cond delay="2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ppt_x</p:attrName>
                                        </p:attrNameLst>
                                      </p:cBhvr>
                                      <p:tavLst>
                                        <p:tav tm="0">
                                          <p:val>
                                            <p:strVal val="#ppt_x"/>
                                          </p:val>
                                        </p:tav>
                                        <p:tav tm="100000">
                                          <p:val>
                                            <p:strVal val="#ppt_x"/>
                                          </p:val>
                                        </p:tav>
                                      </p:tavLst>
                                    </p:anim>
                                    <p:anim calcmode="lin" valueType="num">
                                      <p:cBhvr>
                                        <p:cTn id="30" dur="500" fill="hold"/>
                                        <p:tgtEl>
                                          <p:spTgt spid="9"/>
                                        </p:tgtEl>
                                        <p:attrNameLst>
                                          <p:attrName>ppt_y</p:attrName>
                                        </p:attrNameLst>
                                      </p:cBhvr>
                                      <p:tavLst>
                                        <p:tav tm="0">
                                          <p:val>
                                            <p:strVal val="#ppt_y+0.05"/>
                                          </p:val>
                                        </p:tav>
                                        <p:tav tm="100000">
                                          <p:val>
                                            <p:strVal val="#ppt_y"/>
                                          </p:val>
                                        </p:tav>
                                      </p:tavLst>
                                    </p:anim>
                                  </p:childTnLst>
                                </p:cTn>
                              </p:par>
                              <p:par>
                                <p:cTn id="34" presetID="10" presetClass="entr" presetSubtype="0" fill="hold" grpId="0" nodeType="withEffect" decel="100000">
                                  <p:stCondLst>
                                    <p:cond delay="45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9" presetID="53" presetClass="entr" presetSubtype="16" fill="hold" grpId="0" nodeType="withEffect" decel="100000">
                                  <p:stCondLst>
                                    <p:cond delay="4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400" fill="hold"/>
                                        <p:tgtEl>
                                          <p:spTgt spid="11"/>
                                        </p:tgtEl>
                                        <p:attrNameLst>
                                          <p:attrName>ppt_w</p:attrName>
                                        </p:attrNameLst>
                                      </p:cBhvr>
                                      <p:tavLst>
                                        <p:tav tm="0">
                                          <p:val>
                                            <p:strVal val="#ppt_w*0.70"/>
                                          </p:val>
                                        </p:tav>
                                        <p:tav tm="100000">
                                          <p:val>
                                            <p:strVal val="#ppt_w"/>
                                          </p:val>
                                        </p:tav>
                                      </p:tavLst>
                                    </p:anim>
                                    <p:anim calcmode="lin" valueType="num">
                                      <p:cBhvr>
                                        <p:cTn id="37" dur="400" fill="hold"/>
                                        <p:tgtEl>
                                          <p:spTgt spid="11"/>
                                        </p:tgtEl>
                                        <p:attrNameLst>
                                          <p:attrName>ppt_h</p:attrName>
                                        </p:attrNameLst>
                                      </p:cBhvr>
                                      <p:tavLst>
                                        <p:tav tm="0">
                                          <p:val>
                                            <p:strVal val="#ppt_h*0.70"/>
                                          </p:val>
                                        </p:tav>
                                        <p:tav tm="100000">
                                          <p:val>
                                            <p:strVal val="#ppt_h"/>
                                          </p:val>
                                        </p:tav>
                                      </p:tavLst>
                                    </p:anim>
                                    <p:animEffect transition="in" filter="fade">
                                      <p:cBhvr>
                                        <p:cTn id="38" dur="400"/>
                                        <p:tgtEl>
                                          <p:spTgt spid="11"/>
                                        </p:tgtEl>
                                      </p:cBhvr>
                                    </p:animEffect>
                                  </p:childTnLst>
                                </p:cTn>
                              </p:par>
                              <p:par>
                                <p:cTn id="44" presetID="42" presetClass="entr" presetSubtype="0" fill="hold" grpId="0" nodeType="withEffect" decel="100000">
                                  <p:stCondLst>
                                    <p:cond delay="5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anim calcmode="lin" valueType="num">
                                      <p:cBhvr>
                                        <p:cTn id="42" dur="500" fill="hold"/>
                                        <p:tgtEl>
                                          <p:spTgt spid="12"/>
                                        </p:tgtEl>
                                        <p:attrNameLst>
                                          <p:attrName>ppt_x</p:attrName>
                                        </p:attrNameLst>
                                      </p:cBhvr>
                                      <p:tavLst>
                                        <p:tav tm="0">
                                          <p:val>
                                            <p:strVal val="#ppt_x"/>
                                          </p:val>
                                        </p:tav>
                                        <p:tav tm="100000">
                                          <p:val>
                                            <p:strVal val="#ppt_x"/>
                                          </p:val>
                                        </p:tav>
                                      </p:tavLst>
                                    </p:anim>
                                    <p:anim calcmode="lin" valueType="num">
                                      <p:cBhvr>
                                        <p:cTn id="43" dur="500" fill="hold"/>
                                        <p:tgtEl>
                                          <p:spTgt spid="12"/>
                                        </p:tgtEl>
                                        <p:attrNameLst>
                                          <p:attrName>ppt_y</p:attrName>
                                        </p:attrNameLst>
                                      </p:cBhvr>
                                      <p:tavLst>
                                        <p:tav tm="0">
                                          <p:val>
                                            <p:strVal val="#ppt_y+0.05"/>
                                          </p:val>
                                        </p:tav>
                                        <p:tav tm="100000">
                                          <p:val>
                                            <p:strVal val="#ppt_y"/>
                                          </p:val>
                                        </p:tav>
                                      </p:tavLst>
                                    </p:anim>
                                  </p:childTnLst>
                                </p:cTn>
                              </p:par>
                              <p:par>
                                <p:cTn id="47" presetID="10" presetClass="entr" presetSubtype="0" fill="hold" grpId="0" nodeType="withEffect" decel="100000">
                                  <p:stCondLst>
                                    <p:cond delay="7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par>
                                <p:cTn id="52" presetID="53" presetClass="entr" presetSubtype="16" fill="hold" grpId="0" nodeType="withEffect" decel="100000">
                                  <p:stCondLst>
                                    <p:cond delay="750"/>
                                  </p:stCondLst>
                                  <p:childTnLst>
                                    <p:set>
                                      <p:cBhvr>
                                        <p:cTn id="48" dur="1" fill="hold">
                                          <p:stCondLst>
                                            <p:cond delay="0"/>
                                          </p:stCondLst>
                                        </p:cTn>
                                        <p:tgtEl>
                                          <p:spTgt spid="14"/>
                                        </p:tgtEl>
                                        <p:attrNameLst>
                                          <p:attrName>style.visibility</p:attrName>
                                        </p:attrNameLst>
                                      </p:cBhvr>
                                      <p:to>
                                        <p:strVal val="visible"/>
                                      </p:to>
                                    </p:set>
                                    <p:anim calcmode="lin" valueType="num">
                                      <p:cBhvr>
                                        <p:cTn id="49" dur="400" fill="hold"/>
                                        <p:tgtEl>
                                          <p:spTgt spid="14"/>
                                        </p:tgtEl>
                                        <p:attrNameLst>
                                          <p:attrName>ppt_w</p:attrName>
                                        </p:attrNameLst>
                                      </p:cBhvr>
                                      <p:tavLst>
                                        <p:tav tm="0">
                                          <p:val>
                                            <p:strVal val="#ppt_w*0.70"/>
                                          </p:val>
                                        </p:tav>
                                        <p:tav tm="100000">
                                          <p:val>
                                            <p:strVal val="#ppt_w"/>
                                          </p:val>
                                        </p:tav>
                                      </p:tavLst>
                                    </p:anim>
                                    <p:anim calcmode="lin" valueType="num">
                                      <p:cBhvr>
                                        <p:cTn id="50" dur="400" fill="hold"/>
                                        <p:tgtEl>
                                          <p:spTgt spid="14"/>
                                        </p:tgtEl>
                                        <p:attrNameLst>
                                          <p:attrName>ppt_h</p:attrName>
                                        </p:attrNameLst>
                                      </p:cBhvr>
                                      <p:tavLst>
                                        <p:tav tm="0">
                                          <p:val>
                                            <p:strVal val="#ppt_h*0.70"/>
                                          </p:val>
                                        </p:tav>
                                        <p:tav tm="100000">
                                          <p:val>
                                            <p:strVal val="#ppt_h"/>
                                          </p:val>
                                        </p:tav>
                                      </p:tavLst>
                                    </p:anim>
                                    <p:animEffect transition="in" filter="fade">
                                      <p:cBhvr>
                                        <p:cTn id="51" dur="400"/>
                                        <p:tgtEl>
                                          <p:spTgt spid="14"/>
                                        </p:tgtEl>
                                      </p:cBhvr>
                                    </p:animEffect>
                                  </p:childTnLst>
                                </p:cTn>
                              </p:par>
                              <p:par>
                                <p:cTn id="57" presetID="42" presetClass="entr" presetSubtype="0" fill="hold" grpId="0" nodeType="withEffect" decel="100000">
                                  <p:stCondLst>
                                    <p:cond delay="85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p:cTn id="55" dur="500" fill="hold"/>
                                        <p:tgtEl>
                                          <p:spTgt spid="15"/>
                                        </p:tgtEl>
                                        <p:attrNameLst>
                                          <p:attrName>ppt_x</p:attrName>
                                        </p:attrNameLst>
                                      </p:cBhvr>
                                      <p:tavLst>
                                        <p:tav tm="0">
                                          <p:val>
                                            <p:strVal val="#ppt_x"/>
                                          </p:val>
                                        </p:tav>
                                        <p:tav tm="100000">
                                          <p:val>
                                            <p:strVal val="#ppt_x"/>
                                          </p:val>
                                        </p:tav>
                                      </p:tavLst>
                                    </p:anim>
                                    <p:anim calcmode="lin" valueType="num">
                                      <p:cBhvr>
                                        <p:cTn id="56" dur="500" fill="hold"/>
                                        <p:tgtEl>
                                          <p:spTgt spid="15"/>
                                        </p:tgtEl>
                                        <p:attrNameLst>
                                          <p:attrName>ppt_y</p:attrName>
                                        </p:attrNameLst>
                                      </p:cBhvr>
                                      <p:tavLst>
                                        <p:tav tm="0">
                                          <p:val>
                                            <p:strVal val="#ppt_y+0.05"/>
                                          </p:val>
                                        </p:tav>
                                        <p:tav tm="100000">
                                          <p:val>
                                            <p:strVal val="#ppt_y"/>
                                          </p:val>
                                        </p:tav>
                                      </p:tavLst>
                                    </p:anim>
                                  </p:childTnLst>
                                </p:cTn>
                              </p:par>
                              <p:par>
                                <p:cTn id="60" presetID="10" presetClass="entr" presetSubtype="0" fill="hold" grpId="0" nodeType="withEffect" decel="100000">
                                  <p:stCondLst>
                                    <p:cond delay="105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par>
                                <p:cTn id="65" presetID="53" presetClass="entr" presetSubtype="16" fill="hold" grpId="0" nodeType="withEffect" decel="100000">
                                  <p:stCondLst>
                                    <p:cond delay="1050"/>
                                  </p:stCondLst>
                                  <p:childTnLst>
                                    <p:set>
                                      <p:cBhvr>
                                        <p:cTn id="61" dur="1" fill="hold">
                                          <p:stCondLst>
                                            <p:cond delay="0"/>
                                          </p:stCondLst>
                                        </p:cTn>
                                        <p:tgtEl>
                                          <p:spTgt spid="17"/>
                                        </p:tgtEl>
                                        <p:attrNameLst>
                                          <p:attrName>style.visibility</p:attrName>
                                        </p:attrNameLst>
                                      </p:cBhvr>
                                      <p:to>
                                        <p:strVal val="visible"/>
                                      </p:to>
                                    </p:set>
                                    <p:anim calcmode="lin" valueType="num">
                                      <p:cBhvr>
                                        <p:cTn id="62" dur="400" fill="hold"/>
                                        <p:tgtEl>
                                          <p:spTgt spid="17"/>
                                        </p:tgtEl>
                                        <p:attrNameLst>
                                          <p:attrName>ppt_w</p:attrName>
                                        </p:attrNameLst>
                                      </p:cBhvr>
                                      <p:tavLst>
                                        <p:tav tm="0">
                                          <p:val>
                                            <p:strVal val="#ppt_w*0.70"/>
                                          </p:val>
                                        </p:tav>
                                        <p:tav tm="100000">
                                          <p:val>
                                            <p:strVal val="#ppt_w"/>
                                          </p:val>
                                        </p:tav>
                                      </p:tavLst>
                                    </p:anim>
                                    <p:anim calcmode="lin" valueType="num">
                                      <p:cBhvr>
                                        <p:cTn id="63" dur="400" fill="hold"/>
                                        <p:tgtEl>
                                          <p:spTgt spid="17"/>
                                        </p:tgtEl>
                                        <p:attrNameLst>
                                          <p:attrName>ppt_h</p:attrName>
                                        </p:attrNameLst>
                                      </p:cBhvr>
                                      <p:tavLst>
                                        <p:tav tm="0">
                                          <p:val>
                                            <p:strVal val="#ppt_h*0.70"/>
                                          </p:val>
                                        </p:tav>
                                        <p:tav tm="100000">
                                          <p:val>
                                            <p:strVal val="#ppt_h"/>
                                          </p:val>
                                        </p:tav>
                                      </p:tavLst>
                                    </p:anim>
                                    <p:animEffect transition="in" filter="fade">
                                      <p:cBhvr>
                                        <p:cTn id="64" dur="400"/>
                                        <p:tgtEl>
                                          <p:spTgt spid="17"/>
                                        </p:tgtEl>
                                      </p:cBhvr>
                                    </p:animEffect>
                                  </p:childTnLst>
                                </p:cTn>
                              </p:par>
                              <p:par>
                                <p:cTn id="70" presetID="42" presetClass="entr" presetSubtype="0" fill="hold" grpId="0" nodeType="withEffect" decel="100000">
                                  <p:stCondLst>
                                    <p:cond delay="115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0.05"/>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77" presetID="42" presetClass="entr" presetSubtype="0" fill="hold" grpId="0" nodeType="clickEffect" decel="100000">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p:cTn id="75" dur="500" fill="hold"/>
                                        <p:tgtEl>
                                          <p:spTgt spid="19"/>
                                        </p:tgtEl>
                                        <p:attrNameLst>
                                          <p:attrName>ppt_x</p:attrName>
                                        </p:attrNameLst>
                                      </p:cBhvr>
                                      <p:tavLst>
                                        <p:tav tm="0">
                                          <p:val>
                                            <p:strVal val="#ppt_x"/>
                                          </p:val>
                                        </p:tav>
                                        <p:tav tm="100000">
                                          <p:val>
                                            <p:strVal val="#ppt_x"/>
                                          </p:val>
                                        </p:tav>
                                      </p:tavLst>
                                    </p:anim>
                                    <p:anim calcmode="lin" valueType="num">
                                      <p:cBhvr>
                                        <p:cTn id="76" dur="500" fill="hold"/>
                                        <p:tgtEl>
                                          <p:spTgt spid="19"/>
                                        </p:tgtEl>
                                        <p:attrNameLst>
                                          <p:attrName>ppt_y</p:attrName>
                                        </p:attrNameLst>
                                      </p:cBhvr>
                                      <p:tavLst>
                                        <p:tav tm="0">
                                          <p:val>
                                            <p:strVal val="#ppt_y+0.05"/>
                                          </p:val>
                                        </p:tav>
                                        <p:tav tm="100000">
                                          <p:val>
                                            <p:strVal val="#ppt_y"/>
                                          </p:val>
                                        </p:tav>
                                      </p:tavLst>
                                    </p:anim>
                                  </p:childTnLst>
                                </p:cTn>
                              </p:par>
                              <p:par>
                                <p:cTn id="82" presetID="42" presetClass="entr" presetSubtype="0" fill="hold" grpId="0" nodeType="withEffect" decel="100000">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anim calcmode="lin" valueType="num">
                                      <p:cBhvr>
                                        <p:cTn id="80" dur="500" fill="hold"/>
                                        <p:tgtEl>
                                          <p:spTgt spid="20"/>
                                        </p:tgtEl>
                                        <p:attrNameLst>
                                          <p:attrName>ppt_x</p:attrName>
                                        </p:attrNameLst>
                                      </p:cBhvr>
                                      <p:tavLst>
                                        <p:tav tm="0">
                                          <p:val>
                                            <p:strVal val="#ppt_x"/>
                                          </p:val>
                                        </p:tav>
                                        <p:tav tm="100000">
                                          <p:val>
                                            <p:strVal val="#ppt_x"/>
                                          </p:val>
                                        </p:tav>
                                      </p:tavLst>
                                    </p:anim>
                                    <p:anim calcmode="lin" valueType="num">
                                      <p:cBhvr>
                                        <p:cTn id="81" dur="500" fill="hold"/>
                                        <p:tgtEl>
                                          <p:spTgt spid="20"/>
                                        </p:tgtEl>
                                        <p:attrNameLst>
                                          <p:attrName>ppt_y</p:attrName>
                                        </p:attrNameLst>
                                      </p:cBhvr>
                                      <p:tavLst>
                                        <p:tav tm="0">
                                          <p:val>
                                            <p:strVal val="#ppt_y+0.05"/>
                                          </p:val>
                                        </p:tav>
                                        <p:tav tm="100000">
                                          <p:val>
                                            <p:strVal val="#ppt_y"/>
                                          </p:val>
                                        </p:tav>
                                      </p:tavLst>
                                    </p:anim>
                                  </p:childTnLst>
                                </p:cTn>
                              </p:par>
                              <p:par>
                                <p:cTn id="87" presetID="42" presetClass="entr" presetSubtype="0" fill="hold" grpId="0" nodeType="withEffect" decel="100000">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500"/>
                                        <p:tgtEl>
                                          <p:spTgt spid="21"/>
                                        </p:tgtEl>
                                      </p:cBhvr>
                                    </p:animEffect>
                                    <p:anim calcmode="lin" valueType="num">
                                      <p:cBhvr>
                                        <p:cTn id="85" dur="500" fill="hold"/>
                                        <p:tgtEl>
                                          <p:spTgt spid="21"/>
                                        </p:tgtEl>
                                        <p:attrNameLst>
                                          <p:attrName>ppt_x</p:attrName>
                                        </p:attrNameLst>
                                      </p:cBhvr>
                                      <p:tavLst>
                                        <p:tav tm="0">
                                          <p:val>
                                            <p:strVal val="#ppt_x"/>
                                          </p:val>
                                        </p:tav>
                                        <p:tav tm="100000">
                                          <p:val>
                                            <p:strVal val="#ppt_x"/>
                                          </p:val>
                                        </p:tav>
                                      </p:tavLst>
                                    </p:anim>
                                    <p:anim calcmode="lin" valueType="num">
                                      <p:cBhvr>
                                        <p:cTn id="86" dur="500" fill="hold"/>
                                        <p:tgtEl>
                                          <p:spTgt spid="21"/>
                                        </p:tgtEl>
                                        <p:attrNameLst>
                                          <p:attrName>ppt_y</p:attrName>
                                        </p:attrNameLst>
                                      </p:cBhvr>
                                      <p:tavLst>
                                        <p:tav tm="0">
                                          <p:val>
                                            <p:strVal val="#ppt_y+0.05"/>
                                          </p:val>
                                        </p:tav>
                                        <p:tav tm="100000">
                                          <p:val>
                                            <p:strVal val="#ppt_y"/>
                                          </p:val>
                                        </p:tav>
                                      </p:tavLst>
                                    </p:anim>
                                  </p:childTnLst>
                                </p:cTn>
                              </p:par>
                              <p:par>
                                <p:cTn id="92" presetID="42" presetClass="entr" presetSubtype="0" fill="hold" grpId="0" nodeType="withEffect" decel="100000">
                                  <p:stCondLst>
                                    <p:cond delay="18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anim calcmode="lin" valueType="num">
                                      <p:cBhvr>
                                        <p:cTn id="90" dur="500" fill="hold"/>
                                        <p:tgtEl>
                                          <p:spTgt spid="22"/>
                                        </p:tgtEl>
                                        <p:attrNameLst>
                                          <p:attrName>ppt_x</p:attrName>
                                        </p:attrNameLst>
                                      </p:cBhvr>
                                      <p:tavLst>
                                        <p:tav tm="0">
                                          <p:val>
                                            <p:strVal val="#ppt_x"/>
                                          </p:val>
                                        </p:tav>
                                        <p:tav tm="100000">
                                          <p:val>
                                            <p:strVal val="#ppt_x"/>
                                          </p:val>
                                        </p:tav>
                                      </p:tavLst>
                                    </p:anim>
                                    <p:anim calcmode="lin" valueType="num">
                                      <p:cBhvr>
                                        <p:cTn id="91" dur="500" fill="hold"/>
                                        <p:tgtEl>
                                          <p:spTgt spid="22"/>
                                        </p:tgtEl>
                                        <p:attrNameLst>
                                          <p:attrName>ppt_y</p:attrName>
                                        </p:attrNameLst>
                                      </p:cBhvr>
                                      <p:tavLst>
                                        <p:tav tm="0">
                                          <p:val>
                                            <p:strVal val="#ppt_y+0.05"/>
                                          </p:val>
                                        </p:tav>
                                        <p:tav tm="100000">
                                          <p:val>
                                            <p:strVal val="#ppt_y"/>
                                          </p:val>
                                        </p:tav>
                                      </p:tavLst>
                                    </p:anim>
                                  </p:childTnLst>
                                </p:cTn>
                              </p:par>
                              <p:par>
                                <p:cTn id="97" presetID="42" presetClass="entr" presetSubtype="0" fill="hold" grpId="0" nodeType="withEffect" decel="100000">
                                  <p:stCondLst>
                                    <p:cond delay="18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00"/>
                                        <p:tgtEl>
                                          <p:spTgt spid="23"/>
                                        </p:tgtEl>
                                      </p:cBhvr>
                                    </p:animEffect>
                                    <p:anim calcmode="lin" valueType="num">
                                      <p:cBhvr>
                                        <p:cTn id="95" dur="500" fill="hold"/>
                                        <p:tgtEl>
                                          <p:spTgt spid="23"/>
                                        </p:tgtEl>
                                        <p:attrNameLst>
                                          <p:attrName>ppt_x</p:attrName>
                                        </p:attrNameLst>
                                      </p:cBhvr>
                                      <p:tavLst>
                                        <p:tav tm="0">
                                          <p:val>
                                            <p:strVal val="#ppt_x"/>
                                          </p:val>
                                        </p:tav>
                                        <p:tav tm="100000">
                                          <p:val>
                                            <p:strVal val="#ppt_x"/>
                                          </p:val>
                                        </p:tav>
                                      </p:tavLst>
                                    </p:anim>
                                    <p:anim calcmode="lin" valueType="num">
                                      <p:cBhvr>
                                        <p:cTn id="96" dur="500" fill="hold"/>
                                        <p:tgtEl>
                                          <p:spTgt spid="23"/>
                                        </p:tgtEl>
                                        <p:attrNameLst>
                                          <p:attrName>ppt_y</p:attrName>
                                        </p:attrNameLst>
                                      </p:cBhvr>
                                      <p:tavLst>
                                        <p:tav tm="0">
                                          <p:val>
                                            <p:strVal val="#ppt_y+0.05"/>
                                          </p:val>
                                        </p:tav>
                                        <p:tav tm="100000">
                                          <p:val>
                                            <p:strVal val="#ppt_y"/>
                                          </p:val>
                                        </p:tav>
                                      </p:tavLst>
                                    </p:anim>
                                  </p:childTnLst>
                                </p:cTn>
                              </p:par>
                              <p:par>
                                <p:cTn id="102" presetID="42" presetClass="entr" presetSubtype="0" fill="hold" grpId="0" nodeType="withEffect" decel="100000">
                                  <p:stCondLst>
                                    <p:cond delay="18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500"/>
                                        <p:tgtEl>
                                          <p:spTgt spid="24"/>
                                        </p:tgtEl>
                                      </p:cBhvr>
                                    </p:animEffect>
                                    <p:anim calcmode="lin" valueType="num">
                                      <p:cBhvr>
                                        <p:cTn id="100" dur="500" fill="hold"/>
                                        <p:tgtEl>
                                          <p:spTgt spid="24"/>
                                        </p:tgtEl>
                                        <p:attrNameLst>
                                          <p:attrName>ppt_x</p:attrName>
                                        </p:attrNameLst>
                                      </p:cBhvr>
                                      <p:tavLst>
                                        <p:tav tm="0">
                                          <p:val>
                                            <p:strVal val="#ppt_x"/>
                                          </p:val>
                                        </p:tav>
                                        <p:tav tm="100000">
                                          <p:val>
                                            <p:strVal val="#ppt_x"/>
                                          </p:val>
                                        </p:tav>
                                      </p:tavLst>
                                    </p:anim>
                                    <p:anim calcmode="lin" valueType="num">
                                      <p:cBhvr>
                                        <p:cTn id="101" dur="500" fill="hold"/>
                                        <p:tgtEl>
                                          <p:spTgt spid="24"/>
                                        </p:tgtEl>
                                        <p:attrNameLst>
                                          <p:attrName>ppt_y</p:attrName>
                                        </p:attrNameLst>
                                      </p:cBhvr>
                                      <p:tavLst>
                                        <p:tav tm="0">
                                          <p:val>
                                            <p:strVal val="#ppt_y+0.05"/>
                                          </p:val>
                                        </p:tav>
                                        <p:tav tm="100000">
                                          <p:val>
                                            <p:strVal val="#ppt_y"/>
                                          </p:val>
                                        </p:tav>
                                      </p:tavLst>
                                    </p:anim>
                                  </p:childTnLst>
                                </p:cTn>
                              </p:par>
                              <p:par>
                                <p:cTn id="107" presetID="42" presetClass="entr" presetSubtype="0" fill="hold" grpId="0" nodeType="withEffect" decel="100000">
                                  <p:stCondLst>
                                    <p:cond delay="36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500"/>
                                        <p:tgtEl>
                                          <p:spTgt spid="25"/>
                                        </p:tgtEl>
                                      </p:cBhvr>
                                    </p:animEffect>
                                    <p:anim calcmode="lin" valueType="num">
                                      <p:cBhvr>
                                        <p:cTn id="105" dur="500" fill="hold"/>
                                        <p:tgtEl>
                                          <p:spTgt spid="25"/>
                                        </p:tgtEl>
                                        <p:attrNameLst>
                                          <p:attrName>ppt_x</p:attrName>
                                        </p:attrNameLst>
                                      </p:cBhvr>
                                      <p:tavLst>
                                        <p:tav tm="0">
                                          <p:val>
                                            <p:strVal val="#ppt_x"/>
                                          </p:val>
                                        </p:tav>
                                        <p:tav tm="100000">
                                          <p:val>
                                            <p:strVal val="#ppt_x"/>
                                          </p:val>
                                        </p:tav>
                                      </p:tavLst>
                                    </p:anim>
                                    <p:anim calcmode="lin" valueType="num">
                                      <p:cBhvr>
                                        <p:cTn id="106" dur="500" fill="hold"/>
                                        <p:tgtEl>
                                          <p:spTgt spid="25"/>
                                        </p:tgtEl>
                                        <p:attrNameLst>
                                          <p:attrName>ppt_y</p:attrName>
                                        </p:attrNameLst>
                                      </p:cBhvr>
                                      <p:tavLst>
                                        <p:tav tm="0">
                                          <p:val>
                                            <p:strVal val="#ppt_y+0.05"/>
                                          </p:val>
                                        </p:tav>
                                        <p:tav tm="100000">
                                          <p:val>
                                            <p:strVal val="#ppt_y"/>
                                          </p:val>
                                        </p:tav>
                                      </p:tavLst>
                                    </p:anim>
                                  </p:childTnLst>
                                </p:cTn>
                              </p:par>
                              <p:par>
                                <p:cTn id="112" presetID="42" presetClass="entr" presetSubtype="0" fill="hold" grpId="0" nodeType="withEffect" decel="100000">
                                  <p:stCondLst>
                                    <p:cond delay="36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500"/>
                                        <p:tgtEl>
                                          <p:spTgt spid="26"/>
                                        </p:tgtEl>
                                      </p:cBhvr>
                                    </p:animEffect>
                                    <p:anim calcmode="lin" valueType="num">
                                      <p:cBhvr>
                                        <p:cTn id="110" dur="500" fill="hold"/>
                                        <p:tgtEl>
                                          <p:spTgt spid="26"/>
                                        </p:tgtEl>
                                        <p:attrNameLst>
                                          <p:attrName>ppt_x</p:attrName>
                                        </p:attrNameLst>
                                      </p:cBhvr>
                                      <p:tavLst>
                                        <p:tav tm="0">
                                          <p:val>
                                            <p:strVal val="#ppt_x"/>
                                          </p:val>
                                        </p:tav>
                                        <p:tav tm="100000">
                                          <p:val>
                                            <p:strVal val="#ppt_x"/>
                                          </p:val>
                                        </p:tav>
                                      </p:tavLst>
                                    </p:anim>
                                    <p:anim calcmode="lin" valueType="num">
                                      <p:cBhvr>
                                        <p:cTn id="111" dur="500" fill="hold"/>
                                        <p:tgtEl>
                                          <p:spTgt spid="26"/>
                                        </p:tgtEl>
                                        <p:attrNameLst>
                                          <p:attrName>ppt_y</p:attrName>
                                        </p:attrNameLst>
                                      </p:cBhvr>
                                      <p:tavLst>
                                        <p:tav tm="0">
                                          <p:val>
                                            <p:strVal val="#ppt_y+0.05"/>
                                          </p:val>
                                        </p:tav>
                                        <p:tav tm="100000">
                                          <p:val>
                                            <p:strVal val="#ppt_y"/>
                                          </p:val>
                                        </p:tav>
                                      </p:tavLst>
                                    </p:anim>
                                  </p:childTnLst>
                                </p:cTn>
                              </p:par>
                              <p:par>
                                <p:cTn id="117" presetID="42" presetClass="entr" presetSubtype="0" fill="hold" grpId="0" nodeType="withEffect" decel="100000">
                                  <p:stCondLst>
                                    <p:cond delay="36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500"/>
                                        <p:tgtEl>
                                          <p:spTgt spid="27"/>
                                        </p:tgtEl>
                                      </p:cBhvr>
                                    </p:animEffect>
                                    <p:anim calcmode="lin" valueType="num">
                                      <p:cBhvr>
                                        <p:cTn id="115" dur="500" fill="hold"/>
                                        <p:tgtEl>
                                          <p:spTgt spid="27"/>
                                        </p:tgtEl>
                                        <p:attrNameLst>
                                          <p:attrName>ppt_x</p:attrName>
                                        </p:attrNameLst>
                                      </p:cBhvr>
                                      <p:tavLst>
                                        <p:tav tm="0">
                                          <p:val>
                                            <p:strVal val="#ppt_x"/>
                                          </p:val>
                                        </p:tav>
                                        <p:tav tm="100000">
                                          <p:val>
                                            <p:strVal val="#ppt_x"/>
                                          </p:val>
                                        </p:tav>
                                      </p:tavLst>
                                    </p:anim>
                                    <p:anim calcmode="lin" valueType="num">
                                      <p:cBhvr>
                                        <p:cTn id="116" dur="500" fill="hold"/>
                                        <p:tgtEl>
                                          <p:spTgt spid="2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3" name="txt_4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PROBLEM STATEMENT</a:t>
            </a:r>
            <a:endParaRPr lang="en-US" sz="1100" dirty="0"/>
          </a:p>
        </p:txBody>
      </p:sp>
      <p:sp>
        <p:nvSpPr>
          <p:cNvPr id="4" name="txt_4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Problems We Found</a:t>
            </a:r>
            <a:endParaRPr lang="en-US" sz="3200" dirty="0"/>
          </a:p>
        </p:txBody>
      </p:sp>
      <p:sp>
        <p:nvSpPr>
          <p:cNvPr id="5" name="shp_4_2"/>
          <p:cNvSpPr/>
          <p:nvPr/>
        </p:nvSpPr>
        <p:spPr>
          <a:xfrm>
            <a:off x="548640" y="1600200"/>
            <a:ext cx="5410048" cy="1645920"/>
          </a:xfrm>
          <a:prstGeom prst="roundRect">
            <a:avLst>
              <a:gd name="adj" fmla="val 5556"/>
            </a:avLst>
          </a:prstGeom>
          <a:solidFill>
            <a:srgbClr val="112038"/>
          </a:solidFill>
          <a:ln w="9525">
            <a:solidFill>
              <a:srgbClr val="243A5E"/>
            </a:solidFill>
            <a:prstDash val="solid"/>
          </a:ln>
        </p:spPr>
      </p:sp>
      <p:sp>
        <p:nvSpPr>
          <p:cNvPr id="6" name="shp_4_3"/>
          <p:cNvSpPr/>
          <p:nvPr/>
        </p:nvSpPr>
        <p:spPr>
          <a:xfrm>
            <a:off x="914400" y="1965960"/>
            <a:ext cx="685800" cy="685800"/>
          </a:xfrm>
          <a:prstGeom prst="ellipse">
            <a:avLst/>
          </a:prstGeom>
          <a:solidFill>
            <a:srgbClr val="3B2A0C"/>
          </a:solidFill>
          <a:ln w="9525">
            <a:solidFill>
              <a:srgbClr val="F5A524"/>
            </a:solidFill>
            <a:prstDash val="solid"/>
          </a:ln>
        </p:spPr>
      </p:sp>
      <p:pic>
        <p:nvPicPr>
          <p:cNvPr id="7" name="img_4_4" descr="preencoded.png">    </p:cNvPr>
          <p:cNvPicPr>
            <a:picLocks noChangeAspect="1"/>
          </p:cNvPicPr>
          <p:nvPr/>
        </p:nvPicPr>
        <p:blipFill>
          <a:blip r:embed="rId1"/>
          <a:stretch>
            <a:fillRect/>
          </a:stretch>
        </p:blipFill>
        <p:spPr>
          <a:xfrm>
            <a:off x="1078992" y="2130552"/>
            <a:ext cx="356616" cy="356616"/>
          </a:xfrm>
          <a:prstGeom prst="rect">
            <a:avLst/>
          </a:prstGeom>
        </p:spPr>
      </p:pic>
      <p:sp>
        <p:nvSpPr>
          <p:cNvPr id="8" name="txt_4_5"/>
          <p:cNvSpPr txBox="1"/>
          <p:nvPr/>
        </p:nvSpPr>
        <p:spPr>
          <a:xfrm>
            <a:off x="5044288" y="1874520"/>
            <a:ext cx="640080" cy="320040"/>
          </a:xfrm>
          <a:prstGeom prst="rect">
            <a:avLst/>
          </a:prstGeom>
          <a:noFill/>
          <a:ln/>
        </p:spPr>
        <p:txBody>
          <a:bodyPr wrap="square" lIns="0" tIns="0" rIns="0" bIns="0" rtlCol="0" anchor="t"/>
          <a:lstStyle/>
          <a:p>
            <a:pPr algn="r" indent="0" marL="0">
              <a:buNone/>
            </a:pPr>
            <a:r>
              <a:rPr lang="en-US" sz="1400" b="1" dirty="0">
                <a:solidFill>
                  <a:srgbClr val="71819A"/>
                </a:solidFill>
                <a:latin typeface="Calibri" pitchFamily="34" charset="0"/>
                <a:ea typeface="Calibri" pitchFamily="34" charset="-122"/>
                <a:cs typeface="Calibri" pitchFamily="34" charset="-120"/>
              </a:rPr>
              <a:t>01</a:t>
            </a:r>
            <a:endParaRPr lang="en-US" sz="1400" dirty="0"/>
          </a:p>
        </p:txBody>
      </p:sp>
      <p:sp>
        <p:nvSpPr>
          <p:cNvPr id="9" name="txt_4_6"/>
          <p:cNvSpPr txBox="1"/>
          <p:nvPr/>
        </p:nvSpPr>
        <p:spPr>
          <a:xfrm>
            <a:off x="1874520" y="1947672"/>
            <a:ext cx="3215488"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Manual, inconsistent pricing</a:t>
            </a:r>
            <a:endParaRPr lang="en-US" sz="1900" dirty="0"/>
          </a:p>
        </p:txBody>
      </p:sp>
      <p:sp>
        <p:nvSpPr>
          <p:cNvPr id="10" name="txt_4_7"/>
          <p:cNvSpPr txBox="1"/>
          <p:nvPr/>
        </p:nvSpPr>
        <p:spPr>
          <a:xfrm>
            <a:off x="1874520" y="2377440"/>
            <a:ext cx="3718408" cy="6858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Rates copied from sheets and old emails — two brokers, two prices, no explanation.</a:t>
            </a:r>
            <a:endParaRPr lang="en-US" sz="1400" dirty="0"/>
          </a:p>
        </p:txBody>
      </p:sp>
      <p:sp>
        <p:nvSpPr>
          <p:cNvPr id="11" name="shp_4_8"/>
          <p:cNvSpPr/>
          <p:nvPr/>
        </p:nvSpPr>
        <p:spPr>
          <a:xfrm>
            <a:off x="6233008" y="1600200"/>
            <a:ext cx="5410048" cy="1645920"/>
          </a:xfrm>
          <a:prstGeom prst="roundRect">
            <a:avLst>
              <a:gd name="adj" fmla="val 5556"/>
            </a:avLst>
          </a:prstGeom>
          <a:solidFill>
            <a:srgbClr val="112038"/>
          </a:solidFill>
          <a:ln w="9525">
            <a:solidFill>
              <a:srgbClr val="243A5E"/>
            </a:solidFill>
            <a:prstDash val="solid"/>
          </a:ln>
        </p:spPr>
      </p:sp>
      <p:sp>
        <p:nvSpPr>
          <p:cNvPr id="12" name="shp_4_9"/>
          <p:cNvSpPr/>
          <p:nvPr/>
        </p:nvSpPr>
        <p:spPr>
          <a:xfrm>
            <a:off x="6598768" y="1965960"/>
            <a:ext cx="685800" cy="685800"/>
          </a:xfrm>
          <a:prstGeom prst="ellipse">
            <a:avLst/>
          </a:prstGeom>
          <a:solidFill>
            <a:srgbClr val="3B2A0C"/>
          </a:solidFill>
          <a:ln w="9525">
            <a:solidFill>
              <a:srgbClr val="F5A524"/>
            </a:solidFill>
            <a:prstDash val="solid"/>
          </a:ln>
        </p:spPr>
      </p:sp>
      <p:pic>
        <p:nvPicPr>
          <p:cNvPr id="13" name="img_4_10" descr="preencoded.png">    </p:cNvPr>
          <p:cNvPicPr>
            <a:picLocks noChangeAspect="1"/>
          </p:cNvPicPr>
          <p:nvPr/>
        </p:nvPicPr>
        <p:blipFill>
          <a:blip r:embed="rId2"/>
          <a:stretch>
            <a:fillRect/>
          </a:stretch>
        </p:blipFill>
        <p:spPr>
          <a:xfrm>
            <a:off x="6763360" y="2130552"/>
            <a:ext cx="356616" cy="356616"/>
          </a:xfrm>
          <a:prstGeom prst="rect">
            <a:avLst/>
          </a:prstGeom>
        </p:spPr>
      </p:pic>
      <p:sp>
        <p:nvSpPr>
          <p:cNvPr id="14" name="txt_4_11"/>
          <p:cNvSpPr txBox="1"/>
          <p:nvPr/>
        </p:nvSpPr>
        <p:spPr>
          <a:xfrm>
            <a:off x="10728655" y="1874520"/>
            <a:ext cx="640080" cy="320040"/>
          </a:xfrm>
          <a:prstGeom prst="rect">
            <a:avLst/>
          </a:prstGeom>
          <a:noFill/>
          <a:ln/>
        </p:spPr>
        <p:txBody>
          <a:bodyPr wrap="square" lIns="0" tIns="0" rIns="0" bIns="0" rtlCol="0" anchor="t"/>
          <a:lstStyle/>
          <a:p>
            <a:pPr algn="r" indent="0" marL="0">
              <a:buNone/>
            </a:pPr>
            <a:r>
              <a:rPr lang="en-US" sz="1400" b="1" dirty="0">
                <a:solidFill>
                  <a:srgbClr val="71819A"/>
                </a:solidFill>
                <a:latin typeface="Calibri" pitchFamily="34" charset="0"/>
                <a:ea typeface="Calibri" pitchFamily="34" charset="-122"/>
                <a:cs typeface="Calibri" pitchFamily="34" charset="-120"/>
              </a:rPr>
              <a:t>02</a:t>
            </a:r>
            <a:endParaRPr lang="en-US" sz="1400" dirty="0"/>
          </a:p>
        </p:txBody>
      </p:sp>
      <p:sp>
        <p:nvSpPr>
          <p:cNvPr id="15" name="txt_4_12"/>
          <p:cNvSpPr txBox="1"/>
          <p:nvPr/>
        </p:nvSpPr>
        <p:spPr>
          <a:xfrm>
            <a:off x="7558888" y="1947672"/>
            <a:ext cx="3215488"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Weather blindness</a:t>
            </a:r>
            <a:endParaRPr lang="en-US" sz="1900" dirty="0"/>
          </a:p>
        </p:txBody>
      </p:sp>
      <p:sp>
        <p:nvSpPr>
          <p:cNvPr id="16" name="txt_4_13"/>
          <p:cNvSpPr txBox="1"/>
          <p:nvPr/>
        </p:nvSpPr>
        <p:spPr>
          <a:xfrm>
            <a:off x="7558888" y="2377440"/>
            <a:ext cx="3718408" cy="6858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The price is fixed before anyone looks at the waves on the actual lane.</a:t>
            </a:r>
            <a:endParaRPr lang="en-US" sz="1400" dirty="0"/>
          </a:p>
        </p:txBody>
      </p:sp>
      <p:sp>
        <p:nvSpPr>
          <p:cNvPr id="17" name="shp_4_14"/>
          <p:cNvSpPr/>
          <p:nvPr/>
        </p:nvSpPr>
        <p:spPr>
          <a:xfrm>
            <a:off x="548640" y="3520440"/>
            <a:ext cx="5410048" cy="1645920"/>
          </a:xfrm>
          <a:prstGeom prst="roundRect">
            <a:avLst>
              <a:gd name="adj" fmla="val 5556"/>
            </a:avLst>
          </a:prstGeom>
          <a:solidFill>
            <a:srgbClr val="112038"/>
          </a:solidFill>
          <a:ln w="9525">
            <a:solidFill>
              <a:srgbClr val="243A5E"/>
            </a:solidFill>
            <a:prstDash val="solid"/>
          </a:ln>
        </p:spPr>
      </p:sp>
      <p:sp>
        <p:nvSpPr>
          <p:cNvPr id="18" name="shp_4_15"/>
          <p:cNvSpPr/>
          <p:nvPr/>
        </p:nvSpPr>
        <p:spPr>
          <a:xfrm>
            <a:off x="914400" y="3886200"/>
            <a:ext cx="685800" cy="685800"/>
          </a:xfrm>
          <a:prstGeom prst="ellipse">
            <a:avLst/>
          </a:prstGeom>
          <a:solidFill>
            <a:srgbClr val="3B2A0C"/>
          </a:solidFill>
          <a:ln w="9525">
            <a:solidFill>
              <a:srgbClr val="F5A524"/>
            </a:solidFill>
            <a:prstDash val="solid"/>
          </a:ln>
        </p:spPr>
      </p:sp>
      <p:pic>
        <p:nvPicPr>
          <p:cNvPr id="19" name="img_4_16" descr="preencoded.png">    </p:cNvPr>
          <p:cNvPicPr>
            <a:picLocks noChangeAspect="1"/>
          </p:cNvPicPr>
          <p:nvPr/>
        </p:nvPicPr>
        <p:blipFill>
          <a:blip r:embed="rId3"/>
          <a:stretch>
            <a:fillRect/>
          </a:stretch>
        </p:blipFill>
        <p:spPr>
          <a:xfrm>
            <a:off x="1078992" y="4050792"/>
            <a:ext cx="356616" cy="356616"/>
          </a:xfrm>
          <a:prstGeom prst="rect">
            <a:avLst/>
          </a:prstGeom>
        </p:spPr>
      </p:pic>
      <p:sp>
        <p:nvSpPr>
          <p:cNvPr id="20" name="txt_4_17"/>
          <p:cNvSpPr txBox="1"/>
          <p:nvPr/>
        </p:nvSpPr>
        <p:spPr>
          <a:xfrm>
            <a:off x="5044288" y="3794760"/>
            <a:ext cx="640080" cy="320040"/>
          </a:xfrm>
          <a:prstGeom prst="rect">
            <a:avLst/>
          </a:prstGeom>
          <a:noFill/>
          <a:ln/>
        </p:spPr>
        <p:txBody>
          <a:bodyPr wrap="square" lIns="0" tIns="0" rIns="0" bIns="0" rtlCol="0" anchor="t"/>
          <a:lstStyle/>
          <a:p>
            <a:pPr algn="r" indent="0" marL="0">
              <a:buNone/>
            </a:pPr>
            <a:r>
              <a:rPr lang="en-US" sz="1400" b="1" dirty="0">
                <a:solidFill>
                  <a:srgbClr val="71819A"/>
                </a:solidFill>
                <a:latin typeface="Calibri" pitchFamily="34" charset="0"/>
                <a:ea typeface="Calibri" pitchFamily="34" charset="-122"/>
                <a:cs typeface="Calibri" pitchFamily="34" charset="-120"/>
              </a:rPr>
              <a:t>03</a:t>
            </a:r>
            <a:endParaRPr lang="en-US" sz="1400" dirty="0"/>
          </a:p>
        </p:txBody>
      </p:sp>
      <p:sp>
        <p:nvSpPr>
          <p:cNvPr id="21" name="txt_4_18"/>
          <p:cNvSpPr txBox="1"/>
          <p:nvPr/>
        </p:nvSpPr>
        <p:spPr>
          <a:xfrm>
            <a:off x="1874520" y="3867912"/>
            <a:ext cx="3215488"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Customs guesswork</a:t>
            </a:r>
            <a:endParaRPr lang="en-US" sz="1900" dirty="0"/>
          </a:p>
        </p:txBody>
      </p:sp>
      <p:sp>
        <p:nvSpPr>
          <p:cNvPr id="22" name="txt_4_19"/>
          <p:cNvSpPr txBox="1"/>
          <p:nvPr/>
        </p:nvSpPr>
        <p:spPr>
          <a:xfrm>
            <a:off x="1874520" y="4297680"/>
            <a:ext cx="3718408" cy="6858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One wrong HS digit or a missing certificate of origin — and the box sits, accruing demurrage.</a:t>
            </a:r>
            <a:endParaRPr lang="en-US" sz="1400" dirty="0"/>
          </a:p>
        </p:txBody>
      </p:sp>
      <p:sp>
        <p:nvSpPr>
          <p:cNvPr id="23" name="shp_4_20"/>
          <p:cNvSpPr/>
          <p:nvPr/>
        </p:nvSpPr>
        <p:spPr>
          <a:xfrm>
            <a:off x="6233008" y="3520440"/>
            <a:ext cx="5410048" cy="1645920"/>
          </a:xfrm>
          <a:prstGeom prst="roundRect">
            <a:avLst>
              <a:gd name="adj" fmla="val 5556"/>
            </a:avLst>
          </a:prstGeom>
          <a:solidFill>
            <a:srgbClr val="112038"/>
          </a:solidFill>
          <a:ln w="9525">
            <a:solidFill>
              <a:srgbClr val="243A5E"/>
            </a:solidFill>
            <a:prstDash val="solid"/>
          </a:ln>
        </p:spPr>
      </p:sp>
      <p:sp>
        <p:nvSpPr>
          <p:cNvPr id="24" name="shp_4_21"/>
          <p:cNvSpPr/>
          <p:nvPr/>
        </p:nvSpPr>
        <p:spPr>
          <a:xfrm>
            <a:off x="6598768" y="3886200"/>
            <a:ext cx="685800" cy="685800"/>
          </a:xfrm>
          <a:prstGeom prst="ellipse">
            <a:avLst/>
          </a:prstGeom>
          <a:solidFill>
            <a:srgbClr val="3B2A0C"/>
          </a:solidFill>
          <a:ln w="9525">
            <a:solidFill>
              <a:srgbClr val="F5A524"/>
            </a:solidFill>
            <a:prstDash val="solid"/>
          </a:ln>
        </p:spPr>
      </p:sp>
      <p:pic>
        <p:nvPicPr>
          <p:cNvPr id="25" name="img_4_22" descr="preencoded.png">    </p:cNvPr>
          <p:cNvPicPr>
            <a:picLocks noChangeAspect="1"/>
          </p:cNvPicPr>
          <p:nvPr/>
        </p:nvPicPr>
        <p:blipFill>
          <a:blip r:embed="rId4"/>
          <a:stretch>
            <a:fillRect/>
          </a:stretch>
        </p:blipFill>
        <p:spPr>
          <a:xfrm>
            <a:off x="6763360" y="4050792"/>
            <a:ext cx="356616" cy="356616"/>
          </a:xfrm>
          <a:prstGeom prst="rect">
            <a:avLst/>
          </a:prstGeom>
        </p:spPr>
      </p:pic>
      <p:sp>
        <p:nvSpPr>
          <p:cNvPr id="26" name="txt_4_23"/>
          <p:cNvSpPr txBox="1"/>
          <p:nvPr/>
        </p:nvSpPr>
        <p:spPr>
          <a:xfrm>
            <a:off x="10728655" y="3794760"/>
            <a:ext cx="640080" cy="320040"/>
          </a:xfrm>
          <a:prstGeom prst="rect">
            <a:avLst/>
          </a:prstGeom>
          <a:noFill/>
          <a:ln/>
        </p:spPr>
        <p:txBody>
          <a:bodyPr wrap="square" lIns="0" tIns="0" rIns="0" bIns="0" rtlCol="0" anchor="t"/>
          <a:lstStyle/>
          <a:p>
            <a:pPr algn="r" indent="0" marL="0">
              <a:buNone/>
            </a:pPr>
            <a:r>
              <a:rPr lang="en-US" sz="1400" b="1" dirty="0">
                <a:solidFill>
                  <a:srgbClr val="71819A"/>
                </a:solidFill>
                <a:latin typeface="Calibri" pitchFamily="34" charset="0"/>
                <a:ea typeface="Calibri" pitchFamily="34" charset="-122"/>
                <a:cs typeface="Calibri" pitchFamily="34" charset="-120"/>
              </a:rPr>
              <a:t>04</a:t>
            </a:r>
            <a:endParaRPr lang="en-US" sz="1400" dirty="0"/>
          </a:p>
        </p:txBody>
      </p:sp>
      <p:sp>
        <p:nvSpPr>
          <p:cNvPr id="27" name="txt_4_24"/>
          <p:cNvSpPr txBox="1"/>
          <p:nvPr/>
        </p:nvSpPr>
        <p:spPr>
          <a:xfrm>
            <a:off x="7558888" y="3867912"/>
            <a:ext cx="3215488"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No governance</a:t>
            </a:r>
            <a:endParaRPr lang="en-US" sz="1900" dirty="0"/>
          </a:p>
        </p:txBody>
      </p:sp>
      <p:sp>
        <p:nvSpPr>
          <p:cNvPr id="28" name="txt_4_25"/>
          <p:cNvSpPr txBox="1"/>
          <p:nvPr/>
        </p:nvSpPr>
        <p:spPr>
          <a:xfrm>
            <a:off x="7558888" y="4297680"/>
            <a:ext cx="3718408" cy="685800"/>
          </a:xfrm>
          <a:prstGeom prst="rect">
            <a:avLst/>
          </a:prstGeom>
          <a:noFill/>
          <a:ln/>
        </p:spPr>
        <p:txBody>
          <a:bodyPr wrap="square" lIns="0" tIns="0" rIns="0" bIns="0" rtlCol="0" anchor="t"/>
          <a:lstStyle/>
          <a:p>
            <a:pPr indent="0" marL="0">
              <a:buNone/>
            </a:pPr>
            <a:r>
              <a:rPr lang="en-US" sz="1400" dirty="0">
                <a:solidFill>
                  <a:srgbClr val="AEBBCF"/>
                </a:solidFill>
                <a:latin typeface="Calibri" pitchFamily="34" charset="0"/>
                <a:ea typeface="Calibri" pitchFamily="34" charset="-122"/>
                <a:cs typeface="Calibri" pitchFamily="34" charset="-120"/>
              </a:rPr>
              <a:t>Hazardous cargo and thin-margin quotes go out with nobody's name against them.</a:t>
            </a:r>
            <a:endParaRPr lang="en-US" sz="1400" dirty="0"/>
          </a:p>
        </p:txBody>
      </p:sp>
      <p:sp>
        <p:nvSpPr>
          <p:cNvPr id="29" name="shp_4_26"/>
          <p:cNvSpPr/>
          <p:nvPr/>
        </p:nvSpPr>
        <p:spPr>
          <a:xfrm>
            <a:off x="548640" y="5532120"/>
            <a:ext cx="11094415" cy="566928"/>
          </a:xfrm>
          <a:prstGeom prst="roundRect">
            <a:avLst>
              <a:gd name="adj" fmla="val 16129"/>
            </a:avLst>
          </a:prstGeom>
          <a:solidFill>
            <a:srgbClr val="3B2A0C"/>
          </a:solidFill>
          <a:ln w="9525">
            <a:solidFill>
              <a:srgbClr val="F5A524"/>
            </a:solidFill>
            <a:prstDash val="solid"/>
          </a:ln>
        </p:spPr>
      </p:sp>
      <p:sp>
        <p:nvSpPr>
          <p:cNvPr id="30" name="txt_4_27"/>
          <p:cNvSpPr txBox="1"/>
          <p:nvPr/>
        </p:nvSpPr>
        <p:spPr>
          <a:xfrm>
            <a:off x="914400" y="5532120"/>
            <a:ext cx="10362895" cy="566928"/>
          </a:xfrm>
          <a:prstGeom prst="rect">
            <a:avLst/>
          </a:prstGeom>
          <a:noFill/>
          <a:ln/>
        </p:spPr>
        <p:txBody>
          <a:bodyPr wrap="square" lIns="0" tIns="0" rIns="0" bIns="0" rtlCol="0" anchor="ctr"/>
          <a:lstStyle/>
          <a:p>
            <a:pPr indent="0" marL="0">
              <a:buNone/>
            </a:pPr>
            <a:r>
              <a:rPr lang="en-US" sz="1600" b="1" dirty="0">
                <a:solidFill>
                  <a:srgbClr val="F5A524"/>
                </a:solidFill>
                <a:latin typeface="Calibri" pitchFamily="34" charset="0"/>
                <a:ea typeface="Calibri" pitchFamily="34" charset="-122"/>
                <a:cs typeface="Calibri" pitchFamily="34" charset="-120"/>
              </a:rPr>
              <a:t>Together: a fast-looking number that is actually slow, blind and unverified.</a:t>
            </a:r>
            <a:endParaRPr lang="en-US" sz="1600" dirty="0"/>
          </a:p>
        </p:txBody>
      </p:sp>
      <p:sp>
        <p:nvSpPr>
          <p:cNvPr id="31" name="txt_4_28"/>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2" name="txt_4_29"/>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04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cond evt="onBegin" delay="0">
                          <p:tn val="2"/>
                        </p:cond>
                      </p:stCondLst>
                      <p:childTnLst>
                        <p:par>
                          <p:cTn id="12"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17" presetID="42" presetClass="entr" presetSubtype="0" fill="hold" grpId="0" nodeType="clickEffect" decel="100000">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0.05"/>
                                          </p:val>
                                        </p:tav>
                                        <p:tav tm="100000">
                                          <p:val>
                                            <p:strVal val="#ppt_y"/>
                                          </p:val>
                                        </p:tav>
                                      </p:tavLst>
                                    </p:anim>
                                  </p:childTnLst>
                                </p:cTn>
                              </p:par>
                              <p:par>
                                <p:cTn id="22" presetID="42" presetClass="entr" presetSubtype="0" fill="hold" grpId="0" nodeType="withEffect" decel="100000">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0.05"/>
                                          </p:val>
                                        </p:tav>
                                        <p:tav tm="100000">
                                          <p:val>
                                            <p:strVal val="#ppt_y"/>
                                          </p:val>
                                        </p:tav>
                                      </p:tavLst>
                                    </p:anim>
                                  </p:childTnLst>
                                </p:cTn>
                              </p:par>
                              <p:par>
                                <p:cTn id="27" presetID="42" presetClass="entr" presetSubtype="0" fill="hold" grpId="0" nodeType="withEffect" decel="100000">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fill="hold"/>
                                        <p:tgtEl>
                                          <p:spTgt spid="7"/>
                                        </p:tgtEl>
                                        <p:attrNameLst>
                                          <p:attrName>ppt_x</p:attrName>
                                        </p:attrNameLst>
                                      </p:cBhvr>
                                      <p:tavLst>
                                        <p:tav tm="0">
                                          <p:val>
                                            <p:strVal val="#ppt_x"/>
                                          </p:val>
                                        </p:tav>
                                        <p:tav tm="100000">
                                          <p:val>
                                            <p:strVal val="#ppt_x"/>
                                          </p:val>
                                        </p:tav>
                                      </p:tavLst>
                                    </p:anim>
                                    <p:anim calcmode="lin" valueType="num">
                                      <p:cBhvr>
                                        <p:cTn id="26" dur="500" fill="hold"/>
                                        <p:tgtEl>
                                          <p:spTgt spid="7"/>
                                        </p:tgtEl>
                                        <p:attrNameLst>
                                          <p:attrName>ppt_y</p:attrName>
                                        </p:attrNameLst>
                                      </p:cBhvr>
                                      <p:tavLst>
                                        <p:tav tm="0">
                                          <p:val>
                                            <p:strVal val="#ppt_y+0.05"/>
                                          </p:val>
                                        </p:tav>
                                        <p:tav tm="100000">
                                          <p:val>
                                            <p:strVal val="#ppt_y"/>
                                          </p:val>
                                        </p:tav>
                                      </p:tavLst>
                                    </p:anim>
                                  </p:childTnLst>
                                </p:cTn>
                              </p:par>
                              <p:par>
                                <p:cTn id="32" presetID="42" presetClass="entr" presetSubtype="0" fill="hold" grpId="0" nodeType="withEffect" decel="100000">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fill="hold"/>
                                        <p:tgtEl>
                                          <p:spTgt spid="8"/>
                                        </p:tgtEl>
                                        <p:attrNameLst>
                                          <p:attrName>ppt_x</p:attrName>
                                        </p:attrNameLst>
                                      </p:cBhvr>
                                      <p:tavLst>
                                        <p:tav tm="0">
                                          <p:val>
                                            <p:strVal val="#ppt_x"/>
                                          </p:val>
                                        </p:tav>
                                        <p:tav tm="100000">
                                          <p:val>
                                            <p:strVal val="#ppt_x"/>
                                          </p:val>
                                        </p:tav>
                                      </p:tavLst>
                                    </p:anim>
                                    <p:anim calcmode="lin" valueType="num">
                                      <p:cBhvr>
                                        <p:cTn id="31" dur="500" fill="hold"/>
                                        <p:tgtEl>
                                          <p:spTgt spid="8"/>
                                        </p:tgtEl>
                                        <p:attrNameLst>
                                          <p:attrName>ppt_y</p:attrName>
                                        </p:attrNameLst>
                                      </p:cBhvr>
                                      <p:tavLst>
                                        <p:tav tm="0">
                                          <p:val>
                                            <p:strVal val="#ppt_y+0.05"/>
                                          </p:val>
                                        </p:tav>
                                        <p:tav tm="100000">
                                          <p:val>
                                            <p:strVal val="#ppt_y"/>
                                          </p:val>
                                        </p:tav>
                                      </p:tavLst>
                                    </p:anim>
                                  </p:childTnLst>
                                </p:cTn>
                              </p:par>
                              <p:par>
                                <p:cTn id="37" presetID="42" presetClass="entr" presetSubtype="0" fill="hold" grpId="0" nodeType="withEffect" decel="100000">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anim calcmode="lin" valueType="num">
                                      <p:cBhvr>
                                        <p:cTn id="35" dur="500" fill="hold"/>
                                        <p:tgtEl>
                                          <p:spTgt spid="9"/>
                                        </p:tgtEl>
                                        <p:attrNameLst>
                                          <p:attrName>ppt_x</p:attrName>
                                        </p:attrNameLst>
                                      </p:cBhvr>
                                      <p:tavLst>
                                        <p:tav tm="0">
                                          <p:val>
                                            <p:strVal val="#ppt_x"/>
                                          </p:val>
                                        </p:tav>
                                        <p:tav tm="100000">
                                          <p:val>
                                            <p:strVal val="#ppt_x"/>
                                          </p:val>
                                        </p:tav>
                                      </p:tavLst>
                                    </p:anim>
                                    <p:anim calcmode="lin" valueType="num">
                                      <p:cBhvr>
                                        <p:cTn id="36" dur="500" fill="hold"/>
                                        <p:tgtEl>
                                          <p:spTgt spid="9"/>
                                        </p:tgtEl>
                                        <p:attrNameLst>
                                          <p:attrName>ppt_y</p:attrName>
                                        </p:attrNameLst>
                                      </p:cBhvr>
                                      <p:tavLst>
                                        <p:tav tm="0">
                                          <p:val>
                                            <p:strVal val="#ppt_y+0.05"/>
                                          </p:val>
                                        </p:tav>
                                        <p:tav tm="100000">
                                          <p:val>
                                            <p:strVal val="#ppt_y"/>
                                          </p:val>
                                        </p:tav>
                                      </p:tavLst>
                                    </p:anim>
                                  </p:childTnLst>
                                </p:cTn>
                              </p:par>
                              <p:par>
                                <p:cTn id="40" presetID="10" presetClass="entr" presetSubtype="0" fill="hold" grpId="0" nodeType="withEffect" decel="100000">
                                  <p:stCondLst>
                                    <p:cond delay="2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71" fill="hold">
                      <p:stCondLst>
                        <p:cond delay="indefinite"/>
                      </p:stCondLst>
                      <p:childTnLst>
                        <p:par>
                          <p:cTn id="72" fill="hold">
                            <p:stCondLst>
                              <p:cond delay="0"/>
                            </p:stCondLst>
                            <p:childTnLst>
                              <p:par>
                                <p:cTn id="47" presetID="42" presetClass="entr" presetSubtype="0" fill="hold" grpId="0" nodeType="clickEffect" decel="100000">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anim calcmode="lin" valueType="num">
                                      <p:cBhvr>
                                        <p:cTn id="45" dur="500" fill="hold"/>
                                        <p:tgtEl>
                                          <p:spTgt spid="11"/>
                                        </p:tgtEl>
                                        <p:attrNameLst>
                                          <p:attrName>ppt_x</p:attrName>
                                        </p:attrNameLst>
                                      </p:cBhvr>
                                      <p:tavLst>
                                        <p:tav tm="0">
                                          <p:val>
                                            <p:strVal val="#ppt_x"/>
                                          </p:val>
                                        </p:tav>
                                        <p:tav tm="100000">
                                          <p:val>
                                            <p:strVal val="#ppt_x"/>
                                          </p:val>
                                        </p:tav>
                                      </p:tavLst>
                                    </p:anim>
                                    <p:anim calcmode="lin" valueType="num">
                                      <p:cBhvr>
                                        <p:cTn id="46" dur="500" fill="hold"/>
                                        <p:tgtEl>
                                          <p:spTgt spid="11"/>
                                        </p:tgtEl>
                                        <p:attrNameLst>
                                          <p:attrName>ppt_y</p:attrName>
                                        </p:attrNameLst>
                                      </p:cBhvr>
                                      <p:tavLst>
                                        <p:tav tm="0">
                                          <p:val>
                                            <p:strVal val="#ppt_y+0.05"/>
                                          </p:val>
                                        </p:tav>
                                        <p:tav tm="100000">
                                          <p:val>
                                            <p:strVal val="#ppt_y"/>
                                          </p:val>
                                        </p:tav>
                                      </p:tavLst>
                                    </p:anim>
                                  </p:childTnLst>
                                </p:cTn>
                              </p:par>
                              <p:par>
                                <p:cTn id="52" presetID="42" presetClass="entr" presetSubtype="0" fill="hold" grpId="0" nodeType="withEffect" decel="100000">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anim calcmode="lin" valueType="num">
                                      <p:cBhvr>
                                        <p:cTn id="50" dur="500" fill="hold"/>
                                        <p:tgtEl>
                                          <p:spTgt spid="12"/>
                                        </p:tgtEl>
                                        <p:attrNameLst>
                                          <p:attrName>ppt_x</p:attrName>
                                        </p:attrNameLst>
                                      </p:cBhvr>
                                      <p:tavLst>
                                        <p:tav tm="0">
                                          <p:val>
                                            <p:strVal val="#ppt_x"/>
                                          </p:val>
                                        </p:tav>
                                        <p:tav tm="100000">
                                          <p:val>
                                            <p:strVal val="#ppt_x"/>
                                          </p:val>
                                        </p:tav>
                                      </p:tavLst>
                                    </p:anim>
                                    <p:anim calcmode="lin" valueType="num">
                                      <p:cBhvr>
                                        <p:cTn id="51" dur="500" fill="hold"/>
                                        <p:tgtEl>
                                          <p:spTgt spid="12"/>
                                        </p:tgtEl>
                                        <p:attrNameLst>
                                          <p:attrName>ppt_y</p:attrName>
                                        </p:attrNameLst>
                                      </p:cBhvr>
                                      <p:tavLst>
                                        <p:tav tm="0">
                                          <p:val>
                                            <p:strVal val="#ppt_y+0.05"/>
                                          </p:val>
                                        </p:tav>
                                        <p:tav tm="100000">
                                          <p:val>
                                            <p:strVal val="#ppt_y"/>
                                          </p:val>
                                        </p:tav>
                                      </p:tavLst>
                                    </p:anim>
                                  </p:childTnLst>
                                </p:cTn>
                              </p:par>
                              <p:par>
                                <p:cTn id="57" presetID="42" presetClass="entr" presetSubtype="0" fill="hold" grpId="0" nodeType="withEffect" decel="100000">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anim calcmode="lin" valueType="num">
                                      <p:cBhvr>
                                        <p:cTn id="55" dur="500" fill="hold"/>
                                        <p:tgtEl>
                                          <p:spTgt spid="13"/>
                                        </p:tgtEl>
                                        <p:attrNameLst>
                                          <p:attrName>ppt_x</p:attrName>
                                        </p:attrNameLst>
                                      </p:cBhvr>
                                      <p:tavLst>
                                        <p:tav tm="0">
                                          <p:val>
                                            <p:strVal val="#ppt_x"/>
                                          </p:val>
                                        </p:tav>
                                        <p:tav tm="100000">
                                          <p:val>
                                            <p:strVal val="#ppt_x"/>
                                          </p:val>
                                        </p:tav>
                                      </p:tavLst>
                                    </p:anim>
                                    <p:anim calcmode="lin" valueType="num">
                                      <p:cBhvr>
                                        <p:cTn id="56" dur="500" fill="hold"/>
                                        <p:tgtEl>
                                          <p:spTgt spid="13"/>
                                        </p:tgtEl>
                                        <p:attrNameLst>
                                          <p:attrName>ppt_y</p:attrName>
                                        </p:attrNameLst>
                                      </p:cBhvr>
                                      <p:tavLst>
                                        <p:tav tm="0">
                                          <p:val>
                                            <p:strVal val="#ppt_y+0.05"/>
                                          </p:val>
                                        </p:tav>
                                        <p:tav tm="100000">
                                          <p:val>
                                            <p:strVal val="#ppt_y"/>
                                          </p:val>
                                        </p:tav>
                                      </p:tavLst>
                                    </p:anim>
                                  </p:childTnLst>
                                </p:cTn>
                              </p:par>
                              <p:par>
                                <p:cTn id="62" presetID="42" presetClass="entr" presetSubtype="0" fill="hold" grpId="0" nodeType="withEffect" decel="100000">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anim calcmode="lin" valueType="num">
                                      <p:cBhvr>
                                        <p:cTn id="60" dur="500" fill="hold"/>
                                        <p:tgtEl>
                                          <p:spTgt spid="14"/>
                                        </p:tgtEl>
                                        <p:attrNameLst>
                                          <p:attrName>ppt_x</p:attrName>
                                        </p:attrNameLst>
                                      </p:cBhvr>
                                      <p:tavLst>
                                        <p:tav tm="0">
                                          <p:val>
                                            <p:strVal val="#ppt_x"/>
                                          </p:val>
                                        </p:tav>
                                        <p:tav tm="100000">
                                          <p:val>
                                            <p:strVal val="#ppt_x"/>
                                          </p:val>
                                        </p:tav>
                                      </p:tavLst>
                                    </p:anim>
                                    <p:anim calcmode="lin" valueType="num">
                                      <p:cBhvr>
                                        <p:cTn id="61" dur="500" fill="hold"/>
                                        <p:tgtEl>
                                          <p:spTgt spid="14"/>
                                        </p:tgtEl>
                                        <p:attrNameLst>
                                          <p:attrName>ppt_y</p:attrName>
                                        </p:attrNameLst>
                                      </p:cBhvr>
                                      <p:tavLst>
                                        <p:tav tm="0">
                                          <p:val>
                                            <p:strVal val="#ppt_y+0.05"/>
                                          </p:val>
                                        </p:tav>
                                        <p:tav tm="100000">
                                          <p:val>
                                            <p:strVal val="#ppt_y"/>
                                          </p:val>
                                        </p:tav>
                                      </p:tavLst>
                                    </p:anim>
                                  </p:childTnLst>
                                </p:cTn>
                              </p:par>
                              <p:par>
                                <p:cTn id="67" presetID="42" presetClass="entr" presetSubtype="0" fill="hold" grpId="0" nodeType="withEffect" decel="100000">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anim calcmode="lin" valueType="num">
                                      <p:cBhvr>
                                        <p:cTn id="65" dur="500" fill="hold"/>
                                        <p:tgtEl>
                                          <p:spTgt spid="15"/>
                                        </p:tgtEl>
                                        <p:attrNameLst>
                                          <p:attrName>ppt_x</p:attrName>
                                        </p:attrNameLst>
                                      </p:cBhvr>
                                      <p:tavLst>
                                        <p:tav tm="0">
                                          <p:val>
                                            <p:strVal val="#ppt_x"/>
                                          </p:val>
                                        </p:tav>
                                        <p:tav tm="100000">
                                          <p:val>
                                            <p:strVal val="#ppt_x"/>
                                          </p:val>
                                        </p:tav>
                                      </p:tavLst>
                                    </p:anim>
                                    <p:anim calcmode="lin" valueType="num">
                                      <p:cBhvr>
                                        <p:cTn id="66" dur="500" fill="hold"/>
                                        <p:tgtEl>
                                          <p:spTgt spid="15"/>
                                        </p:tgtEl>
                                        <p:attrNameLst>
                                          <p:attrName>ppt_y</p:attrName>
                                        </p:attrNameLst>
                                      </p:cBhvr>
                                      <p:tavLst>
                                        <p:tav tm="0">
                                          <p:val>
                                            <p:strVal val="#ppt_y+0.05"/>
                                          </p:val>
                                        </p:tav>
                                        <p:tav tm="100000">
                                          <p:val>
                                            <p:strVal val="#ppt_y"/>
                                          </p:val>
                                        </p:tav>
                                      </p:tavLst>
                                    </p:anim>
                                  </p:childTnLst>
                                </p:cTn>
                              </p:par>
                              <p:par>
                                <p:cTn id="70" presetID="10" presetClass="entr" presetSubtype="0" fill="hold" grpId="0" nodeType="withEffect" decel="100000">
                                  <p:stCondLst>
                                    <p:cond delay="2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childTnLst>
                                </p:cTn>
                              </p:par>
                            </p:childTnLst>
                          </p:cTn>
                        </p:par>
                      </p:childTnLst>
                    </p:cTn>
                  </p:par>
                  <p:par>
                    <p:cTn id="101" fill="hold">
                      <p:stCondLst>
                        <p:cond delay="indefinite"/>
                      </p:stCondLst>
                      <p:childTnLst>
                        <p:par>
                          <p:cTn id="102" fill="hold">
                            <p:stCondLst>
                              <p:cond delay="0"/>
                            </p:stCondLst>
                            <p:childTnLst>
                              <p:par>
                                <p:cTn id="77" presetID="42" presetClass="entr" presetSubtype="0" fill="hold" grpId="0" nodeType="clickEffect" decel="100000">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00"/>
                                        <p:tgtEl>
                                          <p:spTgt spid="17"/>
                                        </p:tgtEl>
                                      </p:cBhvr>
                                    </p:animEffect>
                                    <p:anim calcmode="lin" valueType="num">
                                      <p:cBhvr>
                                        <p:cTn id="75" dur="500" fill="hold"/>
                                        <p:tgtEl>
                                          <p:spTgt spid="17"/>
                                        </p:tgtEl>
                                        <p:attrNameLst>
                                          <p:attrName>ppt_x</p:attrName>
                                        </p:attrNameLst>
                                      </p:cBhvr>
                                      <p:tavLst>
                                        <p:tav tm="0">
                                          <p:val>
                                            <p:strVal val="#ppt_x"/>
                                          </p:val>
                                        </p:tav>
                                        <p:tav tm="100000">
                                          <p:val>
                                            <p:strVal val="#ppt_x"/>
                                          </p:val>
                                        </p:tav>
                                      </p:tavLst>
                                    </p:anim>
                                    <p:anim calcmode="lin" valueType="num">
                                      <p:cBhvr>
                                        <p:cTn id="76" dur="500" fill="hold"/>
                                        <p:tgtEl>
                                          <p:spTgt spid="17"/>
                                        </p:tgtEl>
                                        <p:attrNameLst>
                                          <p:attrName>ppt_y</p:attrName>
                                        </p:attrNameLst>
                                      </p:cBhvr>
                                      <p:tavLst>
                                        <p:tav tm="0">
                                          <p:val>
                                            <p:strVal val="#ppt_y+0.05"/>
                                          </p:val>
                                        </p:tav>
                                        <p:tav tm="100000">
                                          <p:val>
                                            <p:strVal val="#ppt_y"/>
                                          </p:val>
                                        </p:tav>
                                      </p:tavLst>
                                    </p:anim>
                                  </p:childTnLst>
                                </p:cTn>
                              </p:par>
                              <p:par>
                                <p:cTn id="82" presetID="42" presetClass="entr" presetSubtype="0" fill="hold" grpId="0" nodeType="withEffect" decel="100000">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00"/>
                                        <p:tgtEl>
                                          <p:spTgt spid="18"/>
                                        </p:tgtEl>
                                      </p:cBhvr>
                                    </p:animEffect>
                                    <p:anim calcmode="lin" valueType="num">
                                      <p:cBhvr>
                                        <p:cTn id="80" dur="500" fill="hold"/>
                                        <p:tgtEl>
                                          <p:spTgt spid="18"/>
                                        </p:tgtEl>
                                        <p:attrNameLst>
                                          <p:attrName>ppt_x</p:attrName>
                                        </p:attrNameLst>
                                      </p:cBhvr>
                                      <p:tavLst>
                                        <p:tav tm="0">
                                          <p:val>
                                            <p:strVal val="#ppt_x"/>
                                          </p:val>
                                        </p:tav>
                                        <p:tav tm="100000">
                                          <p:val>
                                            <p:strVal val="#ppt_x"/>
                                          </p:val>
                                        </p:tav>
                                      </p:tavLst>
                                    </p:anim>
                                    <p:anim calcmode="lin" valueType="num">
                                      <p:cBhvr>
                                        <p:cTn id="81" dur="500" fill="hold"/>
                                        <p:tgtEl>
                                          <p:spTgt spid="18"/>
                                        </p:tgtEl>
                                        <p:attrNameLst>
                                          <p:attrName>ppt_y</p:attrName>
                                        </p:attrNameLst>
                                      </p:cBhvr>
                                      <p:tavLst>
                                        <p:tav tm="0">
                                          <p:val>
                                            <p:strVal val="#ppt_y+0.05"/>
                                          </p:val>
                                        </p:tav>
                                        <p:tav tm="100000">
                                          <p:val>
                                            <p:strVal val="#ppt_y"/>
                                          </p:val>
                                        </p:tav>
                                      </p:tavLst>
                                    </p:anim>
                                  </p:childTnLst>
                                </p:cTn>
                              </p:par>
                              <p:par>
                                <p:cTn id="87" presetID="42" presetClass="entr" presetSubtype="0" fill="hold" grpId="0" nodeType="withEffect" decel="100000">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anim calcmode="lin" valueType="num">
                                      <p:cBhvr>
                                        <p:cTn id="85" dur="500" fill="hold"/>
                                        <p:tgtEl>
                                          <p:spTgt spid="19"/>
                                        </p:tgtEl>
                                        <p:attrNameLst>
                                          <p:attrName>ppt_x</p:attrName>
                                        </p:attrNameLst>
                                      </p:cBhvr>
                                      <p:tavLst>
                                        <p:tav tm="0">
                                          <p:val>
                                            <p:strVal val="#ppt_x"/>
                                          </p:val>
                                        </p:tav>
                                        <p:tav tm="100000">
                                          <p:val>
                                            <p:strVal val="#ppt_x"/>
                                          </p:val>
                                        </p:tav>
                                      </p:tavLst>
                                    </p:anim>
                                    <p:anim calcmode="lin" valueType="num">
                                      <p:cBhvr>
                                        <p:cTn id="86" dur="500" fill="hold"/>
                                        <p:tgtEl>
                                          <p:spTgt spid="19"/>
                                        </p:tgtEl>
                                        <p:attrNameLst>
                                          <p:attrName>ppt_y</p:attrName>
                                        </p:attrNameLst>
                                      </p:cBhvr>
                                      <p:tavLst>
                                        <p:tav tm="0">
                                          <p:val>
                                            <p:strVal val="#ppt_y+0.05"/>
                                          </p:val>
                                        </p:tav>
                                        <p:tav tm="100000">
                                          <p:val>
                                            <p:strVal val="#ppt_y"/>
                                          </p:val>
                                        </p:tav>
                                      </p:tavLst>
                                    </p:anim>
                                  </p:childTnLst>
                                </p:cTn>
                              </p:par>
                              <p:par>
                                <p:cTn id="92" presetID="42" presetClass="entr" presetSubtype="0" fill="hold" grpId="0" nodeType="withEffect" decel="100000">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00"/>
                                        <p:tgtEl>
                                          <p:spTgt spid="20"/>
                                        </p:tgtEl>
                                      </p:cBhvr>
                                    </p:animEffect>
                                    <p:anim calcmode="lin" valueType="num">
                                      <p:cBhvr>
                                        <p:cTn id="90" dur="500" fill="hold"/>
                                        <p:tgtEl>
                                          <p:spTgt spid="20"/>
                                        </p:tgtEl>
                                        <p:attrNameLst>
                                          <p:attrName>ppt_x</p:attrName>
                                        </p:attrNameLst>
                                      </p:cBhvr>
                                      <p:tavLst>
                                        <p:tav tm="0">
                                          <p:val>
                                            <p:strVal val="#ppt_x"/>
                                          </p:val>
                                        </p:tav>
                                        <p:tav tm="100000">
                                          <p:val>
                                            <p:strVal val="#ppt_x"/>
                                          </p:val>
                                        </p:tav>
                                      </p:tavLst>
                                    </p:anim>
                                    <p:anim calcmode="lin" valueType="num">
                                      <p:cBhvr>
                                        <p:cTn id="91" dur="500" fill="hold"/>
                                        <p:tgtEl>
                                          <p:spTgt spid="20"/>
                                        </p:tgtEl>
                                        <p:attrNameLst>
                                          <p:attrName>ppt_y</p:attrName>
                                        </p:attrNameLst>
                                      </p:cBhvr>
                                      <p:tavLst>
                                        <p:tav tm="0">
                                          <p:val>
                                            <p:strVal val="#ppt_y+0.05"/>
                                          </p:val>
                                        </p:tav>
                                        <p:tav tm="100000">
                                          <p:val>
                                            <p:strVal val="#ppt_y"/>
                                          </p:val>
                                        </p:tav>
                                      </p:tavLst>
                                    </p:anim>
                                  </p:childTnLst>
                                </p:cTn>
                              </p:par>
                              <p:par>
                                <p:cTn id="97" presetID="42" presetClass="entr" presetSubtype="0" fill="hold" grpId="0" nodeType="withEffect" decel="100000">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00"/>
                                        <p:tgtEl>
                                          <p:spTgt spid="21"/>
                                        </p:tgtEl>
                                      </p:cBhvr>
                                    </p:animEffect>
                                    <p:anim calcmode="lin" valueType="num">
                                      <p:cBhvr>
                                        <p:cTn id="95" dur="500" fill="hold"/>
                                        <p:tgtEl>
                                          <p:spTgt spid="21"/>
                                        </p:tgtEl>
                                        <p:attrNameLst>
                                          <p:attrName>ppt_x</p:attrName>
                                        </p:attrNameLst>
                                      </p:cBhvr>
                                      <p:tavLst>
                                        <p:tav tm="0">
                                          <p:val>
                                            <p:strVal val="#ppt_x"/>
                                          </p:val>
                                        </p:tav>
                                        <p:tav tm="100000">
                                          <p:val>
                                            <p:strVal val="#ppt_x"/>
                                          </p:val>
                                        </p:tav>
                                      </p:tavLst>
                                    </p:anim>
                                    <p:anim calcmode="lin" valueType="num">
                                      <p:cBhvr>
                                        <p:cTn id="96" dur="500" fill="hold"/>
                                        <p:tgtEl>
                                          <p:spTgt spid="21"/>
                                        </p:tgtEl>
                                        <p:attrNameLst>
                                          <p:attrName>ppt_y</p:attrName>
                                        </p:attrNameLst>
                                      </p:cBhvr>
                                      <p:tavLst>
                                        <p:tav tm="0">
                                          <p:val>
                                            <p:strVal val="#ppt_y+0.05"/>
                                          </p:val>
                                        </p:tav>
                                        <p:tav tm="100000">
                                          <p:val>
                                            <p:strVal val="#ppt_y"/>
                                          </p:val>
                                        </p:tav>
                                      </p:tavLst>
                                    </p:anim>
                                  </p:childTnLst>
                                </p:cTn>
                              </p:par>
                              <p:par>
                                <p:cTn id="100" presetID="10" presetClass="entr" presetSubtype="0" fill="hold" grpId="0" nodeType="withEffect" decel="100000">
                                  <p:stCondLst>
                                    <p:cond delay="20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00"/>
                                        <p:tgtEl>
                                          <p:spTgt spid="22"/>
                                        </p:tgtEl>
                                      </p:cBhvr>
                                    </p:animEffect>
                                  </p:childTnLst>
                                </p:cTn>
                              </p:par>
                            </p:childTnLst>
                          </p:cTn>
                        </p:par>
                      </p:childTnLst>
                    </p:cTn>
                  </p:par>
                  <p:par>
                    <p:cTn id="131" fill="hold">
                      <p:stCondLst>
                        <p:cond delay="indefinite"/>
                      </p:stCondLst>
                      <p:childTnLst>
                        <p:par>
                          <p:cTn id="132" fill="hold">
                            <p:stCondLst>
                              <p:cond delay="0"/>
                            </p:stCondLst>
                            <p:childTnLst>
                              <p:par>
                                <p:cTn id="107" presetID="42" presetClass="entr" presetSubtype="0" fill="hold" grpId="0" nodeType="clickEffect" decel="100000">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500"/>
                                        <p:tgtEl>
                                          <p:spTgt spid="23"/>
                                        </p:tgtEl>
                                      </p:cBhvr>
                                    </p:animEffect>
                                    <p:anim calcmode="lin" valueType="num">
                                      <p:cBhvr>
                                        <p:cTn id="105" dur="500" fill="hold"/>
                                        <p:tgtEl>
                                          <p:spTgt spid="23"/>
                                        </p:tgtEl>
                                        <p:attrNameLst>
                                          <p:attrName>ppt_x</p:attrName>
                                        </p:attrNameLst>
                                      </p:cBhvr>
                                      <p:tavLst>
                                        <p:tav tm="0">
                                          <p:val>
                                            <p:strVal val="#ppt_x"/>
                                          </p:val>
                                        </p:tav>
                                        <p:tav tm="100000">
                                          <p:val>
                                            <p:strVal val="#ppt_x"/>
                                          </p:val>
                                        </p:tav>
                                      </p:tavLst>
                                    </p:anim>
                                    <p:anim calcmode="lin" valueType="num">
                                      <p:cBhvr>
                                        <p:cTn id="106" dur="500" fill="hold"/>
                                        <p:tgtEl>
                                          <p:spTgt spid="23"/>
                                        </p:tgtEl>
                                        <p:attrNameLst>
                                          <p:attrName>ppt_y</p:attrName>
                                        </p:attrNameLst>
                                      </p:cBhvr>
                                      <p:tavLst>
                                        <p:tav tm="0">
                                          <p:val>
                                            <p:strVal val="#ppt_y+0.05"/>
                                          </p:val>
                                        </p:tav>
                                        <p:tav tm="100000">
                                          <p:val>
                                            <p:strVal val="#ppt_y"/>
                                          </p:val>
                                        </p:tav>
                                      </p:tavLst>
                                    </p:anim>
                                  </p:childTnLst>
                                </p:cTn>
                              </p:par>
                              <p:par>
                                <p:cTn id="112" presetID="42" presetClass="entr" presetSubtype="0" fill="hold" grpId="0" nodeType="withEffect" decel="100000">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00"/>
                                        <p:tgtEl>
                                          <p:spTgt spid="24"/>
                                        </p:tgtEl>
                                      </p:cBhvr>
                                    </p:animEffect>
                                    <p:anim calcmode="lin" valueType="num">
                                      <p:cBhvr>
                                        <p:cTn id="110" dur="500" fill="hold"/>
                                        <p:tgtEl>
                                          <p:spTgt spid="24"/>
                                        </p:tgtEl>
                                        <p:attrNameLst>
                                          <p:attrName>ppt_x</p:attrName>
                                        </p:attrNameLst>
                                      </p:cBhvr>
                                      <p:tavLst>
                                        <p:tav tm="0">
                                          <p:val>
                                            <p:strVal val="#ppt_x"/>
                                          </p:val>
                                        </p:tav>
                                        <p:tav tm="100000">
                                          <p:val>
                                            <p:strVal val="#ppt_x"/>
                                          </p:val>
                                        </p:tav>
                                      </p:tavLst>
                                    </p:anim>
                                    <p:anim calcmode="lin" valueType="num">
                                      <p:cBhvr>
                                        <p:cTn id="111" dur="500" fill="hold"/>
                                        <p:tgtEl>
                                          <p:spTgt spid="24"/>
                                        </p:tgtEl>
                                        <p:attrNameLst>
                                          <p:attrName>ppt_y</p:attrName>
                                        </p:attrNameLst>
                                      </p:cBhvr>
                                      <p:tavLst>
                                        <p:tav tm="0">
                                          <p:val>
                                            <p:strVal val="#ppt_y+0.05"/>
                                          </p:val>
                                        </p:tav>
                                        <p:tav tm="100000">
                                          <p:val>
                                            <p:strVal val="#ppt_y"/>
                                          </p:val>
                                        </p:tav>
                                      </p:tavLst>
                                    </p:anim>
                                  </p:childTnLst>
                                </p:cTn>
                              </p:par>
                              <p:par>
                                <p:cTn id="117" presetID="42" presetClass="entr" presetSubtype="0" fill="hold" grpId="0" nodeType="withEffect" decel="100000">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00"/>
                                        <p:tgtEl>
                                          <p:spTgt spid="25"/>
                                        </p:tgtEl>
                                      </p:cBhvr>
                                    </p:animEffect>
                                    <p:anim calcmode="lin" valueType="num">
                                      <p:cBhvr>
                                        <p:cTn id="115" dur="500" fill="hold"/>
                                        <p:tgtEl>
                                          <p:spTgt spid="25"/>
                                        </p:tgtEl>
                                        <p:attrNameLst>
                                          <p:attrName>ppt_x</p:attrName>
                                        </p:attrNameLst>
                                      </p:cBhvr>
                                      <p:tavLst>
                                        <p:tav tm="0">
                                          <p:val>
                                            <p:strVal val="#ppt_x"/>
                                          </p:val>
                                        </p:tav>
                                        <p:tav tm="100000">
                                          <p:val>
                                            <p:strVal val="#ppt_x"/>
                                          </p:val>
                                        </p:tav>
                                      </p:tavLst>
                                    </p:anim>
                                    <p:anim calcmode="lin" valueType="num">
                                      <p:cBhvr>
                                        <p:cTn id="116" dur="500" fill="hold"/>
                                        <p:tgtEl>
                                          <p:spTgt spid="25"/>
                                        </p:tgtEl>
                                        <p:attrNameLst>
                                          <p:attrName>ppt_y</p:attrName>
                                        </p:attrNameLst>
                                      </p:cBhvr>
                                      <p:tavLst>
                                        <p:tav tm="0">
                                          <p:val>
                                            <p:strVal val="#ppt_y+0.05"/>
                                          </p:val>
                                        </p:tav>
                                        <p:tav tm="100000">
                                          <p:val>
                                            <p:strVal val="#ppt_y"/>
                                          </p:val>
                                        </p:tav>
                                      </p:tavLst>
                                    </p:anim>
                                  </p:childTnLst>
                                </p:cTn>
                              </p:par>
                              <p:par>
                                <p:cTn id="122" presetID="42" presetClass="entr" presetSubtype="0" fill="hold" grpId="0" nodeType="withEffect" decel="100000">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500"/>
                                        <p:tgtEl>
                                          <p:spTgt spid="26"/>
                                        </p:tgtEl>
                                      </p:cBhvr>
                                    </p:animEffect>
                                    <p:anim calcmode="lin" valueType="num">
                                      <p:cBhvr>
                                        <p:cTn id="120" dur="500" fill="hold"/>
                                        <p:tgtEl>
                                          <p:spTgt spid="26"/>
                                        </p:tgtEl>
                                        <p:attrNameLst>
                                          <p:attrName>ppt_x</p:attrName>
                                        </p:attrNameLst>
                                      </p:cBhvr>
                                      <p:tavLst>
                                        <p:tav tm="0">
                                          <p:val>
                                            <p:strVal val="#ppt_x"/>
                                          </p:val>
                                        </p:tav>
                                        <p:tav tm="100000">
                                          <p:val>
                                            <p:strVal val="#ppt_x"/>
                                          </p:val>
                                        </p:tav>
                                      </p:tavLst>
                                    </p:anim>
                                    <p:anim calcmode="lin" valueType="num">
                                      <p:cBhvr>
                                        <p:cTn id="121" dur="500" fill="hold"/>
                                        <p:tgtEl>
                                          <p:spTgt spid="26"/>
                                        </p:tgtEl>
                                        <p:attrNameLst>
                                          <p:attrName>ppt_y</p:attrName>
                                        </p:attrNameLst>
                                      </p:cBhvr>
                                      <p:tavLst>
                                        <p:tav tm="0">
                                          <p:val>
                                            <p:strVal val="#ppt_y+0.05"/>
                                          </p:val>
                                        </p:tav>
                                        <p:tav tm="100000">
                                          <p:val>
                                            <p:strVal val="#ppt_y"/>
                                          </p:val>
                                        </p:tav>
                                      </p:tavLst>
                                    </p:anim>
                                  </p:childTnLst>
                                </p:cTn>
                              </p:par>
                              <p:par>
                                <p:cTn id="127" presetID="42" presetClass="entr" presetSubtype="0" fill="hold" grpId="0" nodeType="withEffect" decel="100000">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500"/>
                                        <p:tgtEl>
                                          <p:spTgt spid="27"/>
                                        </p:tgtEl>
                                      </p:cBhvr>
                                    </p:animEffect>
                                    <p:anim calcmode="lin" valueType="num">
                                      <p:cBhvr>
                                        <p:cTn id="125" dur="500" fill="hold"/>
                                        <p:tgtEl>
                                          <p:spTgt spid="27"/>
                                        </p:tgtEl>
                                        <p:attrNameLst>
                                          <p:attrName>ppt_x</p:attrName>
                                        </p:attrNameLst>
                                      </p:cBhvr>
                                      <p:tavLst>
                                        <p:tav tm="0">
                                          <p:val>
                                            <p:strVal val="#ppt_x"/>
                                          </p:val>
                                        </p:tav>
                                        <p:tav tm="100000">
                                          <p:val>
                                            <p:strVal val="#ppt_x"/>
                                          </p:val>
                                        </p:tav>
                                      </p:tavLst>
                                    </p:anim>
                                    <p:anim calcmode="lin" valueType="num">
                                      <p:cBhvr>
                                        <p:cTn id="126" dur="500" fill="hold"/>
                                        <p:tgtEl>
                                          <p:spTgt spid="27"/>
                                        </p:tgtEl>
                                        <p:attrNameLst>
                                          <p:attrName>ppt_y</p:attrName>
                                        </p:attrNameLst>
                                      </p:cBhvr>
                                      <p:tavLst>
                                        <p:tav tm="0">
                                          <p:val>
                                            <p:strVal val="#ppt_y+0.05"/>
                                          </p:val>
                                        </p:tav>
                                        <p:tav tm="100000">
                                          <p:val>
                                            <p:strVal val="#ppt_y"/>
                                          </p:val>
                                        </p:tav>
                                      </p:tavLst>
                                    </p:anim>
                                  </p:childTnLst>
                                </p:cTn>
                              </p:par>
                              <p:par>
                                <p:cTn id="130" presetID="10" presetClass="entr" presetSubtype="0" fill="hold" grpId="0" nodeType="withEffect" decel="100000">
                                  <p:stCondLst>
                                    <p:cond delay="20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500"/>
                                        <p:tgtEl>
                                          <p:spTgt spid="28"/>
                                        </p:tgtEl>
                                      </p:cBhvr>
                                    </p:animEffect>
                                  </p:childTnLst>
                                </p:cTn>
                              </p:par>
                            </p:childTnLst>
                          </p:cTn>
                        </p:par>
                      </p:childTnLst>
                    </p:cTn>
                  </p:par>
                  <p:par>
                    <p:cTn id="143" fill="hold">
                      <p:stCondLst>
                        <p:cond delay="indefinite"/>
                      </p:stCondLst>
                      <p:childTnLst>
                        <p:par>
                          <p:cTn id="144" fill="hold">
                            <p:stCondLst>
                              <p:cond delay="0"/>
                            </p:stCondLst>
                            <p:childTnLst>
                              <p:par>
                                <p:cTn id="137" presetID="53" presetClass="entr" presetSubtype="16" fill="hold" grpId="0" nodeType="clickEffect" decel="100000">
                                  <p:stCondLst>
                                    <p:cond delay="0"/>
                                  </p:stCondLst>
                                  <p:childTnLst>
                                    <p:set>
                                      <p:cBhvr>
                                        <p:cTn id="133" dur="1" fill="hold">
                                          <p:stCondLst>
                                            <p:cond delay="0"/>
                                          </p:stCondLst>
                                        </p:cTn>
                                        <p:tgtEl>
                                          <p:spTgt spid="29"/>
                                        </p:tgtEl>
                                        <p:attrNameLst>
                                          <p:attrName>style.visibility</p:attrName>
                                        </p:attrNameLst>
                                      </p:cBhvr>
                                      <p:to>
                                        <p:strVal val="visible"/>
                                      </p:to>
                                    </p:set>
                                    <p:anim calcmode="lin" valueType="num">
                                      <p:cBhvr>
                                        <p:cTn id="134" dur="500" fill="hold"/>
                                        <p:tgtEl>
                                          <p:spTgt spid="29"/>
                                        </p:tgtEl>
                                        <p:attrNameLst>
                                          <p:attrName>ppt_w</p:attrName>
                                        </p:attrNameLst>
                                      </p:cBhvr>
                                      <p:tavLst>
                                        <p:tav tm="0">
                                          <p:val>
                                            <p:strVal val="#ppt_w*0.70"/>
                                          </p:val>
                                        </p:tav>
                                        <p:tav tm="100000">
                                          <p:val>
                                            <p:strVal val="#ppt_w"/>
                                          </p:val>
                                        </p:tav>
                                      </p:tavLst>
                                    </p:anim>
                                    <p:anim calcmode="lin" valueType="num">
                                      <p:cBhvr>
                                        <p:cTn id="135" dur="500" fill="hold"/>
                                        <p:tgtEl>
                                          <p:spTgt spid="29"/>
                                        </p:tgtEl>
                                        <p:attrNameLst>
                                          <p:attrName>ppt_h</p:attrName>
                                        </p:attrNameLst>
                                      </p:cBhvr>
                                      <p:tavLst>
                                        <p:tav tm="0">
                                          <p:val>
                                            <p:strVal val="#ppt_h*0.70"/>
                                          </p:val>
                                        </p:tav>
                                        <p:tav tm="100000">
                                          <p:val>
                                            <p:strVal val="#ppt_h"/>
                                          </p:val>
                                        </p:tav>
                                      </p:tavLst>
                                    </p:anim>
                                    <p:animEffect transition="in" filter="fade">
                                      <p:cBhvr>
                                        <p:cTn id="136" dur="500"/>
                                        <p:tgtEl>
                                          <p:spTgt spid="29"/>
                                        </p:tgtEl>
                                      </p:cBhvr>
                                    </p:animEffect>
                                  </p:childTnLst>
                                </p:cTn>
                              </p:par>
                              <p:par>
                                <p:cTn id="142" presetID="53" presetClass="entr" presetSubtype="16" fill="hold" grpId="0" nodeType="withEffect" decel="100000">
                                  <p:stCondLst>
                                    <p:cond delay="0"/>
                                  </p:stCondLst>
                                  <p:childTnLst>
                                    <p:set>
                                      <p:cBhvr>
                                        <p:cTn id="138" dur="1" fill="hold">
                                          <p:stCondLst>
                                            <p:cond delay="0"/>
                                          </p:stCondLst>
                                        </p:cTn>
                                        <p:tgtEl>
                                          <p:spTgt spid="30"/>
                                        </p:tgtEl>
                                        <p:attrNameLst>
                                          <p:attrName>style.visibility</p:attrName>
                                        </p:attrNameLst>
                                      </p:cBhvr>
                                      <p:to>
                                        <p:strVal val="visible"/>
                                      </p:to>
                                    </p:set>
                                    <p:anim calcmode="lin" valueType="num">
                                      <p:cBhvr>
                                        <p:cTn id="139" dur="500" fill="hold"/>
                                        <p:tgtEl>
                                          <p:spTgt spid="30"/>
                                        </p:tgtEl>
                                        <p:attrNameLst>
                                          <p:attrName>ppt_w</p:attrName>
                                        </p:attrNameLst>
                                      </p:cBhvr>
                                      <p:tavLst>
                                        <p:tav tm="0">
                                          <p:val>
                                            <p:strVal val="#ppt_w*0.70"/>
                                          </p:val>
                                        </p:tav>
                                        <p:tav tm="100000">
                                          <p:val>
                                            <p:strVal val="#ppt_w"/>
                                          </p:val>
                                        </p:tav>
                                      </p:tavLst>
                                    </p:anim>
                                    <p:anim calcmode="lin" valueType="num">
                                      <p:cBhvr>
                                        <p:cTn id="140" dur="500" fill="hold"/>
                                        <p:tgtEl>
                                          <p:spTgt spid="30"/>
                                        </p:tgtEl>
                                        <p:attrNameLst>
                                          <p:attrName>ppt_h</p:attrName>
                                        </p:attrNameLst>
                                      </p:cBhvr>
                                      <p:tavLst>
                                        <p:tav tm="0">
                                          <p:val>
                                            <p:strVal val="#ppt_h*0.70"/>
                                          </p:val>
                                        </p:tav>
                                        <p:tav tm="100000">
                                          <p:val>
                                            <p:strVal val="#ppt_h"/>
                                          </p:val>
                                        </p:tav>
                                      </p:tavLst>
                                    </p:anim>
                                    <p:animEffect transition="in" filter="fade">
                                      <p:cBhvr>
                                        <p:cTn id="14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3" name="txt_5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OBJECTIVES</a:t>
            </a:r>
            <a:endParaRPr lang="en-US" sz="1100" dirty="0"/>
          </a:p>
        </p:txBody>
      </p:sp>
      <p:sp>
        <p:nvSpPr>
          <p:cNvPr id="4" name="txt_5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Our Goals</a:t>
            </a:r>
            <a:endParaRPr lang="en-US" sz="3200" dirty="0"/>
          </a:p>
        </p:txBody>
      </p:sp>
      <p:sp>
        <p:nvSpPr>
          <p:cNvPr id="5" name="txt_5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Four goals — each one answers one problem, one to one.</a:t>
            </a:r>
            <a:endParaRPr lang="en-US" sz="1500" dirty="0"/>
          </a:p>
        </p:txBody>
      </p:sp>
      <p:sp>
        <p:nvSpPr>
          <p:cNvPr id="6" name="shp_5_3"/>
          <p:cNvSpPr/>
          <p:nvPr/>
        </p:nvSpPr>
        <p:spPr>
          <a:xfrm>
            <a:off x="548640" y="1920240"/>
            <a:ext cx="11094415" cy="914400"/>
          </a:xfrm>
          <a:prstGeom prst="roundRect">
            <a:avLst>
              <a:gd name="adj" fmla="val 10000"/>
            </a:avLst>
          </a:prstGeom>
          <a:solidFill>
            <a:srgbClr val="112038"/>
          </a:solidFill>
          <a:ln w="9525">
            <a:solidFill>
              <a:srgbClr val="243A5E"/>
            </a:solidFill>
            <a:prstDash val="solid"/>
          </a:ln>
        </p:spPr>
      </p:sp>
      <p:sp>
        <p:nvSpPr>
          <p:cNvPr id="7" name="shp_5_4"/>
          <p:cNvSpPr/>
          <p:nvPr/>
        </p:nvSpPr>
        <p:spPr>
          <a:xfrm>
            <a:off x="822960" y="2121408"/>
            <a:ext cx="512064" cy="512064"/>
          </a:xfrm>
          <a:prstGeom prst="ellipse">
            <a:avLst/>
          </a:prstGeom>
          <a:solidFill>
            <a:srgbClr val="F5A524"/>
          </a:solidFill>
          <a:ln w="12700">
            <a:solidFill>
              <a:srgbClr val="F5A524"/>
            </a:solidFill>
            <a:prstDash val="solid"/>
          </a:ln>
        </p:spPr>
      </p:sp>
      <p:sp>
        <p:nvSpPr>
          <p:cNvPr id="8" name="txt_5_5"/>
          <p:cNvSpPr txBox="1"/>
          <p:nvPr/>
        </p:nvSpPr>
        <p:spPr>
          <a:xfrm>
            <a:off x="822960" y="2121408"/>
            <a:ext cx="512064" cy="51206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01</a:t>
            </a:r>
            <a:endParaRPr lang="en-US" sz="1400" dirty="0"/>
          </a:p>
        </p:txBody>
      </p:sp>
      <p:sp>
        <p:nvSpPr>
          <p:cNvPr id="9" name="txt_5_6"/>
          <p:cNvSpPr txBox="1"/>
          <p:nvPr/>
        </p:nvSpPr>
        <p:spPr>
          <a:xfrm>
            <a:off x="1600200" y="2075688"/>
            <a:ext cx="6858000" cy="329184"/>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Price it in seconds, defensibly</a:t>
            </a:r>
            <a:endParaRPr lang="en-US" sz="1800" dirty="0"/>
          </a:p>
        </p:txBody>
      </p:sp>
      <p:sp>
        <p:nvSpPr>
          <p:cNvPr id="10" name="txt_5_7"/>
          <p:cNvSpPr txBox="1"/>
          <p:nvPr/>
        </p:nvSpPr>
        <p:spPr>
          <a:xfrm>
            <a:off x="1600200" y="2414016"/>
            <a:ext cx="7498080" cy="310896"/>
          </a:xfrm>
          <a:prstGeom prst="rect">
            <a:avLst/>
          </a:prstGeom>
          <a:noFill/>
          <a:ln/>
        </p:spPr>
        <p:txBody>
          <a:bodyPr wrap="square" lIns="0" tIns="0" rIns="0" bIns="0" rtlCol="0" anchor="t"/>
          <a:lstStyle/>
          <a:p>
            <a:pPr indent="0" marL="0">
              <a:buNone/>
            </a:pPr>
            <a:r>
              <a:rPr lang="en-US" sz="1350" dirty="0">
                <a:solidFill>
                  <a:srgbClr val="AEBBCF"/>
                </a:solidFill>
                <a:latin typeface="Calibri" pitchFamily="34" charset="0"/>
                <a:ea typeface="Calibri" pitchFamily="34" charset="-122"/>
                <a:cs typeface="Calibri" pitchFamily="34" charset="-120"/>
              </a:rPr>
              <a:t>ML market rate beside the rule-based cost build-up — target R² &gt; 0.95.</a:t>
            </a:r>
            <a:endParaRPr lang="en-US" sz="1350" dirty="0"/>
          </a:p>
        </p:txBody>
      </p:sp>
      <p:sp>
        <p:nvSpPr>
          <p:cNvPr id="11" name="shp_5_8"/>
          <p:cNvSpPr/>
          <p:nvPr/>
        </p:nvSpPr>
        <p:spPr>
          <a:xfrm>
            <a:off x="9128455" y="2176272"/>
            <a:ext cx="2240280" cy="402336"/>
          </a:xfrm>
          <a:prstGeom prst="roundRect">
            <a:avLst>
              <a:gd name="adj" fmla="val 22727"/>
            </a:avLst>
          </a:prstGeom>
          <a:solidFill>
            <a:srgbClr val="15294A"/>
          </a:solidFill>
          <a:ln w="9525">
            <a:solidFill>
              <a:srgbClr val="243A5E"/>
            </a:solidFill>
            <a:prstDash val="solid"/>
          </a:ln>
        </p:spPr>
      </p:sp>
      <p:sp>
        <p:nvSpPr>
          <p:cNvPr id="12" name="txt_5_9"/>
          <p:cNvSpPr txBox="1"/>
          <p:nvPr/>
        </p:nvSpPr>
        <p:spPr>
          <a:xfrm>
            <a:off x="9128455" y="2176272"/>
            <a:ext cx="2240280" cy="402336"/>
          </a:xfrm>
          <a:prstGeom prst="rect">
            <a:avLst/>
          </a:prstGeom>
          <a:noFill/>
          <a:ln/>
        </p:spPr>
        <p:txBody>
          <a:bodyPr wrap="square" lIns="0" tIns="0" rIns="0" bIns="0" rtlCol="0" anchor="ctr"/>
          <a:lstStyle/>
          <a:p>
            <a:pPr algn="ctr" indent="0" marL="0">
              <a:buNone/>
            </a:pPr>
            <a:r>
              <a:rPr lang="en-US" sz="900" b="1" spc="150" kern="0" dirty="0">
                <a:solidFill>
                  <a:srgbClr val="71819A"/>
                </a:solidFill>
                <a:latin typeface="Calibri" pitchFamily="34" charset="0"/>
                <a:ea typeface="Calibri" pitchFamily="34" charset="-122"/>
                <a:cs typeface="Calibri" pitchFamily="34" charset="-120"/>
              </a:rPr>
              <a:t>SOLVES  </a:t>
            </a:r>
            <a:pPr algn="ctr" indent="0" marL="0">
              <a:buNone/>
            </a:pPr>
            <a:r>
              <a:rPr lang="en-US" sz="1200" dirty="0">
                <a:solidFill>
                  <a:srgbClr val="F1F5F9"/>
                </a:solidFill>
                <a:latin typeface="Calibri" pitchFamily="34" charset="0"/>
                <a:ea typeface="Calibri" pitchFamily="34" charset="-122"/>
                <a:cs typeface="Calibri" pitchFamily="34" charset="-120"/>
              </a:rPr>
              <a:t>Manual pricing</a:t>
            </a:r>
            <a:endParaRPr lang="en-US" sz="1200" dirty="0"/>
          </a:p>
        </p:txBody>
      </p:sp>
      <p:sp>
        <p:nvSpPr>
          <p:cNvPr id="13" name="shp_5_10"/>
          <p:cNvSpPr/>
          <p:nvPr/>
        </p:nvSpPr>
        <p:spPr>
          <a:xfrm>
            <a:off x="548640" y="2999232"/>
            <a:ext cx="11094415" cy="914400"/>
          </a:xfrm>
          <a:prstGeom prst="roundRect">
            <a:avLst>
              <a:gd name="adj" fmla="val 10000"/>
            </a:avLst>
          </a:prstGeom>
          <a:solidFill>
            <a:srgbClr val="112038"/>
          </a:solidFill>
          <a:ln w="9525">
            <a:solidFill>
              <a:srgbClr val="243A5E"/>
            </a:solidFill>
            <a:prstDash val="solid"/>
          </a:ln>
        </p:spPr>
      </p:sp>
      <p:sp>
        <p:nvSpPr>
          <p:cNvPr id="14" name="shp_5_11"/>
          <p:cNvSpPr/>
          <p:nvPr/>
        </p:nvSpPr>
        <p:spPr>
          <a:xfrm>
            <a:off x="822960" y="3200400"/>
            <a:ext cx="512064" cy="512064"/>
          </a:xfrm>
          <a:prstGeom prst="ellipse">
            <a:avLst/>
          </a:prstGeom>
          <a:solidFill>
            <a:srgbClr val="F5A524"/>
          </a:solidFill>
          <a:ln w="12700">
            <a:solidFill>
              <a:srgbClr val="F5A524"/>
            </a:solidFill>
            <a:prstDash val="solid"/>
          </a:ln>
        </p:spPr>
      </p:sp>
      <p:sp>
        <p:nvSpPr>
          <p:cNvPr id="15" name="txt_5_12"/>
          <p:cNvSpPr txBox="1"/>
          <p:nvPr/>
        </p:nvSpPr>
        <p:spPr>
          <a:xfrm>
            <a:off x="822960" y="3200400"/>
            <a:ext cx="512064" cy="51206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02</a:t>
            </a:r>
            <a:endParaRPr lang="en-US" sz="1400" dirty="0"/>
          </a:p>
        </p:txBody>
      </p:sp>
      <p:sp>
        <p:nvSpPr>
          <p:cNvPr id="16" name="txt_5_13"/>
          <p:cNvSpPr txBox="1"/>
          <p:nvPr/>
        </p:nvSpPr>
        <p:spPr>
          <a:xfrm>
            <a:off x="1600200" y="3154680"/>
            <a:ext cx="6858000" cy="329184"/>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Check the route that ships sail</a:t>
            </a:r>
            <a:endParaRPr lang="en-US" sz="1800" dirty="0"/>
          </a:p>
        </p:txBody>
      </p:sp>
      <p:sp>
        <p:nvSpPr>
          <p:cNvPr id="17" name="txt_5_14"/>
          <p:cNvSpPr txBox="1"/>
          <p:nvPr/>
        </p:nvSpPr>
        <p:spPr>
          <a:xfrm>
            <a:off x="1600200" y="3493008"/>
            <a:ext cx="7498080" cy="310896"/>
          </a:xfrm>
          <a:prstGeom prst="rect">
            <a:avLst/>
          </a:prstGeom>
          <a:noFill/>
          <a:ln/>
        </p:spPr>
        <p:txBody>
          <a:bodyPr wrap="square" lIns="0" tIns="0" rIns="0" bIns="0" rtlCol="0" anchor="t"/>
          <a:lstStyle/>
          <a:p>
            <a:pPr indent="0" marL="0">
              <a:buNone/>
            </a:pPr>
            <a:r>
              <a:rPr lang="en-US" sz="1350" dirty="0">
                <a:solidFill>
                  <a:srgbClr val="AEBBCF"/>
                </a:solidFill>
                <a:latin typeface="Calibri" pitchFamily="34" charset="0"/>
                <a:ea typeface="Calibri" pitchFamily="34" charset="-122"/>
                <a:cs typeface="Calibri" pitchFamily="34" charset="-120"/>
              </a:rPr>
              <a:t>Live marine telemetry at great-circle waypoints, not the straight line.</a:t>
            </a:r>
            <a:endParaRPr lang="en-US" sz="1350" dirty="0"/>
          </a:p>
        </p:txBody>
      </p:sp>
      <p:sp>
        <p:nvSpPr>
          <p:cNvPr id="18" name="shp_5_15"/>
          <p:cNvSpPr/>
          <p:nvPr/>
        </p:nvSpPr>
        <p:spPr>
          <a:xfrm>
            <a:off x="9128455" y="3255264"/>
            <a:ext cx="2240280" cy="402336"/>
          </a:xfrm>
          <a:prstGeom prst="roundRect">
            <a:avLst>
              <a:gd name="adj" fmla="val 22727"/>
            </a:avLst>
          </a:prstGeom>
          <a:solidFill>
            <a:srgbClr val="15294A"/>
          </a:solidFill>
          <a:ln w="9525">
            <a:solidFill>
              <a:srgbClr val="243A5E"/>
            </a:solidFill>
            <a:prstDash val="solid"/>
          </a:ln>
        </p:spPr>
      </p:sp>
      <p:sp>
        <p:nvSpPr>
          <p:cNvPr id="19" name="txt_5_16"/>
          <p:cNvSpPr txBox="1"/>
          <p:nvPr/>
        </p:nvSpPr>
        <p:spPr>
          <a:xfrm>
            <a:off x="9128455" y="3255264"/>
            <a:ext cx="2240280" cy="402336"/>
          </a:xfrm>
          <a:prstGeom prst="rect">
            <a:avLst/>
          </a:prstGeom>
          <a:noFill/>
          <a:ln/>
        </p:spPr>
        <p:txBody>
          <a:bodyPr wrap="square" lIns="0" tIns="0" rIns="0" bIns="0" rtlCol="0" anchor="ctr"/>
          <a:lstStyle/>
          <a:p>
            <a:pPr algn="ctr" indent="0" marL="0">
              <a:buNone/>
            </a:pPr>
            <a:r>
              <a:rPr lang="en-US" sz="900" b="1" spc="150" kern="0" dirty="0">
                <a:solidFill>
                  <a:srgbClr val="71819A"/>
                </a:solidFill>
                <a:latin typeface="Calibri" pitchFamily="34" charset="0"/>
                <a:ea typeface="Calibri" pitchFamily="34" charset="-122"/>
                <a:cs typeface="Calibri" pitchFamily="34" charset="-120"/>
              </a:rPr>
              <a:t>SOLVES  </a:t>
            </a:r>
            <a:pPr algn="ctr" indent="0" marL="0">
              <a:buNone/>
            </a:pPr>
            <a:r>
              <a:rPr lang="en-US" sz="1200" dirty="0">
                <a:solidFill>
                  <a:srgbClr val="F1F5F9"/>
                </a:solidFill>
                <a:latin typeface="Calibri" pitchFamily="34" charset="0"/>
                <a:ea typeface="Calibri" pitchFamily="34" charset="-122"/>
                <a:cs typeface="Calibri" pitchFamily="34" charset="-120"/>
              </a:rPr>
              <a:t>Weather blindness</a:t>
            </a:r>
            <a:endParaRPr lang="en-US" sz="1200" dirty="0"/>
          </a:p>
        </p:txBody>
      </p:sp>
      <p:sp>
        <p:nvSpPr>
          <p:cNvPr id="20" name="shp_5_17"/>
          <p:cNvSpPr/>
          <p:nvPr/>
        </p:nvSpPr>
        <p:spPr>
          <a:xfrm>
            <a:off x="548640" y="4078224"/>
            <a:ext cx="11094415" cy="914400"/>
          </a:xfrm>
          <a:prstGeom prst="roundRect">
            <a:avLst>
              <a:gd name="adj" fmla="val 10000"/>
            </a:avLst>
          </a:prstGeom>
          <a:solidFill>
            <a:srgbClr val="112038"/>
          </a:solidFill>
          <a:ln w="9525">
            <a:solidFill>
              <a:srgbClr val="243A5E"/>
            </a:solidFill>
            <a:prstDash val="solid"/>
          </a:ln>
        </p:spPr>
      </p:sp>
      <p:sp>
        <p:nvSpPr>
          <p:cNvPr id="21" name="shp_5_18"/>
          <p:cNvSpPr/>
          <p:nvPr/>
        </p:nvSpPr>
        <p:spPr>
          <a:xfrm>
            <a:off x="822960" y="4279392"/>
            <a:ext cx="512064" cy="512064"/>
          </a:xfrm>
          <a:prstGeom prst="ellipse">
            <a:avLst/>
          </a:prstGeom>
          <a:solidFill>
            <a:srgbClr val="F5A524"/>
          </a:solidFill>
          <a:ln w="12700">
            <a:solidFill>
              <a:srgbClr val="F5A524"/>
            </a:solidFill>
            <a:prstDash val="solid"/>
          </a:ln>
        </p:spPr>
      </p:sp>
      <p:sp>
        <p:nvSpPr>
          <p:cNvPr id="22" name="txt_5_19"/>
          <p:cNvSpPr txBox="1"/>
          <p:nvPr/>
        </p:nvSpPr>
        <p:spPr>
          <a:xfrm>
            <a:off x="822960" y="4279392"/>
            <a:ext cx="512064" cy="51206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03</a:t>
            </a:r>
            <a:endParaRPr lang="en-US" sz="1400" dirty="0"/>
          </a:p>
        </p:txBody>
      </p:sp>
      <p:sp>
        <p:nvSpPr>
          <p:cNvPr id="23" name="txt_5_20"/>
          <p:cNvSpPr txBox="1"/>
          <p:nvPr/>
        </p:nvSpPr>
        <p:spPr>
          <a:xfrm>
            <a:off x="1600200" y="4233672"/>
            <a:ext cx="6858000" cy="329184"/>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Retrieve customs law, never guess it</a:t>
            </a:r>
            <a:endParaRPr lang="en-US" sz="1800" dirty="0"/>
          </a:p>
        </p:txBody>
      </p:sp>
      <p:sp>
        <p:nvSpPr>
          <p:cNvPr id="24" name="txt_5_21"/>
          <p:cNvSpPr txBox="1"/>
          <p:nvPr/>
        </p:nvSpPr>
        <p:spPr>
          <a:xfrm>
            <a:off x="1600200" y="4572000"/>
            <a:ext cx="7498080" cy="310896"/>
          </a:xfrm>
          <a:prstGeom prst="rect">
            <a:avLst/>
          </a:prstGeom>
          <a:noFill/>
          <a:ln/>
        </p:spPr>
        <p:txBody>
          <a:bodyPr wrap="square" lIns="0" tIns="0" rIns="0" bIns="0" rtlCol="0" anchor="t"/>
          <a:lstStyle/>
          <a:p>
            <a:pPr indent="0" marL="0">
              <a:buNone/>
            </a:pPr>
            <a:r>
              <a:rPr lang="en-US" sz="1350" dirty="0">
                <a:solidFill>
                  <a:srgbClr val="AEBBCF"/>
                </a:solidFill>
                <a:latin typeface="Calibri" pitchFamily="34" charset="0"/>
                <a:ea typeface="Calibri" pitchFamily="34" charset="-122"/>
                <a:cs typeface="Calibri" pitchFamily="34" charset="-120"/>
              </a:rPr>
              <a:t>Hybrid RAG over 10 jurisdictions; every checklist item carries its citation.</a:t>
            </a:r>
            <a:endParaRPr lang="en-US" sz="1350" dirty="0"/>
          </a:p>
        </p:txBody>
      </p:sp>
      <p:sp>
        <p:nvSpPr>
          <p:cNvPr id="25" name="shp_5_22"/>
          <p:cNvSpPr/>
          <p:nvPr/>
        </p:nvSpPr>
        <p:spPr>
          <a:xfrm>
            <a:off x="9128455" y="4334256"/>
            <a:ext cx="2240280" cy="402336"/>
          </a:xfrm>
          <a:prstGeom prst="roundRect">
            <a:avLst>
              <a:gd name="adj" fmla="val 22727"/>
            </a:avLst>
          </a:prstGeom>
          <a:solidFill>
            <a:srgbClr val="15294A"/>
          </a:solidFill>
          <a:ln w="9525">
            <a:solidFill>
              <a:srgbClr val="243A5E"/>
            </a:solidFill>
            <a:prstDash val="solid"/>
          </a:ln>
        </p:spPr>
      </p:sp>
      <p:sp>
        <p:nvSpPr>
          <p:cNvPr id="26" name="txt_5_23"/>
          <p:cNvSpPr txBox="1"/>
          <p:nvPr/>
        </p:nvSpPr>
        <p:spPr>
          <a:xfrm>
            <a:off x="9128455" y="4334256"/>
            <a:ext cx="2240280" cy="402336"/>
          </a:xfrm>
          <a:prstGeom prst="rect">
            <a:avLst/>
          </a:prstGeom>
          <a:noFill/>
          <a:ln/>
        </p:spPr>
        <p:txBody>
          <a:bodyPr wrap="square" lIns="0" tIns="0" rIns="0" bIns="0" rtlCol="0" anchor="ctr"/>
          <a:lstStyle/>
          <a:p>
            <a:pPr algn="ctr" indent="0" marL="0">
              <a:buNone/>
            </a:pPr>
            <a:r>
              <a:rPr lang="en-US" sz="900" b="1" spc="150" kern="0" dirty="0">
                <a:solidFill>
                  <a:srgbClr val="71819A"/>
                </a:solidFill>
                <a:latin typeface="Calibri" pitchFamily="34" charset="0"/>
                <a:ea typeface="Calibri" pitchFamily="34" charset="-122"/>
                <a:cs typeface="Calibri" pitchFamily="34" charset="-120"/>
              </a:rPr>
              <a:t>SOLVES  </a:t>
            </a:r>
            <a:pPr algn="ctr" indent="0" marL="0">
              <a:buNone/>
            </a:pPr>
            <a:r>
              <a:rPr lang="en-US" sz="1200" dirty="0">
                <a:solidFill>
                  <a:srgbClr val="F1F5F9"/>
                </a:solidFill>
                <a:latin typeface="Calibri" pitchFamily="34" charset="0"/>
                <a:ea typeface="Calibri" pitchFamily="34" charset="-122"/>
                <a:cs typeface="Calibri" pitchFamily="34" charset="-120"/>
              </a:rPr>
              <a:t>Customs guesswork</a:t>
            </a:r>
            <a:endParaRPr lang="en-US" sz="1200" dirty="0"/>
          </a:p>
        </p:txBody>
      </p:sp>
      <p:sp>
        <p:nvSpPr>
          <p:cNvPr id="27" name="shp_5_24"/>
          <p:cNvSpPr/>
          <p:nvPr/>
        </p:nvSpPr>
        <p:spPr>
          <a:xfrm>
            <a:off x="548640" y="5157216"/>
            <a:ext cx="11094415" cy="914400"/>
          </a:xfrm>
          <a:prstGeom prst="roundRect">
            <a:avLst>
              <a:gd name="adj" fmla="val 10000"/>
            </a:avLst>
          </a:prstGeom>
          <a:solidFill>
            <a:srgbClr val="112038"/>
          </a:solidFill>
          <a:ln w="9525">
            <a:solidFill>
              <a:srgbClr val="243A5E"/>
            </a:solidFill>
            <a:prstDash val="solid"/>
          </a:ln>
        </p:spPr>
      </p:sp>
      <p:sp>
        <p:nvSpPr>
          <p:cNvPr id="28" name="shp_5_25"/>
          <p:cNvSpPr/>
          <p:nvPr/>
        </p:nvSpPr>
        <p:spPr>
          <a:xfrm>
            <a:off x="822960" y="5358384"/>
            <a:ext cx="512064" cy="512064"/>
          </a:xfrm>
          <a:prstGeom prst="ellipse">
            <a:avLst/>
          </a:prstGeom>
          <a:solidFill>
            <a:srgbClr val="F5A524"/>
          </a:solidFill>
          <a:ln w="12700">
            <a:solidFill>
              <a:srgbClr val="F5A524"/>
            </a:solidFill>
            <a:prstDash val="solid"/>
          </a:ln>
        </p:spPr>
      </p:sp>
      <p:sp>
        <p:nvSpPr>
          <p:cNvPr id="29" name="txt_5_26"/>
          <p:cNvSpPr txBox="1"/>
          <p:nvPr/>
        </p:nvSpPr>
        <p:spPr>
          <a:xfrm>
            <a:off x="822960" y="5358384"/>
            <a:ext cx="512064" cy="51206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04</a:t>
            </a:r>
            <a:endParaRPr lang="en-US" sz="1400" dirty="0"/>
          </a:p>
        </p:txBody>
      </p:sp>
      <p:sp>
        <p:nvSpPr>
          <p:cNvPr id="30" name="txt_5_27"/>
          <p:cNvSpPr txBox="1"/>
          <p:nvPr/>
        </p:nvSpPr>
        <p:spPr>
          <a:xfrm>
            <a:off x="1600200" y="5312664"/>
            <a:ext cx="6858000" cy="329184"/>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Put a named human on every risk</a:t>
            </a:r>
            <a:endParaRPr lang="en-US" sz="1800" dirty="0"/>
          </a:p>
        </p:txBody>
      </p:sp>
      <p:sp>
        <p:nvSpPr>
          <p:cNvPr id="31" name="txt_5_28"/>
          <p:cNvSpPr txBox="1"/>
          <p:nvPr/>
        </p:nvSpPr>
        <p:spPr>
          <a:xfrm>
            <a:off x="1600200" y="5650992"/>
            <a:ext cx="7498080" cy="310896"/>
          </a:xfrm>
          <a:prstGeom prst="rect">
            <a:avLst/>
          </a:prstGeom>
          <a:noFill/>
          <a:ln/>
        </p:spPr>
        <p:txBody>
          <a:bodyPr wrap="square" lIns="0" tIns="0" rIns="0" bIns="0" rtlCol="0" anchor="t"/>
          <a:lstStyle/>
          <a:p>
            <a:pPr indent="0" marL="0">
              <a:buNone/>
            </a:pPr>
            <a:r>
              <a:rPr lang="en-US" sz="1350" dirty="0">
                <a:solidFill>
                  <a:srgbClr val="AEBBCF"/>
                </a:solidFill>
                <a:latin typeface="Calibri" pitchFamily="34" charset="0"/>
                <a:ea typeface="Calibri" pitchFamily="34" charset="-122"/>
                <a:cs typeface="Calibri" pitchFamily="34" charset="-120"/>
              </a:rPr>
              <a:t>5-factor MCDA score gates the quote — approve, advise, hold or block.</a:t>
            </a:r>
            <a:endParaRPr lang="en-US" sz="1350" dirty="0"/>
          </a:p>
        </p:txBody>
      </p:sp>
      <p:sp>
        <p:nvSpPr>
          <p:cNvPr id="32" name="shp_5_29"/>
          <p:cNvSpPr/>
          <p:nvPr/>
        </p:nvSpPr>
        <p:spPr>
          <a:xfrm>
            <a:off x="9128455" y="5413248"/>
            <a:ext cx="2240280" cy="402336"/>
          </a:xfrm>
          <a:prstGeom prst="roundRect">
            <a:avLst>
              <a:gd name="adj" fmla="val 22727"/>
            </a:avLst>
          </a:prstGeom>
          <a:solidFill>
            <a:srgbClr val="15294A"/>
          </a:solidFill>
          <a:ln w="9525">
            <a:solidFill>
              <a:srgbClr val="243A5E"/>
            </a:solidFill>
            <a:prstDash val="solid"/>
          </a:ln>
        </p:spPr>
      </p:sp>
      <p:sp>
        <p:nvSpPr>
          <p:cNvPr id="33" name="txt_5_30"/>
          <p:cNvSpPr txBox="1"/>
          <p:nvPr/>
        </p:nvSpPr>
        <p:spPr>
          <a:xfrm>
            <a:off x="9128455" y="5413248"/>
            <a:ext cx="2240280" cy="402336"/>
          </a:xfrm>
          <a:prstGeom prst="rect">
            <a:avLst/>
          </a:prstGeom>
          <a:noFill/>
          <a:ln/>
        </p:spPr>
        <p:txBody>
          <a:bodyPr wrap="square" lIns="0" tIns="0" rIns="0" bIns="0" rtlCol="0" anchor="ctr"/>
          <a:lstStyle/>
          <a:p>
            <a:pPr algn="ctr" indent="0" marL="0">
              <a:buNone/>
            </a:pPr>
            <a:r>
              <a:rPr lang="en-US" sz="900" b="1" spc="150" kern="0" dirty="0">
                <a:solidFill>
                  <a:srgbClr val="71819A"/>
                </a:solidFill>
                <a:latin typeface="Calibri" pitchFamily="34" charset="0"/>
                <a:ea typeface="Calibri" pitchFamily="34" charset="-122"/>
                <a:cs typeface="Calibri" pitchFamily="34" charset="-120"/>
              </a:rPr>
              <a:t>SOLVES  </a:t>
            </a:r>
            <a:pPr algn="ctr" indent="0" marL="0">
              <a:buNone/>
            </a:pPr>
            <a:r>
              <a:rPr lang="en-US" sz="1200" dirty="0">
                <a:solidFill>
                  <a:srgbClr val="F1F5F9"/>
                </a:solidFill>
                <a:latin typeface="Calibri" pitchFamily="34" charset="0"/>
                <a:ea typeface="Calibri" pitchFamily="34" charset="-122"/>
                <a:cs typeface="Calibri" pitchFamily="34" charset="-120"/>
              </a:rPr>
              <a:t>No governance</a:t>
            </a:r>
            <a:endParaRPr lang="en-US" sz="1200" dirty="0"/>
          </a:p>
        </p:txBody>
      </p:sp>
      <p:sp>
        <p:nvSpPr>
          <p:cNvPr id="34" name="txt_5_31"/>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5" name="txt_5_32"/>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05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3" presetID="10" presetClass="entr" presetSubtype="0" fill="hold" grpId="0" nodeType="withEffect" decel="100000">
                                  <p:stCondLst>
                                    <p:cond delay="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6" presetID="10" presetClass="entr" presetSubtype="0" fill="hold" grpId="0" nodeType="withEffect" decel="100000">
                                  <p:stCondLst>
                                    <p:cond delay="3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80" fill="hold">
                      <p:stCondLst>
                        <p:cond delay="indefinite"/>
                      </p:stCondLst>
                      <p:childTnLst>
                        <p:par>
                          <p:cTn id="81" fill="hold">
                            <p:stCondLst>
                              <p:cond delay="0"/>
                            </p:stCondLst>
                            <p:childTnLst>
                              <p:par>
                                <p:cTn id="53" presetID="42" presetClass="entr" presetSubtype="0" fill="hold" grpId="0" nodeType="clickEffect" decel="100000">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p:cTn id="51" dur="500" fill="hold"/>
                                        <p:tgtEl>
                                          <p:spTgt spid="13"/>
                                        </p:tgtEl>
                                        <p:attrNameLst>
                                          <p:attrName>ppt_x</p:attrName>
                                        </p:attrNameLst>
                                      </p:cBhvr>
                                      <p:tavLst>
                                        <p:tav tm="0">
                                          <p:val>
                                            <p:strVal val="#ppt_x"/>
                                          </p:val>
                                        </p:tav>
                                        <p:tav tm="100000">
                                          <p:val>
                                            <p:strVal val="#ppt_x"/>
                                          </p:val>
                                        </p:tav>
                                      </p:tavLst>
                                    </p:anim>
                                    <p:anim calcmode="lin" valueType="num">
                                      <p:cBhvr>
                                        <p:cTn id="52" dur="500" fill="hold"/>
                                        <p:tgtEl>
                                          <p:spTgt spid="13"/>
                                        </p:tgtEl>
                                        <p:attrNameLst>
                                          <p:attrName>ppt_y</p:attrName>
                                        </p:attrNameLst>
                                      </p:cBhvr>
                                      <p:tavLst>
                                        <p:tav tm="0">
                                          <p:val>
                                            <p:strVal val="#ppt_y+0.05"/>
                                          </p:val>
                                        </p:tav>
                                        <p:tav tm="100000">
                                          <p:val>
                                            <p:strVal val="#ppt_y"/>
                                          </p:val>
                                        </p:tav>
                                      </p:tavLst>
                                    </p:anim>
                                  </p:childTnLst>
                                </p:cTn>
                              </p:par>
                              <p:par>
                                <p:cTn id="58" presetID="42" presetClass="entr" presetSubtype="0" fill="hold" grpId="0" nodeType="withEffect" decel="100000">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p:cTn id="56" dur="500" fill="hold"/>
                                        <p:tgtEl>
                                          <p:spTgt spid="14"/>
                                        </p:tgtEl>
                                        <p:attrNameLst>
                                          <p:attrName>ppt_x</p:attrName>
                                        </p:attrNameLst>
                                      </p:cBhvr>
                                      <p:tavLst>
                                        <p:tav tm="0">
                                          <p:val>
                                            <p:strVal val="#ppt_x"/>
                                          </p:val>
                                        </p:tav>
                                        <p:tav tm="100000">
                                          <p:val>
                                            <p:strVal val="#ppt_x"/>
                                          </p:val>
                                        </p:tav>
                                      </p:tavLst>
                                    </p:anim>
                                    <p:anim calcmode="lin" valueType="num">
                                      <p:cBhvr>
                                        <p:cTn id="57" dur="500" fill="hold"/>
                                        <p:tgtEl>
                                          <p:spTgt spid="14"/>
                                        </p:tgtEl>
                                        <p:attrNameLst>
                                          <p:attrName>ppt_y</p:attrName>
                                        </p:attrNameLst>
                                      </p:cBhvr>
                                      <p:tavLst>
                                        <p:tav tm="0">
                                          <p:val>
                                            <p:strVal val="#ppt_y+0.05"/>
                                          </p:val>
                                        </p:tav>
                                        <p:tav tm="100000">
                                          <p:val>
                                            <p:strVal val="#ppt_y"/>
                                          </p:val>
                                        </p:tav>
                                      </p:tavLst>
                                    </p:anim>
                                  </p:childTnLst>
                                </p:cTn>
                              </p:par>
                              <p:par>
                                <p:cTn id="63" presetID="42" presetClass="entr" presetSubtype="0" fill="hold" grpId="0" nodeType="withEffect" decel="100000">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ppt_x</p:attrName>
                                        </p:attrNameLst>
                                      </p:cBhvr>
                                      <p:tavLst>
                                        <p:tav tm="0">
                                          <p:val>
                                            <p:strVal val="#ppt_x"/>
                                          </p:val>
                                        </p:tav>
                                        <p:tav tm="100000">
                                          <p:val>
                                            <p:strVal val="#ppt_x"/>
                                          </p:val>
                                        </p:tav>
                                      </p:tavLst>
                                    </p:anim>
                                    <p:anim calcmode="lin" valueType="num">
                                      <p:cBhvr>
                                        <p:cTn id="62" dur="500" fill="hold"/>
                                        <p:tgtEl>
                                          <p:spTgt spid="15"/>
                                        </p:tgtEl>
                                        <p:attrNameLst>
                                          <p:attrName>ppt_y</p:attrName>
                                        </p:attrNameLst>
                                      </p:cBhvr>
                                      <p:tavLst>
                                        <p:tav tm="0">
                                          <p:val>
                                            <p:strVal val="#ppt_y+0.05"/>
                                          </p:val>
                                        </p:tav>
                                        <p:tav tm="100000">
                                          <p:val>
                                            <p:strVal val="#ppt_y"/>
                                          </p:val>
                                        </p:tav>
                                      </p:tavLst>
                                    </p:anim>
                                  </p:childTnLst>
                                </p:cTn>
                              </p:par>
                              <p:par>
                                <p:cTn id="68" presetID="42" presetClass="entr" presetSubtype="0" fill="hold" grpId="0" nodeType="withEffect" decel="100000">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strVal val="#ppt_x"/>
                                          </p:val>
                                        </p:tav>
                                        <p:tav tm="100000">
                                          <p:val>
                                            <p:strVal val="#ppt_x"/>
                                          </p:val>
                                        </p:tav>
                                      </p:tavLst>
                                    </p:anim>
                                    <p:anim calcmode="lin" valueType="num">
                                      <p:cBhvr>
                                        <p:cTn id="67" dur="500" fill="hold"/>
                                        <p:tgtEl>
                                          <p:spTgt spid="16"/>
                                        </p:tgtEl>
                                        <p:attrNameLst>
                                          <p:attrName>ppt_y</p:attrName>
                                        </p:attrNameLst>
                                      </p:cBhvr>
                                      <p:tavLst>
                                        <p:tav tm="0">
                                          <p:val>
                                            <p:strVal val="#ppt_y+0.05"/>
                                          </p:val>
                                        </p:tav>
                                        <p:tav tm="100000">
                                          <p:val>
                                            <p:strVal val="#ppt_y"/>
                                          </p:val>
                                        </p:tav>
                                      </p:tavLst>
                                    </p:anim>
                                  </p:childTnLst>
                                </p:cTn>
                              </p:par>
                              <p:par>
                                <p:cTn id="73" presetID="42" presetClass="entr" presetSubtype="0" fill="hold" grpId="0" nodeType="withEffect" decel="100000">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p:cTn id="71" dur="500" fill="hold"/>
                                        <p:tgtEl>
                                          <p:spTgt spid="17"/>
                                        </p:tgtEl>
                                        <p:attrNameLst>
                                          <p:attrName>ppt_x</p:attrName>
                                        </p:attrNameLst>
                                      </p:cBhvr>
                                      <p:tavLst>
                                        <p:tav tm="0">
                                          <p:val>
                                            <p:strVal val="#ppt_x"/>
                                          </p:val>
                                        </p:tav>
                                        <p:tav tm="100000">
                                          <p:val>
                                            <p:strVal val="#ppt_x"/>
                                          </p:val>
                                        </p:tav>
                                      </p:tavLst>
                                    </p:anim>
                                    <p:anim calcmode="lin" valueType="num">
                                      <p:cBhvr>
                                        <p:cTn id="72" dur="500" fill="hold"/>
                                        <p:tgtEl>
                                          <p:spTgt spid="17"/>
                                        </p:tgtEl>
                                        <p:attrNameLst>
                                          <p:attrName>ppt_y</p:attrName>
                                        </p:attrNameLst>
                                      </p:cBhvr>
                                      <p:tavLst>
                                        <p:tav tm="0">
                                          <p:val>
                                            <p:strVal val="#ppt_y+0.05"/>
                                          </p:val>
                                        </p:tav>
                                        <p:tav tm="100000">
                                          <p:val>
                                            <p:strVal val="#ppt_y"/>
                                          </p:val>
                                        </p:tav>
                                      </p:tavLst>
                                    </p:anim>
                                  </p:childTnLst>
                                </p:cTn>
                              </p:par>
                              <p:par>
                                <p:cTn id="76" presetID="10" presetClass="entr" presetSubtype="0" fill="hold" grpId="0" nodeType="withEffect" decel="100000">
                                  <p:stCondLst>
                                    <p:cond delay="30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9" presetID="10" presetClass="entr" presetSubtype="0" fill="hold" grpId="0" nodeType="withEffect" decel="100000">
                                  <p:stCondLst>
                                    <p:cond delay="30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childTnLst>
                          </p:cTn>
                        </p:par>
                      </p:childTnLst>
                    </p:cTn>
                  </p:par>
                  <p:par>
                    <p:cTn id="113" fill="hold">
                      <p:stCondLst>
                        <p:cond delay="indefinite"/>
                      </p:stCondLst>
                      <p:childTnLst>
                        <p:par>
                          <p:cTn id="114" fill="hold">
                            <p:stCondLst>
                              <p:cond delay="0"/>
                            </p:stCondLst>
                            <p:childTnLst>
                              <p:par>
                                <p:cTn id="86" presetID="42" presetClass="entr" presetSubtype="0" fill="hold" grpId="0" nodeType="clickEffect" decel="100000">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anim calcmode="lin" valueType="num">
                                      <p:cBhvr>
                                        <p:cTn id="84" dur="500" fill="hold"/>
                                        <p:tgtEl>
                                          <p:spTgt spid="20"/>
                                        </p:tgtEl>
                                        <p:attrNameLst>
                                          <p:attrName>ppt_x</p:attrName>
                                        </p:attrNameLst>
                                      </p:cBhvr>
                                      <p:tavLst>
                                        <p:tav tm="0">
                                          <p:val>
                                            <p:strVal val="#ppt_x"/>
                                          </p:val>
                                        </p:tav>
                                        <p:tav tm="100000">
                                          <p:val>
                                            <p:strVal val="#ppt_x"/>
                                          </p:val>
                                        </p:tav>
                                      </p:tavLst>
                                    </p:anim>
                                    <p:anim calcmode="lin" valueType="num">
                                      <p:cBhvr>
                                        <p:cTn id="85" dur="500" fill="hold"/>
                                        <p:tgtEl>
                                          <p:spTgt spid="20"/>
                                        </p:tgtEl>
                                        <p:attrNameLst>
                                          <p:attrName>ppt_y</p:attrName>
                                        </p:attrNameLst>
                                      </p:cBhvr>
                                      <p:tavLst>
                                        <p:tav tm="0">
                                          <p:val>
                                            <p:strVal val="#ppt_y+0.05"/>
                                          </p:val>
                                        </p:tav>
                                        <p:tav tm="100000">
                                          <p:val>
                                            <p:strVal val="#ppt_y"/>
                                          </p:val>
                                        </p:tav>
                                      </p:tavLst>
                                    </p:anim>
                                  </p:childTnLst>
                                </p:cTn>
                              </p:par>
                              <p:par>
                                <p:cTn id="91" presetID="42" presetClass="entr" presetSubtype="0" fill="hold" grpId="0" nodeType="withEffect" decel="100000">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anim calcmode="lin" valueType="num">
                                      <p:cBhvr>
                                        <p:cTn id="89" dur="500" fill="hold"/>
                                        <p:tgtEl>
                                          <p:spTgt spid="21"/>
                                        </p:tgtEl>
                                        <p:attrNameLst>
                                          <p:attrName>ppt_x</p:attrName>
                                        </p:attrNameLst>
                                      </p:cBhvr>
                                      <p:tavLst>
                                        <p:tav tm="0">
                                          <p:val>
                                            <p:strVal val="#ppt_x"/>
                                          </p:val>
                                        </p:tav>
                                        <p:tav tm="100000">
                                          <p:val>
                                            <p:strVal val="#ppt_x"/>
                                          </p:val>
                                        </p:tav>
                                      </p:tavLst>
                                    </p:anim>
                                    <p:anim calcmode="lin" valueType="num">
                                      <p:cBhvr>
                                        <p:cTn id="90" dur="500" fill="hold"/>
                                        <p:tgtEl>
                                          <p:spTgt spid="21"/>
                                        </p:tgtEl>
                                        <p:attrNameLst>
                                          <p:attrName>ppt_y</p:attrName>
                                        </p:attrNameLst>
                                      </p:cBhvr>
                                      <p:tavLst>
                                        <p:tav tm="0">
                                          <p:val>
                                            <p:strVal val="#ppt_y+0.05"/>
                                          </p:val>
                                        </p:tav>
                                        <p:tav tm="100000">
                                          <p:val>
                                            <p:strVal val="#ppt_y"/>
                                          </p:val>
                                        </p:tav>
                                      </p:tavLst>
                                    </p:anim>
                                  </p:childTnLst>
                                </p:cTn>
                              </p:par>
                              <p:par>
                                <p:cTn id="96" presetID="42" presetClass="entr" presetSubtype="0" fill="hold" grpId="0" nodeType="withEffect" decel="100000">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anim calcmode="lin" valueType="num">
                                      <p:cBhvr>
                                        <p:cTn id="94" dur="500" fill="hold"/>
                                        <p:tgtEl>
                                          <p:spTgt spid="22"/>
                                        </p:tgtEl>
                                        <p:attrNameLst>
                                          <p:attrName>ppt_x</p:attrName>
                                        </p:attrNameLst>
                                      </p:cBhvr>
                                      <p:tavLst>
                                        <p:tav tm="0">
                                          <p:val>
                                            <p:strVal val="#ppt_x"/>
                                          </p:val>
                                        </p:tav>
                                        <p:tav tm="100000">
                                          <p:val>
                                            <p:strVal val="#ppt_x"/>
                                          </p:val>
                                        </p:tav>
                                      </p:tavLst>
                                    </p:anim>
                                    <p:anim calcmode="lin" valueType="num">
                                      <p:cBhvr>
                                        <p:cTn id="95" dur="500" fill="hold"/>
                                        <p:tgtEl>
                                          <p:spTgt spid="22"/>
                                        </p:tgtEl>
                                        <p:attrNameLst>
                                          <p:attrName>ppt_y</p:attrName>
                                        </p:attrNameLst>
                                      </p:cBhvr>
                                      <p:tavLst>
                                        <p:tav tm="0">
                                          <p:val>
                                            <p:strVal val="#ppt_y+0.05"/>
                                          </p:val>
                                        </p:tav>
                                        <p:tav tm="100000">
                                          <p:val>
                                            <p:strVal val="#ppt_y"/>
                                          </p:val>
                                        </p:tav>
                                      </p:tavLst>
                                    </p:anim>
                                  </p:childTnLst>
                                </p:cTn>
                              </p:par>
                              <p:par>
                                <p:cTn id="101" presetID="42" presetClass="entr" presetSubtype="0" fill="hold" grpId="0" nodeType="withEffect" decel="100000">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00"/>
                                        <p:tgtEl>
                                          <p:spTgt spid="23"/>
                                        </p:tgtEl>
                                      </p:cBhvr>
                                    </p:animEffect>
                                    <p:anim calcmode="lin" valueType="num">
                                      <p:cBhvr>
                                        <p:cTn id="99" dur="500" fill="hold"/>
                                        <p:tgtEl>
                                          <p:spTgt spid="23"/>
                                        </p:tgtEl>
                                        <p:attrNameLst>
                                          <p:attrName>ppt_x</p:attrName>
                                        </p:attrNameLst>
                                      </p:cBhvr>
                                      <p:tavLst>
                                        <p:tav tm="0">
                                          <p:val>
                                            <p:strVal val="#ppt_x"/>
                                          </p:val>
                                        </p:tav>
                                        <p:tav tm="100000">
                                          <p:val>
                                            <p:strVal val="#ppt_x"/>
                                          </p:val>
                                        </p:tav>
                                      </p:tavLst>
                                    </p:anim>
                                    <p:anim calcmode="lin" valueType="num">
                                      <p:cBhvr>
                                        <p:cTn id="100" dur="500" fill="hold"/>
                                        <p:tgtEl>
                                          <p:spTgt spid="23"/>
                                        </p:tgtEl>
                                        <p:attrNameLst>
                                          <p:attrName>ppt_y</p:attrName>
                                        </p:attrNameLst>
                                      </p:cBhvr>
                                      <p:tavLst>
                                        <p:tav tm="0">
                                          <p:val>
                                            <p:strVal val="#ppt_y+0.05"/>
                                          </p:val>
                                        </p:tav>
                                        <p:tav tm="100000">
                                          <p:val>
                                            <p:strVal val="#ppt_y"/>
                                          </p:val>
                                        </p:tav>
                                      </p:tavLst>
                                    </p:anim>
                                  </p:childTnLst>
                                </p:cTn>
                              </p:par>
                              <p:par>
                                <p:cTn id="106" presetID="42" presetClass="entr" presetSubtype="0" fill="hold" grpId="0" nodeType="withEffect" decel="100000">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anim calcmode="lin" valueType="num">
                                      <p:cBhvr>
                                        <p:cTn id="104" dur="500" fill="hold"/>
                                        <p:tgtEl>
                                          <p:spTgt spid="24"/>
                                        </p:tgtEl>
                                        <p:attrNameLst>
                                          <p:attrName>ppt_x</p:attrName>
                                        </p:attrNameLst>
                                      </p:cBhvr>
                                      <p:tavLst>
                                        <p:tav tm="0">
                                          <p:val>
                                            <p:strVal val="#ppt_x"/>
                                          </p:val>
                                        </p:tav>
                                        <p:tav tm="100000">
                                          <p:val>
                                            <p:strVal val="#ppt_x"/>
                                          </p:val>
                                        </p:tav>
                                      </p:tavLst>
                                    </p:anim>
                                    <p:anim calcmode="lin" valueType="num">
                                      <p:cBhvr>
                                        <p:cTn id="105" dur="500" fill="hold"/>
                                        <p:tgtEl>
                                          <p:spTgt spid="24"/>
                                        </p:tgtEl>
                                        <p:attrNameLst>
                                          <p:attrName>ppt_y</p:attrName>
                                        </p:attrNameLst>
                                      </p:cBhvr>
                                      <p:tavLst>
                                        <p:tav tm="0">
                                          <p:val>
                                            <p:strVal val="#ppt_y+0.05"/>
                                          </p:val>
                                        </p:tav>
                                        <p:tav tm="100000">
                                          <p:val>
                                            <p:strVal val="#ppt_y"/>
                                          </p:val>
                                        </p:tav>
                                      </p:tavLst>
                                    </p:anim>
                                  </p:childTnLst>
                                </p:cTn>
                              </p:par>
                              <p:par>
                                <p:cTn id="109" presetID="10" presetClass="entr" presetSubtype="0" fill="hold" grpId="0" nodeType="withEffect" decel="100000">
                                  <p:stCondLst>
                                    <p:cond delay="30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500"/>
                                        <p:tgtEl>
                                          <p:spTgt spid="25"/>
                                        </p:tgtEl>
                                      </p:cBhvr>
                                    </p:animEffect>
                                  </p:childTnLst>
                                </p:cTn>
                              </p:par>
                              <p:par>
                                <p:cTn id="112" presetID="10" presetClass="entr" presetSubtype="0" fill="hold" grpId="0" nodeType="withEffect" decel="100000">
                                  <p:stCondLst>
                                    <p:cond delay="30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00"/>
                                        <p:tgtEl>
                                          <p:spTgt spid="26"/>
                                        </p:tgtEl>
                                      </p:cBhvr>
                                    </p:animEffect>
                                  </p:childTnLst>
                                </p:cTn>
                              </p:par>
                            </p:childTnLst>
                          </p:cTn>
                        </p:par>
                      </p:childTnLst>
                    </p:cTn>
                  </p:par>
                  <p:par>
                    <p:cTn id="146" fill="hold">
                      <p:stCondLst>
                        <p:cond delay="indefinite"/>
                      </p:stCondLst>
                      <p:childTnLst>
                        <p:par>
                          <p:cTn id="147" fill="hold">
                            <p:stCondLst>
                              <p:cond delay="0"/>
                            </p:stCondLst>
                            <p:childTnLst>
                              <p:par>
                                <p:cTn id="119" presetID="42" presetClass="entr" presetSubtype="0" fill="hold" grpId="0" nodeType="clickEffect" decel="100000">
                                  <p:stCondLst>
                                    <p:cond delay="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00"/>
                                        <p:tgtEl>
                                          <p:spTgt spid="27"/>
                                        </p:tgtEl>
                                      </p:cBhvr>
                                    </p:animEffect>
                                    <p:anim calcmode="lin" valueType="num">
                                      <p:cBhvr>
                                        <p:cTn id="117" dur="500" fill="hold"/>
                                        <p:tgtEl>
                                          <p:spTgt spid="27"/>
                                        </p:tgtEl>
                                        <p:attrNameLst>
                                          <p:attrName>ppt_x</p:attrName>
                                        </p:attrNameLst>
                                      </p:cBhvr>
                                      <p:tavLst>
                                        <p:tav tm="0">
                                          <p:val>
                                            <p:strVal val="#ppt_x"/>
                                          </p:val>
                                        </p:tav>
                                        <p:tav tm="100000">
                                          <p:val>
                                            <p:strVal val="#ppt_x"/>
                                          </p:val>
                                        </p:tav>
                                      </p:tavLst>
                                    </p:anim>
                                    <p:anim calcmode="lin" valueType="num">
                                      <p:cBhvr>
                                        <p:cTn id="118" dur="500" fill="hold"/>
                                        <p:tgtEl>
                                          <p:spTgt spid="27"/>
                                        </p:tgtEl>
                                        <p:attrNameLst>
                                          <p:attrName>ppt_y</p:attrName>
                                        </p:attrNameLst>
                                      </p:cBhvr>
                                      <p:tavLst>
                                        <p:tav tm="0">
                                          <p:val>
                                            <p:strVal val="#ppt_y+0.05"/>
                                          </p:val>
                                        </p:tav>
                                        <p:tav tm="100000">
                                          <p:val>
                                            <p:strVal val="#ppt_y"/>
                                          </p:val>
                                        </p:tav>
                                      </p:tavLst>
                                    </p:anim>
                                  </p:childTnLst>
                                </p:cTn>
                              </p:par>
                              <p:par>
                                <p:cTn id="124" presetID="42" presetClass="entr" presetSubtype="0" fill="hold" grpId="0" nodeType="withEffect" decel="100000">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00"/>
                                        <p:tgtEl>
                                          <p:spTgt spid="28"/>
                                        </p:tgtEl>
                                      </p:cBhvr>
                                    </p:animEffect>
                                    <p:anim calcmode="lin" valueType="num">
                                      <p:cBhvr>
                                        <p:cTn id="122" dur="500" fill="hold"/>
                                        <p:tgtEl>
                                          <p:spTgt spid="28"/>
                                        </p:tgtEl>
                                        <p:attrNameLst>
                                          <p:attrName>ppt_x</p:attrName>
                                        </p:attrNameLst>
                                      </p:cBhvr>
                                      <p:tavLst>
                                        <p:tav tm="0">
                                          <p:val>
                                            <p:strVal val="#ppt_x"/>
                                          </p:val>
                                        </p:tav>
                                        <p:tav tm="100000">
                                          <p:val>
                                            <p:strVal val="#ppt_x"/>
                                          </p:val>
                                        </p:tav>
                                      </p:tavLst>
                                    </p:anim>
                                    <p:anim calcmode="lin" valueType="num">
                                      <p:cBhvr>
                                        <p:cTn id="123" dur="500" fill="hold"/>
                                        <p:tgtEl>
                                          <p:spTgt spid="28"/>
                                        </p:tgtEl>
                                        <p:attrNameLst>
                                          <p:attrName>ppt_y</p:attrName>
                                        </p:attrNameLst>
                                      </p:cBhvr>
                                      <p:tavLst>
                                        <p:tav tm="0">
                                          <p:val>
                                            <p:strVal val="#ppt_y+0.05"/>
                                          </p:val>
                                        </p:tav>
                                        <p:tav tm="100000">
                                          <p:val>
                                            <p:strVal val="#ppt_y"/>
                                          </p:val>
                                        </p:tav>
                                      </p:tavLst>
                                    </p:anim>
                                  </p:childTnLst>
                                </p:cTn>
                              </p:par>
                              <p:par>
                                <p:cTn id="129" presetID="42" presetClass="entr" presetSubtype="0" fill="hold" grpId="0" nodeType="withEffect" decel="100000">
                                  <p:stCondLst>
                                    <p:cond delay="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00"/>
                                        <p:tgtEl>
                                          <p:spTgt spid="29"/>
                                        </p:tgtEl>
                                      </p:cBhvr>
                                    </p:animEffect>
                                    <p:anim calcmode="lin" valueType="num">
                                      <p:cBhvr>
                                        <p:cTn id="127" dur="500" fill="hold"/>
                                        <p:tgtEl>
                                          <p:spTgt spid="29"/>
                                        </p:tgtEl>
                                        <p:attrNameLst>
                                          <p:attrName>ppt_x</p:attrName>
                                        </p:attrNameLst>
                                      </p:cBhvr>
                                      <p:tavLst>
                                        <p:tav tm="0">
                                          <p:val>
                                            <p:strVal val="#ppt_x"/>
                                          </p:val>
                                        </p:tav>
                                        <p:tav tm="100000">
                                          <p:val>
                                            <p:strVal val="#ppt_x"/>
                                          </p:val>
                                        </p:tav>
                                      </p:tavLst>
                                    </p:anim>
                                    <p:anim calcmode="lin" valueType="num">
                                      <p:cBhvr>
                                        <p:cTn id="128" dur="500" fill="hold"/>
                                        <p:tgtEl>
                                          <p:spTgt spid="29"/>
                                        </p:tgtEl>
                                        <p:attrNameLst>
                                          <p:attrName>ppt_y</p:attrName>
                                        </p:attrNameLst>
                                      </p:cBhvr>
                                      <p:tavLst>
                                        <p:tav tm="0">
                                          <p:val>
                                            <p:strVal val="#ppt_y+0.05"/>
                                          </p:val>
                                        </p:tav>
                                        <p:tav tm="100000">
                                          <p:val>
                                            <p:strVal val="#ppt_y"/>
                                          </p:val>
                                        </p:tav>
                                      </p:tavLst>
                                    </p:anim>
                                  </p:childTnLst>
                                </p:cTn>
                              </p:par>
                              <p:par>
                                <p:cTn id="134" presetID="42" presetClass="entr" presetSubtype="0" fill="hold" grpId="0" nodeType="withEffect" decel="100000">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500"/>
                                        <p:tgtEl>
                                          <p:spTgt spid="30"/>
                                        </p:tgtEl>
                                      </p:cBhvr>
                                    </p:animEffect>
                                    <p:anim calcmode="lin" valueType="num">
                                      <p:cBhvr>
                                        <p:cTn id="132" dur="500" fill="hold"/>
                                        <p:tgtEl>
                                          <p:spTgt spid="30"/>
                                        </p:tgtEl>
                                        <p:attrNameLst>
                                          <p:attrName>ppt_x</p:attrName>
                                        </p:attrNameLst>
                                      </p:cBhvr>
                                      <p:tavLst>
                                        <p:tav tm="0">
                                          <p:val>
                                            <p:strVal val="#ppt_x"/>
                                          </p:val>
                                        </p:tav>
                                        <p:tav tm="100000">
                                          <p:val>
                                            <p:strVal val="#ppt_x"/>
                                          </p:val>
                                        </p:tav>
                                      </p:tavLst>
                                    </p:anim>
                                    <p:anim calcmode="lin" valueType="num">
                                      <p:cBhvr>
                                        <p:cTn id="133" dur="500" fill="hold"/>
                                        <p:tgtEl>
                                          <p:spTgt spid="30"/>
                                        </p:tgtEl>
                                        <p:attrNameLst>
                                          <p:attrName>ppt_y</p:attrName>
                                        </p:attrNameLst>
                                      </p:cBhvr>
                                      <p:tavLst>
                                        <p:tav tm="0">
                                          <p:val>
                                            <p:strVal val="#ppt_y+0.05"/>
                                          </p:val>
                                        </p:tav>
                                        <p:tav tm="100000">
                                          <p:val>
                                            <p:strVal val="#ppt_y"/>
                                          </p:val>
                                        </p:tav>
                                      </p:tavLst>
                                    </p:anim>
                                  </p:childTnLst>
                                </p:cTn>
                              </p:par>
                              <p:par>
                                <p:cTn id="139" presetID="42" presetClass="entr" presetSubtype="0" fill="hold" grpId="0" nodeType="withEffect" decel="100000">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00"/>
                                        <p:tgtEl>
                                          <p:spTgt spid="31"/>
                                        </p:tgtEl>
                                      </p:cBhvr>
                                    </p:animEffect>
                                    <p:anim calcmode="lin" valueType="num">
                                      <p:cBhvr>
                                        <p:cTn id="137" dur="500" fill="hold"/>
                                        <p:tgtEl>
                                          <p:spTgt spid="31"/>
                                        </p:tgtEl>
                                        <p:attrNameLst>
                                          <p:attrName>ppt_x</p:attrName>
                                        </p:attrNameLst>
                                      </p:cBhvr>
                                      <p:tavLst>
                                        <p:tav tm="0">
                                          <p:val>
                                            <p:strVal val="#ppt_x"/>
                                          </p:val>
                                        </p:tav>
                                        <p:tav tm="100000">
                                          <p:val>
                                            <p:strVal val="#ppt_x"/>
                                          </p:val>
                                        </p:tav>
                                      </p:tavLst>
                                    </p:anim>
                                    <p:anim calcmode="lin" valueType="num">
                                      <p:cBhvr>
                                        <p:cTn id="138" dur="500" fill="hold"/>
                                        <p:tgtEl>
                                          <p:spTgt spid="31"/>
                                        </p:tgtEl>
                                        <p:attrNameLst>
                                          <p:attrName>ppt_y</p:attrName>
                                        </p:attrNameLst>
                                      </p:cBhvr>
                                      <p:tavLst>
                                        <p:tav tm="0">
                                          <p:val>
                                            <p:strVal val="#ppt_y+0.05"/>
                                          </p:val>
                                        </p:tav>
                                        <p:tav tm="100000">
                                          <p:val>
                                            <p:strVal val="#ppt_y"/>
                                          </p:val>
                                        </p:tav>
                                      </p:tavLst>
                                    </p:anim>
                                  </p:childTnLst>
                                </p:cTn>
                              </p:par>
                              <p:par>
                                <p:cTn id="142" presetID="10" presetClass="entr" presetSubtype="0" fill="hold" grpId="0" nodeType="withEffect" decel="100000">
                                  <p:stCondLst>
                                    <p:cond delay="30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500"/>
                                        <p:tgtEl>
                                          <p:spTgt spid="32"/>
                                        </p:tgtEl>
                                      </p:cBhvr>
                                    </p:animEffect>
                                  </p:childTnLst>
                                </p:cTn>
                              </p:par>
                              <p:par>
                                <p:cTn id="145" presetID="10" presetClass="entr" presetSubtype="0" fill="hold" grpId="0" nodeType="withEffect" decel="100000">
                                  <p:stCondLst>
                                    <p:cond delay="30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3" name="txt_6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OUR SOLUTION</a:t>
            </a:r>
            <a:endParaRPr lang="en-US" sz="1100" dirty="0"/>
          </a:p>
        </p:txBody>
      </p:sp>
      <p:sp>
        <p:nvSpPr>
          <p:cNvPr id="4" name="txt_6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Our Solution at a Glance</a:t>
            </a:r>
            <a:endParaRPr lang="en-US" sz="3200" dirty="0"/>
          </a:p>
        </p:txBody>
      </p:sp>
      <p:sp>
        <p:nvSpPr>
          <p:cNvPr id="5" name="txt_6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An orchestrator fans all four services out in parallel, merges their verdicts, and only then prices the shipment.</a:t>
            </a:r>
            <a:endParaRPr lang="en-US" sz="1500" dirty="0"/>
          </a:p>
        </p:txBody>
      </p:sp>
      <p:sp>
        <p:nvSpPr>
          <p:cNvPr id="6" name="shp_6_3"/>
          <p:cNvSpPr/>
          <p:nvPr/>
        </p:nvSpPr>
        <p:spPr>
          <a:xfrm>
            <a:off x="4800600" y="3108960"/>
            <a:ext cx="2590495" cy="1737360"/>
          </a:xfrm>
          <a:prstGeom prst="roundRect">
            <a:avLst>
              <a:gd name="adj" fmla="val 5263"/>
            </a:avLst>
          </a:prstGeom>
          <a:solidFill>
            <a:srgbClr val="15294A"/>
          </a:solidFill>
          <a:ln w="25400">
            <a:solidFill>
              <a:srgbClr val="F5A524"/>
            </a:solidFill>
            <a:prstDash val="solid"/>
          </a:ln>
        </p:spPr>
      </p:sp>
      <p:pic>
        <p:nvPicPr>
          <p:cNvPr id="7" name="img_6_4" descr="preencoded.png">    </p:cNvPr>
          <p:cNvPicPr>
            <a:picLocks noChangeAspect="1"/>
          </p:cNvPicPr>
          <p:nvPr/>
        </p:nvPicPr>
        <p:blipFill>
          <a:blip r:embed="rId1"/>
          <a:stretch>
            <a:fillRect/>
          </a:stretch>
        </p:blipFill>
        <p:spPr>
          <a:xfrm>
            <a:off x="5821528" y="3383280"/>
            <a:ext cx="548640" cy="548640"/>
          </a:xfrm>
          <a:prstGeom prst="rect">
            <a:avLst/>
          </a:prstGeom>
        </p:spPr>
      </p:pic>
      <p:sp>
        <p:nvSpPr>
          <p:cNvPr id="8" name="txt_6_5"/>
          <p:cNvSpPr txBox="1"/>
          <p:nvPr/>
        </p:nvSpPr>
        <p:spPr>
          <a:xfrm>
            <a:off x="4800600" y="4005072"/>
            <a:ext cx="2590495" cy="365760"/>
          </a:xfrm>
          <a:prstGeom prst="rect">
            <a:avLst/>
          </a:prstGeom>
          <a:noFill/>
          <a:ln/>
        </p:spPr>
        <p:txBody>
          <a:bodyPr wrap="square" lIns="0" tIns="0" rIns="0" bIns="0" rtlCol="0" anchor="t"/>
          <a:lstStyle/>
          <a:p>
            <a:pPr algn="ctr" indent="0" marL="0">
              <a:buNone/>
            </a:pPr>
            <a:r>
              <a:rPr lang="en-US" sz="1900" b="1" dirty="0">
                <a:solidFill>
                  <a:srgbClr val="FFFFFF"/>
                </a:solidFill>
                <a:latin typeface="Calibri" pitchFamily="34" charset="0"/>
                <a:ea typeface="Calibri" pitchFamily="34" charset="-122"/>
                <a:cs typeface="Calibri" pitchFamily="34" charset="-120"/>
              </a:rPr>
              <a:t>FreightAI core</a:t>
            </a:r>
            <a:endParaRPr lang="en-US" sz="1900" dirty="0"/>
          </a:p>
        </p:txBody>
      </p:sp>
      <p:sp>
        <p:nvSpPr>
          <p:cNvPr id="9" name="txt_6_6"/>
          <p:cNvSpPr txBox="1"/>
          <p:nvPr/>
        </p:nvSpPr>
        <p:spPr>
          <a:xfrm>
            <a:off x="4800600" y="4370832"/>
            <a:ext cx="2590495" cy="274320"/>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Quote &amp; booking engine</a:t>
            </a:r>
            <a:endParaRPr lang="en-US" sz="1200" dirty="0"/>
          </a:p>
        </p:txBody>
      </p:sp>
      <p:sp>
        <p:nvSpPr>
          <p:cNvPr id="10" name="shp_6_7"/>
          <p:cNvSpPr/>
          <p:nvPr/>
        </p:nvSpPr>
        <p:spPr>
          <a:xfrm flipH="1">
            <a:off x="4416552" y="3977640"/>
            <a:ext cx="384048" cy="0"/>
          </a:xfrm>
          <a:prstGeom prst="line">
            <a:avLst/>
          </a:prstGeom>
          <a:noFill/>
          <a:ln w="19050">
            <a:solidFill>
              <a:srgbClr val="F5A524"/>
            </a:solidFill>
            <a:prstDash val="solid"/>
          </a:ln>
        </p:spPr>
      </p:sp>
      <p:sp>
        <p:nvSpPr>
          <p:cNvPr id="11" name="shp_6_8"/>
          <p:cNvSpPr/>
          <p:nvPr/>
        </p:nvSpPr>
        <p:spPr>
          <a:xfrm>
            <a:off x="4416552" y="2766060"/>
            <a:ext cx="0" cy="2423160"/>
          </a:xfrm>
          <a:prstGeom prst="line">
            <a:avLst/>
          </a:prstGeom>
          <a:noFill/>
          <a:ln w="19050">
            <a:solidFill>
              <a:srgbClr val="F5A524"/>
            </a:solidFill>
            <a:prstDash val="solid"/>
          </a:ln>
        </p:spPr>
      </p:sp>
      <p:sp>
        <p:nvSpPr>
          <p:cNvPr id="12" name="shp_6_9"/>
          <p:cNvSpPr/>
          <p:nvPr/>
        </p:nvSpPr>
        <p:spPr>
          <a:xfrm flipH="1">
            <a:off x="4069080" y="2766060"/>
            <a:ext cx="347472" cy="0"/>
          </a:xfrm>
          <a:prstGeom prst="line">
            <a:avLst/>
          </a:prstGeom>
          <a:noFill/>
          <a:ln w="19050">
            <a:solidFill>
              <a:srgbClr val="F5A524"/>
            </a:solidFill>
            <a:prstDash val="solid"/>
            <a:tailEnd type="triangle"/>
          </a:ln>
        </p:spPr>
      </p:sp>
      <p:sp>
        <p:nvSpPr>
          <p:cNvPr id="13" name="shp_6_10"/>
          <p:cNvSpPr/>
          <p:nvPr/>
        </p:nvSpPr>
        <p:spPr>
          <a:xfrm>
            <a:off x="548640" y="2103120"/>
            <a:ext cx="3520440" cy="1325880"/>
          </a:xfrm>
          <a:prstGeom prst="roundRect">
            <a:avLst>
              <a:gd name="adj" fmla="val 6897"/>
            </a:avLst>
          </a:prstGeom>
          <a:solidFill>
            <a:srgbClr val="112038"/>
          </a:solidFill>
          <a:ln w="9525">
            <a:solidFill>
              <a:srgbClr val="243A5E"/>
            </a:solidFill>
            <a:prstDash val="solid"/>
          </a:ln>
        </p:spPr>
      </p:sp>
      <p:sp>
        <p:nvSpPr>
          <p:cNvPr id="14" name="shp_6_11"/>
          <p:cNvSpPr/>
          <p:nvPr/>
        </p:nvSpPr>
        <p:spPr>
          <a:xfrm>
            <a:off x="822960" y="2441448"/>
            <a:ext cx="658368" cy="658368"/>
          </a:xfrm>
          <a:prstGeom prst="ellipse">
            <a:avLst/>
          </a:prstGeom>
          <a:solidFill>
            <a:srgbClr val="3B2A0C"/>
          </a:solidFill>
          <a:ln w="9525">
            <a:solidFill>
              <a:srgbClr val="F5A524"/>
            </a:solidFill>
            <a:prstDash val="solid"/>
          </a:ln>
        </p:spPr>
      </p:sp>
      <p:pic>
        <p:nvPicPr>
          <p:cNvPr id="15" name="img_6_12" descr="preencoded.png">    </p:cNvPr>
          <p:cNvPicPr>
            <a:picLocks noChangeAspect="1"/>
          </p:cNvPicPr>
          <p:nvPr/>
        </p:nvPicPr>
        <p:blipFill>
          <a:blip r:embed="rId2"/>
          <a:stretch>
            <a:fillRect/>
          </a:stretch>
        </p:blipFill>
        <p:spPr>
          <a:xfrm>
            <a:off x="980968" y="2599456"/>
            <a:ext cx="342351" cy="342351"/>
          </a:xfrm>
          <a:prstGeom prst="rect">
            <a:avLst/>
          </a:prstGeom>
        </p:spPr>
      </p:pic>
      <p:sp>
        <p:nvSpPr>
          <p:cNvPr id="16" name="txt_6_13"/>
          <p:cNvSpPr txBox="1"/>
          <p:nvPr/>
        </p:nvSpPr>
        <p:spPr>
          <a:xfrm>
            <a:off x="1691640" y="2432304"/>
            <a:ext cx="2194560" cy="347472"/>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ML pricing</a:t>
            </a:r>
            <a:endParaRPr lang="en-US" sz="1800" dirty="0"/>
          </a:p>
        </p:txBody>
      </p:sp>
      <p:sp>
        <p:nvSpPr>
          <p:cNvPr id="17" name="txt_6_14"/>
          <p:cNvSpPr txBox="1"/>
          <p:nvPr/>
        </p:nvSpPr>
        <p:spPr>
          <a:xfrm>
            <a:off x="1691640" y="2798064"/>
            <a:ext cx="2194560" cy="292608"/>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GBR spot rate + margin floor</a:t>
            </a:r>
            <a:endParaRPr lang="en-US" sz="1300" dirty="0"/>
          </a:p>
        </p:txBody>
      </p:sp>
      <p:sp>
        <p:nvSpPr>
          <p:cNvPr id="18" name="shp_6_15"/>
          <p:cNvSpPr/>
          <p:nvPr/>
        </p:nvSpPr>
        <p:spPr>
          <a:xfrm flipH="1">
            <a:off x="4069080" y="5189220"/>
            <a:ext cx="347472" cy="0"/>
          </a:xfrm>
          <a:prstGeom prst="line">
            <a:avLst/>
          </a:prstGeom>
          <a:noFill/>
          <a:ln w="19050">
            <a:solidFill>
              <a:srgbClr val="F5A524"/>
            </a:solidFill>
            <a:prstDash val="solid"/>
            <a:tailEnd type="triangle"/>
          </a:ln>
        </p:spPr>
      </p:sp>
      <p:sp>
        <p:nvSpPr>
          <p:cNvPr id="19" name="shp_6_16"/>
          <p:cNvSpPr/>
          <p:nvPr/>
        </p:nvSpPr>
        <p:spPr>
          <a:xfrm>
            <a:off x="548640" y="4526280"/>
            <a:ext cx="3520440" cy="1325880"/>
          </a:xfrm>
          <a:prstGeom prst="roundRect">
            <a:avLst>
              <a:gd name="adj" fmla="val 6897"/>
            </a:avLst>
          </a:prstGeom>
          <a:solidFill>
            <a:srgbClr val="112038"/>
          </a:solidFill>
          <a:ln w="9525">
            <a:solidFill>
              <a:srgbClr val="243A5E"/>
            </a:solidFill>
            <a:prstDash val="solid"/>
          </a:ln>
        </p:spPr>
      </p:sp>
      <p:sp>
        <p:nvSpPr>
          <p:cNvPr id="20" name="shp_6_17"/>
          <p:cNvSpPr/>
          <p:nvPr/>
        </p:nvSpPr>
        <p:spPr>
          <a:xfrm>
            <a:off x="822960" y="4864608"/>
            <a:ext cx="658368" cy="658368"/>
          </a:xfrm>
          <a:prstGeom prst="ellipse">
            <a:avLst/>
          </a:prstGeom>
          <a:solidFill>
            <a:srgbClr val="3B2A0C"/>
          </a:solidFill>
          <a:ln w="9525">
            <a:solidFill>
              <a:srgbClr val="F5A524"/>
            </a:solidFill>
            <a:prstDash val="solid"/>
          </a:ln>
        </p:spPr>
      </p:sp>
      <p:pic>
        <p:nvPicPr>
          <p:cNvPr id="21" name="img_6_18" descr="preencoded.png">    </p:cNvPr>
          <p:cNvPicPr>
            <a:picLocks noChangeAspect="1"/>
          </p:cNvPicPr>
          <p:nvPr/>
        </p:nvPicPr>
        <p:blipFill>
          <a:blip r:embed="rId3"/>
          <a:stretch>
            <a:fillRect/>
          </a:stretch>
        </p:blipFill>
        <p:spPr>
          <a:xfrm>
            <a:off x="980968" y="5022616"/>
            <a:ext cx="342351" cy="342351"/>
          </a:xfrm>
          <a:prstGeom prst="rect">
            <a:avLst/>
          </a:prstGeom>
        </p:spPr>
      </p:pic>
      <p:sp>
        <p:nvSpPr>
          <p:cNvPr id="22" name="txt_6_19"/>
          <p:cNvSpPr txBox="1"/>
          <p:nvPr/>
        </p:nvSpPr>
        <p:spPr>
          <a:xfrm>
            <a:off x="1691640" y="4855464"/>
            <a:ext cx="2194560" cy="347472"/>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Weather agent</a:t>
            </a:r>
            <a:endParaRPr lang="en-US" sz="1800" dirty="0"/>
          </a:p>
        </p:txBody>
      </p:sp>
      <p:sp>
        <p:nvSpPr>
          <p:cNvPr id="23" name="txt_6_20"/>
          <p:cNvSpPr txBox="1"/>
          <p:nvPr/>
        </p:nvSpPr>
        <p:spPr>
          <a:xfrm>
            <a:off x="1691640" y="5221224"/>
            <a:ext cx="2194560" cy="292608"/>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Open-Meteo marine telemetry</a:t>
            </a:r>
            <a:endParaRPr lang="en-US" sz="1300" dirty="0"/>
          </a:p>
        </p:txBody>
      </p:sp>
      <p:sp>
        <p:nvSpPr>
          <p:cNvPr id="24" name="shp_6_21"/>
          <p:cNvSpPr/>
          <p:nvPr/>
        </p:nvSpPr>
        <p:spPr>
          <a:xfrm>
            <a:off x="7391095" y="3977640"/>
            <a:ext cx="384048" cy="0"/>
          </a:xfrm>
          <a:prstGeom prst="line">
            <a:avLst/>
          </a:prstGeom>
          <a:noFill/>
          <a:ln w="19050">
            <a:solidFill>
              <a:srgbClr val="F5A524"/>
            </a:solidFill>
            <a:prstDash val="solid"/>
          </a:ln>
        </p:spPr>
      </p:sp>
      <p:sp>
        <p:nvSpPr>
          <p:cNvPr id="25" name="shp_6_22"/>
          <p:cNvSpPr/>
          <p:nvPr/>
        </p:nvSpPr>
        <p:spPr>
          <a:xfrm>
            <a:off x="7775143" y="2766060"/>
            <a:ext cx="0" cy="2423160"/>
          </a:xfrm>
          <a:prstGeom prst="line">
            <a:avLst/>
          </a:prstGeom>
          <a:noFill/>
          <a:ln w="19050">
            <a:solidFill>
              <a:srgbClr val="F5A524"/>
            </a:solidFill>
            <a:prstDash val="solid"/>
          </a:ln>
        </p:spPr>
      </p:sp>
      <p:sp>
        <p:nvSpPr>
          <p:cNvPr id="26" name="shp_6_23"/>
          <p:cNvSpPr/>
          <p:nvPr/>
        </p:nvSpPr>
        <p:spPr>
          <a:xfrm>
            <a:off x="7775143" y="2766060"/>
            <a:ext cx="347472" cy="0"/>
          </a:xfrm>
          <a:prstGeom prst="line">
            <a:avLst/>
          </a:prstGeom>
          <a:noFill/>
          <a:ln w="19050">
            <a:solidFill>
              <a:srgbClr val="F5A524"/>
            </a:solidFill>
            <a:prstDash val="solid"/>
            <a:tailEnd type="triangle"/>
          </a:ln>
        </p:spPr>
      </p:sp>
      <p:sp>
        <p:nvSpPr>
          <p:cNvPr id="27" name="shp_6_24"/>
          <p:cNvSpPr/>
          <p:nvPr/>
        </p:nvSpPr>
        <p:spPr>
          <a:xfrm>
            <a:off x="8122615" y="2103120"/>
            <a:ext cx="3520440" cy="1325880"/>
          </a:xfrm>
          <a:prstGeom prst="roundRect">
            <a:avLst>
              <a:gd name="adj" fmla="val 6897"/>
            </a:avLst>
          </a:prstGeom>
          <a:solidFill>
            <a:srgbClr val="112038"/>
          </a:solidFill>
          <a:ln w="9525">
            <a:solidFill>
              <a:srgbClr val="243A5E"/>
            </a:solidFill>
            <a:prstDash val="solid"/>
          </a:ln>
        </p:spPr>
      </p:sp>
      <p:sp>
        <p:nvSpPr>
          <p:cNvPr id="28" name="shp_6_25"/>
          <p:cNvSpPr/>
          <p:nvPr/>
        </p:nvSpPr>
        <p:spPr>
          <a:xfrm>
            <a:off x="8396935" y="2441448"/>
            <a:ext cx="658368" cy="658368"/>
          </a:xfrm>
          <a:prstGeom prst="ellipse">
            <a:avLst/>
          </a:prstGeom>
          <a:solidFill>
            <a:srgbClr val="3B2A0C"/>
          </a:solidFill>
          <a:ln w="9525">
            <a:solidFill>
              <a:srgbClr val="F5A524"/>
            </a:solidFill>
            <a:prstDash val="solid"/>
          </a:ln>
        </p:spPr>
      </p:sp>
      <p:pic>
        <p:nvPicPr>
          <p:cNvPr id="29" name="img_6_26" descr="preencoded.png">    </p:cNvPr>
          <p:cNvPicPr>
            <a:picLocks noChangeAspect="1"/>
          </p:cNvPicPr>
          <p:nvPr/>
        </p:nvPicPr>
        <p:blipFill>
          <a:blip r:embed="rId4"/>
          <a:stretch>
            <a:fillRect/>
          </a:stretch>
        </p:blipFill>
        <p:spPr>
          <a:xfrm>
            <a:off x="8554944" y="2599456"/>
            <a:ext cx="342351" cy="342351"/>
          </a:xfrm>
          <a:prstGeom prst="rect">
            <a:avLst/>
          </a:prstGeom>
        </p:spPr>
      </p:pic>
      <p:sp>
        <p:nvSpPr>
          <p:cNvPr id="30" name="txt_6_27"/>
          <p:cNvSpPr txBox="1"/>
          <p:nvPr/>
        </p:nvSpPr>
        <p:spPr>
          <a:xfrm>
            <a:off x="9265615" y="2432304"/>
            <a:ext cx="2194560" cy="347472"/>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Customs RAG</a:t>
            </a:r>
            <a:endParaRPr lang="en-US" sz="1800" dirty="0"/>
          </a:p>
        </p:txBody>
      </p:sp>
      <p:sp>
        <p:nvSpPr>
          <p:cNvPr id="31" name="txt_6_28"/>
          <p:cNvSpPr txBox="1"/>
          <p:nvPr/>
        </p:nvSpPr>
        <p:spPr>
          <a:xfrm>
            <a:off x="9265615" y="2798064"/>
            <a:ext cx="2194560" cy="292608"/>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BM25 + vector, every rule cited</a:t>
            </a:r>
            <a:endParaRPr lang="en-US" sz="1300" dirty="0"/>
          </a:p>
        </p:txBody>
      </p:sp>
      <p:sp>
        <p:nvSpPr>
          <p:cNvPr id="32" name="shp_6_29"/>
          <p:cNvSpPr/>
          <p:nvPr/>
        </p:nvSpPr>
        <p:spPr>
          <a:xfrm>
            <a:off x="7775143" y="5189220"/>
            <a:ext cx="347472" cy="0"/>
          </a:xfrm>
          <a:prstGeom prst="line">
            <a:avLst/>
          </a:prstGeom>
          <a:noFill/>
          <a:ln w="19050">
            <a:solidFill>
              <a:srgbClr val="F5A524"/>
            </a:solidFill>
            <a:prstDash val="solid"/>
            <a:tailEnd type="triangle"/>
          </a:ln>
        </p:spPr>
      </p:sp>
      <p:sp>
        <p:nvSpPr>
          <p:cNvPr id="33" name="shp_6_30"/>
          <p:cNvSpPr/>
          <p:nvPr/>
        </p:nvSpPr>
        <p:spPr>
          <a:xfrm>
            <a:off x="8122615" y="4526280"/>
            <a:ext cx="3520440" cy="1325880"/>
          </a:xfrm>
          <a:prstGeom prst="roundRect">
            <a:avLst>
              <a:gd name="adj" fmla="val 6897"/>
            </a:avLst>
          </a:prstGeom>
          <a:solidFill>
            <a:srgbClr val="112038"/>
          </a:solidFill>
          <a:ln w="9525">
            <a:solidFill>
              <a:srgbClr val="243A5E"/>
            </a:solidFill>
            <a:prstDash val="solid"/>
          </a:ln>
        </p:spPr>
      </p:sp>
      <p:sp>
        <p:nvSpPr>
          <p:cNvPr id="34" name="shp_6_31"/>
          <p:cNvSpPr/>
          <p:nvPr/>
        </p:nvSpPr>
        <p:spPr>
          <a:xfrm>
            <a:off x="8396935" y="4864608"/>
            <a:ext cx="658368" cy="658368"/>
          </a:xfrm>
          <a:prstGeom prst="ellipse">
            <a:avLst/>
          </a:prstGeom>
          <a:solidFill>
            <a:srgbClr val="3B2A0C"/>
          </a:solidFill>
          <a:ln w="9525">
            <a:solidFill>
              <a:srgbClr val="F5A524"/>
            </a:solidFill>
            <a:prstDash val="solid"/>
          </a:ln>
        </p:spPr>
      </p:sp>
      <p:pic>
        <p:nvPicPr>
          <p:cNvPr id="35" name="img_6_32" descr="preencoded.png">    </p:cNvPr>
          <p:cNvPicPr>
            <a:picLocks noChangeAspect="1"/>
          </p:cNvPicPr>
          <p:nvPr/>
        </p:nvPicPr>
        <p:blipFill>
          <a:blip r:embed="rId5"/>
          <a:stretch>
            <a:fillRect/>
          </a:stretch>
        </p:blipFill>
        <p:spPr>
          <a:xfrm>
            <a:off x="8554944" y="5022616"/>
            <a:ext cx="342351" cy="342351"/>
          </a:xfrm>
          <a:prstGeom prst="rect">
            <a:avLst/>
          </a:prstGeom>
        </p:spPr>
      </p:pic>
      <p:sp>
        <p:nvSpPr>
          <p:cNvPr id="36" name="txt_6_33"/>
          <p:cNvSpPr txBox="1"/>
          <p:nvPr/>
        </p:nvSpPr>
        <p:spPr>
          <a:xfrm>
            <a:off x="9265615" y="4855464"/>
            <a:ext cx="2194560" cy="347472"/>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Risk gate</a:t>
            </a:r>
            <a:endParaRPr lang="en-US" sz="1800" dirty="0"/>
          </a:p>
        </p:txBody>
      </p:sp>
      <p:sp>
        <p:nvSpPr>
          <p:cNvPr id="37" name="txt_6_34"/>
          <p:cNvSpPr txBox="1"/>
          <p:nvPr/>
        </p:nvSpPr>
        <p:spPr>
          <a:xfrm>
            <a:off x="9265615" y="5221224"/>
            <a:ext cx="2194560" cy="292608"/>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5-factor MCDA · approve or hold</a:t>
            </a:r>
            <a:endParaRPr lang="en-US" sz="1300" dirty="0"/>
          </a:p>
        </p:txBody>
      </p:sp>
      <p:sp>
        <p:nvSpPr>
          <p:cNvPr id="38" name="txt_6_3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9" name="txt_6_3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06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20" presetID="53" presetClass="entr" presetSubtype="16"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600" fill="hold"/>
                                        <p:tgtEl>
                                          <p:spTgt spid="6"/>
                                        </p:tgtEl>
                                        <p:attrNameLst>
                                          <p:attrName>ppt_w</p:attrName>
                                        </p:attrNameLst>
                                      </p:cBhvr>
                                      <p:tavLst>
                                        <p:tav tm="0">
                                          <p:val>
                                            <p:strVal val="#ppt_w*0.70"/>
                                          </p:val>
                                        </p:tav>
                                        <p:tav tm="100000">
                                          <p:val>
                                            <p:strVal val="#ppt_w"/>
                                          </p:val>
                                        </p:tav>
                                      </p:tavLst>
                                    </p:anim>
                                    <p:anim calcmode="lin" valueType="num">
                                      <p:cBhvr>
                                        <p:cTn id="18" dur="600" fill="hold"/>
                                        <p:tgtEl>
                                          <p:spTgt spid="6"/>
                                        </p:tgtEl>
                                        <p:attrNameLst>
                                          <p:attrName>ppt_h</p:attrName>
                                        </p:attrNameLst>
                                      </p:cBhvr>
                                      <p:tavLst>
                                        <p:tav tm="0">
                                          <p:val>
                                            <p:strVal val="#ppt_h*0.70"/>
                                          </p:val>
                                        </p:tav>
                                        <p:tav tm="100000">
                                          <p:val>
                                            <p:strVal val="#ppt_h"/>
                                          </p:val>
                                        </p:tav>
                                      </p:tavLst>
                                    </p:anim>
                                    <p:animEffect transition="in" filter="fade">
                                      <p:cBhvr>
                                        <p:cTn id="19" dur="600"/>
                                        <p:tgtEl>
                                          <p:spTgt spid="6"/>
                                        </p:tgtEl>
                                      </p:cBhvr>
                                    </p:animEffect>
                                  </p:childTnLst>
                                </p:cTn>
                              </p:par>
                              <p:par>
                                <p:cTn id="25" presetID="53" presetClass="entr" presetSubtype="16"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ppt_w</p:attrName>
                                        </p:attrNameLst>
                                      </p:cBhvr>
                                      <p:tavLst>
                                        <p:tav tm="0">
                                          <p:val>
                                            <p:strVal val="#ppt_w*0.70"/>
                                          </p:val>
                                        </p:tav>
                                        <p:tav tm="100000">
                                          <p:val>
                                            <p:strVal val="#ppt_w"/>
                                          </p:val>
                                        </p:tav>
                                      </p:tavLst>
                                    </p:anim>
                                    <p:anim calcmode="lin" valueType="num">
                                      <p:cBhvr>
                                        <p:cTn id="23" dur="600" fill="hold"/>
                                        <p:tgtEl>
                                          <p:spTgt spid="7"/>
                                        </p:tgtEl>
                                        <p:attrNameLst>
                                          <p:attrName>ppt_h</p:attrName>
                                        </p:attrNameLst>
                                      </p:cBhvr>
                                      <p:tavLst>
                                        <p:tav tm="0">
                                          <p:val>
                                            <p:strVal val="#ppt_h*0.70"/>
                                          </p:val>
                                        </p:tav>
                                        <p:tav tm="100000">
                                          <p:val>
                                            <p:strVal val="#ppt_h"/>
                                          </p:val>
                                        </p:tav>
                                      </p:tavLst>
                                    </p:anim>
                                    <p:animEffect transition="in" filter="fade">
                                      <p:cBhvr>
                                        <p:cTn id="24" dur="600"/>
                                        <p:tgtEl>
                                          <p:spTgt spid="7"/>
                                        </p:tgtEl>
                                      </p:cBhvr>
                                    </p:animEffect>
                                  </p:childTnLst>
                                </p:cTn>
                              </p:par>
                              <p:par>
                                <p:cTn id="30" presetID="53" presetClass="entr" presetSubtype="16"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600" fill="hold"/>
                                        <p:tgtEl>
                                          <p:spTgt spid="8"/>
                                        </p:tgtEl>
                                        <p:attrNameLst>
                                          <p:attrName>ppt_w</p:attrName>
                                        </p:attrNameLst>
                                      </p:cBhvr>
                                      <p:tavLst>
                                        <p:tav tm="0">
                                          <p:val>
                                            <p:strVal val="#ppt_w*0.70"/>
                                          </p:val>
                                        </p:tav>
                                        <p:tav tm="100000">
                                          <p:val>
                                            <p:strVal val="#ppt_w"/>
                                          </p:val>
                                        </p:tav>
                                      </p:tavLst>
                                    </p:anim>
                                    <p:anim calcmode="lin" valueType="num">
                                      <p:cBhvr>
                                        <p:cTn id="28" dur="600" fill="hold"/>
                                        <p:tgtEl>
                                          <p:spTgt spid="8"/>
                                        </p:tgtEl>
                                        <p:attrNameLst>
                                          <p:attrName>ppt_h</p:attrName>
                                        </p:attrNameLst>
                                      </p:cBhvr>
                                      <p:tavLst>
                                        <p:tav tm="0">
                                          <p:val>
                                            <p:strVal val="#ppt_h*0.70"/>
                                          </p:val>
                                        </p:tav>
                                        <p:tav tm="100000">
                                          <p:val>
                                            <p:strVal val="#ppt_h"/>
                                          </p:val>
                                        </p:tav>
                                      </p:tavLst>
                                    </p:anim>
                                    <p:animEffect transition="in" filter="fade">
                                      <p:cBhvr>
                                        <p:cTn id="29" dur="600"/>
                                        <p:tgtEl>
                                          <p:spTgt spid="8"/>
                                        </p:tgtEl>
                                      </p:cBhvr>
                                    </p:animEffect>
                                  </p:childTnLst>
                                </p:cTn>
                              </p:par>
                              <p:par>
                                <p:cTn id="35" presetID="53" presetClass="entr" presetSubtype="16"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600" fill="hold"/>
                                        <p:tgtEl>
                                          <p:spTgt spid="9"/>
                                        </p:tgtEl>
                                        <p:attrNameLst>
                                          <p:attrName>ppt_w</p:attrName>
                                        </p:attrNameLst>
                                      </p:cBhvr>
                                      <p:tavLst>
                                        <p:tav tm="0">
                                          <p:val>
                                            <p:strVal val="#ppt_w*0.70"/>
                                          </p:val>
                                        </p:tav>
                                        <p:tav tm="100000">
                                          <p:val>
                                            <p:strVal val="#ppt_w"/>
                                          </p:val>
                                        </p:tav>
                                      </p:tavLst>
                                    </p:anim>
                                    <p:anim calcmode="lin" valueType="num">
                                      <p:cBhvr>
                                        <p:cTn id="33" dur="600" fill="hold"/>
                                        <p:tgtEl>
                                          <p:spTgt spid="9"/>
                                        </p:tgtEl>
                                        <p:attrNameLst>
                                          <p:attrName>ppt_h</p:attrName>
                                        </p:attrNameLst>
                                      </p:cBhvr>
                                      <p:tavLst>
                                        <p:tav tm="0">
                                          <p:val>
                                            <p:strVal val="#ppt_h*0.70"/>
                                          </p:val>
                                        </p:tav>
                                        <p:tav tm="100000">
                                          <p:val>
                                            <p:strVal val="#ppt_h"/>
                                          </p:val>
                                        </p:tav>
                                      </p:tavLst>
                                    </p:anim>
                                    <p:animEffect transition="in" filter="fade">
                                      <p:cBhvr>
                                        <p:cTn id="34" dur="600"/>
                                        <p:tgtEl>
                                          <p:spTgt spid="9"/>
                                        </p:tgtEl>
                                      </p:cBhvr>
                                    </p:animEffect>
                                  </p:childTnLst>
                                </p:cTn>
                              </p:par>
                            </p:childTnLst>
                          </p:cTn>
                        </p:par>
                      </p:childTnLst>
                    </p:cTn>
                  </p:par>
                  <p:par>
                    <p:cTn id="100" fill="hold">
                      <p:stCondLst>
                        <p:cond delay="indefinite"/>
                      </p:stCondLst>
                      <p:childTnLst>
                        <p:par>
                          <p:cTn id="101" fill="hold">
                            <p:stCondLst>
                              <p:cond delay="0"/>
                            </p:stCondLst>
                            <p:childTnLst>
                              <p:par>
                                <p:cTn id="40" presetID="22" presetClass="entr" presetSubtype="2" fill="hold" grpId="0" nodeType="clickEffect" decel="100000">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300"/>
                                        <p:tgtEl>
                                          <p:spTgt spid="10"/>
                                        </p:tgtEl>
                                      </p:cBhvr>
                                    </p:animEffect>
                                  </p:childTnLst>
                                </p:cTn>
                              </p:par>
                              <p:par>
                                <p:cTn id="43" presetID="10" presetClass="entr" presetSubtype="0" fill="hold" grpId="0" nodeType="withEffect" decel="100000">
                                  <p:stCondLst>
                                    <p:cond delay="2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300"/>
                                        <p:tgtEl>
                                          <p:spTgt spid="11"/>
                                        </p:tgtEl>
                                      </p:cBhvr>
                                    </p:animEffect>
                                  </p:childTnLst>
                                </p:cTn>
                              </p:par>
                              <p:par>
                                <p:cTn id="46" presetID="22" presetClass="entr" presetSubtype="2" fill="hold" grpId="0" nodeType="withEffect" decel="100000">
                                  <p:stCondLst>
                                    <p:cond delay="45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300"/>
                                        <p:tgtEl>
                                          <p:spTgt spid="12"/>
                                        </p:tgtEl>
                                      </p:cBhvr>
                                    </p:animEffect>
                                  </p:childTnLst>
                                </p:cTn>
                              </p:par>
                              <p:par>
                                <p:cTn id="51" presetID="42" presetClass="entr" presetSubtype="0" fill="hold" grpId="0" nodeType="withEffect" decel="100000">
                                  <p:stCondLst>
                                    <p:cond delay="60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anim calcmode="lin" valueType="num">
                                      <p:cBhvr>
                                        <p:cTn id="49" dur="500" fill="hold"/>
                                        <p:tgtEl>
                                          <p:spTgt spid="13"/>
                                        </p:tgtEl>
                                        <p:attrNameLst>
                                          <p:attrName>ppt_x</p:attrName>
                                        </p:attrNameLst>
                                      </p:cBhvr>
                                      <p:tavLst>
                                        <p:tav tm="0">
                                          <p:val>
                                            <p:strVal val="#ppt_x"/>
                                          </p:val>
                                        </p:tav>
                                        <p:tav tm="100000">
                                          <p:val>
                                            <p:strVal val="#ppt_x"/>
                                          </p:val>
                                        </p:tav>
                                      </p:tavLst>
                                    </p:anim>
                                    <p:anim calcmode="lin" valueType="num">
                                      <p:cBhvr>
                                        <p:cTn id="50" dur="500" fill="hold"/>
                                        <p:tgtEl>
                                          <p:spTgt spid="13"/>
                                        </p:tgtEl>
                                        <p:attrNameLst>
                                          <p:attrName>ppt_y</p:attrName>
                                        </p:attrNameLst>
                                      </p:cBhvr>
                                      <p:tavLst>
                                        <p:tav tm="0">
                                          <p:val>
                                            <p:strVal val="#ppt_y+0.05"/>
                                          </p:val>
                                        </p:tav>
                                        <p:tav tm="100000">
                                          <p:val>
                                            <p:strVal val="#ppt_y"/>
                                          </p:val>
                                        </p:tav>
                                      </p:tavLst>
                                    </p:anim>
                                  </p:childTnLst>
                                </p:cTn>
                              </p:par>
                              <p:par>
                                <p:cTn id="56" presetID="42" presetClass="entr" presetSubtype="0" fill="hold" grpId="0" nodeType="withEffect" decel="100000">
                                  <p:stCondLst>
                                    <p:cond delay="60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0.05"/>
                                          </p:val>
                                        </p:tav>
                                        <p:tav tm="100000">
                                          <p:val>
                                            <p:strVal val="#ppt_y"/>
                                          </p:val>
                                        </p:tav>
                                      </p:tavLst>
                                    </p:anim>
                                  </p:childTnLst>
                                </p:cTn>
                              </p:par>
                              <p:par>
                                <p:cTn id="61" presetID="42" presetClass="entr" presetSubtype="0" fill="hold" grpId="0" nodeType="withEffect" decel="100000">
                                  <p:stCondLst>
                                    <p:cond delay="6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strVal val="#ppt_x"/>
                                          </p:val>
                                        </p:tav>
                                        <p:tav tm="100000">
                                          <p:val>
                                            <p:strVal val="#ppt_x"/>
                                          </p:val>
                                        </p:tav>
                                      </p:tavLst>
                                    </p:anim>
                                    <p:anim calcmode="lin" valueType="num">
                                      <p:cBhvr>
                                        <p:cTn id="60" dur="500" fill="hold"/>
                                        <p:tgtEl>
                                          <p:spTgt spid="15"/>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decel="100000">
                                  <p:stCondLst>
                                    <p:cond delay="60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anim calcmode="lin" valueType="num">
                                      <p:cBhvr>
                                        <p:cTn id="64" dur="500" fill="hold"/>
                                        <p:tgtEl>
                                          <p:spTgt spid="16"/>
                                        </p:tgtEl>
                                        <p:attrNameLst>
                                          <p:attrName>ppt_x</p:attrName>
                                        </p:attrNameLst>
                                      </p:cBhvr>
                                      <p:tavLst>
                                        <p:tav tm="0">
                                          <p:val>
                                            <p:strVal val="#ppt_x"/>
                                          </p:val>
                                        </p:tav>
                                        <p:tav tm="100000">
                                          <p:val>
                                            <p:strVal val="#ppt_x"/>
                                          </p:val>
                                        </p:tav>
                                      </p:tavLst>
                                    </p:anim>
                                    <p:anim calcmode="lin" valueType="num">
                                      <p:cBhvr>
                                        <p:cTn id="65" dur="500" fill="hold"/>
                                        <p:tgtEl>
                                          <p:spTgt spid="16"/>
                                        </p:tgtEl>
                                        <p:attrNameLst>
                                          <p:attrName>ppt_y</p:attrName>
                                        </p:attrNameLst>
                                      </p:cBhvr>
                                      <p:tavLst>
                                        <p:tav tm="0">
                                          <p:val>
                                            <p:strVal val="#ppt_y+0.05"/>
                                          </p:val>
                                        </p:tav>
                                        <p:tav tm="100000">
                                          <p:val>
                                            <p:strVal val="#ppt_y"/>
                                          </p:val>
                                        </p:tav>
                                      </p:tavLst>
                                    </p:anim>
                                  </p:childTnLst>
                                </p:cTn>
                              </p:par>
                              <p:par>
                                <p:cTn id="71" presetID="42" presetClass="entr" presetSubtype="0" fill="hold" grpId="0" nodeType="withEffect" decel="100000">
                                  <p:stCondLst>
                                    <p:cond delay="60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p:cTn id="69" dur="500" fill="hold"/>
                                        <p:tgtEl>
                                          <p:spTgt spid="17"/>
                                        </p:tgtEl>
                                        <p:attrNameLst>
                                          <p:attrName>ppt_x</p:attrName>
                                        </p:attrNameLst>
                                      </p:cBhvr>
                                      <p:tavLst>
                                        <p:tav tm="0">
                                          <p:val>
                                            <p:strVal val="#ppt_x"/>
                                          </p:val>
                                        </p:tav>
                                        <p:tav tm="100000">
                                          <p:val>
                                            <p:strVal val="#ppt_x"/>
                                          </p:val>
                                        </p:tav>
                                      </p:tavLst>
                                    </p:anim>
                                    <p:anim calcmode="lin" valueType="num">
                                      <p:cBhvr>
                                        <p:cTn id="70" dur="500" fill="hold"/>
                                        <p:tgtEl>
                                          <p:spTgt spid="17"/>
                                        </p:tgtEl>
                                        <p:attrNameLst>
                                          <p:attrName>ppt_y</p:attrName>
                                        </p:attrNameLst>
                                      </p:cBhvr>
                                      <p:tavLst>
                                        <p:tav tm="0">
                                          <p:val>
                                            <p:strVal val="#ppt_y+0.05"/>
                                          </p:val>
                                        </p:tav>
                                        <p:tav tm="100000">
                                          <p:val>
                                            <p:strVal val="#ppt_y"/>
                                          </p:val>
                                        </p:tav>
                                      </p:tavLst>
                                    </p:anim>
                                  </p:childTnLst>
                                </p:cTn>
                              </p:par>
                              <p:par>
                                <p:cTn id="74" presetID="22" presetClass="entr" presetSubtype="2" fill="hold" grpId="0" nodeType="withEffect" decel="100000">
                                  <p:stCondLst>
                                    <p:cond delay="45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300"/>
                                        <p:tgtEl>
                                          <p:spTgt spid="18"/>
                                        </p:tgtEl>
                                      </p:cBhvr>
                                    </p:animEffect>
                                  </p:childTnLst>
                                </p:cTn>
                              </p:par>
                              <p:par>
                                <p:cTn id="79" presetID="42" presetClass="entr" presetSubtype="0" fill="hold" grpId="0" nodeType="withEffect" decel="100000">
                                  <p:stCondLst>
                                    <p:cond delay="75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anim calcmode="lin" valueType="num">
                                      <p:cBhvr>
                                        <p:cTn id="77" dur="500" fill="hold"/>
                                        <p:tgtEl>
                                          <p:spTgt spid="19"/>
                                        </p:tgtEl>
                                        <p:attrNameLst>
                                          <p:attrName>ppt_x</p:attrName>
                                        </p:attrNameLst>
                                      </p:cBhvr>
                                      <p:tavLst>
                                        <p:tav tm="0">
                                          <p:val>
                                            <p:strVal val="#ppt_x"/>
                                          </p:val>
                                        </p:tav>
                                        <p:tav tm="100000">
                                          <p:val>
                                            <p:strVal val="#ppt_x"/>
                                          </p:val>
                                        </p:tav>
                                      </p:tavLst>
                                    </p:anim>
                                    <p:anim calcmode="lin" valueType="num">
                                      <p:cBhvr>
                                        <p:cTn id="78" dur="500" fill="hold"/>
                                        <p:tgtEl>
                                          <p:spTgt spid="19"/>
                                        </p:tgtEl>
                                        <p:attrNameLst>
                                          <p:attrName>ppt_y</p:attrName>
                                        </p:attrNameLst>
                                      </p:cBhvr>
                                      <p:tavLst>
                                        <p:tav tm="0">
                                          <p:val>
                                            <p:strVal val="#ppt_y+0.05"/>
                                          </p:val>
                                        </p:tav>
                                        <p:tav tm="100000">
                                          <p:val>
                                            <p:strVal val="#ppt_y"/>
                                          </p:val>
                                        </p:tav>
                                      </p:tavLst>
                                    </p:anim>
                                  </p:childTnLst>
                                </p:cTn>
                              </p:par>
                              <p:par>
                                <p:cTn id="84" presetID="42" presetClass="entr" presetSubtype="0" fill="hold" grpId="0" nodeType="withEffect" decel="100000">
                                  <p:stCondLst>
                                    <p:cond delay="75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anim calcmode="lin" valueType="num">
                                      <p:cBhvr>
                                        <p:cTn id="82" dur="500" fill="hold"/>
                                        <p:tgtEl>
                                          <p:spTgt spid="20"/>
                                        </p:tgtEl>
                                        <p:attrNameLst>
                                          <p:attrName>ppt_x</p:attrName>
                                        </p:attrNameLst>
                                      </p:cBhvr>
                                      <p:tavLst>
                                        <p:tav tm="0">
                                          <p:val>
                                            <p:strVal val="#ppt_x"/>
                                          </p:val>
                                        </p:tav>
                                        <p:tav tm="100000">
                                          <p:val>
                                            <p:strVal val="#ppt_x"/>
                                          </p:val>
                                        </p:tav>
                                      </p:tavLst>
                                    </p:anim>
                                    <p:anim calcmode="lin" valueType="num">
                                      <p:cBhvr>
                                        <p:cTn id="83" dur="500" fill="hold"/>
                                        <p:tgtEl>
                                          <p:spTgt spid="20"/>
                                        </p:tgtEl>
                                        <p:attrNameLst>
                                          <p:attrName>ppt_y</p:attrName>
                                        </p:attrNameLst>
                                      </p:cBhvr>
                                      <p:tavLst>
                                        <p:tav tm="0">
                                          <p:val>
                                            <p:strVal val="#ppt_y+0.05"/>
                                          </p:val>
                                        </p:tav>
                                        <p:tav tm="100000">
                                          <p:val>
                                            <p:strVal val="#ppt_y"/>
                                          </p:val>
                                        </p:tav>
                                      </p:tavLst>
                                    </p:anim>
                                  </p:childTnLst>
                                </p:cTn>
                              </p:par>
                              <p:par>
                                <p:cTn id="89" presetID="42" presetClass="entr" presetSubtype="0" fill="hold" grpId="0" nodeType="withEffect" decel="100000">
                                  <p:stCondLst>
                                    <p:cond delay="75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anim calcmode="lin" valueType="num">
                                      <p:cBhvr>
                                        <p:cTn id="87" dur="500" fill="hold"/>
                                        <p:tgtEl>
                                          <p:spTgt spid="21"/>
                                        </p:tgtEl>
                                        <p:attrNameLst>
                                          <p:attrName>ppt_x</p:attrName>
                                        </p:attrNameLst>
                                      </p:cBhvr>
                                      <p:tavLst>
                                        <p:tav tm="0">
                                          <p:val>
                                            <p:strVal val="#ppt_x"/>
                                          </p:val>
                                        </p:tav>
                                        <p:tav tm="100000">
                                          <p:val>
                                            <p:strVal val="#ppt_x"/>
                                          </p:val>
                                        </p:tav>
                                      </p:tavLst>
                                    </p:anim>
                                    <p:anim calcmode="lin" valueType="num">
                                      <p:cBhvr>
                                        <p:cTn id="88" dur="500" fill="hold"/>
                                        <p:tgtEl>
                                          <p:spTgt spid="21"/>
                                        </p:tgtEl>
                                        <p:attrNameLst>
                                          <p:attrName>ppt_y</p:attrName>
                                        </p:attrNameLst>
                                      </p:cBhvr>
                                      <p:tavLst>
                                        <p:tav tm="0">
                                          <p:val>
                                            <p:strVal val="#ppt_y+0.05"/>
                                          </p:val>
                                        </p:tav>
                                        <p:tav tm="100000">
                                          <p:val>
                                            <p:strVal val="#ppt_y"/>
                                          </p:val>
                                        </p:tav>
                                      </p:tavLst>
                                    </p:anim>
                                  </p:childTnLst>
                                </p:cTn>
                              </p:par>
                              <p:par>
                                <p:cTn id="94" presetID="42" presetClass="entr" presetSubtype="0" fill="hold" grpId="0" nodeType="withEffect" decel="100000">
                                  <p:stCondLst>
                                    <p:cond delay="75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00"/>
                                        <p:tgtEl>
                                          <p:spTgt spid="22"/>
                                        </p:tgtEl>
                                      </p:cBhvr>
                                    </p:animEffect>
                                    <p:anim calcmode="lin" valueType="num">
                                      <p:cBhvr>
                                        <p:cTn id="92" dur="500" fill="hold"/>
                                        <p:tgtEl>
                                          <p:spTgt spid="22"/>
                                        </p:tgtEl>
                                        <p:attrNameLst>
                                          <p:attrName>ppt_x</p:attrName>
                                        </p:attrNameLst>
                                      </p:cBhvr>
                                      <p:tavLst>
                                        <p:tav tm="0">
                                          <p:val>
                                            <p:strVal val="#ppt_x"/>
                                          </p:val>
                                        </p:tav>
                                        <p:tav tm="100000">
                                          <p:val>
                                            <p:strVal val="#ppt_x"/>
                                          </p:val>
                                        </p:tav>
                                      </p:tavLst>
                                    </p:anim>
                                    <p:anim calcmode="lin" valueType="num">
                                      <p:cBhvr>
                                        <p:cTn id="93" dur="500" fill="hold"/>
                                        <p:tgtEl>
                                          <p:spTgt spid="22"/>
                                        </p:tgtEl>
                                        <p:attrNameLst>
                                          <p:attrName>ppt_y</p:attrName>
                                        </p:attrNameLst>
                                      </p:cBhvr>
                                      <p:tavLst>
                                        <p:tav tm="0">
                                          <p:val>
                                            <p:strVal val="#ppt_y+0.05"/>
                                          </p:val>
                                        </p:tav>
                                        <p:tav tm="100000">
                                          <p:val>
                                            <p:strVal val="#ppt_y"/>
                                          </p:val>
                                        </p:tav>
                                      </p:tavLst>
                                    </p:anim>
                                  </p:childTnLst>
                                </p:cTn>
                              </p:par>
                              <p:par>
                                <p:cTn id="99" presetID="42" presetClass="entr" presetSubtype="0" fill="hold" grpId="0" nodeType="withEffect" decel="100000">
                                  <p:stCondLst>
                                    <p:cond delay="75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00"/>
                                        <p:tgtEl>
                                          <p:spTgt spid="23"/>
                                        </p:tgtEl>
                                      </p:cBhvr>
                                    </p:animEffect>
                                    <p:anim calcmode="lin" valueType="num">
                                      <p:cBhvr>
                                        <p:cTn id="97" dur="500" fill="hold"/>
                                        <p:tgtEl>
                                          <p:spTgt spid="23"/>
                                        </p:tgtEl>
                                        <p:attrNameLst>
                                          <p:attrName>ppt_x</p:attrName>
                                        </p:attrNameLst>
                                      </p:cBhvr>
                                      <p:tavLst>
                                        <p:tav tm="0">
                                          <p:val>
                                            <p:strVal val="#ppt_x"/>
                                          </p:val>
                                        </p:tav>
                                        <p:tav tm="100000">
                                          <p:val>
                                            <p:strVal val="#ppt_x"/>
                                          </p:val>
                                        </p:tav>
                                      </p:tavLst>
                                    </p:anim>
                                    <p:anim calcmode="lin" valueType="num">
                                      <p:cBhvr>
                                        <p:cTn id="98" dur="500" fill="hold"/>
                                        <p:tgtEl>
                                          <p:spTgt spid="23"/>
                                        </p:tgtEl>
                                        <p:attrNameLst>
                                          <p:attrName>ppt_y</p:attrName>
                                        </p:attrNameLst>
                                      </p:cBhvr>
                                      <p:tavLst>
                                        <p:tav tm="0">
                                          <p:val>
                                            <p:strVal val="#ppt_y+0.05"/>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04" presetID="22" presetClass="entr" presetSubtype="8" fill="hold" grpId="0" nodeType="clickEffect" decel="100000">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wipe(right)">
                                      <p:cBhvr>
                                        <p:cTn id="103" dur="300"/>
                                        <p:tgtEl>
                                          <p:spTgt spid="24"/>
                                        </p:tgtEl>
                                      </p:cBhvr>
                                    </p:animEffect>
                                  </p:childTnLst>
                                </p:cTn>
                              </p:par>
                              <p:par>
                                <p:cTn id="107" presetID="10" presetClass="entr" presetSubtype="0" fill="hold" grpId="0" nodeType="withEffect" decel="100000">
                                  <p:stCondLst>
                                    <p:cond delay="25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300"/>
                                        <p:tgtEl>
                                          <p:spTgt spid="25"/>
                                        </p:tgtEl>
                                      </p:cBhvr>
                                    </p:animEffect>
                                  </p:childTnLst>
                                </p:cTn>
                              </p:par>
                              <p:par>
                                <p:cTn id="110" presetID="22" presetClass="entr" presetSubtype="8" fill="hold" grpId="0" nodeType="withEffect" decel="100000">
                                  <p:stCondLst>
                                    <p:cond delay="450"/>
                                  </p:stCondLst>
                                  <p:childTnLst>
                                    <p:set>
                                      <p:cBhvr>
                                        <p:cTn id="108" dur="1" fill="hold">
                                          <p:stCondLst>
                                            <p:cond delay="0"/>
                                          </p:stCondLst>
                                        </p:cTn>
                                        <p:tgtEl>
                                          <p:spTgt spid="26"/>
                                        </p:tgtEl>
                                        <p:attrNameLst>
                                          <p:attrName>style.visibility</p:attrName>
                                        </p:attrNameLst>
                                      </p:cBhvr>
                                      <p:to>
                                        <p:strVal val="visible"/>
                                      </p:to>
                                    </p:set>
                                    <p:animEffect transition="in" filter="wipe(right)">
                                      <p:cBhvr>
                                        <p:cTn id="109" dur="300"/>
                                        <p:tgtEl>
                                          <p:spTgt spid="26"/>
                                        </p:tgtEl>
                                      </p:cBhvr>
                                    </p:animEffect>
                                  </p:childTnLst>
                                </p:cTn>
                              </p:par>
                              <p:par>
                                <p:cTn id="115" presetID="42" presetClass="entr" presetSubtype="0" fill="hold" grpId="0" nodeType="withEffect" decel="100000">
                                  <p:stCondLst>
                                    <p:cond delay="6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00"/>
                                        <p:tgtEl>
                                          <p:spTgt spid="27"/>
                                        </p:tgtEl>
                                      </p:cBhvr>
                                    </p:animEffect>
                                    <p:anim calcmode="lin" valueType="num">
                                      <p:cBhvr>
                                        <p:cTn id="113" dur="500" fill="hold"/>
                                        <p:tgtEl>
                                          <p:spTgt spid="27"/>
                                        </p:tgtEl>
                                        <p:attrNameLst>
                                          <p:attrName>ppt_x</p:attrName>
                                        </p:attrNameLst>
                                      </p:cBhvr>
                                      <p:tavLst>
                                        <p:tav tm="0">
                                          <p:val>
                                            <p:strVal val="#ppt_x"/>
                                          </p:val>
                                        </p:tav>
                                        <p:tav tm="100000">
                                          <p:val>
                                            <p:strVal val="#ppt_x"/>
                                          </p:val>
                                        </p:tav>
                                      </p:tavLst>
                                    </p:anim>
                                    <p:anim calcmode="lin" valueType="num">
                                      <p:cBhvr>
                                        <p:cTn id="114" dur="500" fill="hold"/>
                                        <p:tgtEl>
                                          <p:spTgt spid="27"/>
                                        </p:tgtEl>
                                        <p:attrNameLst>
                                          <p:attrName>ppt_y</p:attrName>
                                        </p:attrNameLst>
                                      </p:cBhvr>
                                      <p:tavLst>
                                        <p:tav tm="0">
                                          <p:val>
                                            <p:strVal val="#ppt_y+0.05"/>
                                          </p:val>
                                        </p:tav>
                                        <p:tav tm="100000">
                                          <p:val>
                                            <p:strVal val="#ppt_y"/>
                                          </p:val>
                                        </p:tav>
                                      </p:tavLst>
                                    </p:anim>
                                  </p:childTnLst>
                                </p:cTn>
                              </p:par>
                              <p:par>
                                <p:cTn id="120" presetID="42" presetClass="entr" presetSubtype="0" fill="hold" grpId="0" nodeType="withEffect" decel="100000">
                                  <p:stCondLst>
                                    <p:cond delay="60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00"/>
                                        <p:tgtEl>
                                          <p:spTgt spid="28"/>
                                        </p:tgtEl>
                                      </p:cBhvr>
                                    </p:animEffect>
                                    <p:anim calcmode="lin" valueType="num">
                                      <p:cBhvr>
                                        <p:cTn id="118" dur="500" fill="hold"/>
                                        <p:tgtEl>
                                          <p:spTgt spid="28"/>
                                        </p:tgtEl>
                                        <p:attrNameLst>
                                          <p:attrName>ppt_x</p:attrName>
                                        </p:attrNameLst>
                                      </p:cBhvr>
                                      <p:tavLst>
                                        <p:tav tm="0">
                                          <p:val>
                                            <p:strVal val="#ppt_x"/>
                                          </p:val>
                                        </p:tav>
                                        <p:tav tm="100000">
                                          <p:val>
                                            <p:strVal val="#ppt_x"/>
                                          </p:val>
                                        </p:tav>
                                      </p:tavLst>
                                    </p:anim>
                                    <p:anim calcmode="lin" valueType="num">
                                      <p:cBhvr>
                                        <p:cTn id="119" dur="500" fill="hold"/>
                                        <p:tgtEl>
                                          <p:spTgt spid="28"/>
                                        </p:tgtEl>
                                        <p:attrNameLst>
                                          <p:attrName>ppt_y</p:attrName>
                                        </p:attrNameLst>
                                      </p:cBhvr>
                                      <p:tavLst>
                                        <p:tav tm="0">
                                          <p:val>
                                            <p:strVal val="#ppt_y+0.05"/>
                                          </p:val>
                                        </p:tav>
                                        <p:tav tm="100000">
                                          <p:val>
                                            <p:strVal val="#ppt_y"/>
                                          </p:val>
                                        </p:tav>
                                      </p:tavLst>
                                    </p:anim>
                                  </p:childTnLst>
                                </p:cTn>
                              </p:par>
                              <p:par>
                                <p:cTn id="125" presetID="42" presetClass="entr" presetSubtype="0" fill="hold" grpId="0" nodeType="withEffect" decel="100000">
                                  <p:stCondLst>
                                    <p:cond delay="6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500"/>
                                        <p:tgtEl>
                                          <p:spTgt spid="29"/>
                                        </p:tgtEl>
                                      </p:cBhvr>
                                    </p:animEffect>
                                    <p:anim calcmode="lin" valueType="num">
                                      <p:cBhvr>
                                        <p:cTn id="123" dur="500" fill="hold"/>
                                        <p:tgtEl>
                                          <p:spTgt spid="29"/>
                                        </p:tgtEl>
                                        <p:attrNameLst>
                                          <p:attrName>ppt_x</p:attrName>
                                        </p:attrNameLst>
                                      </p:cBhvr>
                                      <p:tavLst>
                                        <p:tav tm="0">
                                          <p:val>
                                            <p:strVal val="#ppt_x"/>
                                          </p:val>
                                        </p:tav>
                                        <p:tav tm="100000">
                                          <p:val>
                                            <p:strVal val="#ppt_x"/>
                                          </p:val>
                                        </p:tav>
                                      </p:tavLst>
                                    </p:anim>
                                    <p:anim calcmode="lin" valueType="num">
                                      <p:cBhvr>
                                        <p:cTn id="124" dur="500" fill="hold"/>
                                        <p:tgtEl>
                                          <p:spTgt spid="29"/>
                                        </p:tgtEl>
                                        <p:attrNameLst>
                                          <p:attrName>ppt_y</p:attrName>
                                        </p:attrNameLst>
                                      </p:cBhvr>
                                      <p:tavLst>
                                        <p:tav tm="0">
                                          <p:val>
                                            <p:strVal val="#ppt_y+0.05"/>
                                          </p:val>
                                        </p:tav>
                                        <p:tav tm="100000">
                                          <p:val>
                                            <p:strVal val="#ppt_y"/>
                                          </p:val>
                                        </p:tav>
                                      </p:tavLst>
                                    </p:anim>
                                  </p:childTnLst>
                                </p:cTn>
                              </p:par>
                              <p:par>
                                <p:cTn id="130" presetID="42" presetClass="entr" presetSubtype="0" fill="hold" grpId="0" nodeType="withEffect" decel="100000">
                                  <p:stCondLst>
                                    <p:cond delay="60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500"/>
                                        <p:tgtEl>
                                          <p:spTgt spid="30"/>
                                        </p:tgtEl>
                                      </p:cBhvr>
                                    </p:animEffect>
                                    <p:anim calcmode="lin" valueType="num">
                                      <p:cBhvr>
                                        <p:cTn id="128" dur="500" fill="hold"/>
                                        <p:tgtEl>
                                          <p:spTgt spid="30"/>
                                        </p:tgtEl>
                                        <p:attrNameLst>
                                          <p:attrName>ppt_x</p:attrName>
                                        </p:attrNameLst>
                                      </p:cBhvr>
                                      <p:tavLst>
                                        <p:tav tm="0">
                                          <p:val>
                                            <p:strVal val="#ppt_x"/>
                                          </p:val>
                                        </p:tav>
                                        <p:tav tm="100000">
                                          <p:val>
                                            <p:strVal val="#ppt_x"/>
                                          </p:val>
                                        </p:tav>
                                      </p:tavLst>
                                    </p:anim>
                                    <p:anim calcmode="lin" valueType="num">
                                      <p:cBhvr>
                                        <p:cTn id="129" dur="500" fill="hold"/>
                                        <p:tgtEl>
                                          <p:spTgt spid="30"/>
                                        </p:tgtEl>
                                        <p:attrNameLst>
                                          <p:attrName>ppt_y</p:attrName>
                                        </p:attrNameLst>
                                      </p:cBhvr>
                                      <p:tavLst>
                                        <p:tav tm="0">
                                          <p:val>
                                            <p:strVal val="#ppt_y+0.05"/>
                                          </p:val>
                                        </p:tav>
                                        <p:tav tm="100000">
                                          <p:val>
                                            <p:strVal val="#ppt_y"/>
                                          </p:val>
                                        </p:tav>
                                      </p:tavLst>
                                    </p:anim>
                                  </p:childTnLst>
                                </p:cTn>
                              </p:par>
                              <p:par>
                                <p:cTn id="135" presetID="42" presetClass="entr" presetSubtype="0" fill="hold" grpId="0" nodeType="withEffect" decel="100000">
                                  <p:stCondLst>
                                    <p:cond delay="60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500"/>
                                        <p:tgtEl>
                                          <p:spTgt spid="31"/>
                                        </p:tgtEl>
                                      </p:cBhvr>
                                    </p:animEffect>
                                    <p:anim calcmode="lin" valueType="num">
                                      <p:cBhvr>
                                        <p:cTn id="133" dur="500" fill="hold"/>
                                        <p:tgtEl>
                                          <p:spTgt spid="31"/>
                                        </p:tgtEl>
                                        <p:attrNameLst>
                                          <p:attrName>ppt_x</p:attrName>
                                        </p:attrNameLst>
                                      </p:cBhvr>
                                      <p:tavLst>
                                        <p:tav tm="0">
                                          <p:val>
                                            <p:strVal val="#ppt_x"/>
                                          </p:val>
                                        </p:tav>
                                        <p:tav tm="100000">
                                          <p:val>
                                            <p:strVal val="#ppt_x"/>
                                          </p:val>
                                        </p:tav>
                                      </p:tavLst>
                                    </p:anim>
                                    <p:anim calcmode="lin" valueType="num">
                                      <p:cBhvr>
                                        <p:cTn id="134" dur="500" fill="hold"/>
                                        <p:tgtEl>
                                          <p:spTgt spid="31"/>
                                        </p:tgtEl>
                                        <p:attrNameLst>
                                          <p:attrName>ppt_y</p:attrName>
                                        </p:attrNameLst>
                                      </p:cBhvr>
                                      <p:tavLst>
                                        <p:tav tm="0">
                                          <p:val>
                                            <p:strVal val="#ppt_y+0.05"/>
                                          </p:val>
                                        </p:tav>
                                        <p:tav tm="100000">
                                          <p:val>
                                            <p:strVal val="#ppt_y"/>
                                          </p:val>
                                        </p:tav>
                                      </p:tavLst>
                                    </p:anim>
                                  </p:childTnLst>
                                </p:cTn>
                              </p:par>
                              <p:par>
                                <p:cTn id="138" presetID="22" presetClass="entr" presetSubtype="8" fill="hold" grpId="0" nodeType="withEffect" decel="100000">
                                  <p:stCondLst>
                                    <p:cond delay="450"/>
                                  </p:stCondLst>
                                  <p:childTnLst>
                                    <p:set>
                                      <p:cBhvr>
                                        <p:cTn id="136" dur="1" fill="hold">
                                          <p:stCondLst>
                                            <p:cond delay="0"/>
                                          </p:stCondLst>
                                        </p:cTn>
                                        <p:tgtEl>
                                          <p:spTgt spid="32"/>
                                        </p:tgtEl>
                                        <p:attrNameLst>
                                          <p:attrName>style.visibility</p:attrName>
                                        </p:attrNameLst>
                                      </p:cBhvr>
                                      <p:to>
                                        <p:strVal val="visible"/>
                                      </p:to>
                                    </p:set>
                                    <p:animEffect transition="in" filter="wipe(right)">
                                      <p:cBhvr>
                                        <p:cTn id="137" dur="300"/>
                                        <p:tgtEl>
                                          <p:spTgt spid="32"/>
                                        </p:tgtEl>
                                      </p:cBhvr>
                                    </p:animEffect>
                                  </p:childTnLst>
                                </p:cTn>
                              </p:par>
                              <p:par>
                                <p:cTn id="143" presetID="42" presetClass="entr" presetSubtype="0" fill="hold" grpId="0" nodeType="withEffect" decel="100000">
                                  <p:stCondLst>
                                    <p:cond delay="75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500"/>
                                        <p:tgtEl>
                                          <p:spTgt spid="33"/>
                                        </p:tgtEl>
                                      </p:cBhvr>
                                    </p:animEffect>
                                    <p:anim calcmode="lin" valueType="num">
                                      <p:cBhvr>
                                        <p:cTn id="141" dur="500" fill="hold"/>
                                        <p:tgtEl>
                                          <p:spTgt spid="33"/>
                                        </p:tgtEl>
                                        <p:attrNameLst>
                                          <p:attrName>ppt_x</p:attrName>
                                        </p:attrNameLst>
                                      </p:cBhvr>
                                      <p:tavLst>
                                        <p:tav tm="0">
                                          <p:val>
                                            <p:strVal val="#ppt_x"/>
                                          </p:val>
                                        </p:tav>
                                        <p:tav tm="100000">
                                          <p:val>
                                            <p:strVal val="#ppt_x"/>
                                          </p:val>
                                        </p:tav>
                                      </p:tavLst>
                                    </p:anim>
                                    <p:anim calcmode="lin" valueType="num">
                                      <p:cBhvr>
                                        <p:cTn id="142" dur="500" fill="hold"/>
                                        <p:tgtEl>
                                          <p:spTgt spid="33"/>
                                        </p:tgtEl>
                                        <p:attrNameLst>
                                          <p:attrName>ppt_y</p:attrName>
                                        </p:attrNameLst>
                                      </p:cBhvr>
                                      <p:tavLst>
                                        <p:tav tm="0">
                                          <p:val>
                                            <p:strVal val="#ppt_y+0.05"/>
                                          </p:val>
                                        </p:tav>
                                        <p:tav tm="100000">
                                          <p:val>
                                            <p:strVal val="#ppt_y"/>
                                          </p:val>
                                        </p:tav>
                                      </p:tavLst>
                                    </p:anim>
                                  </p:childTnLst>
                                </p:cTn>
                              </p:par>
                              <p:par>
                                <p:cTn id="148" presetID="42" presetClass="entr" presetSubtype="0" fill="hold" grpId="0" nodeType="withEffect" decel="100000">
                                  <p:stCondLst>
                                    <p:cond delay="750"/>
                                  </p:stCondLst>
                                  <p:childTnLst>
                                    <p:set>
                                      <p:cBhvr>
                                        <p:cTn id="144" dur="1" fill="hold">
                                          <p:stCondLst>
                                            <p:cond delay="0"/>
                                          </p:stCondLst>
                                        </p:cTn>
                                        <p:tgtEl>
                                          <p:spTgt spid="34"/>
                                        </p:tgtEl>
                                        <p:attrNameLst>
                                          <p:attrName>style.visibility</p:attrName>
                                        </p:attrNameLst>
                                      </p:cBhvr>
                                      <p:to>
                                        <p:strVal val="visible"/>
                                      </p:to>
                                    </p:set>
                                    <p:animEffect transition="in" filter="fade">
                                      <p:cBhvr>
                                        <p:cTn id="145" dur="500"/>
                                        <p:tgtEl>
                                          <p:spTgt spid="34"/>
                                        </p:tgtEl>
                                      </p:cBhvr>
                                    </p:animEffect>
                                    <p:anim calcmode="lin" valueType="num">
                                      <p:cBhvr>
                                        <p:cTn id="146" dur="500" fill="hold"/>
                                        <p:tgtEl>
                                          <p:spTgt spid="34"/>
                                        </p:tgtEl>
                                        <p:attrNameLst>
                                          <p:attrName>ppt_x</p:attrName>
                                        </p:attrNameLst>
                                      </p:cBhvr>
                                      <p:tavLst>
                                        <p:tav tm="0">
                                          <p:val>
                                            <p:strVal val="#ppt_x"/>
                                          </p:val>
                                        </p:tav>
                                        <p:tav tm="100000">
                                          <p:val>
                                            <p:strVal val="#ppt_x"/>
                                          </p:val>
                                        </p:tav>
                                      </p:tavLst>
                                    </p:anim>
                                    <p:anim calcmode="lin" valueType="num">
                                      <p:cBhvr>
                                        <p:cTn id="147" dur="500" fill="hold"/>
                                        <p:tgtEl>
                                          <p:spTgt spid="34"/>
                                        </p:tgtEl>
                                        <p:attrNameLst>
                                          <p:attrName>ppt_y</p:attrName>
                                        </p:attrNameLst>
                                      </p:cBhvr>
                                      <p:tavLst>
                                        <p:tav tm="0">
                                          <p:val>
                                            <p:strVal val="#ppt_y+0.05"/>
                                          </p:val>
                                        </p:tav>
                                        <p:tav tm="100000">
                                          <p:val>
                                            <p:strVal val="#ppt_y"/>
                                          </p:val>
                                        </p:tav>
                                      </p:tavLst>
                                    </p:anim>
                                  </p:childTnLst>
                                </p:cTn>
                              </p:par>
                              <p:par>
                                <p:cTn id="153" presetID="42" presetClass="entr" presetSubtype="0" fill="hold" grpId="0" nodeType="withEffect" decel="100000">
                                  <p:stCondLst>
                                    <p:cond delay="750"/>
                                  </p:stCondLst>
                                  <p:childTnLst>
                                    <p:set>
                                      <p:cBhvr>
                                        <p:cTn id="149" dur="1" fill="hold">
                                          <p:stCondLst>
                                            <p:cond delay="0"/>
                                          </p:stCondLst>
                                        </p:cTn>
                                        <p:tgtEl>
                                          <p:spTgt spid="35"/>
                                        </p:tgtEl>
                                        <p:attrNameLst>
                                          <p:attrName>style.visibility</p:attrName>
                                        </p:attrNameLst>
                                      </p:cBhvr>
                                      <p:to>
                                        <p:strVal val="visible"/>
                                      </p:to>
                                    </p:set>
                                    <p:animEffect transition="in" filter="fade">
                                      <p:cBhvr>
                                        <p:cTn id="150" dur="500"/>
                                        <p:tgtEl>
                                          <p:spTgt spid="35"/>
                                        </p:tgtEl>
                                      </p:cBhvr>
                                    </p:animEffect>
                                    <p:anim calcmode="lin" valueType="num">
                                      <p:cBhvr>
                                        <p:cTn id="151" dur="500" fill="hold"/>
                                        <p:tgtEl>
                                          <p:spTgt spid="35"/>
                                        </p:tgtEl>
                                        <p:attrNameLst>
                                          <p:attrName>ppt_x</p:attrName>
                                        </p:attrNameLst>
                                      </p:cBhvr>
                                      <p:tavLst>
                                        <p:tav tm="0">
                                          <p:val>
                                            <p:strVal val="#ppt_x"/>
                                          </p:val>
                                        </p:tav>
                                        <p:tav tm="100000">
                                          <p:val>
                                            <p:strVal val="#ppt_x"/>
                                          </p:val>
                                        </p:tav>
                                      </p:tavLst>
                                    </p:anim>
                                    <p:anim calcmode="lin" valueType="num">
                                      <p:cBhvr>
                                        <p:cTn id="152" dur="500" fill="hold"/>
                                        <p:tgtEl>
                                          <p:spTgt spid="35"/>
                                        </p:tgtEl>
                                        <p:attrNameLst>
                                          <p:attrName>ppt_y</p:attrName>
                                        </p:attrNameLst>
                                      </p:cBhvr>
                                      <p:tavLst>
                                        <p:tav tm="0">
                                          <p:val>
                                            <p:strVal val="#ppt_y+0.05"/>
                                          </p:val>
                                        </p:tav>
                                        <p:tav tm="100000">
                                          <p:val>
                                            <p:strVal val="#ppt_y"/>
                                          </p:val>
                                        </p:tav>
                                      </p:tavLst>
                                    </p:anim>
                                  </p:childTnLst>
                                </p:cTn>
                              </p:par>
                              <p:par>
                                <p:cTn id="158" presetID="42" presetClass="entr" presetSubtype="0" fill="hold" grpId="0" nodeType="withEffect" decel="100000">
                                  <p:stCondLst>
                                    <p:cond delay="75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500"/>
                                        <p:tgtEl>
                                          <p:spTgt spid="36"/>
                                        </p:tgtEl>
                                      </p:cBhvr>
                                    </p:animEffect>
                                    <p:anim calcmode="lin" valueType="num">
                                      <p:cBhvr>
                                        <p:cTn id="156" dur="500" fill="hold"/>
                                        <p:tgtEl>
                                          <p:spTgt spid="36"/>
                                        </p:tgtEl>
                                        <p:attrNameLst>
                                          <p:attrName>ppt_x</p:attrName>
                                        </p:attrNameLst>
                                      </p:cBhvr>
                                      <p:tavLst>
                                        <p:tav tm="0">
                                          <p:val>
                                            <p:strVal val="#ppt_x"/>
                                          </p:val>
                                        </p:tav>
                                        <p:tav tm="100000">
                                          <p:val>
                                            <p:strVal val="#ppt_x"/>
                                          </p:val>
                                        </p:tav>
                                      </p:tavLst>
                                    </p:anim>
                                    <p:anim calcmode="lin" valueType="num">
                                      <p:cBhvr>
                                        <p:cTn id="157" dur="500" fill="hold"/>
                                        <p:tgtEl>
                                          <p:spTgt spid="36"/>
                                        </p:tgtEl>
                                        <p:attrNameLst>
                                          <p:attrName>ppt_y</p:attrName>
                                        </p:attrNameLst>
                                      </p:cBhvr>
                                      <p:tavLst>
                                        <p:tav tm="0">
                                          <p:val>
                                            <p:strVal val="#ppt_y+0.05"/>
                                          </p:val>
                                        </p:tav>
                                        <p:tav tm="100000">
                                          <p:val>
                                            <p:strVal val="#ppt_y"/>
                                          </p:val>
                                        </p:tav>
                                      </p:tavLst>
                                    </p:anim>
                                  </p:childTnLst>
                                </p:cTn>
                              </p:par>
                              <p:par>
                                <p:cTn id="163" presetID="42" presetClass="entr" presetSubtype="0" fill="hold" grpId="0" nodeType="withEffect" decel="100000">
                                  <p:stCondLst>
                                    <p:cond delay="750"/>
                                  </p:stCondLst>
                                  <p:childTnLst>
                                    <p:set>
                                      <p:cBhvr>
                                        <p:cTn id="159" dur="1" fill="hold">
                                          <p:stCondLst>
                                            <p:cond delay="0"/>
                                          </p:stCondLst>
                                        </p:cTn>
                                        <p:tgtEl>
                                          <p:spTgt spid="37"/>
                                        </p:tgtEl>
                                        <p:attrNameLst>
                                          <p:attrName>style.visibility</p:attrName>
                                        </p:attrNameLst>
                                      </p:cBhvr>
                                      <p:to>
                                        <p:strVal val="visible"/>
                                      </p:to>
                                    </p:set>
                                    <p:animEffect transition="in" filter="fade">
                                      <p:cBhvr>
                                        <p:cTn id="160" dur="500"/>
                                        <p:tgtEl>
                                          <p:spTgt spid="37"/>
                                        </p:tgtEl>
                                      </p:cBhvr>
                                    </p:animEffect>
                                    <p:anim calcmode="lin" valueType="num">
                                      <p:cBhvr>
                                        <p:cTn id="161" dur="500" fill="hold"/>
                                        <p:tgtEl>
                                          <p:spTgt spid="37"/>
                                        </p:tgtEl>
                                        <p:attrNameLst>
                                          <p:attrName>ppt_x</p:attrName>
                                        </p:attrNameLst>
                                      </p:cBhvr>
                                      <p:tavLst>
                                        <p:tav tm="0">
                                          <p:val>
                                            <p:strVal val="#ppt_x"/>
                                          </p:val>
                                        </p:tav>
                                        <p:tav tm="100000">
                                          <p:val>
                                            <p:strVal val="#ppt_x"/>
                                          </p:val>
                                        </p:tav>
                                      </p:tavLst>
                                    </p:anim>
                                    <p:anim calcmode="lin" valueType="num">
                                      <p:cBhvr>
                                        <p:cTn id="162" dur="500" fill="hold"/>
                                        <p:tgtEl>
                                          <p:spTgt spid="3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3" name="txt_7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ARCHITECTURE</a:t>
            </a:r>
            <a:endParaRPr lang="en-US" sz="1100" dirty="0"/>
          </a:p>
        </p:txBody>
      </p:sp>
      <p:sp>
        <p:nvSpPr>
          <p:cNvPr id="4" name="txt_7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How the System Is Designed</a:t>
            </a:r>
            <a:endParaRPr lang="en-US" sz="3200" dirty="0"/>
          </a:p>
        </p:txBody>
      </p:sp>
      <p:sp>
        <p:nvSpPr>
          <p:cNvPr id="5" name="txt_7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Each service is its own Django app with its own test phase — every quote must clear all four before a price is shown.</a:t>
            </a:r>
            <a:endParaRPr lang="en-US" sz="1500" dirty="0"/>
          </a:p>
        </p:txBody>
      </p:sp>
      <p:sp>
        <p:nvSpPr>
          <p:cNvPr id="6" name="txt_7_3"/>
          <p:cNvSpPr txBox="1"/>
          <p:nvPr/>
        </p:nvSpPr>
        <p:spPr>
          <a:xfrm>
            <a:off x="548640" y="1874520"/>
            <a:ext cx="1600200" cy="777240"/>
          </a:xfrm>
          <a:prstGeom prst="rect">
            <a:avLst/>
          </a:prstGeom>
          <a:noFill/>
          <a:ln/>
        </p:spPr>
        <p:txBody>
          <a:bodyPr wrap="square" lIns="0" tIns="0" rIns="0" bIns="0" rtlCol="0" anchor="ctr"/>
          <a:lstStyle/>
          <a:p>
            <a:pPr indent="0" marL="0">
              <a:buNone/>
            </a:pPr>
            <a:r>
              <a:rPr lang="en-US" sz="1050" b="1" spc="200" kern="0" dirty="0">
                <a:solidFill>
                  <a:srgbClr val="F5A524"/>
                </a:solidFill>
                <a:latin typeface="Calibri" pitchFamily="34" charset="0"/>
                <a:ea typeface="Calibri" pitchFamily="34" charset="-122"/>
                <a:cs typeface="Calibri" pitchFamily="34" charset="-120"/>
              </a:rPr>
              <a:t>CLIENT</a:t>
            </a:r>
            <a:endParaRPr lang="en-US" sz="1050" dirty="0"/>
          </a:p>
        </p:txBody>
      </p:sp>
      <p:sp>
        <p:nvSpPr>
          <p:cNvPr id="7" name="shp_7_4"/>
          <p:cNvSpPr/>
          <p:nvPr/>
        </p:nvSpPr>
        <p:spPr>
          <a:xfrm>
            <a:off x="2331720" y="1874520"/>
            <a:ext cx="9311335" cy="777240"/>
          </a:xfrm>
          <a:prstGeom prst="roundRect">
            <a:avLst>
              <a:gd name="adj" fmla="val 11765"/>
            </a:avLst>
          </a:prstGeom>
          <a:solidFill>
            <a:srgbClr val="112038"/>
          </a:solidFill>
          <a:ln w="9525">
            <a:solidFill>
              <a:srgbClr val="243A5E"/>
            </a:solidFill>
            <a:prstDash val="solid"/>
          </a:ln>
        </p:spPr>
      </p:sp>
      <p:sp>
        <p:nvSpPr>
          <p:cNvPr id="8" name="shp_7_5"/>
          <p:cNvSpPr/>
          <p:nvPr/>
        </p:nvSpPr>
        <p:spPr>
          <a:xfrm>
            <a:off x="2514600" y="2011680"/>
            <a:ext cx="502920" cy="502920"/>
          </a:xfrm>
          <a:prstGeom prst="ellipse">
            <a:avLst/>
          </a:prstGeom>
          <a:solidFill>
            <a:srgbClr val="3B2A0C"/>
          </a:solidFill>
          <a:ln w="9525">
            <a:solidFill>
              <a:srgbClr val="F5A524"/>
            </a:solidFill>
            <a:prstDash val="solid"/>
          </a:ln>
        </p:spPr>
      </p:sp>
      <p:pic>
        <p:nvPicPr>
          <p:cNvPr id="9" name="img_7_6" descr="preencoded.png">    </p:cNvPr>
          <p:cNvPicPr>
            <a:picLocks noChangeAspect="1"/>
          </p:cNvPicPr>
          <p:nvPr/>
        </p:nvPicPr>
        <p:blipFill>
          <a:blip r:embed="rId1"/>
          <a:stretch>
            <a:fillRect/>
          </a:stretch>
        </p:blipFill>
        <p:spPr>
          <a:xfrm>
            <a:off x="2635301" y="2132381"/>
            <a:ext cx="261518" cy="261518"/>
          </a:xfrm>
          <a:prstGeom prst="rect">
            <a:avLst/>
          </a:prstGeom>
        </p:spPr>
      </p:pic>
      <p:sp>
        <p:nvSpPr>
          <p:cNvPr id="10" name="txt_7_7"/>
          <p:cNvSpPr txBox="1"/>
          <p:nvPr/>
        </p:nvSpPr>
        <p:spPr>
          <a:xfrm>
            <a:off x="3200400" y="1874520"/>
            <a:ext cx="420624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React 19 + Vite client</a:t>
            </a:r>
            <a:endParaRPr lang="en-US" sz="1700" dirty="0"/>
          </a:p>
        </p:txBody>
      </p:sp>
      <p:sp>
        <p:nvSpPr>
          <p:cNvPr id="11" name="txt_7_8"/>
          <p:cNvSpPr txBox="1"/>
          <p:nvPr/>
        </p:nvSpPr>
        <p:spPr>
          <a:xfrm>
            <a:off x="7452360" y="1874520"/>
            <a:ext cx="4007815" cy="777240"/>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Four RBAC dashboards · JWT session</a:t>
            </a:r>
            <a:endParaRPr lang="en-US" sz="1300" dirty="0"/>
          </a:p>
        </p:txBody>
      </p:sp>
      <p:sp>
        <p:nvSpPr>
          <p:cNvPr id="12" name="txt_7_9"/>
          <p:cNvSpPr txBox="1"/>
          <p:nvPr/>
        </p:nvSpPr>
        <p:spPr>
          <a:xfrm>
            <a:off x="548640" y="2971800"/>
            <a:ext cx="1600200" cy="777240"/>
          </a:xfrm>
          <a:prstGeom prst="rect">
            <a:avLst/>
          </a:prstGeom>
          <a:noFill/>
          <a:ln/>
        </p:spPr>
        <p:txBody>
          <a:bodyPr wrap="square" lIns="0" tIns="0" rIns="0" bIns="0" rtlCol="0" anchor="ctr"/>
          <a:lstStyle/>
          <a:p>
            <a:pPr indent="0" marL="0">
              <a:buNone/>
            </a:pPr>
            <a:r>
              <a:rPr lang="en-US" sz="1050" b="1" spc="200" kern="0" dirty="0">
                <a:solidFill>
                  <a:srgbClr val="F5A524"/>
                </a:solidFill>
                <a:latin typeface="Calibri" pitchFamily="34" charset="0"/>
                <a:ea typeface="Calibri" pitchFamily="34" charset="-122"/>
                <a:cs typeface="Calibri" pitchFamily="34" charset="-120"/>
              </a:rPr>
              <a:t>API · ORCHESTRATOR</a:t>
            </a:r>
            <a:endParaRPr lang="en-US" sz="1050" dirty="0"/>
          </a:p>
        </p:txBody>
      </p:sp>
      <p:sp>
        <p:nvSpPr>
          <p:cNvPr id="13" name="shp_7_10"/>
          <p:cNvSpPr/>
          <p:nvPr/>
        </p:nvSpPr>
        <p:spPr>
          <a:xfrm>
            <a:off x="6987388" y="2670048"/>
            <a:ext cx="0" cy="283464"/>
          </a:xfrm>
          <a:prstGeom prst="line">
            <a:avLst/>
          </a:prstGeom>
          <a:noFill/>
          <a:ln w="19050">
            <a:solidFill>
              <a:srgbClr val="F5A524"/>
            </a:solidFill>
            <a:prstDash val="solid"/>
            <a:tailEnd type="triangle"/>
          </a:ln>
        </p:spPr>
      </p:sp>
      <p:sp>
        <p:nvSpPr>
          <p:cNvPr id="14" name="shp_7_11"/>
          <p:cNvSpPr/>
          <p:nvPr/>
        </p:nvSpPr>
        <p:spPr>
          <a:xfrm>
            <a:off x="2331720" y="2971800"/>
            <a:ext cx="9311335" cy="777240"/>
          </a:xfrm>
          <a:prstGeom prst="roundRect">
            <a:avLst>
              <a:gd name="adj" fmla="val 11765"/>
            </a:avLst>
          </a:prstGeom>
          <a:solidFill>
            <a:srgbClr val="112038"/>
          </a:solidFill>
          <a:ln w="9525">
            <a:solidFill>
              <a:srgbClr val="243A5E"/>
            </a:solidFill>
            <a:prstDash val="solid"/>
          </a:ln>
        </p:spPr>
      </p:sp>
      <p:sp>
        <p:nvSpPr>
          <p:cNvPr id="15" name="shp_7_12"/>
          <p:cNvSpPr/>
          <p:nvPr/>
        </p:nvSpPr>
        <p:spPr>
          <a:xfrm>
            <a:off x="2514600" y="3108960"/>
            <a:ext cx="502920" cy="502920"/>
          </a:xfrm>
          <a:prstGeom prst="ellipse">
            <a:avLst/>
          </a:prstGeom>
          <a:solidFill>
            <a:srgbClr val="3B2A0C"/>
          </a:solidFill>
          <a:ln w="9525">
            <a:solidFill>
              <a:srgbClr val="F5A524"/>
            </a:solidFill>
            <a:prstDash val="solid"/>
          </a:ln>
        </p:spPr>
      </p:sp>
      <p:pic>
        <p:nvPicPr>
          <p:cNvPr id="16" name="img_7_13" descr="preencoded.png">    </p:cNvPr>
          <p:cNvPicPr>
            <a:picLocks noChangeAspect="1"/>
          </p:cNvPicPr>
          <p:nvPr/>
        </p:nvPicPr>
        <p:blipFill>
          <a:blip r:embed="rId2"/>
          <a:stretch>
            <a:fillRect/>
          </a:stretch>
        </p:blipFill>
        <p:spPr>
          <a:xfrm>
            <a:off x="2635301" y="3229661"/>
            <a:ext cx="261518" cy="261518"/>
          </a:xfrm>
          <a:prstGeom prst="rect">
            <a:avLst/>
          </a:prstGeom>
        </p:spPr>
      </p:pic>
      <p:sp>
        <p:nvSpPr>
          <p:cNvPr id="17" name="txt_7_14"/>
          <p:cNvSpPr txBox="1"/>
          <p:nvPr/>
        </p:nvSpPr>
        <p:spPr>
          <a:xfrm>
            <a:off x="3200400" y="2971800"/>
            <a:ext cx="420624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Django REST core + AI Orchestrator</a:t>
            </a:r>
            <a:endParaRPr lang="en-US" sz="1700" dirty="0"/>
          </a:p>
        </p:txBody>
      </p:sp>
      <p:sp>
        <p:nvSpPr>
          <p:cNvPr id="18" name="txt_7_15"/>
          <p:cNvSpPr txBox="1"/>
          <p:nvPr/>
        </p:nvSpPr>
        <p:spPr>
          <a:xfrm>
            <a:off x="7452360" y="2971800"/>
            <a:ext cx="4007815" cy="777240"/>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Parallel fan-out · verdict merge · booking state machine</a:t>
            </a:r>
            <a:endParaRPr lang="en-US" sz="1300" dirty="0"/>
          </a:p>
        </p:txBody>
      </p:sp>
      <p:sp>
        <p:nvSpPr>
          <p:cNvPr id="19" name="txt_7_16"/>
          <p:cNvSpPr txBox="1"/>
          <p:nvPr/>
        </p:nvSpPr>
        <p:spPr>
          <a:xfrm>
            <a:off x="548640" y="4069080"/>
            <a:ext cx="1600200" cy="914400"/>
          </a:xfrm>
          <a:prstGeom prst="rect">
            <a:avLst/>
          </a:prstGeom>
          <a:noFill/>
          <a:ln/>
        </p:spPr>
        <p:txBody>
          <a:bodyPr wrap="square" lIns="0" tIns="0" rIns="0" bIns="0" rtlCol="0" anchor="ctr"/>
          <a:lstStyle/>
          <a:p>
            <a:pPr indent="0" marL="0">
              <a:buNone/>
            </a:pPr>
            <a:r>
              <a:rPr lang="en-US" sz="1050" b="1" spc="200" kern="0" dirty="0">
                <a:solidFill>
                  <a:srgbClr val="F5A524"/>
                </a:solidFill>
                <a:latin typeface="Calibri" pitchFamily="34" charset="0"/>
                <a:ea typeface="Calibri" pitchFamily="34" charset="-122"/>
                <a:cs typeface="Calibri" pitchFamily="34" charset="-120"/>
              </a:rPr>
              <a:t>INTELLIGENCE</a:t>
            </a:r>
            <a:endParaRPr lang="en-US" sz="1050" dirty="0"/>
          </a:p>
        </p:txBody>
      </p:sp>
      <p:sp>
        <p:nvSpPr>
          <p:cNvPr id="20" name="shp_7_17"/>
          <p:cNvSpPr/>
          <p:nvPr/>
        </p:nvSpPr>
        <p:spPr>
          <a:xfrm>
            <a:off x="3409912" y="3767328"/>
            <a:ext cx="0" cy="283464"/>
          </a:xfrm>
          <a:prstGeom prst="line">
            <a:avLst/>
          </a:prstGeom>
          <a:noFill/>
          <a:ln w="19050">
            <a:solidFill>
              <a:srgbClr val="F5A524"/>
            </a:solidFill>
            <a:prstDash val="solid"/>
            <a:tailEnd type="triangle"/>
          </a:ln>
        </p:spPr>
      </p:sp>
      <p:sp>
        <p:nvSpPr>
          <p:cNvPr id="21" name="shp_7_18"/>
          <p:cNvSpPr/>
          <p:nvPr/>
        </p:nvSpPr>
        <p:spPr>
          <a:xfrm>
            <a:off x="5794896" y="3767328"/>
            <a:ext cx="0" cy="283464"/>
          </a:xfrm>
          <a:prstGeom prst="line">
            <a:avLst/>
          </a:prstGeom>
          <a:noFill/>
          <a:ln w="19050">
            <a:solidFill>
              <a:srgbClr val="F5A524"/>
            </a:solidFill>
            <a:prstDash val="solid"/>
            <a:tailEnd type="triangle"/>
          </a:ln>
        </p:spPr>
      </p:sp>
      <p:sp>
        <p:nvSpPr>
          <p:cNvPr id="22" name="shp_7_19"/>
          <p:cNvSpPr/>
          <p:nvPr/>
        </p:nvSpPr>
        <p:spPr>
          <a:xfrm>
            <a:off x="8179880" y="3767328"/>
            <a:ext cx="0" cy="283464"/>
          </a:xfrm>
          <a:prstGeom prst="line">
            <a:avLst/>
          </a:prstGeom>
          <a:noFill/>
          <a:ln w="19050">
            <a:solidFill>
              <a:srgbClr val="F5A524"/>
            </a:solidFill>
            <a:prstDash val="solid"/>
            <a:tailEnd type="triangle"/>
          </a:ln>
        </p:spPr>
      </p:sp>
      <p:sp>
        <p:nvSpPr>
          <p:cNvPr id="23" name="shp_7_20"/>
          <p:cNvSpPr/>
          <p:nvPr/>
        </p:nvSpPr>
        <p:spPr>
          <a:xfrm>
            <a:off x="10564863" y="3767328"/>
            <a:ext cx="0" cy="283464"/>
          </a:xfrm>
          <a:prstGeom prst="line">
            <a:avLst/>
          </a:prstGeom>
          <a:noFill/>
          <a:ln w="19050">
            <a:solidFill>
              <a:srgbClr val="F5A524"/>
            </a:solidFill>
            <a:prstDash val="solid"/>
            <a:tailEnd type="triangle"/>
          </a:ln>
        </p:spPr>
      </p:sp>
      <p:sp>
        <p:nvSpPr>
          <p:cNvPr id="24" name="shp_7_21"/>
          <p:cNvSpPr/>
          <p:nvPr/>
        </p:nvSpPr>
        <p:spPr>
          <a:xfrm>
            <a:off x="2331720" y="4069080"/>
            <a:ext cx="2156384" cy="914400"/>
          </a:xfrm>
          <a:prstGeom prst="roundRect">
            <a:avLst>
              <a:gd name="adj" fmla="val 10000"/>
            </a:avLst>
          </a:prstGeom>
          <a:solidFill>
            <a:srgbClr val="15294A"/>
          </a:solidFill>
          <a:ln w="9525">
            <a:solidFill>
              <a:srgbClr val="243A5E"/>
            </a:solidFill>
            <a:prstDash val="solid"/>
          </a:ln>
        </p:spPr>
      </p:sp>
      <p:sp>
        <p:nvSpPr>
          <p:cNvPr id="25" name="txt_7_22"/>
          <p:cNvSpPr txBox="1"/>
          <p:nvPr/>
        </p:nvSpPr>
        <p:spPr>
          <a:xfrm>
            <a:off x="2331720" y="4251960"/>
            <a:ext cx="2156384" cy="310896"/>
          </a:xfrm>
          <a:prstGeom prst="rect">
            <a:avLst/>
          </a:prstGeom>
          <a:noFill/>
          <a:ln/>
        </p:spPr>
        <p:txBody>
          <a:bodyPr wrap="square" lIns="0" tIns="0" rIns="0" bIns="0" rtlCol="0" anchor="t"/>
          <a:lstStyle/>
          <a:p>
            <a:pPr algn="ctr" indent="0" marL="0">
              <a:buNone/>
            </a:pPr>
            <a:r>
              <a:rPr lang="en-US" sz="1550" b="1" dirty="0">
                <a:solidFill>
                  <a:srgbClr val="FFFFFF"/>
                </a:solidFill>
                <a:latin typeface="Calibri" pitchFamily="34" charset="0"/>
                <a:ea typeface="Calibri" pitchFamily="34" charset="-122"/>
                <a:cs typeface="Calibri" pitchFamily="34" charset="-120"/>
              </a:rPr>
              <a:t>ML pricing</a:t>
            </a:r>
            <a:endParaRPr lang="en-US" sz="1550" dirty="0"/>
          </a:p>
        </p:txBody>
      </p:sp>
      <p:sp>
        <p:nvSpPr>
          <p:cNvPr id="26" name="txt_7_23"/>
          <p:cNvSpPr txBox="1"/>
          <p:nvPr/>
        </p:nvSpPr>
        <p:spPr>
          <a:xfrm>
            <a:off x="2331720" y="4572000"/>
            <a:ext cx="2156384" cy="274320"/>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GBR · joblib artifact</a:t>
            </a:r>
            <a:endParaRPr lang="en-US" sz="1200" dirty="0"/>
          </a:p>
        </p:txBody>
      </p:sp>
      <p:sp>
        <p:nvSpPr>
          <p:cNvPr id="27" name="shp_7_24"/>
          <p:cNvSpPr/>
          <p:nvPr/>
        </p:nvSpPr>
        <p:spPr>
          <a:xfrm>
            <a:off x="4716704" y="4069080"/>
            <a:ext cx="2156384" cy="914400"/>
          </a:xfrm>
          <a:prstGeom prst="roundRect">
            <a:avLst>
              <a:gd name="adj" fmla="val 10000"/>
            </a:avLst>
          </a:prstGeom>
          <a:solidFill>
            <a:srgbClr val="15294A"/>
          </a:solidFill>
          <a:ln w="9525">
            <a:solidFill>
              <a:srgbClr val="243A5E"/>
            </a:solidFill>
            <a:prstDash val="solid"/>
          </a:ln>
        </p:spPr>
      </p:sp>
      <p:sp>
        <p:nvSpPr>
          <p:cNvPr id="28" name="txt_7_25"/>
          <p:cNvSpPr txBox="1"/>
          <p:nvPr/>
        </p:nvSpPr>
        <p:spPr>
          <a:xfrm>
            <a:off x="4716704" y="4251960"/>
            <a:ext cx="2156384" cy="310896"/>
          </a:xfrm>
          <a:prstGeom prst="rect">
            <a:avLst/>
          </a:prstGeom>
          <a:noFill/>
          <a:ln/>
        </p:spPr>
        <p:txBody>
          <a:bodyPr wrap="square" lIns="0" tIns="0" rIns="0" bIns="0" rtlCol="0" anchor="t"/>
          <a:lstStyle/>
          <a:p>
            <a:pPr algn="ctr" indent="0" marL="0">
              <a:buNone/>
            </a:pPr>
            <a:r>
              <a:rPr lang="en-US" sz="1550" b="1" dirty="0">
                <a:solidFill>
                  <a:srgbClr val="FFFFFF"/>
                </a:solidFill>
                <a:latin typeface="Calibri" pitchFamily="34" charset="0"/>
                <a:ea typeface="Calibri" pitchFamily="34" charset="-122"/>
                <a:cs typeface="Calibri" pitchFamily="34" charset="-120"/>
              </a:rPr>
              <a:t>Weather agent</a:t>
            </a:r>
            <a:endParaRPr lang="en-US" sz="1550" dirty="0"/>
          </a:p>
        </p:txBody>
      </p:sp>
      <p:sp>
        <p:nvSpPr>
          <p:cNvPr id="29" name="txt_7_26"/>
          <p:cNvSpPr txBox="1"/>
          <p:nvPr/>
        </p:nvSpPr>
        <p:spPr>
          <a:xfrm>
            <a:off x="4716704" y="4572000"/>
            <a:ext cx="2156384" cy="274320"/>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Open-Meteo · 6-hr cache</a:t>
            </a:r>
            <a:endParaRPr lang="en-US" sz="1200" dirty="0"/>
          </a:p>
        </p:txBody>
      </p:sp>
      <p:sp>
        <p:nvSpPr>
          <p:cNvPr id="30" name="shp_7_27"/>
          <p:cNvSpPr/>
          <p:nvPr/>
        </p:nvSpPr>
        <p:spPr>
          <a:xfrm>
            <a:off x="7101688" y="4069080"/>
            <a:ext cx="2156384" cy="914400"/>
          </a:xfrm>
          <a:prstGeom prst="roundRect">
            <a:avLst>
              <a:gd name="adj" fmla="val 10000"/>
            </a:avLst>
          </a:prstGeom>
          <a:solidFill>
            <a:srgbClr val="15294A"/>
          </a:solidFill>
          <a:ln w="9525">
            <a:solidFill>
              <a:srgbClr val="243A5E"/>
            </a:solidFill>
            <a:prstDash val="solid"/>
          </a:ln>
        </p:spPr>
      </p:sp>
      <p:sp>
        <p:nvSpPr>
          <p:cNvPr id="31" name="txt_7_28"/>
          <p:cNvSpPr txBox="1"/>
          <p:nvPr/>
        </p:nvSpPr>
        <p:spPr>
          <a:xfrm>
            <a:off x="7101688" y="4251960"/>
            <a:ext cx="2156384" cy="310896"/>
          </a:xfrm>
          <a:prstGeom prst="rect">
            <a:avLst/>
          </a:prstGeom>
          <a:noFill/>
          <a:ln/>
        </p:spPr>
        <p:txBody>
          <a:bodyPr wrap="square" lIns="0" tIns="0" rIns="0" bIns="0" rtlCol="0" anchor="t"/>
          <a:lstStyle/>
          <a:p>
            <a:pPr algn="ctr" indent="0" marL="0">
              <a:buNone/>
            </a:pPr>
            <a:r>
              <a:rPr lang="en-US" sz="1550" b="1" dirty="0">
                <a:solidFill>
                  <a:srgbClr val="FFFFFF"/>
                </a:solidFill>
                <a:latin typeface="Calibri" pitchFamily="34" charset="0"/>
                <a:ea typeface="Calibri" pitchFamily="34" charset="-122"/>
                <a:cs typeface="Calibri" pitchFamily="34" charset="-120"/>
              </a:rPr>
              <a:t>Customs RAG</a:t>
            </a:r>
            <a:endParaRPr lang="en-US" sz="1550" dirty="0"/>
          </a:p>
        </p:txBody>
      </p:sp>
      <p:sp>
        <p:nvSpPr>
          <p:cNvPr id="32" name="txt_7_29"/>
          <p:cNvSpPr txBox="1"/>
          <p:nvPr/>
        </p:nvSpPr>
        <p:spPr>
          <a:xfrm>
            <a:off x="7101688" y="4572000"/>
            <a:ext cx="2156384" cy="274320"/>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BM25 + TF-IDF + RRF</a:t>
            </a:r>
            <a:endParaRPr lang="en-US" sz="1200" dirty="0"/>
          </a:p>
        </p:txBody>
      </p:sp>
      <p:sp>
        <p:nvSpPr>
          <p:cNvPr id="33" name="shp_7_30"/>
          <p:cNvSpPr/>
          <p:nvPr/>
        </p:nvSpPr>
        <p:spPr>
          <a:xfrm>
            <a:off x="9486671" y="4069080"/>
            <a:ext cx="2156384" cy="914400"/>
          </a:xfrm>
          <a:prstGeom prst="roundRect">
            <a:avLst>
              <a:gd name="adj" fmla="val 10000"/>
            </a:avLst>
          </a:prstGeom>
          <a:solidFill>
            <a:srgbClr val="15294A"/>
          </a:solidFill>
          <a:ln w="9525">
            <a:solidFill>
              <a:srgbClr val="243A5E"/>
            </a:solidFill>
            <a:prstDash val="solid"/>
          </a:ln>
        </p:spPr>
      </p:sp>
      <p:sp>
        <p:nvSpPr>
          <p:cNvPr id="34" name="txt_7_31"/>
          <p:cNvSpPr txBox="1"/>
          <p:nvPr/>
        </p:nvSpPr>
        <p:spPr>
          <a:xfrm>
            <a:off x="9486671" y="4251960"/>
            <a:ext cx="2156384" cy="310896"/>
          </a:xfrm>
          <a:prstGeom prst="rect">
            <a:avLst/>
          </a:prstGeom>
          <a:noFill/>
          <a:ln/>
        </p:spPr>
        <p:txBody>
          <a:bodyPr wrap="square" lIns="0" tIns="0" rIns="0" bIns="0" rtlCol="0" anchor="t"/>
          <a:lstStyle/>
          <a:p>
            <a:pPr algn="ctr" indent="0" marL="0">
              <a:buNone/>
            </a:pPr>
            <a:r>
              <a:rPr lang="en-US" sz="1550" b="1" dirty="0">
                <a:solidFill>
                  <a:srgbClr val="FFFFFF"/>
                </a:solidFill>
                <a:latin typeface="Calibri" pitchFamily="34" charset="0"/>
                <a:ea typeface="Calibri" pitchFamily="34" charset="-122"/>
                <a:cs typeface="Calibri" pitchFamily="34" charset="-120"/>
              </a:rPr>
              <a:t>Risk engine</a:t>
            </a:r>
            <a:endParaRPr lang="en-US" sz="1550" dirty="0"/>
          </a:p>
        </p:txBody>
      </p:sp>
      <p:sp>
        <p:nvSpPr>
          <p:cNvPr id="35" name="txt_7_32"/>
          <p:cNvSpPr txBox="1"/>
          <p:nvPr/>
        </p:nvSpPr>
        <p:spPr>
          <a:xfrm>
            <a:off x="9486671" y="4572000"/>
            <a:ext cx="2156384" cy="274320"/>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5-factor MCDA gate</a:t>
            </a:r>
            <a:endParaRPr lang="en-US" sz="1200" dirty="0"/>
          </a:p>
        </p:txBody>
      </p:sp>
      <p:sp>
        <p:nvSpPr>
          <p:cNvPr id="36" name="txt_7_33"/>
          <p:cNvSpPr txBox="1"/>
          <p:nvPr/>
        </p:nvSpPr>
        <p:spPr>
          <a:xfrm>
            <a:off x="548640" y="5303520"/>
            <a:ext cx="1600200" cy="777240"/>
          </a:xfrm>
          <a:prstGeom prst="rect">
            <a:avLst/>
          </a:prstGeom>
          <a:noFill/>
          <a:ln/>
        </p:spPr>
        <p:txBody>
          <a:bodyPr wrap="square" lIns="0" tIns="0" rIns="0" bIns="0" rtlCol="0" anchor="ctr"/>
          <a:lstStyle/>
          <a:p>
            <a:pPr indent="0" marL="0">
              <a:buNone/>
            </a:pPr>
            <a:r>
              <a:rPr lang="en-US" sz="1050" b="1" spc="200" kern="0" dirty="0">
                <a:solidFill>
                  <a:srgbClr val="F5A524"/>
                </a:solidFill>
                <a:latin typeface="Calibri" pitchFamily="34" charset="0"/>
                <a:ea typeface="Calibri" pitchFamily="34" charset="-122"/>
                <a:cs typeface="Calibri" pitchFamily="34" charset="-120"/>
              </a:rPr>
              <a:t>DATA</a:t>
            </a:r>
            <a:endParaRPr lang="en-US" sz="1050" dirty="0"/>
          </a:p>
        </p:txBody>
      </p:sp>
      <p:sp>
        <p:nvSpPr>
          <p:cNvPr id="37" name="shp_7_34"/>
          <p:cNvSpPr/>
          <p:nvPr/>
        </p:nvSpPr>
        <p:spPr>
          <a:xfrm>
            <a:off x="3409912" y="5001768"/>
            <a:ext cx="0" cy="283464"/>
          </a:xfrm>
          <a:prstGeom prst="line">
            <a:avLst/>
          </a:prstGeom>
          <a:noFill/>
          <a:ln w="19050">
            <a:solidFill>
              <a:srgbClr val="F5A524"/>
            </a:solidFill>
            <a:prstDash val="solid"/>
            <a:tailEnd type="triangle"/>
          </a:ln>
        </p:spPr>
      </p:sp>
      <p:sp>
        <p:nvSpPr>
          <p:cNvPr id="38" name="shp_7_35"/>
          <p:cNvSpPr/>
          <p:nvPr/>
        </p:nvSpPr>
        <p:spPr>
          <a:xfrm>
            <a:off x="5794896" y="5001768"/>
            <a:ext cx="0" cy="283464"/>
          </a:xfrm>
          <a:prstGeom prst="line">
            <a:avLst/>
          </a:prstGeom>
          <a:noFill/>
          <a:ln w="19050">
            <a:solidFill>
              <a:srgbClr val="F5A524"/>
            </a:solidFill>
            <a:prstDash val="solid"/>
            <a:tailEnd type="triangle"/>
          </a:ln>
        </p:spPr>
      </p:sp>
      <p:sp>
        <p:nvSpPr>
          <p:cNvPr id="39" name="shp_7_36"/>
          <p:cNvSpPr/>
          <p:nvPr/>
        </p:nvSpPr>
        <p:spPr>
          <a:xfrm>
            <a:off x="8179880" y="5001768"/>
            <a:ext cx="0" cy="283464"/>
          </a:xfrm>
          <a:prstGeom prst="line">
            <a:avLst/>
          </a:prstGeom>
          <a:noFill/>
          <a:ln w="19050">
            <a:solidFill>
              <a:srgbClr val="F5A524"/>
            </a:solidFill>
            <a:prstDash val="solid"/>
            <a:tailEnd type="triangle"/>
          </a:ln>
        </p:spPr>
      </p:sp>
      <p:sp>
        <p:nvSpPr>
          <p:cNvPr id="40" name="shp_7_37"/>
          <p:cNvSpPr/>
          <p:nvPr/>
        </p:nvSpPr>
        <p:spPr>
          <a:xfrm>
            <a:off x="10564863" y="5001768"/>
            <a:ext cx="0" cy="283464"/>
          </a:xfrm>
          <a:prstGeom prst="line">
            <a:avLst/>
          </a:prstGeom>
          <a:noFill/>
          <a:ln w="19050">
            <a:solidFill>
              <a:srgbClr val="F5A524"/>
            </a:solidFill>
            <a:prstDash val="solid"/>
            <a:tailEnd type="triangle"/>
          </a:ln>
        </p:spPr>
      </p:sp>
      <p:sp>
        <p:nvSpPr>
          <p:cNvPr id="41" name="shp_7_38"/>
          <p:cNvSpPr/>
          <p:nvPr/>
        </p:nvSpPr>
        <p:spPr>
          <a:xfrm>
            <a:off x="2331720" y="5303520"/>
            <a:ext cx="9311335" cy="777240"/>
          </a:xfrm>
          <a:prstGeom prst="roundRect">
            <a:avLst>
              <a:gd name="adj" fmla="val 11765"/>
            </a:avLst>
          </a:prstGeom>
          <a:solidFill>
            <a:srgbClr val="112038"/>
          </a:solidFill>
          <a:ln w="9525">
            <a:solidFill>
              <a:srgbClr val="243A5E"/>
            </a:solidFill>
            <a:prstDash val="solid"/>
          </a:ln>
        </p:spPr>
      </p:sp>
      <p:sp>
        <p:nvSpPr>
          <p:cNvPr id="42" name="shp_7_39"/>
          <p:cNvSpPr/>
          <p:nvPr/>
        </p:nvSpPr>
        <p:spPr>
          <a:xfrm>
            <a:off x="2514600" y="5440680"/>
            <a:ext cx="502920" cy="502920"/>
          </a:xfrm>
          <a:prstGeom prst="ellipse">
            <a:avLst/>
          </a:prstGeom>
          <a:solidFill>
            <a:srgbClr val="3B2A0C"/>
          </a:solidFill>
          <a:ln w="9525">
            <a:solidFill>
              <a:srgbClr val="F5A524"/>
            </a:solidFill>
            <a:prstDash val="solid"/>
          </a:ln>
        </p:spPr>
      </p:sp>
      <p:pic>
        <p:nvPicPr>
          <p:cNvPr id="43" name="img_7_40" descr="preencoded.png">    </p:cNvPr>
          <p:cNvPicPr>
            <a:picLocks noChangeAspect="1"/>
          </p:cNvPicPr>
          <p:nvPr/>
        </p:nvPicPr>
        <p:blipFill>
          <a:blip r:embed="rId3"/>
          <a:stretch>
            <a:fillRect/>
          </a:stretch>
        </p:blipFill>
        <p:spPr>
          <a:xfrm>
            <a:off x="2635301" y="5561381"/>
            <a:ext cx="261518" cy="261518"/>
          </a:xfrm>
          <a:prstGeom prst="rect">
            <a:avLst/>
          </a:prstGeom>
        </p:spPr>
      </p:pic>
      <p:sp>
        <p:nvSpPr>
          <p:cNvPr id="44" name="txt_7_41"/>
          <p:cNvSpPr txBox="1"/>
          <p:nvPr/>
        </p:nvSpPr>
        <p:spPr>
          <a:xfrm>
            <a:off x="3200400" y="5303520"/>
            <a:ext cx="420624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Data layer</a:t>
            </a:r>
            <a:endParaRPr lang="en-US" sz="1700" dirty="0"/>
          </a:p>
        </p:txBody>
      </p:sp>
      <p:sp>
        <p:nvSpPr>
          <p:cNvPr id="45" name="txt_7_42"/>
          <p:cNvSpPr txBox="1"/>
          <p:nvPr/>
        </p:nvSpPr>
        <p:spPr>
          <a:xfrm>
            <a:off x="7452360" y="5303520"/>
            <a:ext cx="4007815" cy="777240"/>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Django ORM stores · MongoDB audit trail</a:t>
            </a:r>
            <a:endParaRPr lang="en-US" sz="1300" dirty="0"/>
          </a:p>
        </p:txBody>
      </p:sp>
      <p:sp>
        <p:nvSpPr>
          <p:cNvPr id="46" name="txt_7_43"/>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47" name="txt_7_44"/>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07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18" presetID="10" presetClass="entr" presetSubtype="0" fill="hold" grpId="0" nodeType="clickEffect" decel="100000">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23" presetID="42" presetClass="entr" presetSubtype="0" fill="hold" grpId="0" nodeType="withEffect" decel="100000">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0.05"/>
                                          </p:val>
                                        </p:tav>
                                        <p:tav tm="100000">
                                          <p:val>
                                            <p:strVal val="#ppt_y"/>
                                          </p:val>
                                        </p:tav>
                                      </p:tavLst>
                                    </p:anim>
                                  </p:childTnLst>
                                </p:cTn>
                              </p:par>
                              <p:par>
                                <p:cTn id="28" presetID="42" presetClass="entr" presetSubtype="0" fill="hold" grpId="0" nodeType="withEffect" decel="100000">
                                  <p:stCondLst>
                                    <p:cond delay="2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0.05"/>
                                          </p:val>
                                        </p:tav>
                                        <p:tav tm="100000">
                                          <p:val>
                                            <p:strVal val="#ppt_y"/>
                                          </p:val>
                                        </p:tav>
                                      </p:tavLst>
                                    </p:anim>
                                  </p:childTnLst>
                                </p:cTn>
                              </p:par>
                              <p:par>
                                <p:cTn id="33" presetID="42" presetClass="entr" presetSubtype="0" fill="hold" grpId="0" nodeType="withEffect" decel="100000">
                                  <p:stCondLst>
                                    <p:cond delay="25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0.05"/>
                                          </p:val>
                                        </p:tav>
                                        <p:tav tm="100000">
                                          <p:val>
                                            <p:strVal val="#ppt_y"/>
                                          </p:val>
                                        </p:tav>
                                      </p:tavLst>
                                    </p:anim>
                                  </p:childTnLst>
                                </p:cTn>
                              </p:par>
                              <p:par>
                                <p:cTn id="38" presetID="42" presetClass="entr" presetSubtype="0" fill="hold" grpId="0" nodeType="withEffect" decel="100000">
                                  <p:stCondLst>
                                    <p:cond delay="2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
                                          </p:val>
                                        </p:tav>
                                        <p:tav tm="100000">
                                          <p:val>
                                            <p:strVal val="#ppt_x"/>
                                          </p:val>
                                        </p:tav>
                                      </p:tavLst>
                                    </p:anim>
                                    <p:anim calcmode="lin" valueType="num">
                                      <p:cBhvr>
                                        <p:cTn id="37" dur="500" fill="hold"/>
                                        <p:tgtEl>
                                          <p:spTgt spid="10"/>
                                        </p:tgtEl>
                                        <p:attrNameLst>
                                          <p:attrName>ppt_y</p:attrName>
                                        </p:attrNameLst>
                                      </p:cBhvr>
                                      <p:tavLst>
                                        <p:tav tm="0">
                                          <p:val>
                                            <p:strVal val="#ppt_y+0.05"/>
                                          </p:val>
                                        </p:tav>
                                        <p:tav tm="100000">
                                          <p:val>
                                            <p:strVal val="#ppt_y"/>
                                          </p:val>
                                        </p:tav>
                                      </p:tavLst>
                                    </p:anim>
                                  </p:childTnLst>
                                </p:cTn>
                              </p:par>
                              <p:par>
                                <p:cTn id="43" presetID="42" presetClass="entr" presetSubtype="0" fill="hold" grpId="0" nodeType="withEffect" decel="100000">
                                  <p:stCondLst>
                                    <p:cond delay="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fill="hold"/>
                                        <p:tgtEl>
                                          <p:spTgt spid="11"/>
                                        </p:tgtEl>
                                        <p:attrNameLst>
                                          <p:attrName>ppt_x</p:attrName>
                                        </p:attrNameLst>
                                      </p:cBhvr>
                                      <p:tavLst>
                                        <p:tav tm="0">
                                          <p:val>
                                            <p:strVal val="#ppt_x"/>
                                          </p:val>
                                        </p:tav>
                                        <p:tav tm="100000">
                                          <p:val>
                                            <p:strVal val="#ppt_x"/>
                                          </p:val>
                                        </p:tav>
                                      </p:tavLst>
                                    </p:anim>
                                    <p:anim calcmode="lin" valueType="num">
                                      <p:cBhvr>
                                        <p:cTn id="42"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48" presetID="10" presetClass="entr" presetSubtype="0" fill="hold" grpId="0" nodeType="clickEffect" decel="100000">
                                  <p:stCondLst>
                                    <p:cond delay="25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par>
                                <p:cTn id="51" presetID="22" presetClass="entr" presetSubtype="1" fill="hold" grpId="0" nodeType="withEffect" decel="100000">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down)">
                                      <p:cBhvr>
                                        <p:cTn id="50" dur="300"/>
                                        <p:tgtEl>
                                          <p:spTgt spid="13"/>
                                        </p:tgtEl>
                                      </p:cBhvr>
                                    </p:animEffect>
                                  </p:childTnLst>
                                </p:cTn>
                              </p:par>
                              <p:par>
                                <p:cTn id="56" presetID="42" presetClass="entr" presetSubtype="0" fill="hold" grpId="0" nodeType="withEffect" decel="100000">
                                  <p:stCondLst>
                                    <p:cond delay="25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0.05"/>
                                          </p:val>
                                        </p:tav>
                                        <p:tav tm="100000">
                                          <p:val>
                                            <p:strVal val="#ppt_y"/>
                                          </p:val>
                                        </p:tav>
                                      </p:tavLst>
                                    </p:anim>
                                  </p:childTnLst>
                                </p:cTn>
                              </p:par>
                              <p:par>
                                <p:cTn id="61" presetID="42" presetClass="entr" presetSubtype="0" fill="hold" grpId="0" nodeType="withEffect" decel="100000">
                                  <p:stCondLst>
                                    <p:cond delay="25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strVal val="#ppt_x"/>
                                          </p:val>
                                        </p:tav>
                                        <p:tav tm="100000">
                                          <p:val>
                                            <p:strVal val="#ppt_x"/>
                                          </p:val>
                                        </p:tav>
                                      </p:tavLst>
                                    </p:anim>
                                    <p:anim calcmode="lin" valueType="num">
                                      <p:cBhvr>
                                        <p:cTn id="60" dur="500" fill="hold"/>
                                        <p:tgtEl>
                                          <p:spTgt spid="15"/>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decel="100000">
                                  <p:stCondLst>
                                    <p:cond delay="25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anim calcmode="lin" valueType="num">
                                      <p:cBhvr>
                                        <p:cTn id="64" dur="500" fill="hold"/>
                                        <p:tgtEl>
                                          <p:spTgt spid="16"/>
                                        </p:tgtEl>
                                        <p:attrNameLst>
                                          <p:attrName>ppt_x</p:attrName>
                                        </p:attrNameLst>
                                      </p:cBhvr>
                                      <p:tavLst>
                                        <p:tav tm="0">
                                          <p:val>
                                            <p:strVal val="#ppt_x"/>
                                          </p:val>
                                        </p:tav>
                                        <p:tav tm="100000">
                                          <p:val>
                                            <p:strVal val="#ppt_x"/>
                                          </p:val>
                                        </p:tav>
                                      </p:tavLst>
                                    </p:anim>
                                    <p:anim calcmode="lin" valueType="num">
                                      <p:cBhvr>
                                        <p:cTn id="65" dur="500" fill="hold"/>
                                        <p:tgtEl>
                                          <p:spTgt spid="16"/>
                                        </p:tgtEl>
                                        <p:attrNameLst>
                                          <p:attrName>ppt_y</p:attrName>
                                        </p:attrNameLst>
                                      </p:cBhvr>
                                      <p:tavLst>
                                        <p:tav tm="0">
                                          <p:val>
                                            <p:strVal val="#ppt_y+0.05"/>
                                          </p:val>
                                        </p:tav>
                                        <p:tav tm="100000">
                                          <p:val>
                                            <p:strVal val="#ppt_y"/>
                                          </p:val>
                                        </p:tav>
                                      </p:tavLst>
                                    </p:anim>
                                  </p:childTnLst>
                                </p:cTn>
                              </p:par>
                              <p:par>
                                <p:cTn id="71" presetID="42" presetClass="entr" presetSubtype="0" fill="hold" grpId="0" nodeType="withEffect" decel="100000">
                                  <p:stCondLst>
                                    <p:cond delay="25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p:cTn id="69" dur="500" fill="hold"/>
                                        <p:tgtEl>
                                          <p:spTgt spid="17"/>
                                        </p:tgtEl>
                                        <p:attrNameLst>
                                          <p:attrName>ppt_x</p:attrName>
                                        </p:attrNameLst>
                                      </p:cBhvr>
                                      <p:tavLst>
                                        <p:tav tm="0">
                                          <p:val>
                                            <p:strVal val="#ppt_x"/>
                                          </p:val>
                                        </p:tav>
                                        <p:tav tm="100000">
                                          <p:val>
                                            <p:strVal val="#ppt_x"/>
                                          </p:val>
                                        </p:tav>
                                      </p:tavLst>
                                    </p:anim>
                                    <p:anim calcmode="lin" valueType="num">
                                      <p:cBhvr>
                                        <p:cTn id="70" dur="500" fill="hold"/>
                                        <p:tgtEl>
                                          <p:spTgt spid="17"/>
                                        </p:tgtEl>
                                        <p:attrNameLst>
                                          <p:attrName>ppt_y</p:attrName>
                                        </p:attrNameLst>
                                      </p:cBhvr>
                                      <p:tavLst>
                                        <p:tav tm="0">
                                          <p:val>
                                            <p:strVal val="#ppt_y+0.05"/>
                                          </p:val>
                                        </p:tav>
                                        <p:tav tm="100000">
                                          <p:val>
                                            <p:strVal val="#ppt_y"/>
                                          </p:val>
                                        </p:tav>
                                      </p:tavLst>
                                    </p:anim>
                                  </p:childTnLst>
                                </p:cTn>
                              </p:par>
                              <p:par>
                                <p:cTn id="76" presetID="42" presetClass="entr" presetSubtype="0" fill="hold" grpId="0" nodeType="withEffect" decel="100000">
                                  <p:stCondLst>
                                    <p:cond delay="25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anim calcmode="lin" valueType="num">
                                      <p:cBhvr>
                                        <p:cTn id="74" dur="500" fill="hold"/>
                                        <p:tgtEl>
                                          <p:spTgt spid="18"/>
                                        </p:tgtEl>
                                        <p:attrNameLst>
                                          <p:attrName>ppt_x</p:attrName>
                                        </p:attrNameLst>
                                      </p:cBhvr>
                                      <p:tavLst>
                                        <p:tav tm="0">
                                          <p:val>
                                            <p:strVal val="#ppt_x"/>
                                          </p:val>
                                        </p:tav>
                                        <p:tav tm="100000">
                                          <p:val>
                                            <p:strVal val="#ppt_x"/>
                                          </p:val>
                                        </p:tav>
                                      </p:tavLst>
                                    </p:anim>
                                    <p:anim calcmode="lin" valueType="num">
                                      <p:cBhvr>
                                        <p:cTn id="75" dur="500" fill="hold"/>
                                        <p:tgtEl>
                                          <p:spTgt spid="18"/>
                                        </p:tgtEl>
                                        <p:attrNameLst>
                                          <p:attrName>ppt_y</p:attrName>
                                        </p:attrNameLst>
                                      </p:cBhvr>
                                      <p:tavLst>
                                        <p:tav tm="0">
                                          <p:val>
                                            <p:strVal val="#ppt_y+0.05"/>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81" presetID="10" presetClass="entr" presetSubtype="0" fill="hold" grpId="0" nodeType="clickEffect" decel="100000">
                                  <p:stCondLst>
                                    <p:cond delay="25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childTnLst>
                                </p:cTn>
                              </p:par>
                              <p:par>
                                <p:cTn id="84" presetID="22" presetClass="entr" presetSubtype="1" fill="hold" grpId="0" nodeType="withEffect" decel="100000">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wipe(down)">
                                      <p:cBhvr>
                                        <p:cTn id="83" dur="300"/>
                                        <p:tgtEl>
                                          <p:spTgt spid="20"/>
                                        </p:tgtEl>
                                      </p:cBhvr>
                                    </p:animEffect>
                                  </p:childTnLst>
                                </p:cTn>
                              </p:par>
                              <p:par>
                                <p:cTn id="87" presetID="22" presetClass="entr" presetSubtype="1" fill="hold" grpId="0" nodeType="withEffect" decel="100000">
                                  <p:stCondLst>
                                    <p:cond delay="80"/>
                                  </p:stCondLst>
                                  <p:childTnLst>
                                    <p:set>
                                      <p:cBhvr>
                                        <p:cTn id="85" dur="1" fill="hold">
                                          <p:stCondLst>
                                            <p:cond delay="0"/>
                                          </p:stCondLst>
                                        </p:cTn>
                                        <p:tgtEl>
                                          <p:spTgt spid="21"/>
                                        </p:tgtEl>
                                        <p:attrNameLst>
                                          <p:attrName>style.visibility</p:attrName>
                                        </p:attrNameLst>
                                      </p:cBhvr>
                                      <p:to>
                                        <p:strVal val="visible"/>
                                      </p:to>
                                    </p:set>
                                    <p:animEffect transition="in" filter="wipe(down)">
                                      <p:cBhvr>
                                        <p:cTn id="86" dur="300"/>
                                        <p:tgtEl>
                                          <p:spTgt spid="21"/>
                                        </p:tgtEl>
                                      </p:cBhvr>
                                    </p:animEffect>
                                  </p:childTnLst>
                                </p:cTn>
                              </p:par>
                              <p:par>
                                <p:cTn id="90" presetID="22" presetClass="entr" presetSubtype="1" fill="hold" grpId="0" nodeType="withEffect" decel="100000">
                                  <p:stCondLst>
                                    <p:cond delay="160"/>
                                  </p:stCondLst>
                                  <p:childTnLst>
                                    <p:set>
                                      <p:cBhvr>
                                        <p:cTn id="88" dur="1" fill="hold">
                                          <p:stCondLst>
                                            <p:cond delay="0"/>
                                          </p:stCondLst>
                                        </p:cTn>
                                        <p:tgtEl>
                                          <p:spTgt spid="22"/>
                                        </p:tgtEl>
                                        <p:attrNameLst>
                                          <p:attrName>style.visibility</p:attrName>
                                        </p:attrNameLst>
                                      </p:cBhvr>
                                      <p:to>
                                        <p:strVal val="visible"/>
                                      </p:to>
                                    </p:set>
                                    <p:animEffect transition="in" filter="wipe(down)">
                                      <p:cBhvr>
                                        <p:cTn id="89" dur="300"/>
                                        <p:tgtEl>
                                          <p:spTgt spid="22"/>
                                        </p:tgtEl>
                                      </p:cBhvr>
                                    </p:animEffect>
                                  </p:childTnLst>
                                </p:cTn>
                              </p:par>
                              <p:par>
                                <p:cTn id="93" presetID="22" presetClass="entr" presetSubtype="1" fill="hold" grpId="0" nodeType="withEffect" decel="100000">
                                  <p:stCondLst>
                                    <p:cond delay="240"/>
                                  </p:stCondLst>
                                  <p:childTnLst>
                                    <p:set>
                                      <p:cBhvr>
                                        <p:cTn id="91" dur="1" fill="hold">
                                          <p:stCondLst>
                                            <p:cond delay="0"/>
                                          </p:stCondLst>
                                        </p:cTn>
                                        <p:tgtEl>
                                          <p:spTgt spid="23"/>
                                        </p:tgtEl>
                                        <p:attrNameLst>
                                          <p:attrName>style.visibility</p:attrName>
                                        </p:attrNameLst>
                                      </p:cBhvr>
                                      <p:to>
                                        <p:strVal val="visible"/>
                                      </p:to>
                                    </p:set>
                                    <p:animEffect transition="in" filter="wipe(down)">
                                      <p:cBhvr>
                                        <p:cTn id="92" dur="300"/>
                                        <p:tgtEl>
                                          <p:spTgt spid="23"/>
                                        </p:tgtEl>
                                      </p:cBhvr>
                                    </p:animEffect>
                                  </p:childTnLst>
                                </p:cTn>
                              </p:par>
                              <p:par>
                                <p:cTn id="98" presetID="42" presetClass="entr" presetSubtype="0" fill="hold" grpId="0" nodeType="withEffect" decel="100000">
                                  <p:stCondLst>
                                    <p:cond delay="25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anim calcmode="lin" valueType="num">
                                      <p:cBhvr>
                                        <p:cTn id="96" dur="500" fill="hold"/>
                                        <p:tgtEl>
                                          <p:spTgt spid="24"/>
                                        </p:tgtEl>
                                        <p:attrNameLst>
                                          <p:attrName>ppt_x</p:attrName>
                                        </p:attrNameLst>
                                      </p:cBhvr>
                                      <p:tavLst>
                                        <p:tav tm="0">
                                          <p:val>
                                            <p:strVal val="#ppt_x"/>
                                          </p:val>
                                        </p:tav>
                                        <p:tav tm="100000">
                                          <p:val>
                                            <p:strVal val="#ppt_x"/>
                                          </p:val>
                                        </p:tav>
                                      </p:tavLst>
                                    </p:anim>
                                    <p:anim calcmode="lin" valueType="num">
                                      <p:cBhvr>
                                        <p:cTn id="97" dur="500" fill="hold"/>
                                        <p:tgtEl>
                                          <p:spTgt spid="24"/>
                                        </p:tgtEl>
                                        <p:attrNameLst>
                                          <p:attrName>ppt_y</p:attrName>
                                        </p:attrNameLst>
                                      </p:cBhvr>
                                      <p:tavLst>
                                        <p:tav tm="0">
                                          <p:val>
                                            <p:strVal val="#ppt_y+0.05"/>
                                          </p:val>
                                        </p:tav>
                                        <p:tav tm="100000">
                                          <p:val>
                                            <p:strVal val="#ppt_y"/>
                                          </p:val>
                                        </p:tav>
                                      </p:tavLst>
                                    </p:anim>
                                  </p:childTnLst>
                                </p:cTn>
                              </p:par>
                              <p:par>
                                <p:cTn id="103" presetID="42" presetClass="entr" presetSubtype="0" fill="hold" grpId="0" nodeType="withEffect" decel="100000">
                                  <p:stCondLst>
                                    <p:cond delay="25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00"/>
                                        <p:tgtEl>
                                          <p:spTgt spid="25"/>
                                        </p:tgtEl>
                                      </p:cBhvr>
                                    </p:animEffect>
                                    <p:anim calcmode="lin" valueType="num">
                                      <p:cBhvr>
                                        <p:cTn id="101" dur="500" fill="hold"/>
                                        <p:tgtEl>
                                          <p:spTgt spid="25"/>
                                        </p:tgtEl>
                                        <p:attrNameLst>
                                          <p:attrName>ppt_x</p:attrName>
                                        </p:attrNameLst>
                                      </p:cBhvr>
                                      <p:tavLst>
                                        <p:tav tm="0">
                                          <p:val>
                                            <p:strVal val="#ppt_x"/>
                                          </p:val>
                                        </p:tav>
                                        <p:tav tm="100000">
                                          <p:val>
                                            <p:strVal val="#ppt_x"/>
                                          </p:val>
                                        </p:tav>
                                      </p:tavLst>
                                    </p:anim>
                                    <p:anim calcmode="lin" valueType="num">
                                      <p:cBhvr>
                                        <p:cTn id="102" dur="500" fill="hold"/>
                                        <p:tgtEl>
                                          <p:spTgt spid="25"/>
                                        </p:tgtEl>
                                        <p:attrNameLst>
                                          <p:attrName>ppt_y</p:attrName>
                                        </p:attrNameLst>
                                      </p:cBhvr>
                                      <p:tavLst>
                                        <p:tav tm="0">
                                          <p:val>
                                            <p:strVal val="#ppt_y+0.05"/>
                                          </p:val>
                                        </p:tav>
                                        <p:tav tm="100000">
                                          <p:val>
                                            <p:strVal val="#ppt_y"/>
                                          </p:val>
                                        </p:tav>
                                      </p:tavLst>
                                    </p:anim>
                                  </p:childTnLst>
                                </p:cTn>
                              </p:par>
                              <p:par>
                                <p:cTn id="108" presetID="42" presetClass="entr" presetSubtype="0" fill="hold" grpId="0" nodeType="withEffect" decel="100000">
                                  <p:stCondLst>
                                    <p:cond delay="25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anim calcmode="lin" valueType="num">
                                      <p:cBhvr>
                                        <p:cTn id="106" dur="500" fill="hold"/>
                                        <p:tgtEl>
                                          <p:spTgt spid="26"/>
                                        </p:tgtEl>
                                        <p:attrNameLst>
                                          <p:attrName>ppt_x</p:attrName>
                                        </p:attrNameLst>
                                      </p:cBhvr>
                                      <p:tavLst>
                                        <p:tav tm="0">
                                          <p:val>
                                            <p:strVal val="#ppt_x"/>
                                          </p:val>
                                        </p:tav>
                                        <p:tav tm="100000">
                                          <p:val>
                                            <p:strVal val="#ppt_x"/>
                                          </p:val>
                                        </p:tav>
                                      </p:tavLst>
                                    </p:anim>
                                    <p:anim calcmode="lin" valueType="num">
                                      <p:cBhvr>
                                        <p:cTn id="107" dur="500" fill="hold"/>
                                        <p:tgtEl>
                                          <p:spTgt spid="26"/>
                                        </p:tgtEl>
                                        <p:attrNameLst>
                                          <p:attrName>ppt_y</p:attrName>
                                        </p:attrNameLst>
                                      </p:cBhvr>
                                      <p:tavLst>
                                        <p:tav tm="0">
                                          <p:val>
                                            <p:strVal val="#ppt_y+0.05"/>
                                          </p:val>
                                        </p:tav>
                                        <p:tav tm="100000">
                                          <p:val>
                                            <p:strVal val="#ppt_y"/>
                                          </p:val>
                                        </p:tav>
                                      </p:tavLst>
                                    </p:anim>
                                  </p:childTnLst>
                                </p:cTn>
                              </p:par>
                              <p:par>
                                <p:cTn id="113" presetID="42" presetClass="entr" presetSubtype="0" fill="hold" grpId="0" nodeType="withEffect" decel="100000">
                                  <p:stCondLst>
                                    <p:cond delay="37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anim calcmode="lin" valueType="num">
                                      <p:cBhvr>
                                        <p:cTn id="111" dur="500" fill="hold"/>
                                        <p:tgtEl>
                                          <p:spTgt spid="27"/>
                                        </p:tgtEl>
                                        <p:attrNameLst>
                                          <p:attrName>ppt_x</p:attrName>
                                        </p:attrNameLst>
                                      </p:cBhvr>
                                      <p:tavLst>
                                        <p:tav tm="0">
                                          <p:val>
                                            <p:strVal val="#ppt_x"/>
                                          </p:val>
                                        </p:tav>
                                        <p:tav tm="100000">
                                          <p:val>
                                            <p:strVal val="#ppt_x"/>
                                          </p:val>
                                        </p:tav>
                                      </p:tavLst>
                                    </p:anim>
                                    <p:anim calcmode="lin" valueType="num">
                                      <p:cBhvr>
                                        <p:cTn id="112" dur="500" fill="hold"/>
                                        <p:tgtEl>
                                          <p:spTgt spid="27"/>
                                        </p:tgtEl>
                                        <p:attrNameLst>
                                          <p:attrName>ppt_y</p:attrName>
                                        </p:attrNameLst>
                                      </p:cBhvr>
                                      <p:tavLst>
                                        <p:tav tm="0">
                                          <p:val>
                                            <p:strVal val="#ppt_y+0.05"/>
                                          </p:val>
                                        </p:tav>
                                        <p:tav tm="100000">
                                          <p:val>
                                            <p:strVal val="#ppt_y"/>
                                          </p:val>
                                        </p:tav>
                                      </p:tavLst>
                                    </p:anim>
                                  </p:childTnLst>
                                </p:cTn>
                              </p:par>
                              <p:par>
                                <p:cTn id="118" presetID="42" presetClass="entr" presetSubtype="0" fill="hold" grpId="0" nodeType="withEffect" decel="100000">
                                  <p:stCondLst>
                                    <p:cond delay="37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500"/>
                                        <p:tgtEl>
                                          <p:spTgt spid="28"/>
                                        </p:tgtEl>
                                      </p:cBhvr>
                                    </p:animEffect>
                                    <p:anim calcmode="lin" valueType="num">
                                      <p:cBhvr>
                                        <p:cTn id="116" dur="500" fill="hold"/>
                                        <p:tgtEl>
                                          <p:spTgt spid="28"/>
                                        </p:tgtEl>
                                        <p:attrNameLst>
                                          <p:attrName>ppt_x</p:attrName>
                                        </p:attrNameLst>
                                      </p:cBhvr>
                                      <p:tavLst>
                                        <p:tav tm="0">
                                          <p:val>
                                            <p:strVal val="#ppt_x"/>
                                          </p:val>
                                        </p:tav>
                                        <p:tav tm="100000">
                                          <p:val>
                                            <p:strVal val="#ppt_x"/>
                                          </p:val>
                                        </p:tav>
                                      </p:tavLst>
                                    </p:anim>
                                    <p:anim calcmode="lin" valueType="num">
                                      <p:cBhvr>
                                        <p:cTn id="117" dur="500" fill="hold"/>
                                        <p:tgtEl>
                                          <p:spTgt spid="28"/>
                                        </p:tgtEl>
                                        <p:attrNameLst>
                                          <p:attrName>ppt_y</p:attrName>
                                        </p:attrNameLst>
                                      </p:cBhvr>
                                      <p:tavLst>
                                        <p:tav tm="0">
                                          <p:val>
                                            <p:strVal val="#ppt_y+0.05"/>
                                          </p:val>
                                        </p:tav>
                                        <p:tav tm="100000">
                                          <p:val>
                                            <p:strVal val="#ppt_y"/>
                                          </p:val>
                                        </p:tav>
                                      </p:tavLst>
                                    </p:anim>
                                  </p:childTnLst>
                                </p:cTn>
                              </p:par>
                              <p:par>
                                <p:cTn id="123" presetID="42" presetClass="entr" presetSubtype="0" fill="hold" grpId="0" nodeType="withEffect" decel="100000">
                                  <p:stCondLst>
                                    <p:cond delay="37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500"/>
                                        <p:tgtEl>
                                          <p:spTgt spid="29"/>
                                        </p:tgtEl>
                                      </p:cBhvr>
                                    </p:animEffect>
                                    <p:anim calcmode="lin" valueType="num">
                                      <p:cBhvr>
                                        <p:cTn id="121" dur="500" fill="hold"/>
                                        <p:tgtEl>
                                          <p:spTgt spid="29"/>
                                        </p:tgtEl>
                                        <p:attrNameLst>
                                          <p:attrName>ppt_x</p:attrName>
                                        </p:attrNameLst>
                                      </p:cBhvr>
                                      <p:tavLst>
                                        <p:tav tm="0">
                                          <p:val>
                                            <p:strVal val="#ppt_x"/>
                                          </p:val>
                                        </p:tav>
                                        <p:tav tm="100000">
                                          <p:val>
                                            <p:strVal val="#ppt_x"/>
                                          </p:val>
                                        </p:tav>
                                      </p:tavLst>
                                    </p:anim>
                                    <p:anim calcmode="lin" valueType="num">
                                      <p:cBhvr>
                                        <p:cTn id="122" dur="500" fill="hold"/>
                                        <p:tgtEl>
                                          <p:spTgt spid="29"/>
                                        </p:tgtEl>
                                        <p:attrNameLst>
                                          <p:attrName>ppt_y</p:attrName>
                                        </p:attrNameLst>
                                      </p:cBhvr>
                                      <p:tavLst>
                                        <p:tav tm="0">
                                          <p:val>
                                            <p:strVal val="#ppt_y+0.05"/>
                                          </p:val>
                                        </p:tav>
                                        <p:tav tm="100000">
                                          <p:val>
                                            <p:strVal val="#ppt_y"/>
                                          </p:val>
                                        </p:tav>
                                      </p:tavLst>
                                    </p:anim>
                                  </p:childTnLst>
                                </p:cTn>
                              </p:par>
                              <p:par>
                                <p:cTn id="128" presetID="42" presetClass="entr" presetSubtype="0" fill="hold" grpId="0" nodeType="withEffect" decel="100000">
                                  <p:stCondLst>
                                    <p:cond delay="490"/>
                                  </p:stCondLst>
                                  <p:childTnLst>
                                    <p:set>
                                      <p:cBhvr>
                                        <p:cTn id="124" dur="1" fill="hold">
                                          <p:stCondLst>
                                            <p:cond delay="0"/>
                                          </p:stCondLst>
                                        </p:cTn>
                                        <p:tgtEl>
                                          <p:spTgt spid="30"/>
                                        </p:tgtEl>
                                        <p:attrNameLst>
                                          <p:attrName>style.visibility</p:attrName>
                                        </p:attrNameLst>
                                      </p:cBhvr>
                                      <p:to>
                                        <p:strVal val="visible"/>
                                      </p:to>
                                    </p:set>
                                    <p:animEffect transition="in" filter="fade">
                                      <p:cBhvr>
                                        <p:cTn id="125" dur="500"/>
                                        <p:tgtEl>
                                          <p:spTgt spid="30"/>
                                        </p:tgtEl>
                                      </p:cBhvr>
                                    </p:animEffect>
                                    <p:anim calcmode="lin" valueType="num">
                                      <p:cBhvr>
                                        <p:cTn id="126" dur="500" fill="hold"/>
                                        <p:tgtEl>
                                          <p:spTgt spid="30"/>
                                        </p:tgtEl>
                                        <p:attrNameLst>
                                          <p:attrName>ppt_x</p:attrName>
                                        </p:attrNameLst>
                                      </p:cBhvr>
                                      <p:tavLst>
                                        <p:tav tm="0">
                                          <p:val>
                                            <p:strVal val="#ppt_x"/>
                                          </p:val>
                                        </p:tav>
                                        <p:tav tm="100000">
                                          <p:val>
                                            <p:strVal val="#ppt_x"/>
                                          </p:val>
                                        </p:tav>
                                      </p:tavLst>
                                    </p:anim>
                                    <p:anim calcmode="lin" valueType="num">
                                      <p:cBhvr>
                                        <p:cTn id="127" dur="500" fill="hold"/>
                                        <p:tgtEl>
                                          <p:spTgt spid="30"/>
                                        </p:tgtEl>
                                        <p:attrNameLst>
                                          <p:attrName>ppt_y</p:attrName>
                                        </p:attrNameLst>
                                      </p:cBhvr>
                                      <p:tavLst>
                                        <p:tav tm="0">
                                          <p:val>
                                            <p:strVal val="#ppt_y+0.05"/>
                                          </p:val>
                                        </p:tav>
                                        <p:tav tm="100000">
                                          <p:val>
                                            <p:strVal val="#ppt_y"/>
                                          </p:val>
                                        </p:tav>
                                      </p:tavLst>
                                    </p:anim>
                                  </p:childTnLst>
                                </p:cTn>
                              </p:par>
                              <p:par>
                                <p:cTn id="133" presetID="42" presetClass="entr" presetSubtype="0" fill="hold" grpId="0" nodeType="withEffect" decel="100000">
                                  <p:stCondLst>
                                    <p:cond delay="49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500"/>
                                        <p:tgtEl>
                                          <p:spTgt spid="31"/>
                                        </p:tgtEl>
                                      </p:cBhvr>
                                    </p:animEffect>
                                    <p:anim calcmode="lin" valueType="num">
                                      <p:cBhvr>
                                        <p:cTn id="131" dur="500" fill="hold"/>
                                        <p:tgtEl>
                                          <p:spTgt spid="31"/>
                                        </p:tgtEl>
                                        <p:attrNameLst>
                                          <p:attrName>ppt_x</p:attrName>
                                        </p:attrNameLst>
                                      </p:cBhvr>
                                      <p:tavLst>
                                        <p:tav tm="0">
                                          <p:val>
                                            <p:strVal val="#ppt_x"/>
                                          </p:val>
                                        </p:tav>
                                        <p:tav tm="100000">
                                          <p:val>
                                            <p:strVal val="#ppt_x"/>
                                          </p:val>
                                        </p:tav>
                                      </p:tavLst>
                                    </p:anim>
                                    <p:anim calcmode="lin" valueType="num">
                                      <p:cBhvr>
                                        <p:cTn id="132" dur="500" fill="hold"/>
                                        <p:tgtEl>
                                          <p:spTgt spid="31"/>
                                        </p:tgtEl>
                                        <p:attrNameLst>
                                          <p:attrName>ppt_y</p:attrName>
                                        </p:attrNameLst>
                                      </p:cBhvr>
                                      <p:tavLst>
                                        <p:tav tm="0">
                                          <p:val>
                                            <p:strVal val="#ppt_y+0.05"/>
                                          </p:val>
                                        </p:tav>
                                        <p:tav tm="100000">
                                          <p:val>
                                            <p:strVal val="#ppt_y"/>
                                          </p:val>
                                        </p:tav>
                                      </p:tavLst>
                                    </p:anim>
                                  </p:childTnLst>
                                </p:cTn>
                              </p:par>
                              <p:par>
                                <p:cTn id="138" presetID="42" presetClass="entr" presetSubtype="0" fill="hold" grpId="0" nodeType="withEffect" decel="100000">
                                  <p:stCondLst>
                                    <p:cond delay="49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500"/>
                                        <p:tgtEl>
                                          <p:spTgt spid="32"/>
                                        </p:tgtEl>
                                      </p:cBhvr>
                                    </p:animEffect>
                                    <p:anim calcmode="lin" valueType="num">
                                      <p:cBhvr>
                                        <p:cTn id="136" dur="500" fill="hold"/>
                                        <p:tgtEl>
                                          <p:spTgt spid="32"/>
                                        </p:tgtEl>
                                        <p:attrNameLst>
                                          <p:attrName>ppt_x</p:attrName>
                                        </p:attrNameLst>
                                      </p:cBhvr>
                                      <p:tavLst>
                                        <p:tav tm="0">
                                          <p:val>
                                            <p:strVal val="#ppt_x"/>
                                          </p:val>
                                        </p:tav>
                                        <p:tav tm="100000">
                                          <p:val>
                                            <p:strVal val="#ppt_x"/>
                                          </p:val>
                                        </p:tav>
                                      </p:tavLst>
                                    </p:anim>
                                    <p:anim calcmode="lin" valueType="num">
                                      <p:cBhvr>
                                        <p:cTn id="137" dur="500" fill="hold"/>
                                        <p:tgtEl>
                                          <p:spTgt spid="32"/>
                                        </p:tgtEl>
                                        <p:attrNameLst>
                                          <p:attrName>ppt_y</p:attrName>
                                        </p:attrNameLst>
                                      </p:cBhvr>
                                      <p:tavLst>
                                        <p:tav tm="0">
                                          <p:val>
                                            <p:strVal val="#ppt_y+0.05"/>
                                          </p:val>
                                        </p:tav>
                                        <p:tav tm="100000">
                                          <p:val>
                                            <p:strVal val="#ppt_y"/>
                                          </p:val>
                                        </p:tav>
                                      </p:tavLst>
                                    </p:anim>
                                  </p:childTnLst>
                                </p:cTn>
                              </p:par>
                              <p:par>
                                <p:cTn id="143" presetID="42" presetClass="entr" presetSubtype="0" fill="hold" grpId="0" nodeType="withEffect" decel="100000">
                                  <p:stCondLst>
                                    <p:cond delay="61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500"/>
                                        <p:tgtEl>
                                          <p:spTgt spid="33"/>
                                        </p:tgtEl>
                                      </p:cBhvr>
                                    </p:animEffect>
                                    <p:anim calcmode="lin" valueType="num">
                                      <p:cBhvr>
                                        <p:cTn id="141" dur="500" fill="hold"/>
                                        <p:tgtEl>
                                          <p:spTgt spid="33"/>
                                        </p:tgtEl>
                                        <p:attrNameLst>
                                          <p:attrName>ppt_x</p:attrName>
                                        </p:attrNameLst>
                                      </p:cBhvr>
                                      <p:tavLst>
                                        <p:tav tm="0">
                                          <p:val>
                                            <p:strVal val="#ppt_x"/>
                                          </p:val>
                                        </p:tav>
                                        <p:tav tm="100000">
                                          <p:val>
                                            <p:strVal val="#ppt_x"/>
                                          </p:val>
                                        </p:tav>
                                      </p:tavLst>
                                    </p:anim>
                                    <p:anim calcmode="lin" valueType="num">
                                      <p:cBhvr>
                                        <p:cTn id="142" dur="500" fill="hold"/>
                                        <p:tgtEl>
                                          <p:spTgt spid="33"/>
                                        </p:tgtEl>
                                        <p:attrNameLst>
                                          <p:attrName>ppt_y</p:attrName>
                                        </p:attrNameLst>
                                      </p:cBhvr>
                                      <p:tavLst>
                                        <p:tav tm="0">
                                          <p:val>
                                            <p:strVal val="#ppt_y+0.05"/>
                                          </p:val>
                                        </p:tav>
                                        <p:tav tm="100000">
                                          <p:val>
                                            <p:strVal val="#ppt_y"/>
                                          </p:val>
                                        </p:tav>
                                      </p:tavLst>
                                    </p:anim>
                                  </p:childTnLst>
                                </p:cTn>
                              </p:par>
                              <p:par>
                                <p:cTn id="148" presetID="42" presetClass="entr" presetSubtype="0" fill="hold" grpId="0" nodeType="withEffect" decel="100000">
                                  <p:stCondLst>
                                    <p:cond delay="610"/>
                                  </p:stCondLst>
                                  <p:childTnLst>
                                    <p:set>
                                      <p:cBhvr>
                                        <p:cTn id="144" dur="1" fill="hold">
                                          <p:stCondLst>
                                            <p:cond delay="0"/>
                                          </p:stCondLst>
                                        </p:cTn>
                                        <p:tgtEl>
                                          <p:spTgt spid="34"/>
                                        </p:tgtEl>
                                        <p:attrNameLst>
                                          <p:attrName>style.visibility</p:attrName>
                                        </p:attrNameLst>
                                      </p:cBhvr>
                                      <p:to>
                                        <p:strVal val="visible"/>
                                      </p:to>
                                    </p:set>
                                    <p:animEffect transition="in" filter="fade">
                                      <p:cBhvr>
                                        <p:cTn id="145" dur="500"/>
                                        <p:tgtEl>
                                          <p:spTgt spid="34"/>
                                        </p:tgtEl>
                                      </p:cBhvr>
                                    </p:animEffect>
                                    <p:anim calcmode="lin" valueType="num">
                                      <p:cBhvr>
                                        <p:cTn id="146" dur="500" fill="hold"/>
                                        <p:tgtEl>
                                          <p:spTgt spid="34"/>
                                        </p:tgtEl>
                                        <p:attrNameLst>
                                          <p:attrName>ppt_x</p:attrName>
                                        </p:attrNameLst>
                                      </p:cBhvr>
                                      <p:tavLst>
                                        <p:tav tm="0">
                                          <p:val>
                                            <p:strVal val="#ppt_x"/>
                                          </p:val>
                                        </p:tav>
                                        <p:tav tm="100000">
                                          <p:val>
                                            <p:strVal val="#ppt_x"/>
                                          </p:val>
                                        </p:tav>
                                      </p:tavLst>
                                    </p:anim>
                                    <p:anim calcmode="lin" valueType="num">
                                      <p:cBhvr>
                                        <p:cTn id="147" dur="500" fill="hold"/>
                                        <p:tgtEl>
                                          <p:spTgt spid="34"/>
                                        </p:tgtEl>
                                        <p:attrNameLst>
                                          <p:attrName>ppt_y</p:attrName>
                                        </p:attrNameLst>
                                      </p:cBhvr>
                                      <p:tavLst>
                                        <p:tav tm="0">
                                          <p:val>
                                            <p:strVal val="#ppt_y+0.05"/>
                                          </p:val>
                                        </p:tav>
                                        <p:tav tm="100000">
                                          <p:val>
                                            <p:strVal val="#ppt_y"/>
                                          </p:val>
                                        </p:tav>
                                      </p:tavLst>
                                    </p:anim>
                                  </p:childTnLst>
                                </p:cTn>
                              </p:par>
                              <p:par>
                                <p:cTn id="153" presetID="42" presetClass="entr" presetSubtype="0" fill="hold" grpId="0" nodeType="withEffect" decel="100000">
                                  <p:stCondLst>
                                    <p:cond delay="610"/>
                                  </p:stCondLst>
                                  <p:childTnLst>
                                    <p:set>
                                      <p:cBhvr>
                                        <p:cTn id="149" dur="1" fill="hold">
                                          <p:stCondLst>
                                            <p:cond delay="0"/>
                                          </p:stCondLst>
                                        </p:cTn>
                                        <p:tgtEl>
                                          <p:spTgt spid="35"/>
                                        </p:tgtEl>
                                        <p:attrNameLst>
                                          <p:attrName>style.visibility</p:attrName>
                                        </p:attrNameLst>
                                      </p:cBhvr>
                                      <p:to>
                                        <p:strVal val="visible"/>
                                      </p:to>
                                    </p:set>
                                    <p:animEffect transition="in" filter="fade">
                                      <p:cBhvr>
                                        <p:cTn id="150" dur="500"/>
                                        <p:tgtEl>
                                          <p:spTgt spid="35"/>
                                        </p:tgtEl>
                                      </p:cBhvr>
                                    </p:animEffect>
                                    <p:anim calcmode="lin" valueType="num">
                                      <p:cBhvr>
                                        <p:cTn id="151" dur="500" fill="hold"/>
                                        <p:tgtEl>
                                          <p:spTgt spid="35"/>
                                        </p:tgtEl>
                                        <p:attrNameLst>
                                          <p:attrName>ppt_x</p:attrName>
                                        </p:attrNameLst>
                                      </p:cBhvr>
                                      <p:tavLst>
                                        <p:tav tm="0">
                                          <p:val>
                                            <p:strVal val="#ppt_x"/>
                                          </p:val>
                                        </p:tav>
                                        <p:tav tm="100000">
                                          <p:val>
                                            <p:strVal val="#ppt_x"/>
                                          </p:val>
                                        </p:tav>
                                      </p:tavLst>
                                    </p:anim>
                                    <p:anim calcmode="lin" valueType="num">
                                      <p:cBhvr>
                                        <p:cTn id="152" dur="500" fill="hold"/>
                                        <p:tgtEl>
                                          <p:spTgt spid="35"/>
                                        </p:tgtEl>
                                        <p:attrNameLst>
                                          <p:attrName>ppt_y</p:attrName>
                                        </p:attrNameLst>
                                      </p:cBhvr>
                                      <p:tavLst>
                                        <p:tav tm="0">
                                          <p:val>
                                            <p:strVal val="#ppt_y+0.05"/>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58" presetID="10" presetClass="entr" presetSubtype="0" fill="hold" grpId="0" nodeType="clickEffect" decel="100000">
                                  <p:stCondLst>
                                    <p:cond delay="25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500"/>
                                        <p:tgtEl>
                                          <p:spTgt spid="36"/>
                                        </p:tgtEl>
                                      </p:cBhvr>
                                    </p:animEffect>
                                  </p:childTnLst>
                                </p:cTn>
                              </p:par>
                              <p:par>
                                <p:cTn id="161" presetID="22" presetClass="entr" presetSubtype="1" fill="hold" grpId="0" nodeType="withEffect" decel="100000">
                                  <p:stCondLst>
                                    <p:cond delay="0"/>
                                  </p:stCondLst>
                                  <p:childTnLst>
                                    <p:set>
                                      <p:cBhvr>
                                        <p:cTn id="159" dur="1" fill="hold">
                                          <p:stCondLst>
                                            <p:cond delay="0"/>
                                          </p:stCondLst>
                                        </p:cTn>
                                        <p:tgtEl>
                                          <p:spTgt spid="37"/>
                                        </p:tgtEl>
                                        <p:attrNameLst>
                                          <p:attrName>style.visibility</p:attrName>
                                        </p:attrNameLst>
                                      </p:cBhvr>
                                      <p:to>
                                        <p:strVal val="visible"/>
                                      </p:to>
                                    </p:set>
                                    <p:animEffect transition="in" filter="wipe(down)">
                                      <p:cBhvr>
                                        <p:cTn id="160" dur="300"/>
                                        <p:tgtEl>
                                          <p:spTgt spid="37"/>
                                        </p:tgtEl>
                                      </p:cBhvr>
                                    </p:animEffect>
                                  </p:childTnLst>
                                </p:cTn>
                              </p:par>
                              <p:par>
                                <p:cTn id="164" presetID="22" presetClass="entr" presetSubtype="1" fill="hold" grpId="0" nodeType="withEffect" decel="100000">
                                  <p:stCondLst>
                                    <p:cond delay="80"/>
                                  </p:stCondLst>
                                  <p:childTnLst>
                                    <p:set>
                                      <p:cBhvr>
                                        <p:cTn id="162" dur="1" fill="hold">
                                          <p:stCondLst>
                                            <p:cond delay="0"/>
                                          </p:stCondLst>
                                        </p:cTn>
                                        <p:tgtEl>
                                          <p:spTgt spid="38"/>
                                        </p:tgtEl>
                                        <p:attrNameLst>
                                          <p:attrName>style.visibility</p:attrName>
                                        </p:attrNameLst>
                                      </p:cBhvr>
                                      <p:to>
                                        <p:strVal val="visible"/>
                                      </p:to>
                                    </p:set>
                                    <p:animEffect transition="in" filter="wipe(down)">
                                      <p:cBhvr>
                                        <p:cTn id="163" dur="300"/>
                                        <p:tgtEl>
                                          <p:spTgt spid="38"/>
                                        </p:tgtEl>
                                      </p:cBhvr>
                                    </p:animEffect>
                                  </p:childTnLst>
                                </p:cTn>
                              </p:par>
                              <p:par>
                                <p:cTn id="167" presetID="22" presetClass="entr" presetSubtype="1" fill="hold" grpId="0" nodeType="withEffect" decel="100000">
                                  <p:stCondLst>
                                    <p:cond delay="160"/>
                                  </p:stCondLst>
                                  <p:childTnLst>
                                    <p:set>
                                      <p:cBhvr>
                                        <p:cTn id="165" dur="1" fill="hold">
                                          <p:stCondLst>
                                            <p:cond delay="0"/>
                                          </p:stCondLst>
                                        </p:cTn>
                                        <p:tgtEl>
                                          <p:spTgt spid="39"/>
                                        </p:tgtEl>
                                        <p:attrNameLst>
                                          <p:attrName>style.visibility</p:attrName>
                                        </p:attrNameLst>
                                      </p:cBhvr>
                                      <p:to>
                                        <p:strVal val="visible"/>
                                      </p:to>
                                    </p:set>
                                    <p:animEffect transition="in" filter="wipe(down)">
                                      <p:cBhvr>
                                        <p:cTn id="166" dur="300"/>
                                        <p:tgtEl>
                                          <p:spTgt spid="39"/>
                                        </p:tgtEl>
                                      </p:cBhvr>
                                    </p:animEffect>
                                  </p:childTnLst>
                                </p:cTn>
                              </p:par>
                              <p:par>
                                <p:cTn id="170" presetID="22" presetClass="entr" presetSubtype="1" fill="hold" grpId="0" nodeType="withEffect" decel="100000">
                                  <p:stCondLst>
                                    <p:cond delay="240"/>
                                  </p:stCondLst>
                                  <p:childTnLst>
                                    <p:set>
                                      <p:cBhvr>
                                        <p:cTn id="168" dur="1" fill="hold">
                                          <p:stCondLst>
                                            <p:cond delay="0"/>
                                          </p:stCondLst>
                                        </p:cTn>
                                        <p:tgtEl>
                                          <p:spTgt spid="40"/>
                                        </p:tgtEl>
                                        <p:attrNameLst>
                                          <p:attrName>style.visibility</p:attrName>
                                        </p:attrNameLst>
                                      </p:cBhvr>
                                      <p:to>
                                        <p:strVal val="visible"/>
                                      </p:to>
                                    </p:set>
                                    <p:animEffect transition="in" filter="wipe(down)">
                                      <p:cBhvr>
                                        <p:cTn id="169" dur="300"/>
                                        <p:tgtEl>
                                          <p:spTgt spid="40"/>
                                        </p:tgtEl>
                                      </p:cBhvr>
                                    </p:animEffect>
                                  </p:childTnLst>
                                </p:cTn>
                              </p:par>
                              <p:par>
                                <p:cTn id="175" presetID="42" presetClass="entr" presetSubtype="0" fill="hold" grpId="0" nodeType="withEffect" decel="100000">
                                  <p:stCondLst>
                                    <p:cond delay="25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2" dur="500"/>
                                        <p:tgtEl>
                                          <p:spTgt spid="41"/>
                                        </p:tgtEl>
                                      </p:cBhvr>
                                    </p:animEffect>
                                    <p:anim calcmode="lin" valueType="num">
                                      <p:cBhvr>
                                        <p:cTn id="173" dur="500" fill="hold"/>
                                        <p:tgtEl>
                                          <p:spTgt spid="41"/>
                                        </p:tgtEl>
                                        <p:attrNameLst>
                                          <p:attrName>ppt_x</p:attrName>
                                        </p:attrNameLst>
                                      </p:cBhvr>
                                      <p:tavLst>
                                        <p:tav tm="0">
                                          <p:val>
                                            <p:strVal val="#ppt_x"/>
                                          </p:val>
                                        </p:tav>
                                        <p:tav tm="100000">
                                          <p:val>
                                            <p:strVal val="#ppt_x"/>
                                          </p:val>
                                        </p:tav>
                                      </p:tavLst>
                                    </p:anim>
                                    <p:anim calcmode="lin" valueType="num">
                                      <p:cBhvr>
                                        <p:cTn id="174" dur="500" fill="hold"/>
                                        <p:tgtEl>
                                          <p:spTgt spid="41"/>
                                        </p:tgtEl>
                                        <p:attrNameLst>
                                          <p:attrName>ppt_y</p:attrName>
                                        </p:attrNameLst>
                                      </p:cBhvr>
                                      <p:tavLst>
                                        <p:tav tm="0">
                                          <p:val>
                                            <p:strVal val="#ppt_y+0.05"/>
                                          </p:val>
                                        </p:tav>
                                        <p:tav tm="100000">
                                          <p:val>
                                            <p:strVal val="#ppt_y"/>
                                          </p:val>
                                        </p:tav>
                                      </p:tavLst>
                                    </p:anim>
                                  </p:childTnLst>
                                </p:cTn>
                              </p:par>
                              <p:par>
                                <p:cTn id="180" presetID="42" presetClass="entr" presetSubtype="0" fill="hold" grpId="0" nodeType="withEffect" decel="100000">
                                  <p:stCondLst>
                                    <p:cond delay="250"/>
                                  </p:stCondLst>
                                  <p:childTnLst>
                                    <p:set>
                                      <p:cBhvr>
                                        <p:cTn id="176" dur="1" fill="hold">
                                          <p:stCondLst>
                                            <p:cond delay="0"/>
                                          </p:stCondLst>
                                        </p:cTn>
                                        <p:tgtEl>
                                          <p:spTgt spid="42"/>
                                        </p:tgtEl>
                                        <p:attrNameLst>
                                          <p:attrName>style.visibility</p:attrName>
                                        </p:attrNameLst>
                                      </p:cBhvr>
                                      <p:to>
                                        <p:strVal val="visible"/>
                                      </p:to>
                                    </p:set>
                                    <p:animEffect transition="in" filter="fade">
                                      <p:cBhvr>
                                        <p:cTn id="177" dur="500"/>
                                        <p:tgtEl>
                                          <p:spTgt spid="42"/>
                                        </p:tgtEl>
                                      </p:cBhvr>
                                    </p:animEffect>
                                    <p:anim calcmode="lin" valueType="num">
                                      <p:cBhvr>
                                        <p:cTn id="178" dur="500" fill="hold"/>
                                        <p:tgtEl>
                                          <p:spTgt spid="42"/>
                                        </p:tgtEl>
                                        <p:attrNameLst>
                                          <p:attrName>ppt_x</p:attrName>
                                        </p:attrNameLst>
                                      </p:cBhvr>
                                      <p:tavLst>
                                        <p:tav tm="0">
                                          <p:val>
                                            <p:strVal val="#ppt_x"/>
                                          </p:val>
                                        </p:tav>
                                        <p:tav tm="100000">
                                          <p:val>
                                            <p:strVal val="#ppt_x"/>
                                          </p:val>
                                        </p:tav>
                                      </p:tavLst>
                                    </p:anim>
                                    <p:anim calcmode="lin" valueType="num">
                                      <p:cBhvr>
                                        <p:cTn id="179" dur="500" fill="hold"/>
                                        <p:tgtEl>
                                          <p:spTgt spid="42"/>
                                        </p:tgtEl>
                                        <p:attrNameLst>
                                          <p:attrName>ppt_y</p:attrName>
                                        </p:attrNameLst>
                                      </p:cBhvr>
                                      <p:tavLst>
                                        <p:tav tm="0">
                                          <p:val>
                                            <p:strVal val="#ppt_y+0.05"/>
                                          </p:val>
                                        </p:tav>
                                        <p:tav tm="100000">
                                          <p:val>
                                            <p:strVal val="#ppt_y"/>
                                          </p:val>
                                        </p:tav>
                                      </p:tavLst>
                                    </p:anim>
                                  </p:childTnLst>
                                </p:cTn>
                              </p:par>
                              <p:par>
                                <p:cTn id="185" presetID="42" presetClass="entr" presetSubtype="0" fill="hold" grpId="0" nodeType="withEffect" decel="100000">
                                  <p:stCondLst>
                                    <p:cond delay="25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2" dur="500"/>
                                        <p:tgtEl>
                                          <p:spTgt spid="43"/>
                                        </p:tgtEl>
                                      </p:cBhvr>
                                    </p:animEffect>
                                    <p:anim calcmode="lin" valueType="num">
                                      <p:cBhvr>
                                        <p:cTn id="183" dur="500" fill="hold"/>
                                        <p:tgtEl>
                                          <p:spTgt spid="43"/>
                                        </p:tgtEl>
                                        <p:attrNameLst>
                                          <p:attrName>ppt_x</p:attrName>
                                        </p:attrNameLst>
                                      </p:cBhvr>
                                      <p:tavLst>
                                        <p:tav tm="0">
                                          <p:val>
                                            <p:strVal val="#ppt_x"/>
                                          </p:val>
                                        </p:tav>
                                        <p:tav tm="100000">
                                          <p:val>
                                            <p:strVal val="#ppt_x"/>
                                          </p:val>
                                        </p:tav>
                                      </p:tavLst>
                                    </p:anim>
                                    <p:anim calcmode="lin" valueType="num">
                                      <p:cBhvr>
                                        <p:cTn id="184" dur="500" fill="hold"/>
                                        <p:tgtEl>
                                          <p:spTgt spid="43"/>
                                        </p:tgtEl>
                                        <p:attrNameLst>
                                          <p:attrName>ppt_y</p:attrName>
                                        </p:attrNameLst>
                                      </p:cBhvr>
                                      <p:tavLst>
                                        <p:tav tm="0">
                                          <p:val>
                                            <p:strVal val="#ppt_y+0.05"/>
                                          </p:val>
                                        </p:tav>
                                        <p:tav tm="100000">
                                          <p:val>
                                            <p:strVal val="#ppt_y"/>
                                          </p:val>
                                        </p:tav>
                                      </p:tavLst>
                                    </p:anim>
                                  </p:childTnLst>
                                </p:cTn>
                              </p:par>
                              <p:par>
                                <p:cTn id="190" presetID="42" presetClass="entr" presetSubtype="0" fill="hold" grpId="0" nodeType="withEffect" decel="100000">
                                  <p:stCondLst>
                                    <p:cond delay="250"/>
                                  </p:stCondLst>
                                  <p:childTnLst>
                                    <p:set>
                                      <p:cBhvr>
                                        <p:cTn id="186" dur="1" fill="hold">
                                          <p:stCondLst>
                                            <p:cond delay="0"/>
                                          </p:stCondLst>
                                        </p:cTn>
                                        <p:tgtEl>
                                          <p:spTgt spid="44"/>
                                        </p:tgtEl>
                                        <p:attrNameLst>
                                          <p:attrName>style.visibility</p:attrName>
                                        </p:attrNameLst>
                                      </p:cBhvr>
                                      <p:to>
                                        <p:strVal val="visible"/>
                                      </p:to>
                                    </p:set>
                                    <p:animEffect transition="in" filter="fade">
                                      <p:cBhvr>
                                        <p:cTn id="187" dur="500"/>
                                        <p:tgtEl>
                                          <p:spTgt spid="44"/>
                                        </p:tgtEl>
                                      </p:cBhvr>
                                    </p:animEffect>
                                    <p:anim calcmode="lin" valueType="num">
                                      <p:cBhvr>
                                        <p:cTn id="188" dur="500" fill="hold"/>
                                        <p:tgtEl>
                                          <p:spTgt spid="44"/>
                                        </p:tgtEl>
                                        <p:attrNameLst>
                                          <p:attrName>ppt_x</p:attrName>
                                        </p:attrNameLst>
                                      </p:cBhvr>
                                      <p:tavLst>
                                        <p:tav tm="0">
                                          <p:val>
                                            <p:strVal val="#ppt_x"/>
                                          </p:val>
                                        </p:tav>
                                        <p:tav tm="100000">
                                          <p:val>
                                            <p:strVal val="#ppt_x"/>
                                          </p:val>
                                        </p:tav>
                                      </p:tavLst>
                                    </p:anim>
                                    <p:anim calcmode="lin" valueType="num">
                                      <p:cBhvr>
                                        <p:cTn id="189" dur="500" fill="hold"/>
                                        <p:tgtEl>
                                          <p:spTgt spid="44"/>
                                        </p:tgtEl>
                                        <p:attrNameLst>
                                          <p:attrName>ppt_y</p:attrName>
                                        </p:attrNameLst>
                                      </p:cBhvr>
                                      <p:tavLst>
                                        <p:tav tm="0">
                                          <p:val>
                                            <p:strVal val="#ppt_y+0.05"/>
                                          </p:val>
                                        </p:tav>
                                        <p:tav tm="100000">
                                          <p:val>
                                            <p:strVal val="#ppt_y"/>
                                          </p:val>
                                        </p:tav>
                                      </p:tavLst>
                                    </p:anim>
                                  </p:childTnLst>
                                </p:cTn>
                              </p:par>
                              <p:par>
                                <p:cTn id="195" presetID="42" presetClass="entr" presetSubtype="0" fill="hold" grpId="0" nodeType="withEffect" decel="100000">
                                  <p:stCondLst>
                                    <p:cond delay="250"/>
                                  </p:stCondLst>
                                  <p:childTnLst>
                                    <p:set>
                                      <p:cBhvr>
                                        <p:cTn id="191" dur="1" fill="hold">
                                          <p:stCondLst>
                                            <p:cond delay="0"/>
                                          </p:stCondLst>
                                        </p:cTn>
                                        <p:tgtEl>
                                          <p:spTgt spid="45"/>
                                        </p:tgtEl>
                                        <p:attrNameLst>
                                          <p:attrName>style.visibility</p:attrName>
                                        </p:attrNameLst>
                                      </p:cBhvr>
                                      <p:to>
                                        <p:strVal val="visible"/>
                                      </p:to>
                                    </p:set>
                                    <p:animEffect transition="in" filter="fade">
                                      <p:cBhvr>
                                        <p:cTn id="192" dur="500"/>
                                        <p:tgtEl>
                                          <p:spTgt spid="45"/>
                                        </p:tgtEl>
                                      </p:cBhvr>
                                    </p:animEffect>
                                    <p:anim calcmode="lin" valueType="num">
                                      <p:cBhvr>
                                        <p:cTn id="193" dur="500" fill="hold"/>
                                        <p:tgtEl>
                                          <p:spTgt spid="45"/>
                                        </p:tgtEl>
                                        <p:attrNameLst>
                                          <p:attrName>ppt_x</p:attrName>
                                        </p:attrNameLst>
                                      </p:cBhvr>
                                      <p:tavLst>
                                        <p:tav tm="0">
                                          <p:val>
                                            <p:strVal val="#ppt_x"/>
                                          </p:val>
                                        </p:tav>
                                        <p:tav tm="100000">
                                          <p:val>
                                            <p:strVal val="#ppt_x"/>
                                          </p:val>
                                        </p:tav>
                                      </p:tavLst>
                                    </p:anim>
                                    <p:anim calcmode="lin" valueType="num">
                                      <p:cBhvr>
                                        <p:cTn id="194" dur="500" fill="hold"/>
                                        <p:tgtEl>
                                          <p:spTgt spid="4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4" grpId="0" animBg="1"/>
      <p:bldP spid="4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3" name="txt_8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WORKFLOW</a:t>
            </a:r>
            <a:endParaRPr lang="en-US" sz="1100" dirty="0"/>
          </a:p>
        </p:txBody>
      </p:sp>
      <p:sp>
        <p:nvSpPr>
          <p:cNvPr id="4" name="txt_8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How It Works, Step by Step</a:t>
            </a:r>
            <a:endParaRPr lang="en-US" sz="3200" dirty="0"/>
          </a:p>
        </p:txBody>
      </p:sp>
      <p:sp>
        <p:nvSpPr>
          <p:cNvPr id="5" name="shp_8_2"/>
          <p:cNvSpPr/>
          <p:nvPr/>
        </p:nvSpPr>
        <p:spPr>
          <a:xfrm>
            <a:off x="548640" y="1508760"/>
            <a:ext cx="1962851" cy="1508760"/>
          </a:xfrm>
          <a:prstGeom prst="roundRect">
            <a:avLst>
              <a:gd name="adj" fmla="val 6061"/>
            </a:avLst>
          </a:prstGeom>
          <a:solidFill>
            <a:srgbClr val="112038"/>
          </a:solidFill>
          <a:ln w="9525">
            <a:solidFill>
              <a:srgbClr val="243A5E"/>
            </a:solidFill>
            <a:prstDash val="solid"/>
          </a:ln>
        </p:spPr>
      </p:sp>
      <p:sp>
        <p:nvSpPr>
          <p:cNvPr id="6" name="shp_8_3"/>
          <p:cNvSpPr/>
          <p:nvPr/>
        </p:nvSpPr>
        <p:spPr>
          <a:xfrm>
            <a:off x="777240" y="1737360"/>
            <a:ext cx="420624" cy="420624"/>
          </a:xfrm>
          <a:prstGeom prst="ellipse">
            <a:avLst/>
          </a:prstGeom>
          <a:solidFill>
            <a:srgbClr val="F5A524"/>
          </a:solidFill>
          <a:ln w="12700">
            <a:solidFill>
              <a:srgbClr val="F5A524"/>
            </a:solidFill>
            <a:prstDash val="solid"/>
          </a:ln>
        </p:spPr>
      </p:sp>
      <p:sp>
        <p:nvSpPr>
          <p:cNvPr id="7" name="txt_8_4"/>
          <p:cNvSpPr txBox="1"/>
          <p:nvPr/>
        </p:nvSpPr>
        <p:spPr>
          <a:xfrm>
            <a:off x="777240" y="1737360"/>
            <a:ext cx="420624" cy="42062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8" name="txt_8_5"/>
          <p:cNvSpPr txBox="1"/>
          <p:nvPr/>
        </p:nvSpPr>
        <p:spPr>
          <a:xfrm>
            <a:off x="1325880" y="1737360"/>
            <a:ext cx="1048451" cy="42062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Input</a:t>
            </a:r>
            <a:endParaRPr lang="en-US" sz="1700" dirty="0"/>
          </a:p>
        </p:txBody>
      </p:sp>
      <p:sp>
        <p:nvSpPr>
          <p:cNvPr id="9" name="txt_8_6"/>
          <p:cNvSpPr txBox="1"/>
          <p:nvPr/>
        </p:nvSpPr>
        <p:spPr>
          <a:xfrm>
            <a:off x="777240" y="2286000"/>
            <a:ext cx="1551371"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Ports, cargo, HS code, weight, volume, Incoterm</a:t>
            </a:r>
            <a:endParaRPr lang="en-US" sz="1250" dirty="0"/>
          </a:p>
        </p:txBody>
      </p:sp>
      <p:sp>
        <p:nvSpPr>
          <p:cNvPr id="10" name="shp_8_7"/>
          <p:cNvSpPr/>
          <p:nvPr/>
        </p:nvSpPr>
        <p:spPr>
          <a:xfrm>
            <a:off x="2557211" y="2263140"/>
            <a:ext cx="228600" cy="0"/>
          </a:xfrm>
          <a:prstGeom prst="line">
            <a:avLst/>
          </a:prstGeom>
          <a:noFill/>
          <a:ln w="19050">
            <a:solidFill>
              <a:srgbClr val="F5A524"/>
            </a:solidFill>
            <a:prstDash val="solid"/>
            <a:tailEnd type="triangle"/>
          </a:ln>
        </p:spPr>
      </p:sp>
      <p:sp>
        <p:nvSpPr>
          <p:cNvPr id="11" name="shp_8_8"/>
          <p:cNvSpPr/>
          <p:nvPr/>
        </p:nvSpPr>
        <p:spPr>
          <a:xfrm>
            <a:off x="2831531" y="1508760"/>
            <a:ext cx="1962851" cy="1508760"/>
          </a:xfrm>
          <a:prstGeom prst="roundRect">
            <a:avLst>
              <a:gd name="adj" fmla="val 6061"/>
            </a:avLst>
          </a:prstGeom>
          <a:solidFill>
            <a:srgbClr val="112038"/>
          </a:solidFill>
          <a:ln w="9525">
            <a:solidFill>
              <a:srgbClr val="243A5E"/>
            </a:solidFill>
            <a:prstDash val="solid"/>
          </a:ln>
        </p:spPr>
      </p:sp>
      <p:sp>
        <p:nvSpPr>
          <p:cNvPr id="12" name="shp_8_9"/>
          <p:cNvSpPr/>
          <p:nvPr/>
        </p:nvSpPr>
        <p:spPr>
          <a:xfrm>
            <a:off x="3060131" y="1737360"/>
            <a:ext cx="420624" cy="420624"/>
          </a:xfrm>
          <a:prstGeom prst="ellipse">
            <a:avLst/>
          </a:prstGeom>
          <a:solidFill>
            <a:srgbClr val="F5A524"/>
          </a:solidFill>
          <a:ln w="12700">
            <a:solidFill>
              <a:srgbClr val="F5A524"/>
            </a:solidFill>
            <a:prstDash val="solid"/>
          </a:ln>
        </p:spPr>
      </p:sp>
      <p:sp>
        <p:nvSpPr>
          <p:cNvPr id="13" name="txt_8_10"/>
          <p:cNvSpPr txBox="1"/>
          <p:nvPr/>
        </p:nvSpPr>
        <p:spPr>
          <a:xfrm>
            <a:off x="3060131" y="1737360"/>
            <a:ext cx="420624" cy="42062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4" name="txt_8_11"/>
          <p:cNvSpPr txBox="1"/>
          <p:nvPr/>
        </p:nvSpPr>
        <p:spPr>
          <a:xfrm>
            <a:off x="3608771" y="1737360"/>
            <a:ext cx="1048451" cy="42062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AI check</a:t>
            </a:r>
            <a:endParaRPr lang="en-US" sz="1700" dirty="0"/>
          </a:p>
        </p:txBody>
      </p:sp>
      <p:sp>
        <p:nvSpPr>
          <p:cNvPr id="15" name="txt_8_12"/>
          <p:cNvSpPr txBox="1"/>
          <p:nvPr/>
        </p:nvSpPr>
        <p:spPr>
          <a:xfrm>
            <a:off x="3060131" y="2286000"/>
            <a:ext cx="1551371"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ML price · weather · customs RAG · risk score</a:t>
            </a:r>
            <a:endParaRPr lang="en-US" sz="1250" dirty="0"/>
          </a:p>
        </p:txBody>
      </p:sp>
      <p:sp>
        <p:nvSpPr>
          <p:cNvPr id="16" name="shp_8_13"/>
          <p:cNvSpPr/>
          <p:nvPr/>
        </p:nvSpPr>
        <p:spPr>
          <a:xfrm>
            <a:off x="4840102" y="2263140"/>
            <a:ext cx="228600" cy="0"/>
          </a:xfrm>
          <a:prstGeom prst="line">
            <a:avLst/>
          </a:prstGeom>
          <a:noFill/>
          <a:ln w="19050">
            <a:solidFill>
              <a:srgbClr val="F5A524"/>
            </a:solidFill>
            <a:prstDash val="solid"/>
            <a:tailEnd type="triangle"/>
          </a:ln>
        </p:spPr>
      </p:sp>
      <p:sp>
        <p:nvSpPr>
          <p:cNvPr id="17" name="shp_8_14"/>
          <p:cNvSpPr/>
          <p:nvPr/>
        </p:nvSpPr>
        <p:spPr>
          <a:xfrm>
            <a:off x="5114422" y="1508760"/>
            <a:ext cx="1962851" cy="1508760"/>
          </a:xfrm>
          <a:prstGeom prst="roundRect">
            <a:avLst>
              <a:gd name="adj" fmla="val 6061"/>
            </a:avLst>
          </a:prstGeom>
          <a:solidFill>
            <a:srgbClr val="112038"/>
          </a:solidFill>
          <a:ln w="9525">
            <a:solidFill>
              <a:srgbClr val="243A5E"/>
            </a:solidFill>
            <a:prstDash val="solid"/>
          </a:ln>
        </p:spPr>
      </p:sp>
      <p:sp>
        <p:nvSpPr>
          <p:cNvPr id="18" name="shp_8_15"/>
          <p:cNvSpPr/>
          <p:nvPr/>
        </p:nvSpPr>
        <p:spPr>
          <a:xfrm>
            <a:off x="5343022" y="1737360"/>
            <a:ext cx="420624" cy="420624"/>
          </a:xfrm>
          <a:prstGeom prst="ellipse">
            <a:avLst/>
          </a:prstGeom>
          <a:solidFill>
            <a:srgbClr val="F5A524"/>
          </a:solidFill>
          <a:ln w="12700">
            <a:solidFill>
              <a:srgbClr val="F5A524"/>
            </a:solidFill>
            <a:prstDash val="solid"/>
          </a:ln>
        </p:spPr>
      </p:sp>
      <p:sp>
        <p:nvSpPr>
          <p:cNvPr id="19" name="txt_8_16"/>
          <p:cNvSpPr txBox="1"/>
          <p:nvPr/>
        </p:nvSpPr>
        <p:spPr>
          <a:xfrm>
            <a:off x="5343022" y="1737360"/>
            <a:ext cx="420624" cy="42062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0" name="txt_8_17"/>
          <p:cNvSpPr txBox="1"/>
          <p:nvPr/>
        </p:nvSpPr>
        <p:spPr>
          <a:xfrm>
            <a:off x="5891662" y="1737360"/>
            <a:ext cx="1048451" cy="42062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Quote</a:t>
            </a:r>
            <a:endParaRPr lang="en-US" sz="1700" dirty="0"/>
          </a:p>
        </p:txBody>
      </p:sp>
      <p:sp>
        <p:nvSpPr>
          <p:cNvPr id="21" name="txt_8_18"/>
          <p:cNvSpPr txBox="1"/>
          <p:nvPr/>
        </p:nvSpPr>
        <p:spPr>
          <a:xfrm>
            <a:off x="5343022" y="2286000"/>
            <a:ext cx="1551371"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Multi-carrier options, line-item cost build-up</a:t>
            </a:r>
            <a:endParaRPr lang="en-US" sz="1250" dirty="0"/>
          </a:p>
        </p:txBody>
      </p:sp>
      <p:sp>
        <p:nvSpPr>
          <p:cNvPr id="22" name="shp_8_19"/>
          <p:cNvSpPr/>
          <p:nvPr/>
        </p:nvSpPr>
        <p:spPr>
          <a:xfrm>
            <a:off x="7122993" y="2263140"/>
            <a:ext cx="228600" cy="0"/>
          </a:xfrm>
          <a:prstGeom prst="line">
            <a:avLst/>
          </a:prstGeom>
          <a:noFill/>
          <a:ln w="19050">
            <a:solidFill>
              <a:srgbClr val="F5A524"/>
            </a:solidFill>
            <a:prstDash val="solid"/>
            <a:tailEnd type="triangle"/>
          </a:ln>
        </p:spPr>
      </p:sp>
      <p:sp>
        <p:nvSpPr>
          <p:cNvPr id="23" name="shp_8_20"/>
          <p:cNvSpPr/>
          <p:nvPr/>
        </p:nvSpPr>
        <p:spPr>
          <a:xfrm>
            <a:off x="7397313" y="1508760"/>
            <a:ext cx="1962851" cy="1508760"/>
          </a:xfrm>
          <a:prstGeom prst="roundRect">
            <a:avLst>
              <a:gd name="adj" fmla="val 6061"/>
            </a:avLst>
          </a:prstGeom>
          <a:solidFill>
            <a:srgbClr val="112038"/>
          </a:solidFill>
          <a:ln w="9525">
            <a:solidFill>
              <a:srgbClr val="243A5E"/>
            </a:solidFill>
            <a:prstDash val="solid"/>
          </a:ln>
        </p:spPr>
      </p:sp>
      <p:sp>
        <p:nvSpPr>
          <p:cNvPr id="24" name="shp_8_21"/>
          <p:cNvSpPr/>
          <p:nvPr/>
        </p:nvSpPr>
        <p:spPr>
          <a:xfrm>
            <a:off x="7625913" y="1737360"/>
            <a:ext cx="420624" cy="420624"/>
          </a:xfrm>
          <a:prstGeom prst="ellipse">
            <a:avLst/>
          </a:prstGeom>
          <a:solidFill>
            <a:srgbClr val="F5A524"/>
          </a:solidFill>
          <a:ln w="12700">
            <a:solidFill>
              <a:srgbClr val="F5A524"/>
            </a:solidFill>
            <a:prstDash val="solid"/>
          </a:ln>
        </p:spPr>
      </p:sp>
      <p:sp>
        <p:nvSpPr>
          <p:cNvPr id="25" name="txt_8_22"/>
          <p:cNvSpPr txBox="1"/>
          <p:nvPr/>
        </p:nvSpPr>
        <p:spPr>
          <a:xfrm>
            <a:off x="7625913" y="1737360"/>
            <a:ext cx="420624" cy="42062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6" name="txt_8_23"/>
          <p:cNvSpPr txBox="1"/>
          <p:nvPr/>
        </p:nvSpPr>
        <p:spPr>
          <a:xfrm>
            <a:off x="8174553" y="1737360"/>
            <a:ext cx="1048451" cy="42062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Approvals</a:t>
            </a:r>
            <a:endParaRPr lang="en-US" sz="1700" dirty="0"/>
          </a:p>
        </p:txBody>
      </p:sp>
      <p:sp>
        <p:nvSpPr>
          <p:cNvPr id="27" name="txt_8_24"/>
          <p:cNvSpPr txBox="1"/>
          <p:nvPr/>
        </p:nvSpPr>
        <p:spPr>
          <a:xfrm>
            <a:off x="7625913" y="2286000"/>
            <a:ext cx="1551371"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Agent verifies · customs clears · gate decides</a:t>
            </a:r>
            <a:endParaRPr lang="en-US" sz="1250" dirty="0"/>
          </a:p>
        </p:txBody>
      </p:sp>
      <p:sp>
        <p:nvSpPr>
          <p:cNvPr id="28" name="shp_8_25"/>
          <p:cNvSpPr/>
          <p:nvPr/>
        </p:nvSpPr>
        <p:spPr>
          <a:xfrm>
            <a:off x="9405884" y="2263140"/>
            <a:ext cx="228600" cy="0"/>
          </a:xfrm>
          <a:prstGeom prst="line">
            <a:avLst/>
          </a:prstGeom>
          <a:noFill/>
          <a:ln w="19050">
            <a:solidFill>
              <a:srgbClr val="F5A524"/>
            </a:solidFill>
            <a:prstDash val="solid"/>
            <a:tailEnd type="triangle"/>
          </a:ln>
        </p:spPr>
      </p:sp>
      <p:sp>
        <p:nvSpPr>
          <p:cNvPr id="29" name="shp_8_26"/>
          <p:cNvSpPr/>
          <p:nvPr/>
        </p:nvSpPr>
        <p:spPr>
          <a:xfrm>
            <a:off x="9680204" y="1508760"/>
            <a:ext cx="1962851" cy="1508760"/>
          </a:xfrm>
          <a:prstGeom prst="roundRect">
            <a:avLst>
              <a:gd name="adj" fmla="val 6061"/>
            </a:avLst>
          </a:prstGeom>
          <a:solidFill>
            <a:srgbClr val="112038"/>
          </a:solidFill>
          <a:ln w="9525">
            <a:solidFill>
              <a:srgbClr val="243A5E"/>
            </a:solidFill>
            <a:prstDash val="solid"/>
          </a:ln>
        </p:spPr>
      </p:sp>
      <p:sp>
        <p:nvSpPr>
          <p:cNvPr id="30" name="shp_8_27"/>
          <p:cNvSpPr/>
          <p:nvPr/>
        </p:nvSpPr>
        <p:spPr>
          <a:xfrm>
            <a:off x="9908804" y="1737360"/>
            <a:ext cx="420624" cy="420624"/>
          </a:xfrm>
          <a:prstGeom prst="ellipse">
            <a:avLst/>
          </a:prstGeom>
          <a:solidFill>
            <a:srgbClr val="F5A524"/>
          </a:solidFill>
          <a:ln w="12700">
            <a:solidFill>
              <a:srgbClr val="F5A524"/>
            </a:solidFill>
            <a:prstDash val="solid"/>
          </a:ln>
        </p:spPr>
      </p:sp>
      <p:sp>
        <p:nvSpPr>
          <p:cNvPr id="31" name="txt_8_28"/>
          <p:cNvSpPr txBox="1"/>
          <p:nvPr/>
        </p:nvSpPr>
        <p:spPr>
          <a:xfrm>
            <a:off x="9908804" y="1737360"/>
            <a:ext cx="420624" cy="420624"/>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32" name="txt_8_29"/>
          <p:cNvSpPr txBox="1"/>
          <p:nvPr/>
        </p:nvSpPr>
        <p:spPr>
          <a:xfrm>
            <a:off x="10457444" y="1737360"/>
            <a:ext cx="1048451" cy="42062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Booking</a:t>
            </a:r>
            <a:endParaRPr lang="en-US" sz="1700" dirty="0"/>
          </a:p>
        </p:txBody>
      </p:sp>
      <p:sp>
        <p:nvSpPr>
          <p:cNvPr id="33" name="txt_8_30"/>
          <p:cNvSpPr txBox="1"/>
          <p:nvPr/>
        </p:nvSpPr>
        <p:spPr>
          <a:xfrm>
            <a:off x="9908804" y="2286000"/>
            <a:ext cx="1551371"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Customer confirms; immutable reference issued</a:t>
            </a:r>
            <a:endParaRPr lang="en-US" sz="1250" dirty="0"/>
          </a:p>
        </p:txBody>
      </p:sp>
      <p:sp>
        <p:nvSpPr>
          <p:cNvPr id="34" name="txt_8_31"/>
          <p:cNvSpPr txBox="1"/>
          <p:nvPr/>
        </p:nvSpPr>
        <p:spPr>
          <a:xfrm>
            <a:off x="548640" y="3310128"/>
            <a:ext cx="54864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GOVERNED STATE MACHINE</a:t>
            </a:r>
            <a:endParaRPr lang="en-US" sz="1050" dirty="0"/>
          </a:p>
        </p:txBody>
      </p:sp>
      <p:sp>
        <p:nvSpPr>
          <p:cNvPr id="35" name="shp_8_32"/>
          <p:cNvSpPr/>
          <p:nvPr/>
        </p:nvSpPr>
        <p:spPr>
          <a:xfrm>
            <a:off x="548640" y="3611880"/>
            <a:ext cx="1658569" cy="475488"/>
          </a:xfrm>
          <a:prstGeom prst="roundRect">
            <a:avLst>
              <a:gd name="adj" fmla="val 19231"/>
            </a:avLst>
          </a:prstGeom>
          <a:solidFill>
            <a:srgbClr val="15294A"/>
          </a:solidFill>
          <a:ln w="9525">
            <a:solidFill>
              <a:srgbClr val="243A5E"/>
            </a:solidFill>
            <a:prstDash val="solid"/>
          </a:ln>
        </p:spPr>
      </p:sp>
      <p:sp>
        <p:nvSpPr>
          <p:cNvPr id="36" name="txt_8_33"/>
          <p:cNvSpPr txBox="1"/>
          <p:nvPr/>
        </p:nvSpPr>
        <p:spPr>
          <a:xfrm>
            <a:off x="548640" y="3611880"/>
            <a:ext cx="1658569"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a:t>
            </a:r>
            <a:endParaRPr lang="en-US" sz="1100" dirty="0"/>
          </a:p>
        </p:txBody>
      </p:sp>
      <p:sp>
        <p:nvSpPr>
          <p:cNvPr id="37" name="txt_8_34"/>
          <p:cNvSpPr txBox="1"/>
          <p:nvPr/>
        </p:nvSpPr>
        <p:spPr>
          <a:xfrm>
            <a:off x="548640" y="4133088"/>
            <a:ext cx="1658569" cy="256032"/>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/quotes/estimate/</a:t>
            </a:r>
            <a:endParaRPr lang="en-US" sz="950" dirty="0"/>
          </a:p>
        </p:txBody>
      </p:sp>
      <p:sp>
        <p:nvSpPr>
          <p:cNvPr id="38" name="shp_8_35"/>
          <p:cNvSpPr/>
          <p:nvPr/>
        </p:nvSpPr>
        <p:spPr>
          <a:xfrm>
            <a:off x="2234641" y="3849624"/>
            <a:ext cx="173736" cy="0"/>
          </a:xfrm>
          <a:prstGeom prst="line">
            <a:avLst/>
          </a:prstGeom>
          <a:noFill/>
          <a:ln w="15875">
            <a:solidFill>
              <a:srgbClr val="F5A524"/>
            </a:solidFill>
            <a:prstDash val="solid"/>
            <a:tailEnd type="triangle"/>
          </a:ln>
        </p:spPr>
      </p:sp>
      <p:sp>
        <p:nvSpPr>
          <p:cNvPr id="39" name="shp_8_36"/>
          <p:cNvSpPr/>
          <p:nvPr/>
        </p:nvSpPr>
        <p:spPr>
          <a:xfrm>
            <a:off x="2435809" y="3611880"/>
            <a:ext cx="1658569" cy="475488"/>
          </a:xfrm>
          <a:prstGeom prst="roundRect">
            <a:avLst>
              <a:gd name="adj" fmla="val 19231"/>
            </a:avLst>
          </a:prstGeom>
          <a:solidFill>
            <a:srgbClr val="15294A"/>
          </a:solidFill>
          <a:ln w="9525">
            <a:solidFill>
              <a:srgbClr val="243A5E"/>
            </a:solidFill>
            <a:prstDash val="solid"/>
          </a:ln>
        </p:spPr>
      </p:sp>
      <p:sp>
        <p:nvSpPr>
          <p:cNvPr id="40" name="txt_8_37"/>
          <p:cNvSpPr txBox="1"/>
          <p:nvPr/>
        </p:nvSpPr>
        <p:spPr>
          <a:xfrm>
            <a:off x="2435809" y="3611880"/>
            <a:ext cx="1658569"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OPTIONS_AVAILABLE</a:t>
            </a:r>
            <a:endParaRPr lang="en-US" sz="1100" dirty="0"/>
          </a:p>
        </p:txBody>
      </p:sp>
      <p:sp>
        <p:nvSpPr>
          <p:cNvPr id="41" name="txt_8_38"/>
          <p:cNvSpPr txBox="1"/>
          <p:nvPr/>
        </p:nvSpPr>
        <p:spPr>
          <a:xfrm>
            <a:off x="2435809" y="4133088"/>
            <a:ext cx="1658569" cy="256032"/>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/quotes/generate/</a:t>
            </a:r>
            <a:endParaRPr lang="en-US" sz="950" dirty="0"/>
          </a:p>
        </p:txBody>
      </p:sp>
      <p:sp>
        <p:nvSpPr>
          <p:cNvPr id="42" name="shp_8_39"/>
          <p:cNvSpPr/>
          <p:nvPr/>
        </p:nvSpPr>
        <p:spPr>
          <a:xfrm>
            <a:off x="4121810" y="3849624"/>
            <a:ext cx="173736" cy="0"/>
          </a:xfrm>
          <a:prstGeom prst="line">
            <a:avLst/>
          </a:prstGeom>
          <a:noFill/>
          <a:ln w="15875">
            <a:solidFill>
              <a:srgbClr val="F5A524"/>
            </a:solidFill>
            <a:prstDash val="solid"/>
            <a:tailEnd type="triangle"/>
          </a:ln>
        </p:spPr>
      </p:sp>
      <p:sp>
        <p:nvSpPr>
          <p:cNvPr id="43" name="shp_8_40"/>
          <p:cNvSpPr/>
          <p:nvPr/>
        </p:nvSpPr>
        <p:spPr>
          <a:xfrm>
            <a:off x="4322978" y="3611880"/>
            <a:ext cx="1658569" cy="475488"/>
          </a:xfrm>
          <a:prstGeom prst="roundRect">
            <a:avLst>
              <a:gd name="adj" fmla="val 19231"/>
            </a:avLst>
          </a:prstGeom>
          <a:solidFill>
            <a:srgbClr val="15294A"/>
          </a:solidFill>
          <a:ln w="9525">
            <a:solidFill>
              <a:srgbClr val="243A5E"/>
            </a:solidFill>
            <a:prstDash val="solid"/>
          </a:ln>
        </p:spPr>
      </p:sp>
      <p:sp>
        <p:nvSpPr>
          <p:cNvPr id="44" name="txt_8_41"/>
          <p:cNvSpPr txBox="1"/>
          <p:nvPr/>
        </p:nvSpPr>
        <p:spPr>
          <a:xfrm>
            <a:off x="4322978" y="3611880"/>
            <a:ext cx="1658569"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QUOTE_SELECTED</a:t>
            </a:r>
            <a:endParaRPr lang="en-US" sz="1100" dirty="0"/>
          </a:p>
        </p:txBody>
      </p:sp>
      <p:sp>
        <p:nvSpPr>
          <p:cNvPr id="45" name="txt_8_42"/>
          <p:cNvSpPr txBox="1"/>
          <p:nvPr/>
        </p:nvSpPr>
        <p:spPr>
          <a:xfrm>
            <a:off x="4322978" y="4133088"/>
            <a:ext cx="1658569" cy="256032"/>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/quotes/select/</a:t>
            </a:r>
            <a:endParaRPr lang="en-US" sz="950" dirty="0"/>
          </a:p>
        </p:txBody>
      </p:sp>
      <p:sp>
        <p:nvSpPr>
          <p:cNvPr id="46" name="shp_8_43"/>
          <p:cNvSpPr/>
          <p:nvPr/>
        </p:nvSpPr>
        <p:spPr>
          <a:xfrm>
            <a:off x="6008980" y="3849624"/>
            <a:ext cx="173736" cy="0"/>
          </a:xfrm>
          <a:prstGeom prst="line">
            <a:avLst/>
          </a:prstGeom>
          <a:noFill/>
          <a:ln w="15875">
            <a:solidFill>
              <a:srgbClr val="F5A524"/>
            </a:solidFill>
            <a:prstDash val="solid"/>
            <a:tailEnd type="triangle"/>
          </a:ln>
        </p:spPr>
      </p:sp>
      <p:sp>
        <p:nvSpPr>
          <p:cNvPr id="47" name="shp_8_44"/>
          <p:cNvSpPr/>
          <p:nvPr/>
        </p:nvSpPr>
        <p:spPr>
          <a:xfrm>
            <a:off x="6210148" y="3611880"/>
            <a:ext cx="1658569" cy="475488"/>
          </a:xfrm>
          <a:prstGeom prst="roundRect">
            <a:avLst>
              <a:gd name="adj" fmla="val 19231"/>
            </a:avLst>
          </a:prstGeom>
          <a:solidFill>
            <a:srgbClr val="15294A"/>
          </a:solidFill>
          <a:ln w="9525">
            <a:solidFill>
              <a:srgbClr val="243A5E"/>
            </a:solidFill>
            <a:prstDash val="solid"/>
          </a:ln>
        </p:spPr>
      </p:sp>
      <p:sp>
        <p:nvSpPr>
          <p:cNvPr id="48" name="txt_8_45"/>
          <p:cNvSpPr txBox="1"/>
          <p:nvPr/>
        </p:nvSpPr>
        <p:spPr>
          <a:xfrm>
            <a:off x="6210148" y="3611880"/>
            <a:ext cx="1658569"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APPROVED / REVISION</a:t>
            </a:r>
            <a:endParaRPr lang="en-US" sz="1100" dirty="0"/>
          </a:p>
        </p:txBody>
      </p:sp>
      <p:sp>
        <p:nvSpPr>
          <p:cNvPr id="49" name="txt_8_46"/>
          <p:cNvSpPr txBox="1"/>
          <p:nvPr/>
        </p:nvSpPr>
        <p:spPr>
          <a:xfrm>
            <a:off x="6210148" y="4133088"/>
            <a:ext cx="1658569" cy="256032"/>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/m4/verify/</a:t>
            </a:r>
            <a:endParaRPr lang="en-US" sz="950" dirty="0"/>
          </a:p>
        </p:txBody>
      </p:sp>
      <p:sp>
        <p:nvSpPr>
          <p:cNvPr id="50" name="shp_8_47"/>
          <p:cNvSpPr/>
          <p:nvPr/>
        </p:nvSpPr>
        <p:spPr>
          <a:xfrm>
            <a:off x="7896149" y="3849624"/>
            <a:ext cx="173736" cy="0"/>
          </a:xfrm>
          <a:prstGeom prst="line">
            <a:avLst/>
          </a:prstGeom>
          <a:noFill/>
          <a:ln w="15875">
            <a:solidFill>
              <a:srgbClr val="F5A524"/>
            </a:solidFill>
            <a:prstDash val="solid"/>
            <a:tailEnd type="triangle"/>
          </a:ln>
        </p:spPr>
      </p:sp>
      <p:sp>
        <p:nvSpPr>
          <p:cNvPr id="51" name="shp_8_48"/>
          <p:cNvSpPr/>
          <p:nvPr/>
        </p:nvSpPr>
        <p:spPr>
          <a:xfrm>
            <a:off x="8097317" y="3611880"/>
            <a:ext cx="1658569" cy="475488"/>
          </a:xfrm>
          <a:prstGeom prst="roundRect">
            <a:avLst>
              <a:gd name="adj" fmla="val 19231"/>
            </a:avLst>
          </a:prstGeom>
          <a:solidFill>
            <a:srgbClr val="15294A"/>
          </a:solidFill>
          <a:ln w="9525">
            <a:solidFill>
              <a:srgbClr val="243A5E"/>
            </a:solidFill>
            <a:prstDash val="solid"/>
          </a:ln>
        </p:spPr>
      </p:sp>
      <p:sp>
        <p:nvSpPr>
          <p:cNvPr id="52" name="txt_8_49"/>
          <p:cNvSpPr txBox="1"/>
          <p:nvPr/>
        </p:nvSpPr>
        <p:spPr>
          <a:xfrm>
            <a:off x="8097317" y="3611880"/>
            <a:ext cx="1658569"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CUSTOMS_CLEARED</a:t>
            </a:r>
            <a:endParaRPr lang="en-US" sz="1100" dirty="0"/>
          </a:p>
        </p:txBody>
      </p:sp>
      <p:sp>
        <p:nvSpPr>
          <p:cNvPr id="53" name="txt_8_50"/>
          <p:cNvSpPr txBox="1"/>
          <p:nvPr/>
        </p:nvSpPr>
        <p:spPr>
          <a:xfrm>
            <a:off x="8097317" y="4133088"/>
            <a:ext cx="1658569" cy="256032"/>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/customs/signoff/</a:t>
            </a:r>
            <a:endParaRPr lang="en-US" sz="950" dirty="0"/>
          </a:p>
        </p:txBody>
      </p:sp>
      <p:sp>
        <p:nvSpPr>
          <p:cNvPr id="54" name="shp_8_51"/>
          <p:cNvSpPr/>
          <p:nvPr/>
        </p:nvSpPr>
        <p:spPr>
          <a:xfrm>
            <a:off x="9783318" y="3849624"/>
            <a:ext cx="173736" cy="0"/>
          </a:xfrm>
          <a:prstGeom prst="line">
            <a:avLst/>
          </a:prstGeom>
          <a:noFill/>
          <a:ln w="15875">
            <a:solidFill>
              <a:srgbClr val="F5A524"/>
            </a:solidFill>
            <a:prstDash val="solid"/>
            <a:tailEnd type="triangle"/>
          </a:ln>
        </p:spPr>
      </p:sp>
      <p:sp>
        <p:nvSpPr>
          <p:cNvPr id="55" name="shp_8_52"/>
          <p:cNvSpPr/>
          <p:nvPr/>
        </p:nvSpPr>
        <p:spPr>
          <a:xfrm>
            <a:off x="9984486" y="3611880"/>
            <a:ext cx="1658569" cy="475488"/>
          </a:xfrm>
          <a:prstGeom prst="roundRect">
            <a:avLst>
              <a:gd name="adj" fmla="val 19231"/>
            </a:avLst>
          </a:prstGeom>
          <a:solidFill>
            <a:srgbClr val="F5A524"/>
          </a:solidFill>
          <a:ln w="9525">
            <a:solidFill>
              <a:srgbClr val="F5A524"/>
            </a:solidFill>
            <a:prstDash val="solid"/>
          </a:ln>
        </p:spPr>
      </p:sp>
      <p:sp>
        <p:nvSpPr>
          <p:cNvPr id="56" name="txt_8_53"/>
          <p:cNvSpPr txBox="1"/>
          <p:nvPr/>
        </p:nvSpPr>
        <p:spPr>
          <a:xfrm>
            <a:off x="9984486" y="3611880"/>
            <a:ext cx="1658569" cy="475488"/>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BOOKING_CONFIRMED</a:t>
            </a:r>
            <a:endParaRPr lang="en-US" sz="1100" dirty="0"/>
          </a:p>
        </p:txBody>
      </p:sp>
      <p:sp>
        <p:nvSpPr>
          <p:cNvPr id="57" name="txt_8_54"/>
          <p:cNvSpPr txBox="1"/>
          <p:nvPr/>
        </p:nvSpPr>
        <p:spPr>
          <a:xfrm>
            <a:off x="9984486" y="4133088"/>
            <a:ext cx="1658569" cy="256032"/>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/m4/booking/confirm/</a:t>
            </a:r>
            <a:endParaRPr lang="en-US" sz="950" dirty="0"/>
          </a:p>
        </p:txBody>
      </p:sp>
      <p:sp>
        <p:nvSpPr>
          <p:cNvPr id="58" name="shp_8_55"/>
          <p:cNvSpPr/>
          <p:nvPr/>
        </p:nvSpPr>
        <p:spPr>
          <a:xfrm>
            <a:off x="548640" y="4709160"/>
            <a:ext cx="5410048" cy="1371600"/>
          </a:xfrm>
          <a:prstGeom prst="roundRect">
            <a:avLst>
              <a:gd name="adj" fmla="val 6667"/>
            </a:avLst>
          </a:prstGeom>
          <a:solidFill>
            <a:srgbClr val="3B2A0C"/>
          </a:solidFill>
          <a:ln w="9525">
            <a:solidFill>
              <a:srgbClr val="F5A524"/>
            </a:solidFill>
            <a:prstDash val="solid"/>
          </a:ln>
        </p:spPr>
      </p:sp>
      <p:sp>
        <p:nvSpPr>
          <p:cNvPr id="59" name="shp_8_56"/>
          <p:cNvSpPr/>
          <p:nvPr/>
        </p:nvSpPr>
        <p:spPr>
          <a:xfrm>
            <a:off x="822960" y="4937760"/>
            <a:ext cx="548640" cy="548640"/>
          </a:xfrm>
          <a:prstGeom prst="ellipse">
            <a:avLst/>
          </a:prstGeom>
          <a:solidFill>
            <a:srgbClr val="0A1628"/>
          </a:solidFill>
          <a:ln w="9525">
            <a:solidFill>
              <a:srgbClr val="F5A524"/>
            </a:solidFill>
            <a:prstDash val="solid"/>
          </a:ln>
        </p:spPr>
      </p:sp>
      <p:pic>
        <p:nvPicPr>
          <p:cNvPr id="60" name="img_8_57" descr="preencoded.png">    </p:cNvPr>
          <p:cNvPicPr>
            <a:picLocks noChangeAspect="1"/>
          </p:cNvPicPr>
          <p:nvPr/>
        </p:nvPicPr>
        <p:blipFill>
          <a:blip r:embed="rId1"/>
          <a:stretch>
            <a:fillRect/>
          </a:stretch>
        </p:blipFill>
        <p:spPr>
          <a:xfrm>
            <a:off x="954634" y="5069434"/>
            <a:ext cx="285293" cy="285293"/>
          </a:xfrm>
          <a:prstGeom prst="rect">
            <a:avLst/>
          </a:prstGeom>
        </p:spPr>
      </p:pic>
      <p:sp>
        <p:nvSpPr>
          <p:cNvPr id="61" name="txt_8_58"/>
          <p:cNvSpPr txBox="1"/>
          <p:nvPr/>
        </p:nvSpPr>
        <p:spPr>
          <a:xfrm>
            <a:off x="1554480" y="4892040"/>
            <a:ext cx="4129888" cy="320040"/>
          </a:xfrm>
          <a:prstGeom prst="rect">
            <a:avLst/>
          </a:prstGeom>
          <a:noFill/>
          <a:ln/>
        </p:spPr>
        <p:txBody>
          <a:bodyPr wrap="square" lIns="0" tIns="0" rIns="0" bIns="0" rtlCol="0" anchor="t"/>
          <a:lstStyle/>
          <a:p>
            <a:pPr indent="0" marL="0">
              <a:buNone/>
            </a:pPr>
            <a:r>
              <a:rPr lang="en-US" sz="1600" b="1" dirty="0">
                <a:solidFill>
                  <a:srgbClr val="F5A524"/>
                </a:solidFill>
                <a:latin typeface="Calibri" pitchFamily="34" charset="0"/>
                <a:ea typeface="Calibri" pitchFamily="34" charset="-122"/>
                <a:cs typeface="Calibri" pitchFamily="34" charset="-120"/>
              </a:rPr>
              <a:t>The approval gate</a:t>
            </a:r>
            <a:endParaRPr lang="en-US" sz="1600" dirty="0"/>
          </a:p>
        </p:txBody>
      </p:sp>
      <p:sp>
        <p:nvSpPr>
          <p:cNvPr id="62" name="txt_8_59"/>
          <p:cNvSpPr txBox="1"/>
          <p:nvPr/>
        </p:nvSpPr>
        <p:spPr>
          <a:xfrm>
            <a:off x="1554480" y="5230368"/>
            <a:ext cx="4129888" cy="73152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Risk ≤ 60 → the quote issues automatically. Risk &gt; 60, hazardous cargo or missing documents → held for agent or customs sign-off.</a:t>
            </a:r>
            <a:endParaRPr lang="en-US" sz="1300" dirty="0"/>
          </a:p>
        </p:txBody>
      </p:sp>
      <p:sp>
        <p:nvSpPr>
          <p:cNvPr id="63" name="shp_8_60"/>
          <p:cNvSpPr/>
          <p:nvPr/>
        </p:nvSpPr>
        <p:spPr>
          <a:xfrm>
            <a:off x="6233008" y="4709160"/>
            <a:ext cx="5410048" cy="1371600"/>
          </a:xfrm>
          <a:prstGeom prst="roundRect">
            <a:avLst>
              <a:gd name="adj" fmla="val 6667"/>
            </a:avLst>
          </a:prstGeom>
          <a:solidFill>
            <a:srgbClr val="112038"/>
          </a:solidFill>
          <a:ln w="9525">
            <a:solidFill>
              <a:srgbClr val="243A5E"/>
            </a:solidFill>
            <a:prstDash val="solid"/>
          </a:ln>
        </p:spPr>
      </p:sp>
      <p:sp>
        <p:nvSpPr>
          <p:cNvPr id="64" name="shp_8_61"/>
          <p:cNvSpPr/>
          <p:nvPr/>
        </p:nvSpPr>
        <p:spPr>
          <a:xfrm>
            <a:off x="6507328" y="4937760"/>
            <a:ext cx="548640" cy="548640"/>
          </a:xfrm>
          <a:prstGeom prst="ellipse">
            <a:avLst/>
          </a:prstGeom>
          <a:solidFill>
            <a:srgbClr val="3B2A0C"/>
          </a:solidFill>
          <a:ln w="9525">
            <a:solidFill>
              <a:srgbClr val="F5A524"/>
            </a:solidFill>
            <a:prstDash val="solid"/>
          </a:ln>
        </p:spPr>
      </p:sp>
      <p:pic>
        <p:nvPicPr>
          <p:cNvPr id="65" name="img_8_62" descr="preencoded.png">    </p:cNvPr>
          <p:cNvPicPr>
            <a:picLocks noChangeAspect="1"/>
          </p:cNvPicPr>
          <p:nvPr/>
        </p:nvPicPr>
        <p:blipFill>
          <a:blip r:embed="rId2"/>
          <a:stretch>
            <a:fillRect/>
          </a:stretch>
        </p:blipFill>
        <p:spPr>
          <a:xfrm>
            <a:off x="6639001" y="5069434"/>
            <a:ext cx="285293" cy="285293"/>
          </a:xfrm>
          <a:prstGeom prst="rect">
            <a:avLst/>
          </a:prstGeom>
        </p:spPr>
      </p:pic>
      <p:sp>
        <p:nvSpPr>
          <p:cNvPr id="66" name="txt_8_63"/>
          <p:cNvSpPr txBox="1"/>
          <p:nvPr/>
        </p:nvSpPr>
        <p:spPr>
          <a:xfrm>
            <a:off x="7238848" y="4892040"/>
            <a:ext cx="385556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Revisions never overwrite</a:t>
            </a:r>
            <a:endParaRPr lang="en-US" sz="1600" dirty="0"/>
          </a:p>
        </p:txBody>
      </p:sp>
      <p:sp>
        <p:nvSpPr>
          <p:cNvPr id="67" name="txt_8_64"/>
          <p:cNvSpPr txBox="1"/>
          <p:nvPr/>
        </p:nvSpPr>
        <p:spPr>
          <a:xfrm>
            <a:off x="7238848" y="5230368"/>
            <a:ext cx="3855568" cy="73152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A counter-offer creates a tracked revision the customer must accept. Every transition is validated and audited.</a:t>
            </a:r>
            <a:endParaRPr lang="en-US" sz="1300" dirty="0"/>
          </a:p>
        </p:txBody>
      </p:sp>
      <p:sp>
        <p:nvSpPr>
          <p:cNvPr id="68" name="txt_8_6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69" name="txt_8_6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08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cond evt="onBegin" delay="0">
                          <p:tn val="2"/>
                        </p:cond>
                      </p:stCondLst>
                      <p:childTnLst>
                        <p:par>
                          <p:cTn id="12"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7" presetID="42" presetClass="entr" presetSubtype="0" fill="hold" grpId="0" nodeType="clickEffect" decel="100000">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0.05"/>
                                          </p:val>
                                        </p:tav>
                                        <p:tav tm="100000">
                                          <p:val>
                                            <p:strVal val="#ppt_y"/>
                                          </p:val>
                                        </p:tav>
                                      </p:tavLst>
                                    </p:anim>
                                  </p:childTnLst>
                                </p:cTn>
                              </p:par>
                              <p:par>
                                <p:cTn id="22" presetID="42" presetClass="entr" presetSubtype="0" fill="hold" grpId="0" nodeType="withEffect" decel="100000">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0.05"/>
                                          </p:val>
                                        </p:tav>
                                        <p:tav tm="100000">
                                          <p:val>
                                            <p:strVal val="#ppt_y"/>
                                          </p:val>
                                        </p:tav>
                                      </p:tavLst>
                                    </p:anim>
                                  </p:childTnLst>
                                </p:cTn>
                              </p:par>
                              <p:par>
                                <p:cTn id="27" presetID="42" presetClass="entr" presetSubtype="0" fill="hold" grpId="0" nodeType="withEffect" decel="100000">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fill="hold"/>
                                        <p:tgtEl>
                                          <p:spTgt spid="7"/>
                                        </p:tgtEl>
                                        <p:attrNameLst>
                                          <p:attrName>ppt_x</p:attrName>
                                        </p:attrNameLst>
                                      </p:cBhvr>
                                      <p:tavLst>
                                        <p:tav tm="0">
                                          <p:val>
                                            <p:strVal val="#ppt_x"/>
                                          </p:val>
                                        </p:tav>
                                        <p:tav tm="100000">
                                          <p:val>
                                            <p:strVal val="#ppt_x"/>
                                          </p:val>
                                        </p:tav>
                                      </p:tavLst>
                                    </p:anim>
                                    <p:anim calcmode="lin" valueType="num">
                                      <p:cBhvr>
                                        <p:cTn id="26" dur="500" fill="hold"/>
                                        <p:tgtEl>
                                          <p:spTgt spid="7"/>
                                        </p:tgtEl>
                                        <p:attrNameLst>
                                          <p:attrName>ppt_y</p:attrName>
                                        </p:attrNameLst>
                                      </p:cBhvr>
                                      <p:tavLst>
                                        <p:tav tm="0">
                                          <p:val>
                                            <p:strVal val="#ppt_y+0.05"/>
                                          </p:val>
                                        </p:tav>
                                        <p:tav tm="100000">
                                          <p:val>
                                            <p:strVal val="#ppt_y"/>
                                          </p:val>
                                        </p:tav>
                                      </p:tavLst>
                                    </p:anim>
                                  </p:childTnLst>
                                </p:cTn>
                              </p:par>
                              <p:par>
                                <p:cTn id="32" presetID="42" presetClass="entr" presetSubtype="0" fill="hold" grpId="0" nodeType="withEffect" decel="100000">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fill="hold"/>
                                        <p:tgtEl>
                                          <p:spTgt spid="8"/>
                                        </p:tgtEl>
                                        <p:attrNameLst>
                                          <p:attrName>ppt_x</p:attrName>
                                        </p:attrNameLst>
                                      </p:cBhvr>
                                      <p:tavLst>
                                        <p:tav tm="0">
                                          <p:val>
                                            <p:strVal val="#ppt_x"/>
                                          </p:val>
                                        </p:tav>
                                        <p:tav tm="100000">
                                          <p:val>
                                            <p:strVal val="#ppt_x"/>
                                          </p:val>
                                        </p:tav>
                                      </p:tavLst>
                                    </p:anim>
                                    <p:anim calcmode="lin" valueType="num">
                                      <p:cBhvr>
                                        <p:cTn id="31" dur="500" fill="hold"/>
                                        <p:tgtEl>
                                          <p:spTgt spid="8"/>
                                        </p:tgtEl>
                                        <p:attrNameLst>
                                          <p:attrName>ppt_y</p:attrName>
                                        </p:attrNameLst>
                                      </p:cBhvr>
                                      <p:tavLst>
                                        <p:tav tm="0">
                                          <p:val>
                                            <p:strVal val="#ppt_y+0.05"/>
                                          </p:val>
                                        </p:tav>
                                        <p:tav tm="100000">
                                          <p:val>
                                            <p:strVal val="#ppt_y"/>
                                          </p:val>
                                        </p:tav>
                                      </p:tavLst>
                                    </p:anim>
                                  </p:childTnLst>
                                </p:cTn>
                              </p:par>
                              <p:par>
                                <p:cTn id="37" presetID="42" presetClass="entr" presetSubtype="0" fill="hold" grpId="0" nodeType="withEffect" decel="100000">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anim calcmode="lin" valueType="num">
                                      <p:cBhvr>
                                        <p:cTn id="35" dur="500" fill="hold"/>
                                        <p:tgtEl>
                                          <p:spTgt spid="9"/>
                                        </p:tgtEl>
                                        <p:attrNameLst>
                                          <p:attrName>ppt_x</p:attrName>
                                        </p:attrNameLst>
                                      </p:cBhvr>
                                      <p:tavLst>
                                        <p:tav tm="0">
                                          <p:val>
                                            <p:strVal val="#ppt_x"/>
                                          </p:val>
                                        </p:tav>
                                        <p:tav tm="100000">
                                          <p:val>
                                            <p:strVal val="#ppt_x"/>
                                          </p:val>
                                        </p:tav>
                                      </p:tavLst>
                                    </p:anim>
                                    <p:anim calcmode="lin" valueType="num">
                                      <p:cBhvr>
                                        <p:cTn id="36" dur="500" fill="hold"/>
                                        <p:tgtEl>
                                          <p:spTgt spid="9"/>
                                        </p:tgtEl>
                                        <p:attrNameLst>
                                          <p:attrName>ppt_y</p:attrName>
                                        </p:attrNameLst>
                                      </p:cBhvr>
                                      <p:tavLst>
                                        <p:tav tm="0">
                                          <p:val>
                                            <p:strVal val="#ppt_y+0.05"/>
                                          </p:val>
                                        </p:tav>
                                        <p:tav tm="100000">
                                          <p:val>
                                            <p:strVal val="#ppt_y"/>
                                          </p:val>
                                        </p:tav>
                                      </p:tavLst>
                                    </p:anim>
                                  </p:childTnLst>
                                </p:cTn>
                              </p:par>
                              <p:par>
                                <p:cTn id="40" presetID="22" presetClass="entr" presetSubtype="8" fill="hold" grpId="0" nodeType="withEffect" decel="100000">
                                  <p:stCondLst>
                                    <p:cond delay="180"/>
                                  </p:stCondLst>
                                  <p:childTnLst>
                                    <p:set>
                                      <p:cBhvr>
                                        <p:cTn id="38" dur="1" fill="hold">
                                          <p:stCondLst>
                                            <p:cond delay="0"/>
                                          </p:stCondLst>
                                        </p:cTn>
                                        <p:tgtEl>
                                          <p:spTgt spid="10"/>
                                        </p:tgtEl>
                                        <p:attrNameLst>
                                          <p:attrName>style.visibility</p:attrName>
                                        </p:attrNameLst>
                                      </p:cBhvr>
                                      <p:to>
                                        <p:strVal val="visible"/>
                                      </p:to>
                                    </p:set>
                                    <p:animEffect transition="in" filter="wipe(right)">
                                      <p:cBhvr>
                                        <p:cTn id="39" dur="200"/>
                                        <p:tgtEl>
                                          <p:spTgt spid="10"/>
                                        </p:tgtEl>
                                      </p:cBhvr>
                                    </p:animEffect>
                                  </p:childTnLst>
                                </p:cTn>
                              </p:par>
                              <p:par>
                                <p:cTn id="45" presetID="42" presetClass="entr" presetSubtype="0" fill="hold" grpId="0" nodeType="withEffect" decel="100000">
                                  <p:stCondLst>
                                    <p:cond delay="26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decel="100000">
                                  <p:stCondLst>
                                    <p:cond delay="2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decel="100000">
                                  <p:stCondLst>
                                    <p:cond delay="26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decel="100000">
                                  <p:stCondLst>
                                    <p:cond delay="26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decel="100000">
                                  <p:stCondLst>
                                    <p:cond delay="26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0.05"/>
                                          </p:val>
                                        </p:tav>
                                        <p:tav tm="100000">
                                          <p:val>
                                            <p:strVal val="#ppt_y"/>
                                          </p:val>
                                        </p:tav>
                                      </p:tavLst>
                                    </p:anim>
                                  </p:childTnLst>
                                </p:cTn>
                              </p:par>
                              <p:par>
                                <p:cTn id="68" presetID="22" presetClass="entr" presetSubtype="8" fill="hold" grpId="0" nodeType="withEffect" decel="100000">
                                  <p:stCondLst>
                                    <p:cond delay="440"/>
                                  </p:stCondLst>
                                  <p:childTnLst>
                                    <p:set>
                                      <p:cBhvr>
                                        <p:cTn id="66" dur="1" fill="hold">
                                          <p:stCondLst>
                                            <p:cond delay="0"/>
                                          </p:stCondLst>
                                        </p:cTn>
                                        <p:tgtEl>
                                          <p:spTgt spid="16"/>
                                        </p:tgtEl>
                                        <p:attrNameLst>
                                          <p:attrName>style.visibility</p:attrName>
                                        </p:attrNameLst>
                                      </p:cBhvr>
                                      <p:to>
                                        <p:strVal val="visible"/>
                                      </p:to>
                                    </p:set>
                                    <p:animEffect transition="in" filter="wipe(right)">
                                      <p:cBhvr>
                                        <p:cTn id="67" dur="200"/>
                                        <p:tgtEl>
                                          <p:spTgt spid="16"/>
                                        </p:tgtEl>
                                      </p:cBhvr>
                                    </p:animEffect>
                                  </p:childTnLst>
                                </p:cTn>
                              </p:par>
                              <p:par>
                                <p:cTn id="73" presetID="42" presetClass="entr" presetSubtype="0" fill="hold" grpId="0" nodeType="withEffect" decel="100000">
                                  <p:stCondLst>
                                    <p:cond delay="52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p:cTn id="71" dur="500" fill="hold"/>
                                        <p:tgtEl>
                                          <p:spTgt spid="17"/>
                                        </p:tgtEl>
                                        <p:attrNameLst>
                                          <p:attrName>ppt_x</p:attrName>
                                        </p:attrNameLst>
                                      </p:cBhvr>
                                      <p:tavLst>
                                        <p:tav tm="0">
                                          <p:val>
                                            <p:strVal val="#ppt_x"/>
                                          </p:val>
                                        </p:tav>
                                        <p:tav tm="100000">
                                          <p:val>
                                            <p:strVal val="#ppt_x"/>
                                          </p:val>
                                        </p:tav>
                                      </p:tavLst>
                                    </p:anim>
                                    <p:anim calcmode="lin" valueType="num">
                                      <p:cBhvr>
                                        <p:cTn id="72" dur="500" fill="hold"/>
                                        <p:tgtEl>
                                          <p:spTgt spid="17"/>
                                        </p:tgtEl>
                                        <p:attrNameLst>
                                          <p:attrName>ppt_y</p:attrName>
                                        </p:attrNameLst>
                                      </p:cBhvr>
                                      <p:tavLst>
                                        <p:tav tm="0">
                                          <p:val>
                                            <p:strVal val="#ppt_y+0.05"/>
                                          </p:val>
                                        </p:tav>
                                        <p:tav tm="100000">
                                          <p:val>
                                            <p:strVal val="#ppt_y"/>
                                          </p:val>
                                        </p:tav>
                                      </p:tavLst>
                                    </p:anim>
                                  </p:childTnLst>
                                </p:cTn>
                              </p:par>
                              <p:par>
                                <p:cTn id="78" presetID="42" presetClass="entr" presetSubtype="0" fill="hold" grpId="0" nodeType="withEffect" decel="100000">
                                  <p:stCondLst>
                                    <p:cond delay="52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p:cTn id="76" dur="500" fill="hold"/>
                                        <p:tgtEl>
                                          <p:spTgt spid="18"/>
                                        </p:tgtEl>
                                        <p:attrNameLst>
                                          <p:attrName>ppt_x</p:attrName>
                                        </p:attrNameLst>
                                      </p:cBhvr>
                                      <p:tavLst>
                                        <p:tav tm="0">
                                          <p:val>
                                            <p:strVal val="#ppt_x"/>
                                          </p:val>
                                        </p:tav>
                                        <p:tav tm="100000">
                                          <p:val>
                                            <p:strVal val="#ppt_x"/>
                                          </p:val>
                                        </p:tav>
                                      </p:tavLst>
                                    </p:anim>
                                    <p:anim calcmode="lin" valueType="num">
                                      <p:cBhvr>
                                        <p:cTn id="77" dur="500" fill="hold"/>
                                        <p:tgtEl>
                                          <p:spTgt spid="18"/>
                                        </p:tgtEl>
                                        <p:attrNameLst>
                                          <p:attrName>ppt_y</p:attrName>
                                        </p:attrNameLst>
                                      </p:cBhvr>
                                      <p:tavLst>
                                        <p:tav tm="0">
                                          <p:val>
                                            <p:strVal val="#ppt_y+0.05"/>
                                          </p:val>
                                        </p:tav>
                                        <p:tav tm="100000">
                                          <p:val>
                                            <p:strVal val="#ppt_y"/>
                                          </p:val>
                                        </p:tav>
                                      </p:tavLst>
                                    </p:anim>
                                  </p:childTnLst>
                                </p:cTn>
                              </p:par>
                              <p:par>
                                <p:cTn id="83" presetID="42" presetClass="entr" presetSubtype="0" fill="hold" grpId="0" nodeType="withEffect" decel="100000">
                                  <p:stCondLst>
                                    <p:cond delay="52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500" fill="hold"/>
                                        <p:tgtEl>
                                          <p:spTgt spid="19"/>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52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p:cTn id="86" dur="500" fill="hold"/>
                                        <p:tgtEl>
                                          <p:spTgt spid="20"/>
                                        </p:tgtEl>
                                        <p:attrNameLst>
                                          <p:attrName>ppt_x</p:attrName>
                                        </p:attrNameLst>
                                      </p:cBhvr>
                                      <p:tavLst>
                                        <p:tav tm="0">
                                          <p:val>
                                            <p:strVal val="#ppt_x"/>
                                          </p:val>
                                        </p:tav>
                                        <p:tav tm="100000">
                                          <p:val>
                                            <p:strVal val="#ppt_x"/>
                                          </p:val>
                                        </p:tav>
                                      </p:tavLst>
                                    </p:anim>
                                    <p:anim calcmode="lin" valueType="num">
                                      <p:cBhvr>
                                        <p:cTn id="87" dur="500" fill="hold"/>
                                        <p:tgtEl>
                                          <p:spTgt spid="20"/>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decel="100000">
                                  <p:stCondLst>
                                    <p:cond delay="52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p:cTn id="91" dur="500" fill="hold"/>
                                        <p:tgtEl>
                                          <p:spTgt spid="21"/>
                                        </p:tgtEl>
                                        <p:attrNameLst>
                                          <p:attrName>ppt_x</p:attrName>
                                        </p:attrNameLst>
                                      </p:cBhvr>
                                      <p:tavLst>
                                        <p:tav tm="0">
                                          <p:val>
                                            <p:strVal val="#ppt_x"/>
                                          </p:val>
                                        </p:tav>
                                        <p:tav tm="100000">
                                          <p:val>
                                            <p:strVal val="#ppt_x"/>
                                          </p:val>
                                        </p:tav>
                                      </p:tavLst>
                                    </p:anim>
                                    <p:anim calcmode="lin" valueType="num">
                                      <p:cBhvr>
                                        <p:cTn id="92" dur="500" fill="hold"/>
                                        <p:tgtEl>
                                          <p:spTgt spid="21"/>
                                        </p:tgtEl>
                                        <p:attrNameLst>
                                          <p:attrName>ppt_y</p:attrName>
                                        </p:attrNameLst>
                                      </p:cBhvr>
                                      <p:tavLst>
                                        <p:tav tm="0">
                                          <p:val>
                                            <p:strVal val="#ppt_y+0.05"/>
                                          </p:val>
                                        </p:tav>
                                        <p:tav tm="100000">
                                          <p:val>
                                            <p:strVal val="#ppt_y"/>
                                          </p:val>
                                        </p:tav>
                                      </p:tavLst>
                                    </p:anim>
                                  </p:childTnLst>
                                </p:cTn>
                              </p:par>
                              <p:par>
                                <p:cTn id="96" presetID="22" presetClass="entr" presetSubtype="8" fill="hold" grpId="0" nodeType="withEffect" decel="100000">
                                  <p:stCondLst>
                                    <p:cond delay="700"/>
                                  </p:stCondLst>
                                  <p:childTnLst>
                                    <p:set>
                                      <p:cBhvr>
                                        <p:cTn id="94" dur="1" fill="hold">
                                          <p:stCondLst>
                                            <p:cond delay="0"/>
                                          </p:stCondLst>
                                        </p:cTn>
                                        <p:tgtEl>
                                          <p:spTgt spid="22"/>
                                        </p:tgtEl>
                                        <p:attrNameLst>
                                          <p:attrName>style.visibility</p:attrName>
                                        </p:attrNameLst>
                                      </p:cBhvr>
                                      <p:to>
                                        <p:strVal val="visible"/>
                                      </p:to>
                                    </p:set>
                                    <p:animEffect transition="in" filter="wipe(right)">
                                      <p:cBhvr>
                                        <p:cTn id="95" dur="200"/>
                                        <p:tgtEl>
                                          <p:spTgt spid="22"/>
                                        </p:tgtEl>
                                      </p:cBhvr>
                                    </p:animEffect>
                                  </p:childTnLst>
                                </p:cTn>
                              </p:par>
                              <p:par>
                                <p:cTn id="101" presetID="42" presetClass="entr" presetSubtype="0" fill="hold" grpId="0" nodeType="withEffect" decel="100000">
                                  <p:stCondLst>
                                    <p:cond delay="78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00"/>
                                        <p:tgtEl>
                                          <p:spTgt spid="23"/>
                                        </p:tgtEl>
                                      </p:cBhvr>
                                    </p:animEffect>
                                    <p:anim calcmode="lin" valueType="num">
                                      <p:cBhvr>
                                        <p:cTn id="99" dur="500" fill="hold"/>
                                        <p:tgtEl>
                                          <p:spTgt spid="23"/>
                                        </p:tgtEl>
                                        <p:attrNameLst>
                                          <p:attrName>ppt_x</p:attrName>
                                        </p:attrNameLst>
                                      </p:cBhvr>
                                      <p:tavLst>
                                        <p:tav tm="0">
                                          <p:val>
                                            <p:strVal val="#ppt_x"/>
                                          </p:val>
                                        </p:tav>
                                        <p:tav tm="100000">
                                          <p:val>
                                            <p:strVal val="#ppt_x"/>
                                          </p:val>
                                        </p:tav>
                                      </p:tavLst>
                                    </p:anim>
                                    <p:anim calcmode="lin" valueType="num">
                                      <p:cBhvr>
                                        <p:cTn id="100" dur="500" fill="hold"/>
                                        <p:tgtEl>
                                          <p:spTgt spid="23"/>
                                        </p:tgtEl>
                                        <p:attrNameLst>
                                          <p:attrName>ppt_y</p:attrName>
                                        </p:attrNameLst>
                                      </p:cBhvr>
                                      <p:tavLst>
                                        <p:tav tm="0">
                                          <p:val>
                                            <p:strVal val="#ppt_y+0.05"/>
                                          </p:val>
                                        </p:tav>
                                        <p:tav tm="100000">
                                          <p:val>
                                            <p:strVal val="#ppt_y"/>
                                          </p:val>
                                        </p:tav>
                                      </p:tavLst>
                                    </p:anim>
                                  </p:childTnLst>
                                </p:cTn>
                              </p:par>
                              <p:par>
                                <p:cTn id="106" presetID="42" presetClass="entr" presetSubtype="0" fill="hold" grpId="0" nodeType="withEffect" decel="100000">
                                  <p:stCondLst>
                                    <p:cond delay="78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anim calcmode="lin" valueType="num">
                                      <p:cBhvr>
                                        <p:cTn id="104" dur="500" fill="hold"/>
                                        <p:tgtEl>
                                          <p:spTgt spid="24"/>
                                        </p:tgtEl>
                                        <p:attrNameLst>
                                          <p:attrName>ppt_x</p:attrName>
                                        </p:attrNameLst>
                                      </p:cBhvr>
                                      <p:tavLst>
                                        <p:tav tm="0">
                                          <p:val>
                                            <p:strVal val="#ppt_x"/>
                                          </p:val>
                                        </p:tav>
                                        <p:tav tm="100000">
                                          <p:val>
                                            <p:strVal val="#ppt_x"/>
                                          </p:val>
                                        </p:tav>
                                      </p:tavLst>
                                    </p:anim>
                                    <p:anim calcmode="lin" valueType="num">
                                      <p:cBhvr>
                                        <p:cTn id="105" dur="500" fill="hold"/>
                                        <p:tgtEl>
                                          <p:spTgt spid="24"/>
                                        </p:tgtEl>
                                        <p:attrNameLst>
                                          <p:attrName>ppt_y</p:attrName>
                                        </p:attrNameLst>
                                      </p:cBhvr>
                                      <p:tavLst>
                                        <p:tav tm="0">
                                          <p:val>
                                            <p:strVal val="#ppt_y+0.05"/>
                                          </p:val>
                                        </p:tav>
                                        <p:tav tm="100000">
                                          <p:val>
                                            <p:strVal val="#ppt_y"/>
                                          </p:val>
                                        </p:tav>
                                      </p:tavLst>
                                    </p:anim>
                                  </p:childTnLst>
                                </p:cTn>
                              </p:par>
                              <p:par>
                                <p:cTn id="111" presetID="42" presetClass="entr" presetSubtype="0" fill="hold" grpId="0" nodeType="withEffect" decel="100000">
                                  <p:stCondLst>
                                    <p:cond delay="78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500"/>
                                        <p:tgtEl>
                                          <p:spTgt spid="25"/>
                                        </p:tgtEl>
                                      </p:cBhvr>
                                    </p:animEffect>
                                    <p:anim calcmode="lin" valueType="num">
                                      <p:cBhvr>
                                        <p:cTn id="109" dur="500" fill="hold"/>
                                        <p:tgtEl>
                                          <p:spTgt spid="25"/>
                                        </p:tgtEl>
                                        <p:attrNameLst>
                                          <p:attrName>ppt_x</p:attrName>
                                        </p:attrNameLst>
                                      </p:cBhvr>
                                      <p:tavLst>
                                        <p:tav tm="0">
                                          <p:val>
                                            <p:strVal val="#ppt_x"/>
                                          </p:val>
                                        </p:tav>
                                        <p:tav tm="100000">
                                          <p:val>
                                            <p:strVal val="#ppt_x"/>
                                          </p:val>
                                        </p:tav>
                                      </p:tavLst>
                                    </p:anim>
                                    <p:anim calcmode="lin" valueType="num">
                                      <p:cBhvr>
                                        <p:cTn id="110" dur="500" fill="hold"/>
                                        <p:tgtEl>
                                          <p:spTgt spid="25"/>
                                        </p:tgtEl>
                                        <p:attrNameLst>
                                          <p:attrName>ppt_y</p:attrName>
                                        </p:attrNameLst>
                                      </p:cBhvr>
                                      <p:tavLst>
                                        <p:tav tm="0">
                                          <p:val>
                                            <p:strVal val="#ppt_y+0.05"/>
                                          </p:val>
                                        </p:tav>
                                        <p:tav tm="100000">
                                          <p:val>
                                            <p:strVal val="#ppt_y"/>
                                          </p:val>
                                        </p:tav>
                                      </p:tavLst>
                                    </p:anim>
                                  </p:childTnLst>
                                </p:cTn>
                              </p:par>
                              <p:par>
                                <p:cTn id="116" presetID="42" presetClass="entr" presetSubtype="0" fill="hold" grpId="0" nodeType="withEffect" decel="100000">
                                  <p:stCondLst>
                                    <p:cond delay="78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500"/>
                                        <p:tgtEl>
                                          <p:spTgt spid="26"/>
                                        </p:tgtEl>
                                      </p:cBhvr>
                                    </p:animEffect>
                                    <p:anim calcmode="lin" valueType="num">
                                      <p:cBhvr>
                                        <p:cTn id="114" dur="500" fill="hold"/>
                                        <p:tgtEl>
                                          <p:spTgt spid="26"/>
                                        </p:tgtEl>
                                        <p:attrNameLst>
                                          <p:attrName>ppt_x</p:attrName>
                                        </p:attrNameLst>
                                      </p:cBhvr>
                                      <p:tavLst>
                                        <p:tav tm="0">
                                          <p:val>
                                            <p:strVal val="#ppt_x"/>
                                          </p:val>
                                        </p:tav>
                                        <p:tav tm="100000">
                                          <p:val>
                                            <p:strVal val="#ppt_x"/>
                                          </p:val>
                                        </p:tav>
                                      </p:tavLst>
                                    </p:anim>
                                    <p:anim calcmode="lin" valueType="num">
                                      <p:cBhvr>
                                        <p:cTn id="115" dur="500" fill="hold"/>
                                        <p:tgtEl>
                                          <p:spTgt spid="26"/>
                                        </p:tgtEl>
                                        <p:attrNameLst>
                                          <p:attrName>ppt_y</p:attrName>
                                        </p:attrNameLst>
                                      </p:cBhvr>
                                      <p:tavLst>
                                        <p:tav tm="0">
                                          <p:val>
                                            <p:strVal val="#ppt_y+0.05"/>
                                          </p:val>
                                        </p:tav>
                                        <p:tav tm="100000">
                                          <p:val>
                                            <p:strVal val="#ppt_y"/>
                                          </p:val>
                                        </p:tav>
                                      </p:tavLst>
                                    </p:anim>
                                  </p:childTnLst>
                                </p:cTn>
                              </p:par>
                              <p:par>
                                <p:cTn id="121" presetID="42" presetClass="entr" presetSubtype="0" fill="hold" grpId="0" nodeType="withEffect" decel="100000">
                                  <p:stCondLst>
                                    <p:cond delay="78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00"/>
                                        <p:tgtEl>
                                          <p:spTgt spid="27"/>
                                        </p:tgtEl>
                                      </p:cBhvr>
                                    </p:animEffect>
                                    <p:anim calcmode="lin" valueType="num">
                                      <p:cBhvr>
                                        <p:cTn id="119" dur="500" fill="hold"/>
                                        <p:tgtEl>
                                          <p:spTgt spid="27"/>
                                        </p:tgtEl>
                                        <p:attrNameLst>
                                          <p:attrName>ppt_x</p:attrName>
                                        </p:attrNameLst>
                                      </p:cBhvr>
                                      <p:tavLst>
                                        <p:tav tm="0">
                                          <p:val>
                                            <p:strVal val="#ppt_x"/>
                                          </p:val>
                                        </p:tav>
                                        <p:tav tm="100000">
                                          <p:val>
                                            <p:strVal val="#ppt_x"/>
                                          </p:val>
                                        </p:tav>
                                      </p:tavLst>
                                    </p:anim>
                                    <p:anim calcmode="lin" valueType="num">
                                      <p:cBhvr>
                                        <p:cTn id="120" dur="500" fill="hold"/>
                                        <p:tgtEl>
                                          <p:spTgt spid="27"/>
                                        </p:tgtEl>
                                        <p:attrNameLst>
                                          <p:attrName>ppt_y</p:attrName>
                                        </p:attrNameLst>
                                      </p:cBhvr>
                                      <p:tavLst>
                                        <p:tav tm="0">
                                          <p:val>
                                            <p:strVal val="#ppt_y+0.05"/>
                                          </p:val>
                                        </p:tav>
                                        <p:tav tm="100000">
                                          <p:val>
                                            <p:strVal val="#ppt_y"/>
                                          </p:val>
                                        </p:tav>
                                      </p:tavLst>
                                    </p:anim>
                                  </p:childTnLst>
                                </p:cTn>
                              </p:par>
                              <p:par>
                                <p:cTn id="124" presetID="22" presetClass="entr" presetSubtype="8" fill="hold" grpId="0" nodeType="withEffect" decel="100000">
                                  <p:stCondLst>
                                    <p:cond delay="960"/>
                                  </p:stCondLst>
                                  <p:childTnLst>
                                    <p:set>
                                      <p:cBhvr>
                                        <p:cTn id="122" dur="1" fill="hold">
                                          <p:stCondLst>
                                            <p:cond delay="0"/>
                                          </p:stCondLst>
                                        </p:cTn>
                                        <p:tgtEl>
                                          <p:spTgt spid="28"/>
                                        </p:tgtEl>
                                        <p:attrNameLst>
                                          <p:attrName>style.visibility</p:attrName>
                                        </p:attrNameLst>
                                      </p:cBhvr>
                                      <p:to>
                                        <p:strVal val="visible"/>
                                      </p:to>
                                    </p:set>
                                    <p:animEffect transition="in" filter="wipe(right)">
                                      <p:cBhvr>
                                        <p:cTn id="123" dur="200"/>
                                        <p:tgtEl>
                                          <p:spTgt spid="28"/>
                                        </p:tgtEl>
                                      </p:cBhvr>
                                    </p:animEffect>
                                  </p:childTnLst>
                                </p:cTn>
                              </p:par>
                              <p:par>
                                <p:cTn id="129" presetID="42" presetClass="entr" presetSubtype="0" fill="hold" grpId="0" nodeType="withEffect" decel="100000">
                                  <p:stCondLst>
                                    <p:cond delay="104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00"/>
                                        <p:tgtEl>
                                          <p:spTgt spid="29"/>
                                        </p:tgtEl>
                                      </p:cBhvr>
                                    </p:animEffect>
                                    <p:anim calcmode="lin" valueType="num">
                                      <p:cBhvr>
                                        <p:cTn id="127" dur="500" fill="hold"/>
                                        <p:tgtEl>
                                          <p:spTgt spid="29"/>
                                        </p:tgtEl>
                                        <p:attrNameLst>
                                          <p:attrName>ppt_x</p:attrName>
                                        </p:attrNameLst>
                                      </p:cBhvr>
                                      <p:tavLst>
                                        <p:tav tm="0">
                                          <p:val>
                                            <p:strVal val="#ppt_x"/>
                                          </p:val>
                                        </p:tav>
                                        <p:tav tm="100000">
                                          <p:val>
                                            <p:strVal val="#ppt_x"/>
                                          </p:val>
                                        </p:tav>
                                      </p:tavLst>
                                    </p:anim>
                                    <p:anim calcmode="lin" valueType="num">
                                      <p:cBhvr>
                                        <p:cTn id="128" dur="500" fill="hold"/>
                                        <p:tgtEl>
                                          <p:spTgt spid="29"/>
                                        </p:tgtEl>
                                        <p:attrNameLst>
                                          <p:attrName>ppt_y</p:attrName>
                                        </p:attrNameLst>
                                      </p:cBhvr>
                                      <p:tavLst>
                                        <p:tav tm="0">
                                          <p:val>
                                            <p:strVal val="#ppt_y+0.05"/>
                                          </p:val>
                                        </p:tav>
                                        <p:tav tm="100000">
                                          <p:val>
                                            <p:strVal val="#ppt_y"/>
                                          </p:val>
                                        </p:tav>
                                      </p:tavLst>
                                    </p:anim>
                                  </p:childTnLst>
                                </p:cTn>
                              </p:par>
                              <p:par>
                                <p:cTn id="134" presetID="42" presetClass="entr" presetSubtype="0" fill="hold" grpId="0" nodeType="withEffect" decel="100000">
                                  <p:stCondLst>
                                    <p:cond delay="104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500"/>
                                        <p:tgtEl>
                                          <p:spTgt spid="30"/>
                                        </p:tgtEl>
                                      </p:cBhvr>
                                    </p:animEffect>
                                    <p:anim calcmode="lin" valueType="num">
                                      <p:cBhvr>
                                        <p:cTn id="132" dur="500" fill="hold"/>
                                        <p:tgtEl>
                                          <p:spTgt spid="30"/>
                                        </p:tgtEl>
                                        <p:attrNameLst>
                                          <p:attrName>ppt_x</p:attrName>
                                        </p:attrNameLst>
                                      </p:cBhvr>
                                      <p:tavLst>
                                        <p:tav tm="0">
                                          <p:val>
                                            <p:strVal val="#ppt_x"/>
                                          </p:val>
                                        </p:tav>
                                        <p:tav tm="100000">
                                          <p:val>
                                            <p:strVal val="#ppt_x"/>
                                          </p:val>
                                        </p:tav>
                                      </p:tavLst>
                                    </p:anim>
                                    <p:anim calcmode="lin" valueType="num">
                                      <p:cBhvr>
                                        <p:cTn id="133" dur="500" fill="hold"/>
                                        <p:tgtEl>
                                          <p:spTgt spid="30"/>
                                        </p:tgtEl>
                                        <p:attrNameLst>
                                          <p:attrName>ppt_y</p:attrName>
                                        </p:attrNameLst>
                                      </p:cBhvr>
                                      <p:tavLst>
                                        <p:tav tm="0">
                                          <p:val>
                                            <p:strVal val="#ppt_y+0.05"/>
                                          </p:val>
                                        </p:tav>
                                        <p:tav tm="100000">
                                          <p:val>
                                            <p:strVal val="#ppt_y"/>
                                          </p:val>
                                        </p:tav>
                                      </p:tavLst>
                                    </p:anim>
                                  </p:childTnLst>
                                </p:cTn>
                              </p:par>
                              <p:par>
                                <p:cTn id="139" presetID="42" presetClass="entr" presetSubtype="0" fill="hold" grpId="0" nodeType="withEffect" decel="100000">
                                  <p:stCondLst>
                                    <p:cond delay="104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00"/>
                                        <p:tgtEl>
                                          <p:spTgt spid="31"/>
                                        </p:tgtEl>
                                      </p:cBhvr>
                                    </p:animEffect>
                                    <p:anim calcmode="lin" valueType="num">
                                      <p:cBhvr>
                                        <p:cTn id="137" dur="500" fill="hold"/>
                                        <p:tgtEl>
                                          <p:spTgt spid="31"/>
                                        </p:tgtEl>
                                        <p:attrNameLst>
                                          <p:attrName>ppt_x</p:attrName>
                                        </p:attrNameLst>
                                      </p:cBhvr>
                                      <p:tavLst>
                                        <p:tav tm="0">
                                          <p:val>
                                            <p:strVal val="#ppt_x"/>
                                          </p:val>
                                        </p:tav>
                                        <p:tav tm="100000">
                                          <p:val>
                                            <p:strVal val="#ppt_x"/>
                                          </p:val>
                                        </p:tav>
                                      </p:tavLst>
                                    </p:anim>
                                    <p:anim calcmode="lin" valueType="num">
                                      <p:cBhvr>
                                        <p:cTn id="138" dur="500" fill="hold"/>
                                        <p:tgtEl>
                                          <p:spTgt spid="31"/>
                                        </p:tgtEl>
                                        <p:attrNameLst>
                                          <p:attrName>ppt_y</p:attrName>
                                        </p:attrNameLst>
                                      </p:cBhvr>
                                      <p:tavLst>
                                        <p:tav tm="0">
                                          <p:val>
                                            <p:strVal val="#ppt_y+0.05"/>
                                          </p:val>
                                        </p:tav>
                                        <p:tav tm="100000">
                                          <p:val>
                                            <p:strVal val="#ppt_y"/>
                                          </p:val>
                                        </p:tav>
                                      </p:tavLst>
                                    </p:anim>
                                  </p:childTnLst>
                                </p:cTn>
                              </p:par>
                              <p:par>
                                <p:cTn id="144" presetID="42" presetClass="entr" presetSubtype="0" fill="hold" grpId="0" nodeType="withEffect" decel="100000">
                                  <p:stCondLst>
                                    <p:cond delay="104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500"/>
                                        <p:tgtEl>
                                          <p:spTgt spid="32"/>
                                        </p:tgtEl>
                                      </p:cBhvr>
                                    </p:animEffect>
                                    <p:anim calcmode="lin" valueType="num">
                                      <p:cBhvr>
                                        <p:cTn id="142" dur="500" fill="hold"/>
                                        <p:tgtEl>
                                          <p:spTgt spid="32"/>
                                        </p:tgtEl>
                                        <p:attrNameLst>
                                          <p:attrName>ppt_x</p:attrName>
                                        </p:attrNameLst>
                                      </p:cBhvr>
                                      <p:tavLst>
                                        <p:tav tm="0">
                                          <p:val>
                                            <p:strVal val="#ppt_x"/>
                                          </p:val>
                                        </p:tav>
                                        <p:tav tm="100000">
                                          <p:val>
                                            <p:strVal val="#ppt_x"/>
                                          </p:val>
                                        </p:tav>
                                      </p:tavLst>
                                    </p:anim>
                                    <p:anim calcmode="lin" valueType="num">
                                      <p:cBhvr>
                                        <p:cTn id="143" dur="500" fill="hold"/>
                                        <p:tgtEl>
                                          <p:spTgt spid="32"/>
                                        </p:tgtEl>
                                        <p:attrNameLst>
                                          <p:attrName>ppt_y</p:attrName>
                                        </p:attrNameLst>
                                      </p:cBhvr>
                                      <p:tavLst>
                                        <p:tav tm="0">
                                          <p:val>
                                            <p:strVal val="#ppt_y+0.05"/>
                                          </p:val>
                                        </p:tav>
                                        <p:tav tm="100000">
                                          <p:val>
                                            <p:strVal val="#ppt_y"/>
                                          </p:val>
                                        </p:tav>
                                      </p:tavLst>
                                    </p:anim>
                                  </p:childTnLst>
                                </p:cTn>
                              </p:par>
                              <p:par>
                                <p:cTn id="149" presetID="42" presetClass="entr" presetSubtype="0" fill="hold" grpId="0" nodeType="withEffect" decel="100000">
                                  <p:stCondLst>
                                    <p:cond delay="104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00"/>
                                        <p:tgtEl>
                                          <p:spTgt spid="33"/>
                                        </p:tgtEl>
                                      </p:cBhvr>
                                    </p:animEffect>
                                    <p:anim calcmode="lin" valueType="num">
                                      <p:cBhvr>
                                        <p:cTn id="147" dur="500" fill="hold"/>
                                        <p:tgtEl>
                                          <p:spTgt spid="33"/>
                                        </p:tgtEl>
                                        <p:attrNameLst>
                                          <p:attrName>ppt_x</p:attrName>
                                        </p:attrNameLst>
                                      </p:cBhvr>
                                      <p:tavLst>
                                        <p:tav tm="0">
                                          <p:val>
                                            <p:strVal val="#ppt_x"/>
                                          </p:val>
                                        </p:tav>
                                        <p:tav tm="100000">
                                          <p:val>
                                            <p:strVal val="#ppt_x"/>
                                          </p:val>
                                        </p:tav>
                                      </p:tavLst>
                                    </p:anim>
                                    <p:anim calcmode="lin" valueType="num">
                                      <p:cBhvr>
                                        <p:cTn id="148" dur="500" fill="hold"/>
                                        <p:tgtEl>
                                          <p:spTgt spid="33"/>
                                        </p:tgtEl>
                                        <p:attrNameLst>
                                          <p:attrName>ppt_y</p:attrName>
                                        </p:attrNameLst>
                                      </p:cBhvr>
                                      <p:tavLst>
                                        <p:tav tm="0">
                                          <p:val>
                                            <p:strVal val="#ppt_y+0.05"/>
                                          </p:val>
                                        </p:tav>
                                        <p:tav tm="100000">
                                          <p:val>
                                            <p:strVal val="#ppt_y"/>
                                          </p:val>
                                        </p:tav>
                                      </p:tavLst>
                                    </p:anim>
                                  </p:childTnLst>
                                </p:cTn>
                              </p:par>
                            </p:childTnLst>
                          </p:cTn>
                        </p:par>
                      </p:childTnLst>
                    </p:cTn>
                  </p:par>
                  <p:par>
                    <p:cTn id="248" fill="hold">
                      <p:stCondLst>
                        <p:cond delay="indefinite"/>
                      </p:stCondLst>
                      <p:childTnLst>
                        <p:par>
                          <p:cTn id="249" fill="hold">
                            <p:stCondLst>
                              <p:cond delay="0"/>
                            </p:stCondLst>
                            <p:childTnLst>
                              <p:par>
                                <p:cTn id="154" presetID="10" presetClass="entr" presetSubtype="0" fill="hold" grpId="0" nodeType="clickEffect" decel="100000">
                                  <p:stCondLst>
                                    <p:cond delay="0"/>
                                  </p:stCondLst>
                                  <p:childTnLst>
                                    <p:set>
                                      <p:cBhvr>
                                        <p:cTn id="152" dur="1" fill="hold">
                                          <p:stCondLst>
                                            <p:cond delay="0"/>
                                          </p:stCondLst>
                                        </p:cTn>
                                        <p:tgtEl>
                                          <p:spTgt spid="34"/>
                                        </p:tgtEl>
                                        <p:attrNameLst>
                                          <p:attrName>style.visibility</p:attrName>
                                        </p:attrNameLst>
                                      </p:cBhvr>
                                      <p:to>
                                        <p:strVal val="visible"/>
                                      </p:to>
                                    </p:set>
                                    <p:animEffect transition="in" filter="fade">
                                      <p:cBhvr>
                                        <p:cTn id="153" dur="500"/>
                                        <p:tgtEl>
                                          <p:spTgt spid="34"/>
                                        </p:tgtEl>
                                      </p:cBhvr>
                                    </p:animEffect>
                                  </p:childTnLst>
                                </p:cTn>
                              </p:par>
                              <p:par>
                                <p:cTn id="159" presetID="53" presetClass="entr" presetSubtype="16" fill="hold" grpId="0" nodeType="withEffect" decel="100000">
                                  <p:stCondLst>
                                    <p:cond delay="150"/>
                                  </p:stCondLst>
                                  <p:childTnLst>
                                    <p:set>
                                      <p:cBhvr>
                                        <p:cTn id="155" dur="1" fill="hold">
                                          <p:stCondLst>
                                            <p:cond delay="0"/>
                                          </p:stCondLst>
                                        </p:cTn>
                                        <p:tgtEl>
                                          <p:spTgt spid="35"/>
                                        </p:tgtEl>
                                        <p:attrNameLst>
                                          <p:attrName>style.visibility</p:attrName>
                                        </p:attrNameLst>
                                      </p:cBhvr>
                                      <p:to>
                                        <p:strVal val="visible"/>
                                      </p:to>
                                    </p:set>
                                    <p:anim calcmode="lin" valueType="num">
                                      <p:cBhvr>
                                        <p:cTn id="156" dur="350" fill="hold"/>
                                        <p:tgtEl>
                                          <p:spTgt spid="35"/>
                                        </p:tgtEl>
                                        <p:attrNameLst>
                                          <p:attrName>ppt_w</p:attrName>
                                        </p:attrNameLst>
                                      </p:cBhvr>
                                      <p:tavLst>
                                        <p:tav tm="0">
                                          <p:val>
                                            <p:strVal val="#ppt_w*0.70"/>
                                          </p:val>
                                        </p:tav>
                                        <p:tav tm="100000">
                                          <p:val>
                                            <p:strVal val="#ppt_w"/>
                                          </p:val>
                                        </p:tav>
                                      </p:tavLst>
                                    </p:anim>
                                    <p:anim calcmode="lin" valueType="num">
                                      <p:cBhvr>
                                        <p:cTn id="157" dur="350" fill="hold"/>
                                        <p:tgtEl>
                                          <p:spTgt spid="35"/>
                                        </p:tgtEl>
                                        <p:attrNameLst>
                                          <p:attrName>ppt_h</p:attrName>
                                        </p:attrNameLst>
                                      </p:cBhvr>
                                      <p:tavLst>
                                        <p:tav tm="0">
                                          <p:val>
                                            <p:strVal val="#ppt_h*0.70"/>
                                          </p:val>
                                        </p:tav>
                                        <p:tav tm="100000">
                                          <p:val>
                                            <p:strVal val="#ppt_h"/>
                                          </p:val>
                                        </p:tav>
                                      </p:tavLst>
                                    </p:anim>
                                    <p:animEffect transition="in" filter="fade">
                                      <p:cBhvr>
                                        <p:cTn id="158" dur="350"/>
                                        <p:tgtEl>
                                          <p:spTgt spid="35"/>
                                        </p:tgtEl>
                                      </p:cBhvr>
                                    </p:animEffect>
                                  </p:childTnLst>
                                </p:cTn>
                              </p:par>
                              <p:par>
                                <p:cTn id="164" presetID="53" presetClass="entr" presetSubtype="16" fill="hold" grpId="0" nodeType="withEffect" decel="100000">
                                  <p:stCondLst>
                                    <p:cond delay="150"/>
                                  </p:stCondLst>
                                  <p:childTnLst>
                                    <p:set>
                                      <p:cBhvr>
                                        <p:cTn id="160" dur="1" fill="hold">
                                          <p:stCondLst>
                                            <p:cond delay="0"/>
                                          </p:stCondLst>
                                        </p:cTn>
                                        <p:tgtEl>
                                          <p:spTgt spid="36"/>
                                        </p:tgtEl>
                                        <p:attrNameLst>
                                          <p:attrName>style.visibility</p:attrName>
                                        </p:attrNameLst>
                                      </p:cBhvr>
                                      <p:to>
                                        <p:strVal val="visible"/>
                                      </p:to>
                                    </p:set>
                                    <p:anim calcmode="lin" valueType="num">
                                      <p:cBhvr>
                                        <p:cTn id="161" dur="350" fill="hold"/>
                                        <p:tgtEl>
                                          <p:spTgt spid="36"/>
                                        </p:tgtEl>
                                        <p:attrNameLst>
                                          <p:attrName>ppt_w</p:attrName>
                                        </p:attrNameLst>
                                      </p:cBhvr>
                                      <p:tavLst>
                                        <p:tav tm="0">
                                          <p:val>
                                            <p:strVal val="#ppt_w*0.70"/>
                                          </p:val>
                                        </p:tav>
                                        <p:tav tm="100000">
                                          <p:val>
                                            <p:strVal val="#ppt_w"/>
                                          </p:val>
                                        </p:tav>
                                      </p:tavLst>
                                    </p:anim>
                                    <p:anim calcmode="lin" valueType="num">
                                      <p:cBhvr>
                                        <p:cTn id="162" dur="350" fill="hold"/>
                                        <p:tgtEl>
                                          <p:spTgt spid="36"/>
                                        </p:tgtEl>
                                        <p:attrNameLst>
                                          <p:attrName>ppt_h</p:attrName>
                                        </p:attrNameLst>
                                      </p:cBhvr>
                                      <p:tavLst>
                                        <p:tav tm="0">
                                          <p:val>
                                            <p:strVal val="#ppt_h*0.70"/>
                                          </p:val>
                                        </p:tav>
                                        <p:tav tm="100000">
                                          <p:val>
                                            <p:strVal val="#ppt_h"/>
                                          </p:val>
                                        </p:tav>
                                      </p:tavLst>
                                    </p:anim>
                                    <p:animEffect transition="in" filter="fade">
                                      <p:cBhvr>
                                        <p:cTn id="163" dur="350"/>
                                        <p:tgtEl>
                                          <p:spTgt spid="36"/>
                                        </p:tgtEl>
                                      </p:cBhvr>
                                    </p:animEffect>
                                  </p:childTnLst>
                                </p:cTn>
                              </p:par>
                              <p:par>
                                <p:cTn id="167" presetID="10" presetClass="entr" presetSubtype="0" fill="hold" grpId="0" nodeType="withEffect" decel="100000">
                                  <p:stCondLst>
                                    <p:cond delay="250"/>
                                  </p:stCondLst>
                                  <p:childTnLst>
                                    <p:set>
                                      <p:cBhvr>
                                        <p:cTn id="165" dur="1" fill="hold">
                                          <p:stCondLst>
                                            <p:cond delay="0"/>
                                          </p:stCondLst>
                                        </p:cTn>
                                        <p:tgtEl>
                                          <p:spTgt spid="37"/>
                                        </p:tgtEl>
                                        <p:attrNameLst>
                                          <p:attrName>style.visibility</p:attrName>
                                        </p:attrNameLst>
                                      </p:cBhvr>
                                      <p:to>
                                        <p:strVal val="visible"/>
                                      </p:to>
                                    </p:set>
                                    <p:animEffect transition="in" filter="fade">
                                      <p:cBhvr>
                                        <p:cTn id="166" dur="500"/>
                                        <p:tgtEl>
                                          <p:spTgt spid="37"/>
                                        </p:tgtEl>
                                      </p:cBhvr>
                                    </p:animEffect>
                                  </p:childTnLst>
                                </p:cTn>
                              </p:par>
                              <p:par>
                                <p:cTn id="170" presetID="22" presetClass="entr" presetSubtype="8" fill="hold" grpId="0" nodeType="withEffect" decel="100000">
                                  <p:stCondLst>
                                    <p:cond delay="300"/>
                                  </p:stCondLst>
                                  <p:childTnLst>
                                    <p:set>
                                      <p:cBhvr>
                                        <p:cTn id="168" dur="1" fill="hold">
                                          <p:stCondLst>
                                            <p:cond delay="0"/>
                                          </p:stCondLst>
                                        </p:cTn>
                                        <p:tgtEl>
                                          <p:spTgt spid="38"/>
                                        </p:tgtEl>
                                        <p:attrNameLst>
                                          <p:attrName>style.visibility</p:attrName>
                                        </p:attrNameLst>
                                      </p:cBhvr>
                                      <p:to>
                                        <p:strVal val="visible"/>
                                      </p:to>
                                    </p:set>
                                    <p:animEffect transition="in" filter="wipe(right)">
                                      <p:cBhvr>
                                        <p:cTn id="169" dur="150"/>
                                        <p:tgtEl>
                                          <p:spTgt spid="38"/>
                                        </p:tgtEl>
                                      </p:cBhvr>
                                    </p:animEffect>
                                  </p:childTnLst>
                                </p:cTn>
                              </p:par>
                              <p:par>
                                <p:cTn id="175" presetID="53" presetClass="entr" presetSubtype="16" fill="hold" grpId="0" nodeType="withEffect" decel="100000">
                                  <p:stCondLst>
                                    <p:cond delay="350"/>
                                  </p:stCondLst>
                                  <p:childTnLst>
                                    <p:set>
                                      <p:cBhvr>
                                        <p:cTn id="171" dur="1" fill="hold">
                                          <p:stCondLst>
                                            <p:cond delay="0"/>
                                          </p:stCondLst>
                                        </p:cTn>
                                        <p:tgtEl>
                                          <p:spTgt spid="39"/>
                                        </p:tgtEl>
                                        <p:attrNameLst>
                                          <p:attrName>style.visibility</p:attrName>
                                        </p:attrNameLst>
                                      </p:cBhvr>
                                      <p:to>
                                        <p:strVal val="visible"/>
                                      </p:to>
                                    </p:set>
                                    <p:anim calcmode="lin" valueType="num">
                                      <p:cBhvr>
                                        <p:cTn id="172" dur="350" fill="hold"/>
                                        <p:tgtEl>
                                          <p:spTgt spid="39"/>
                                        </p:tgtEl>
                                        <p:attrNameLst>
                                          <p:attrName>ppt_w</p:attrName>
                                        </p:attrNameLst>
                                      </p:cBhvr>
                                      <p:tavLst>
                                        <p:tav tm="0">
                                          <p:val>
                                            <p:strVal val="#ppt_w*0.70"/>
                                          </p:val>
                                        </p:tav>
                                        <p:tav tm="100000">
                                          <p:val>
                                            <p:strVal val="#ppt_w"/>
                                          </p:val>
                                        </p:tav>
                                      </p:tavLst>
                                    </p:anim>
                                    <p:anim calcmode="lin" valueType="num">
                                      <p:cBhvr>
                                        <p:cTn id="173" dur="350" fill="hold"/>
                                        <p:tgtEl>
                                          <p:spTgt spid="39"/>
                                        </p:tgtEl>
                                        <p:attrNameLst>
                                          <p:attrName>ppt_h</p:attrName>
                                        </p:attrNameLst>
                                      </p:cBhvr>
                                      <p:tavLst>
                                        <p:tav tm="0">
                                          <p:val>
                                            <p:strVal val="#ppt_h*0.70"/>
                                          </p:val>
                                        </p:tav>
                                        <p:tav tm="100000">
                                          <p:val>
                                            <p:strVal val="#ppt_h"/>
                                          </p:val>
                                        </p:tav>
                                      </p:tavLst>
                                    </p:anim>
                                    <p:animEffect transition="in" filter="fade">
                                      <p:cBhvr>
                                        <p:cTn id="174" dur="350"/>
                                        <p:tgtEl>
                                          <p:spTgt spid="39"/>
                                        </p:tgtEl>
                                      </p:cBhvr>
                                    </p:animEffect>
                                  </p:childTnLst>
                                </p:cTn>
                              </p:par>
                              <p:par>
                                <p:cTn id="180" presetID="53" presetClass="entr" presetSubtype="16" fill="hold" grpId="0" nodeType="withEffect" decel="100000">
                                  <p:stCondLst>
                                    <p:cond delay="350"/>
                                  </p:stCondLst>
                                  <p:childTnLst>
                                    <p:set>
                                      <p:cBhvr>
                                        <p:cTn id="176" dur="1" fill="hold">
                                          <p:stCondLst>
                                            <p:cond delay="0"/>
                                          </p:stCondLst>
                                        </p:cTn>
                                        <p:tgtEl>
                                          <p:spTgt spid="40"/>
                                        </p:tgtEl>
                                        <p:attrNameLst>
                                          <p:attrName>style.visibility</p:attrName>
                                        </p:attrNameLst>
                                      </p:cBhvr>
                                      <p:to>
                                        <p:strVal val="visible"/>
                                      </p:to>
                                    </p:set>
                                    <p:anim calcmode="lin" valueType="num">
                                      <p:cBhvr>
                                        <p:cTn id="177" dur="350" fill="hold"/>
                                        <p:tgtEl>
                                          <p:spTgt spid="40"/>
                                        </p:tgtEl>
                                        <p:attrNameLst>
                                          <p:attrName>ppt_w</p:attrName>
                                        </p:attrNameLst>
                                      </p:cBhvr>
                                      <p:tavLst>
                                        <p:tav tm="0">
                                          <p:val>
                                            <p:strVal val="#ppt_w*0.70"/>
                                          </p:val>
                                        </p:tav>
                                        <p:tav tm="100000">
                                          <p:val>
                                            <p:strVal val="#ppt_w"/>
                                          </p:val>
                                        </p:tav>
                                      </p:tavLst>
                                    </p:anim>
                                    <p:anim calcmode="lin" valueType="num">
                                      <p:cBhvr>
                                        <p:cTn id="178" dur="350" fill="hold"/>
                                        <p:tgtEl>
                                          <p:spTgt spid="40"/>
                                        </p:tgtEl>
                                        <p:attrNameLst>
                                          <p:attrName>ppt_h</p:attrName>
                                        </p:attrNameLst>
                                      </p:cBhvr>
                                      <p:tavLst>
                                        <p:tav tm="0">
                                          <p:val>
                                            <p:strVal val="#ppt_h*0.70"/>
                                          </p:val>
                                        </p:tav>
                                        <p:tav tm="100000">
                                          <p:val>
                                            <p:strVal val="#ppt_h"/>
                                          </p:val>
                                        </p:tav>
                                      </p:tavLst>
                                    </p:anim>
                                    <p:animEffect transition="in" filter="fade">
                                      <p:cBhvr>
                                        <p:cTn id="179" dur="350"/>
                                        <p:tgtEl>
                                          <p:spTgt spid="40"/>
                                        </p:tgtEl>
                                      </p:cBhvr>
                                    </p:animEffect>
                                  </p:childTnLst>
                                </p:cTn>
                              </p:par>
                              <p:par>
                                <p:cTn id="183" presetID="10" presetClass="entr" presetSubtype="0" fill="hold" grpId="0" nodeType="withEffect" decel="100000">
                                  <p:stCondLst>
                                    <p:cond delay="45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500"/>
                                        <p:tgtEl>
                                          <p:spTgt spid="41"/>
                                        </p:tgtEl>
                                      </p:cBhvr>
                                    </p:animEffect>
                                  </p:childTnLst>
                                </p:cTn>
                              </p:par>
                              <p:par>
                                <p:cTn id="186" presetID="22" presetClass="entr" presetSubtype="8" fill="hold" grpId="0" nodeType="withEffect" decel="100000">
                                  <p:stCondLst>
                                    <p:cond delay="500"/>
                                  </p:stCondLst>
                                  <p:childTnLst>
                                    <p:set>
                                      <p:cBhvr>
                                        <p:cTn id="184" dur="1" fill="hold">
                                          <p:stCondLst>
                                            <p:cond delay="0"/>
                                          </p:stCondLst>
                                        </p:cTn>
                                        <p:tgtEl>
                                          <p:spTgt spid="42"/>
                                        </p:tgtEl>
                                        <p:attrNameLst>
                                          <p:attrName>style.visibility</p:attrName>
                                        </p:attrNameLst>
                                      </p:cBhvr>
                                      <p:to>
                                        <p:strVal val="visible"/>
                                      </p:to>
                                    </p:set>
                                    <p:animEffect transition="in" filter="wipe(right)">
                                      <p:cBhvr>
                                        <p:cTn id="185" dur="150"/>
                                        <p:tgtEl>
                                          <p:spTgt spid="42"/>
                                        </p:tgtEl>
                                      </p:cBhvr>
                                    </p:animEffect>
                                  </p:childTnLst>
                                </p:cTn>
                              </p:par>
                              <p:par>
                                <p:cTn id="191" presetID="53" presetClass="entr" presetSubtype="16" fill="hold" grpId="0" nodeType="withEffect" decel="100000">
                                  <p:stCondLst>
                                    <p:cond delay="550"/>
                                  </p:stCondLst>
                                  <p:childTnLst>
                                    <p:set>
                                      <p:cBhvr>
                                        <p:cTn id="187" dur="1" fill="hold">
                                          <p:stCondLst>
                                            <p:cond delay="0"/>
                                          </p:stCondLst>
                                        </p:cTn>
                                        <p:tgtEl>
                                          <p:spTgt spid="43"/>
                                        </p:tgtEl>
                                        <p:attrNameLst>
                                          <p:attrName>style.visibility</p:attrName>
                                        </p:attrNameLst>
                                      </p:cBhvr>
                                      <p:to>
                                        <p:strVal val="visible"/>
                                      </p:to>
                                    </p:set>
                                    <p:anim calcmode="lin" valueType="num">
                                      <p:cBhvr>
                                        <p:cTn id="188" dur="350" fill="hold"/>
                                        <p:tgtEl>
                                          <p:spTgt spid="43"/>
                                        </p:tgtEl>
                                        <p:attrNameLst>
                                          <p:attrName>ppt_w</p:attrName>
                                        </p:attrNameLst>
                                      </p:cBhvr>
                                      <p:tavLst>
                                        <p:tav tm="0">
                                          <p:val>
                                            <p:strVal val="#ppt_w*0.70"/>
                                          </p:val>
                                        </p:tav>
                                        <p:tav tm="100000">
                                          <p:val>
                                            <p:strVal val="#ppt_w"/>
                                          </p:val>
                                        </p:tav>
                                      </p:tavLst>
                                    </p:anim>
                                    <p:anim calcmode="lin" valueType="num">
                                      <p:cBhvr>
                                        <p:cTn id="189" dur="350" fill="hold"/>
                                        <p:tgtEl>
                                          <p:spTgt spid="43"/>
                                        </p:tgtEl>
                                        <p:attrNameLst>
                                          <p:attrName>ppt_h</p:attrName>
                                        </p:attrNameLst>
                                      </p:cBhvr>
                                      <p:tavLst>
                                        <p:tav tm="0">
                                          <p:val>
                                            <p:strVal val="#ppt_h*0.70"/>
                                          </p:val>
                                        </p:tav>
                                        <p:tav tm="100000">
                                          <p:val>
                                            <p:strVal val="#ppt_h"/>
                                          </p:val>
                                        </p:tav>
                                      </p:tavLst>
                                    </p:anim>
                                    <p:animEffect transition="in" filter="fade">
                                      <p:cBhvr>
                                        <p:cTn id="190" dur="350"/>
                                        <p:tgtEl>
                                          <p:spTgt spid="43"/>
                                        </p:tgtEl>
                                      </p:cBhvr>
                                    </p:animEffect>
                                  </p:childTnLst>
                                </p:cTn>
                              </p:par>
                              <p:par>
                                <p:cTn id="196" presetID="53" presetClass="entr" presetSubtype="16" fill="hold" grpId="0" nodeType="withEffect" decel="100000">
                                  <p:stCondLst>
                                    <p:cond delay="550"/>
                                  </p:stCondLst>
                                  <p:childTnLst>
                                    <p:set>
                                      <p:cBhvr>
                                        <p:cTn id="192" dur="1" fill="hold">
                                          <p:stCondLst>
                                            <p:cond delay="0"/>
                                          </p:stCondLst>
                                        </p:cTn>
                                        <p:tgtEl>
                                          <p:spTgt spid="44"/>
                                        </p:tgtEl>
                                        <p:attrNameLst>
                                          <p:attrName>style.visibility</p:attrName>
                                        </p:attrNameLst>
                                      </p:cBhvr>
                                      <p:to>
                                        <p:strVal val="visible"/>
                                      </p:to>
                                    </p:set>
                                    <p:anim calcmode="lin" valueType="num">
                                      <p:cBhvr>
                                        <p:cTn id="193" dur="350" fill="hold"/>
                                        <p:tgtEl>
                                          <p:spTgt spid="44"/>
                                        </p:tgtEl>
                                        <p:attrNameLst>
                                          <p:attrName>ppt_w</p:attrName>
                                        </p:attrNameLst>
                                      </p:cBhvr>
                                      <p:tavLst>
                                        <p:tav tm="0">
                                          <p:val>
                                            <p:strVal val="#ppt_w*0.70"/>
                                          </p:val>
                                        </p:tav>
                                        <p:tav tm="100000">
                                          <p:val>
                                            <p:strVal val="#ppt_w"/>
                                          </p:val>
                                        </p:tav>
                                      </p:tavLst>
                                    </p:anim>
                                    <p:anim calcmode="lin" valueType="num">
                                      <p:cBhvr>
                                        <p:cTn id="194" dur="350" fill="hold"/>
                                        <p:tgtEl>
                                          <p:spTgt spid="44"/>
                                        </p:tgtEl>
                                        <p:attrNameLst>
                                          <p:attrName>ppt_h</p:attrName>
                                        </p:attrNameLst>
                                      </p:cBhvr>
                                      <p:tavLst>
                                        <p:tav tm="0">
                                          <p:val>
                                            <p:strVal val="#ppt_h*0.70"/>
                                          </p:val>
                                        </p:tav>
                                        <p:tav tm="100000">
                                          <p:val>
                                            <p:strVal val="#ppt_h"/>
                                          </p:val>
                                        </p:tav>
                                      </p:tavLst>
                                    </p:anim>
                                    <p:animEffect transition="in" filter="fade">
                                      <p:cBhvr>
                                        <p:cTn id="195" dur="350"/>
                                        <p:tgtEl>
                                          <p:spTgt spid="44"/>
                                        </p:tgtEl>
                                      </p:cBhvr>
                                    </p:animEffect>
                                  </p:childTnLst>
                                </p:cTn>
                              </p:par>
                              <p:par>
                                <p:cTn id="199" presetID="10" presetClass="entr" presetSubtype="0" fill="hold" grpId="0" nodeType="withEffect" decel="100000">
                                  <p:stCondLst>
                                    <p:cond delay="650"/>
                                  </p:stCondLst>
                                  <p:childTnLst>
                                    <p:set>
                                      <p:cBhvr>
                                        <p:cTn id="197" dur="1" fill="hold">
                                          <p:stCondLst>
                                            <p:cond delay="0"/>
                                          </p:stCondLst>
                                        </p:cTn>
                                        <p:tgtEl>
                                          <p:spTgt spid="45"/>
                                        </p:tgtEl>
                                        <p:attrNameLst>
                                          <p:attrName>style.visibility</p:attrName>
                                        </p:attrNameLst>
                                      </p:cBhvr>
                                      <p:to>
                                        <p:strVal val="visible"/>
                                      </p:to>
                                    </p:set>
                                    <p:animEffect transition="in" filter="fade">
                                      <p:cBhvr>
                                        <p:cTn id="198" dur="500"/>
                                        <p:tgtEl>
                                          <p:spTgt spid="45"/>
                                        </p:tgtEl>
                                      </p:cBhvr>
                                    </p:animEffect>
                                  </p:childTnLst>
                                </p:cTn>
                              </p:par>
                              <p:par>
                                <p:cTn id="202" presetID="22" presetClass="entr" presetSubtype="8" fill="hold" grpId="0" nodeType="withEffect" decel="100000">
                                  <p:stCondLst>
                                    <p:cond delay="700"/>
                                  </p:stCondLst>
                                  <p:childTnLst>
                                    <p:set>
                                      <p:cBhvr>
                                        <p:cTn id="200" dur="1" fill="hold">
                                          <p:stCondLst>
                                            <p:cond delay="0"/>
                                          </p:stCondLst>
                                        </p:cTn>
                                        <p:tgtEl>
                                          <p:spTgt spid="46"/>
                                        </p:tgtEl>
                                        <p:attrNameLst>
                                          <p:attrName>style.visibility</p:attrName>
                                        </p:attrNameLst>
                                      </p:cBhvr>
                                      <p:to>
                                        <p:strVal val="visible"/>
                                      </p:to>
                                    </p:set>
                                    <p:animEffect transition="in" filter="wipe(right)">
                                      <p:cBhvr>
                                        <p:cTn id="201" dur="150"/>
                                        <p:tgtEl>
                                          <p:spTgt spid="46"/>
                                        </p:tgtEl>
                                      </p:cBhvr>
                                    </p:animEffect>
                                  </p:childTnLst>
                                </p:cTn>
                              </p:par>
                              <p:par>
                                <p:cTn id="207" presetID="53" presetClass="entr" presetSubtype="16" fill="hold" grpId="0" nodeType="withEffect" decel="100000">
                                  <p:stCondLst>
                                    <p:cond delay="750"/>
                                  </p:stCondLst>
                                  <p:childTnLst>
                                    <p:set>
                                      <p:cBhvr>
                                        <p:cTn id="203" dur="1" fill="hold">
                                          <p:stCondLst>
                                            <p:cond delay="0"/>
                                          </p:stCondLst>
                                        </p:cTn>
                                        <p:tgtEl>
                                          <p:spTgt spid="47"/>
                                        </p:tgtEl>
                                        <p:attrNameLst>
                                          <p:attrName>style.visibility</p:attrName>
                                        </p:attrNameLst>
                                      </p:cBhvr>
                                      <p:to>
                                        <p:strVal val="visible"/>
                                      </p:to>
                                    </p:set>
                                    <p:anim calcmode="lin" valueType="num">
                                      <p:cBhvr>
                                        <p:cTn id="204" dur="350" fill="hold"/>
                                        <p:tgtEl>
                                          <p:spTgt spid="47"/>
                                        </p:tgtEl>
                                        <p:attrNameLst>
                                          <p:attrName>ppt_w</p:attrName>
                                        </p:attrNameLst>
                                      </p:cBhvr>
                                      <p:tavLst>
                                        <p:tav tm="0">
                                          <p:val>
                                            <p:strVal val="#ppt_w*0.70"/>
                                          </p:val>
                                        </p:tav>
                                        <p:tav tm="100000">
                                          <p:val>
                                            <p:strVal val="#ppt_w"/>
                                          </p:val>
                                        </p:tav>
                                      </p:tavLst>
                                    </p:anim>
                                    <p:anim calcmode="lin" valueType="num">
                                      <p:cBhvr>
                                        <p:cTn id="205" dur="350" fill="hold"/>
                                        <p:tgtEl>
                                          <p:spTgt spid="47"/>
                                        </p:tgtEl>
                                        <p:attrNameLst>
                                          <p:attrName>ppt_h</p:attrName>
                                        </p:attrNameLst>
                                      </p:cBhvr>
                                      <p:tavLst>
                                        <p:tav tm="0">
                                          <p:val>
                                            <p:strVal val="#ppt_h*0.70"/>
                                          </p:val>
                                        </p:tav>
                                        <p:tav tm="100000">
                                          <p:val>
                                            <p:strVal val="#ppt_h"/>
                                          </p:val>
                                        </p:tav>
                                      </p:tavLst>
                                    </p:anim>
                                    <p:animEffect transition="in" filter="fade">
                                      <p:cBhvr>
                                        <p:cTn id="206" dur="350"/>
                                        <p:tgtEl>
                                          <p:spTgt spid="47"/>
                                        </p:tgtEl>
                                      </p:cBhvr>
                                    </p:animEffect>
                                  </p:childTnLst>
                                </p:cTn>
                              </p:par>
                              <p:par>
                                <p:cTn id="212" presetID="53" presetClass="entr" presetSubtype="16" fill="hold" grpId="0" nodeType="withEffect" decel="100000">
                                  <p:stCondLst>
                                    <p:cond delay="750"/>
                                  </p:stCondLst>
                                  <p:childTnLst>
                                    <p:set>
                                      <p:cBhvr>
                                        <p:cTn id="208" dur="1" fill="hold">
                                          <p:stCondLst>
                                            <p:cond delay="0"/>
                                          </p:stCondLst>
                                        </p:cTn>
                                        <p:tgtEl>
                                          <p:spTgt spid="48"/>
                                        </p:tgtEl>
                                        <p:attrNameLst>
                                          <p:attrName>style.visibility</p:attrName>
                                        </p:attrNameLst>
                                      </p:cBhvr>
                                      <p:to>
                                        <p:strVal val="visible"/>
                                      </p:to>
                                    </p:set>
                                    <p:anim calcmode="lin" valueType="num">
                                      <p:cBhvr>
                                        <p:cTn id="209" dur="350" fill="hold"/>
                                        <p:tgtEl>
                                          <p:spTgt spid="48"/>
                                        </p:tgtEl>
                                        <p:attrNameLst>
                                          <p:attrName>ppt_w</p:attrName>
                                        </p:attrNameLst>
                                      </p:cBhvr>
                                      <p:tavLst>
                                        <p:tav tm="0">
                                          <p:val>
                                            <p:strVal val="#ppt_w*0.70"/>
                                          </p:val>
                                        </p:tav>
                                        <p:tav tm="100000">
                                          <p:val>
                                            <p:strVal val="#ppt_w"/>
                                          </p:val>
                                        </p:tav>
                                      </p:tavLst>
                                    </p:anim>
                                    <p:anim calcmode="lin" valueType="num">
                                      <p:cBhvr>
                                        <p:cTn id="210" dur="350" fill="hold"/>
                                        <p:tgtEl>
                                          <p:spTgt spid="48"/>
                                        </p:tgtEl>
                                        <p:attrNameLst>
                                          <p:attrName>ppt_h</p:attrName>
                                        </p:attrNameLst>
                                      </p:cBhvr>
                                      <p:tavLst>
                                        <p:tav tm="0">
                                          <p:val>
                                            <p:strVal val="#ppt_h*0.70"/>
                                          </p:val>
                                        </p:tav>
                                        <p:tav tm="100000">
                                          <p:val>
                                            <p:strVal val="#ppt_h"/>
                                          </p:val>
                                        </p:tav>
                                      </p:tavLst>
                                    </p:anim>
                                    <p:animEffect transition="in" filter="fade">
                                      <p:cBhvr>
                                        <p:cTn id="211" dur="350"/>
                                        <p:tgtEl>
                                          <p:spTgt spid="48"/>
                                        </p:tgtEl>
                                      </p:cBhvr>
                                    </p:animEffect>
                                  </p:childTnLst>
                                </p:cTn>
                              </p:par>
                              <p:par>
                                <p:cTn id="215" presetID="10" presetClass="entr" presetSubtype="0" fill="hold" grpId="0" nodeType="withEffect" decel="100000">
                                  <p:stCondLst>
                                    <p:cond delay="850"/>
                                  </p:stCondLst>
                                  <p:childTnLst>
                                    <p:set>
                                      <p:cBhvr>
                                        <p:cTn id="213" dur="1" fill="hold">
                                          <p:stCondLst>
                                            <p:cond delay="0"/>
                                          </p:stCondLst>
                                        </p:cTn>
                                        <p:tgtEl>
                                          <p:spTgt spid="49"/>
                                        </p:tgtEl>
                                        <p:attrNameLst>
                                          <p:attrName>style.visibility</p:attrName>
                                        </p:attrNameLst>
                                      </p:cBhvr>
                                      <p:to>
                                        <p:strVal val="visible"/>
                                      </p:to>
                                    </p:set>
                                    <p:animEffect transition="in" filter="fade">
                                      <p:cBhvr>
                                        <p:cTn id="214" dur="500"/>
                                        <p:tgtEl>
                                          <p:spTgt spid="49"/>
                                        </p:tgtEl>
                                      </p:cBhvr>
                                    </p:animEffect>
                                  </p:childTnLst>
                                </p:cTn>
                              </p:par>
                              <p:par>
                                <p:cTn id="218" presetID="22" presetClass="entr" presetSubtype="8" fill="hold" grpId="0" nodeType="withEffect" decel="100000">
                                  <p:stCondLst>
                                    <p:cond delay="900"/>
                                  </p:stCondLst>
                                  <p:childTnLst>
                                    <p:set>
                                      <p:cBhvr>
                                        <p:cTn id="216" dur="1" fill="hold">
                                          <p:stCondLst>
                                            <p:cond delay="0"/>
                                          </p:stCondLst>
                                        </p:cTn>
                                        <p:tgtEl>
                                          <p:spTgt spid="50"/>
                                        </p:tgtEl>
                                        <p:attrNameLst>
                                          <p:attrName>style.visibility</p:attrName>
                                        </p:attrNameLst>
                                      </p:cBhvr>
                                      <p:to>
                                        <p:strVal val="visible"/>
                                      </p:to>
                                    </p:set>
                                    <p:animEffect transition="in" filter="wipe(right)">
                                      <p:cBhvr>
                                        <p:cTn id="217" dur="150"/>
                                        <p:tgtEl>
                                          <p:spTgt spid="50"/>
                                        </p:tgtEl>
                                      </p:cBhvr>
                                    </p:animEffect>
                                  </p:childTnLst>
                                </p:cTn>
                              </p:par>
                              <p:par>
                                <p:cTn id="223" presetID="53" presetClass="entr" presetSubtype="16" fill="hold" grpId="0" nodeType="withEffect" decel="100000">
                                  <p:stCondLst>
                                    <p:cond delay="950"/>
                                  </p:stCondLst>
                                  <p:childTnLst>
                                    <p:set>
                                      <p:cBhvr>
                                        <p:cTn id="219" dur="1" fill="hold">
                                          <p:stCondLst>
                                            <p:cond delay="0"/>
                                          </p:stCondLst>
                                        </p:cTn>
                                        <p:tgtEl>
                                          <p:spTgt spid="51"/>
                                        </p:tgtEl>
                                        <p:attrNameLst>
                                          <p:attrName>style.visibility</p:attrName>
                                        </p:attrNameLst>
                                      </p:cBhvr>
                                      <p:to>
                                        <p:strVal val="visible"/>
                                      </p:to>
                                    </p:set>
                                    <p:anim calcmode="lin" valueType="num">
                                      <p:cBhvr>
                                        <p:cTn id="220" dur="350" fill="hold"/>
                                        <p:tgtEl>
                                          <p:spTgt spid="51"/>
                                        </p:tgtEl>
                                        <p:attrNameLst>
                                          <p:attrName>ppt_w</p:attrName>
                                        </p:attrNameLst>
                                      </p:cBhvr>
                                      <p:tavLst>
                                        <p:tav tm="0">
                                          <p:val>
                                            <p:strVal val="#ppt_w*0.70"/>
                                          </p:val>
                                        </p:tav>
                                        <p:tav tm="100000">
                                          <p:val>
                                            <p:strVal val="#ppt_w"/>
                                          </p:val>
                                        </p:tav>
                                      </p:tavLst>
                                    </p:anim>
                                    <p:anim calcmode="lin" valueType="num">
                                      <p:cBhvr>
                                        <p:cTn id="221" dur="350" fill="hold"/>
                                        <p:tgtEl>
                                          <p:spTgt spid="51"/>
                                        </p:tgtEl>
                                        <p:attrNameLst>
                                          <p:attrName>ppt_h</p:attrName>
                                        </p:attrNameLst>
                                      </p:cBhvr>
                                      <p:tavLst>
                                        <p:tav tm="0">
                                          <p:val>
                                            <p:strVal val="#ppt_h*0.70"/>
                                          </p:val>
                                        </p:tav>
                                        <p:tav tm="100000">
                                          <p:val>
                                            <p:strVal val="#ppt_h"/>
                                          </p:val>
                                        </p:tav>
                                      </p:tavLst>
                                    </p:anim>
                                    <p:animEffect transition="in" filter="fade">
                                      <p:cBhvr>
                                        <p:cTn id="222" dur="350"/>
                                        <p:tgtEl>
                                          <p:spTgt spid="51"/>
                                        </p:tgtEl>
                                      </p:cBhvr>
                                    </p:animEffect>
                                  </p:childTnLst>
                                </p:cTn>
                              </p:par>
                              <p:par>
                                <p:cTn id="228" presetID="53" presetClass="entr" presetSubtype="16" fill="hold" grpId="0" nodeType="withEffect" decel="100000">
                                  <p:stCondLst>
                                    <p:cond delay="950"/>
                                  </p:stCondLst>
                                  <p:childTnLst>
                                    <p:set>
                                      <p:cBhvr>
                                        <p:cTn id="224" dur="1" fill="hold">
                                          <p:stCondLst>
                                            <p:cond delay="0"/>
                                          </p:stCondLst>
                                        </p:cTn>
                                        <p:tgtEl>
                                          <p:spTgt spid="52"/>
                                        </p:tgtEl>
                                        <p:attrNameLst>
                                          <p:attrName>style.visibility</p:attrName>
                                        </p:attrNameLst>
                                      </p:cBhvr>
                                      <p:to>
                                        <p:strVal val="visible"/>
                                      </p:to>
                                    </p:set>
                                    <p:anim calcmode="lin" valueType="num">
                                      <p:cBhvr>
                                        <p:cTn id="225" dur="350" fill="hold"/>
                                        <p:tgtEl>
                                          <p:spTgt spid="52"/>
                                        </p:tgtEl>
                                        <p:attrNameLst>
                                          <p:attrName>ppt_w</p:attrName>
                                        </p:attrNameLst>
                                      </p:cBhvr>
                                      <p:tavLst>
                                        <p:tav tm="0">
                                          <p:val>
                                            <p:strVal val="#ppt_w*0.70"/>
                                          </p:val>
                                        </p:tav>
                                        <p:tav tm="100000">
                                          <p:val>
                                            <p:strVal val="#ppt_w"/>
                                          </p:val>
                                        </p:tav>
                                      </p:tavLst>
                                    </p:anim>
                                    <p:anim calcmode="lin" valueType="num">
                                      <p:cBhvr>
                                        <p:cTn id="226" dur="350" fill="hold"/>
                                        <p:tgtEl>
                                          <p:spTgt spid="52"/>
                                        </p:tgtEl>
                                        <p:attrNameLst>
                                          <p:attrName>ppt_h</p:attrName>
                                        </p:attrNameLst>
                                      </p:cBhvr>
                                      <p:tavLst>
                                        <p:tav tm="0">
                                          <p:val>
                                            <p:strVal val="#ppt_h*0.70"/>
                                          </p:val>
                                        </p:tav>
                                        <p:tav tm="100000">
                                          <p:val>
                                            <p:strVal val="#ppt_h"/>
                                          </p:val>
                                        </p:tav>
                                      </p:tavLst>
                                    </p:anim>
                                    <p:animEffect transition="in" filter="fade">
                                      <p:cBhvr>
                                        <p:cTn id="227" dur="350"/>
                                        <p:tgtEl>
                                          <p:spTgt spid="52"/>
                                        </p:tgtEl>
                                      </p:cBhvr>
                                    </p:animEffect>
                                  </p:childTnLst>
                                </p:cTn>
                              </p:par>
                              <p:par>
                                <p:cTn id="231" presetID="10" presetClass="entr" presetSubtype="0" fill="hold" grpId="0" nodeType="withEffect" decel="100000">
                                  <p:stCondLst>
                                    <p:cond delay="1050"/>
                                  </p:stCondLst>
                                  <p:childTnLst>
                                    <p:set>
                                      <p:cBhvr>
                                        <p:cTn id="229" dur="1" fill="hold">
                                          <p:stCondLst>
                                            <p:cond delay="0"/>
                                          </p:stCondLst>
                                        </p:cTn>
                                        <p:tgtEl>
                                          <p:spTgt spid="53"/>
                                        </p:tgtEl>
                                        <p:attrNameLst>
                                          <p:attrName>style.visibility</p:attrName>
                                        </p:attrNameLst>
                                      </p:cBhvr>
                                      <p:to>
                                        <p:strVal val="visible"/>
                                      </p:to>
                                    </p:set>
                                    <p:animEffect transition="in" filter="fade">
                                      <p:cBhvr>
                                        <p:cTn id="230" dur="500"/>
                                        <p:tgtEl>
                                          <p:spTgt spid="53"/>
                                        </p:tgtEl>
                                      </p:cBhvr>
                                    </p:animEffect>
                                  </p:childTnLst>
                                </p:cTn>
                              </p:par>
                              <p:par>
                                <p:cTn id="234" presetID="22" presetClass="entr" presetSubtype="8" fill="hold" grpId="0" nodeType="withEffect" decel="100000">
                                  <p:stCondLst>
                                    <p:cond delay="1100"/>
                                  </p:stCondLst>
                                  <p:childTnLst>
                                    <p:set>
                                      <p:cBhvr>
                                        <p:cTn id="232" dur="1" fill="hold">
                                          <p:stCondLst>
                                            <p:cond delay="0"/>
                                          </p:stCondLst>
                                        </p:cTn>
                                        <p:tgtEl>
                                          <p:spTgt spid="54"/>
                                        </p:tgtEl>
                                        <p:attrNameLst>
                                          <p:attrName>style.visibility</p:attrName>
                                        </p:attrNameLst>
                                      </p:cBhvr>
                                      <p:to>
                                        <p:strVal val="visible"/>
                                      </p:to>
                                    </p:set>
                                    <p:animEffect transition="in" filter="wipe(right)">
                                      <p:cBhvr>
                                        <p:cTn id="233" dur="150"/>
                                        <p:tgtEl>
                                          <p:spTgt spid="54"/>
                                        </p:tgtEl>
                                      </p:cBhvr>
                                    </p:animEffect>
                                  </p:childTnLst>
                                </p:cTn>
                              </p:par>
                              <p:par>
                                <p:cTn id="239" presetID="53" presetClass="entr" presetSubtype="16" fill="hold" grpId="0" nodeType="withEffect" decel="100000">
                                  <p:stCondLst>
                                    <p:cond delay="1150"/>
                                  </p:stCondLst>
                                  <p:childTnLst>
                                    <p:set>
                                      <p:cBhvr>
                                        <p:cTn id="235" dur="1" fill="hold">
                                          <p:stCondLst>
                                            <p:cond delay="0"/>
                                          </p:stCondLst>
                                        </p:cTn>
                                        <p:tgtEl>
                                          <p:spTgt spid="55"/>
                                        </p:tgtEl>
                                        <p:attrNameLst>
                                          <p:attrName>style.visibility</p:attrName>
                                        </p:attrNameLst>
                                      </p:cBhvr>
                                      <p:to>
                                        <p:strVal val="visible"/>
                                      </p:to>
                                    </p:set>
                                    <p:anim calcmode="lin" valueType="num">
                                      <p:cBhvr>
                                        <p:cTn id="236" dur="350" fill="hold"/>
                                        <p:tgtEl>
                                          <p:spTgt spid="55"/>
                                        </p:tgtEl>
                                        <p:attrNameLst>
                                          <p:attrName>ppt_w</p:attrName>
                                        </p:attrNameLst>
                                      </p:cBhvr>
                                      <p:tavLst>
                                        <p:tav tm="0">
                                          <p:val>
                                            <p:strVal val="#ppt_w*0.70"/>
                                          </p:val>
                                        </p:tav>
                                        <p:tav tm="100000">
                                          <p:val>
                                            <p:strVal val="#ppt_w"/>
                                          </p:val>
                                        </p:tav>
                                      </p:tavLst>
                                    </p:anim>
                                    <p:anim calcmode="lin" valueType="num">
                                      <p:cBhvr>
                                        <p:cTn id="237" dur="350" fill="hold"/>
                                        <p:tgtEl>
                                          <p:spTgt spid="55"/>
                                        </p:tgtEl>
                                        <p:attrNameLst>
                                          <p:attrName>ppt_h</p:attrName>
                                        </p:attrNameLst>
                                      </p:cBhvr>
                                      <p:tavLst>
                                        <p:tav tm="0">
                                          <p:val>
                                            <p:strVal val="#ppt_h*0.70"/>
                                          </p:val>
                                        </p:tav>
                                        <p:tav tm="100000">
                                          <p:val>
                                            <p:strVal val="#ppt_h"/>
                                          </p:val>
                                        </p:tav>
                                      </p:tavLst>
                                    </p:anim>
                                    <p:animEffect transition="in" filter="fade">
                                      <p:cBhvr>
                                        <p:cTn id="238" dur="350"/>
                                        <p:tgtEl>
                                          <p:spTgt spid="55"/>
                                        </p:tgtEl>
                                      </p:cBhvr>
                                    </p:animEffect>
                                  </p:childTnLst>
                                </p:cTn>
                              </p:par>
                              <p:par>
                                <p:cTn id="244" presetID="53" presetClass="entr" presetSubtype="16" fill="hold" grpId="0" nodeType="withEffect" decel="100000">
                                  <p:stCondLst>
                                    <p:cond delay="1150"/>
                                  </p:stCondLst>
                                  <p:childTnLst>
                                    <p:set>
                                      <p:cBhvr>
                                        <p:cTn id="240" dur="1" fill="hold">
                                          <p:stCondLst>
                                            <p:cond delay="0"/>
                                          </p:stCondLst>
                                        </p:cTn>
                                        <p:tgtEl>
                                          <p:spTgt spid="56"/>
                                        </p:tgtEl>
                                        <p:attrNameLst>
                                          <p:attrName>style.visibility</p:attrName>
                                        </p:attrNameLst>
                                      </p:cBhvr>
                                      <p:to>
                                        <p:strVal val="visible"/>
                                      </p:to>
                                    </p:set>
                                    <p:anim calcmode="lin" valueType="num">
                                      <p:cBhvr>
                                        <p:cTn id="241" dur="350" fill="hold"/>
                                        <p:tgtEl>
                                          <p:spTgt spid="56"/>
                                        </p:tgtEl>
                                        <p:attrNameLst>
                                          <p:attrName>ppt_w</p:attrName>
                                        </p:attrNameLst>
                                      </p:cBhvr>
                                      <p:tavLst>
                                        <p:tav tm="0">
                                          <p:val>
                                            <p:strVal val="#ppt_w*0.70"/>
                                          </p:val>
                                        </p:tav>
                                        <p:tav tm="100000">
                                          <p:val>
                                            <p:strVal val="#ppt_w"/>
                                          </p:val>
                                        </p:tav>
                                      </p:tavLst>
                                    </p:anim>
                                    <p:anim calcmode="lin" valueType="num">
                                      <p:cBhvr>
                                        <p:cTn id="242" dur="350" fill="hold"/>
                                        <p:tgtEl>
                                          <p:spTgt spid="56"/>
                                        </p:tgtEl>
                                        <p:attrNameLst>
                                          <p:attrName>ppt_h</p:attrName>
                                        </p:attrNameLst>
                                      </p:cBhvr>
                                      <p:tavLst>
                                        <p:tav tm="0">
                                          <p:val>
                                            <p:strVal val="#ppt_h*0.70"/>
                                          </p:val>
                                        </p:tav>
                                        <p:tav tm="100000">
                                          <p:val>
                                            <p:strVal val="#ppt_h"/>
                                          </p:val>
                                        </p:tav>
                                      </p:tavLst>
                                    </p:anim>
                                    <p:animEffect transition="in" filter="fade">
                                      <p:cBhvr>
                                        <p:cTn id="243" dur="350"/>
                                        <p:tgtEl>
                                          <p:spTgt spid="56"/>
                                        </p:tgtEl>
                                      </p:cBhvr>
                                    </p:animEffect>
                                  </p:childTnLst>
                                </p:cTn>
                              </p:par>
                              <p:par>
                                <p:cTn id="247" presetID="10" presetClass="entr" presetSubtype="0" fill="hold" grpId="0" nodeType="withEffect" decel="100000">
                                  <p:stCondLst>
                                    <p:cond delay="1250"/>
                                  </p:stCondLst>
                                  <p:childTnLst>
                                    <p:set>
                                      <p:cBhvr>
                                        <p:cTn id="245" dur="1" fill="hold">
                                          <p:stCondLst>
                                            <p:cond delay="0"/>
                                          </p:stCondLst>
                                        </p:cTn>
                                        <p:tgtEl>
                                          <p:spTgt spid="57"/>
                                        </p:tgtEl>
                                        <p:attrNameLst>
                                          <p:attrName>style.visibility</p:attrName>
                                        </p:attrNameLst>
                                      </p:cBhvr>
                                      <p:to>
                                        <p:strVal val="visible"/>
                                      </p:to>
                                    </p:set>
                                    <p:animEffect transition="in" filter="fade">
                                      <p:cBhvr>
                                        <p:cTn id="246" dur="500"/>
                                        <p:tgtEl>
                                          <p:spTgt spid="57"/>
                                        </p:tgtEl>
                                      </p:cBhvr>
                                    </p:animEffect>
                                  </p:childTnLst>
                                </p:cTn>
                              </p:par>
                            </p:childTnLst>
                          </p:cTn>
                        </p:par>
                      </p:childTnLst>
                    </p:cTn>
                  </p:par>
                  <p:par>
                    <p:cTn id="300" fill="hold">
                      <p:stCondLst>
                        <p:cond delay="indefinite"/>
                      </p:stCondLst>
                      <p:childTnLst>
                        <p:par>
                          <p:cTn id="301" fill="hold">
                            <p:stCondLst>
                              <p:cond delay="0"/>
                            </p:stCondLst>
                            <p:childTnLst>
                              <p:par>
                                <p:cTn id="254" presetID="42" presetClass="entr" presetSubtype="0" fill="hold" grpId="0" nodeType="clickEffect" decel="100000">
                                  <p:stCondLst>
                                    <p:cond delay="0"/>
                                  </p:stCondLst>
                                  <p:childTnLst>
                                    <p:set>
                                      <p:cBhvr>
                                        <p:cTn id="250" dur="1" fill="hold">
                                          <p:stCondLst>
                                            <p:cond delay="0"/>
                                          </p:stCondLst>
                                        </p:cTn>
                                        <p:tgtEl>
                                          <p:spTgt spid="58"/>
                                        </p:tgtEl>
                                        <p:attrNameLst>
                                          <p:attrName>style.visibility</p:attrName>
                                        </p:attrNameLst>
                                      </p:cBhvr>
                                      <p:to>
                                        <p:strVal val="visible"/>
                                      </p:to>
                                    </p:set>
                                    <p:animEffect transition="in" filter="fade">
                                      <p:cBhvr>
                                        <p:cTn id="251" dur="500"/>
                                        <p:tgtEl>
                                          <p:spTgt spid="58"/>
                                        </p:tgtEl>
                                      </p:cBhvr>
                                    </p:animEffect>
                                    <p:anim calcmode="lin" valueType="num">
                                      <p:cBhvr>
                                        <p:cTn id="252" dur="500" fill="hold"/>
                                        <p:tgtEl>
                                          <p:spTgt spid="58"/>
                                        </p:tgtEl>
                                        <p:attrNameLst>
                                          <p:attrName>ppt_x</p:attrName>
                                        </p:attrNameLst>
                                      </p:cBhvr>
                                      <p:tavLst>
                                        <p:tav tm="0">
                                          <p:val>
                                            <p:strVal val="#ppt_x"/>
                                          </p:val>
                                        </p:tav>
                                        <p:tav tm="100000">
                                          <p:val>
                                            <p:strVal val="#ppt_x"/>
                                          </p:val>
                                        </p:tav>
                                      </p:tavLst>
                                    </p:anim>
                                    <p:anim calcmode="lin" valueType="num">
                                      <p:cBhvr>
                                        <p:cTn id="253" dur="500" fill="hold"/>
                                        <p:tgtEl>
                                          <p:spTgt spid="58"/>
                                        </p:tgtEl>
                                        <p:attrNameLst>
                                          <p:attrName>ppt_y</p:attrName>
                                        </p:attrNameLst>
                                      </p:cBhvr>
                                      <p:tavLst>
                                        <p:tav tm="0">
                                          <p:val>
                                            <p:strVal val="#ppt_y+0.05"/>
                                          </p:val>
                                        </p:tav>
                                        <p:tav tm="100000">
                                          <p:val>
                                            <p:strVal val="#ppt_y"/>
                                          </p:val>
                                        </p:tav>
                                      </p:tavLst>
                                    </p:anim>
                                  </p:childTnLst>
                                </p:cTn>
                              </p:par>
                              <p:par>
                                <p:cTn id="259" presetID="42" presetClass="entr" presetSubtype="0" fill="hold" grpId="0" nodeType="withEffect" decel="100000">
                                  <p:stCondLst>
                                    <p:cond delay="0"/>
                                  </p:stCondLst>
                                  <p:childTnLst>
                                    <p:set>
                                      <p:cBhvr>
                                        <p:cTn id="255" dur="1" fill="hold">
                                          <p:stCondLst>
                                            <p:cond delay="0"/>
                                          </p:stCondLst>
                                        </p:cTn>
                                        <p:tgtEl>
                                          <p:spTgt spid="59"/>
                                        </p:tgtEl>
                                        <p:attrNameLst>
                                          <p:attrName>style.visibility</p:attrName>
                                        </p:attrNameLst>
                                      </p:cBhvr>
                                      <p:to>
                                        <p:strVal val="visible"/>
                                      </p:to>
                                    </p:set>
                                    <p:animEffect transition="in" filter="fade">
                                      <p:cBhvr>
                                        <p:cTn id="256" dur="500"/>
                                        <p:tgtEl>
                                          <p:spTgt spid="59"/>
                                        </p:tgtEl>
                                      </p:cBhvr>
                                    </p:animEffect>
                                    <p:anim calcmode="lin" valueType="num">
                                      <p:cBhvr>
                                        <p:cTn id="257" dur="500" fill="hold"/>
                                        <p:tgtEl>
                                          <p:spTgt spid="59"/>
                                        </p:tgtEl>
                                        <p:attrNameLst>
                                          <p:attrName>ppt_x</p:attrName>
                                        </p:attrNameLst>
                                      </p:cBhvr>
                                      <p:tavLst>
                                        <p:tav tm="0">
                                          <p:val>
                                            <p:strVal val="#ppt_x"/>
                                          </p:val>
                                        </p:tav>
                                        <p:tav tm="100000">
                                          <p:val>
                                            <p:strVal val="#ppt_x"/>
                                          </p:val>
                                        </p:tav>
                                      </p:tavLst>
                                    </p:anim>
                                    <p:anim calcmode="lin" valueType="num">
                                      <p:cBhvr>
                                        <p:cTn id="258" dur="500" fill="hold"/>
                                        <p:tgtEl>
                                          <p:spTgt spid="59"/>
                                        </p:tgtEl>
                                        <p:attrNameLst>
                                          <p:attrName>ppt_y</p:attrName>
                                        </p:attrNameLst>
                                      </p:cBhvr>
                                      <p:tavLst>
                                        <p:tav tm="0">
                                          <p:val>
                                            <p:strVal val="#ppt_y+0.05"/>
                                          </p:val>
                                        </p:tav>
                                        <p:tav tm="100000">
                                          <p:val>
                                            <p:strVal val="#ppt_y"/>
                                          </p:val>
                                        </p:tav>
                                      </p:tavLst>
                                    </p:anim>
                                  </p:childTnLst>
                                </p:cTn>
                              </p:par>
                              <p:par>
                                <p:cTn id="264" presetID="42" presetClass="entr" presetSubtype="0" fill="hold" grpId="0" nodeType="withEffect" decel="100000">
                                  <p:stCondLst>
                                    <p:cond delay="0"/>
                                  </p:stCondLst>
                                  <p:childTnLst>
                                    <p:set>
                                      <p:cBhvr>
                                        <p:cTn id="260" dur="1" fill="hold">
                                          <p:stCondLst>
                                            <p:cond delay="0"/>
                                          </p:stCondLst>
                                        </p:cTn>
                                        <p:tgtEl>
                                          <p:spTgt spid="60"/>
                                        </p:tgtEl>
                                        <p:attrNameLst>
                                          <p:attrName>style.visibility</p:attrName>
                                        </p:attrNameLst>
                                      </p:cBhvr>
                                      <p:to>
                                        <p:strVal val="visible"/>
                                      </p:to>
                                    </p:set>
                                    <p:animEffect transition="in" filter="fade">
                                      <p:cBhvr>
                                        <p:cTn id="261" dur="500"/>
                                        <p:tgtEl>
                                          <p:spTgt spid="60"/>
                                        </p:tgtEl>
                                      </p:cBhvr>
                                    </p:animEffect>
                                    <p:anim calcmode="lin" valueType="num">
                                      <p:cBhvr>
                                        <p:cTn id="262" dur="500" fill="hold"/>
                                        <p:tgtEl>
                                          <p:spTgt spid="60"/>
                                        </p:tgtEl>
                                        <p:attrNameLst>
                                          <p:attrName>ppt_x</p:attrName>
                                        </p:attrNameLst>
                                      </p:cBhvr>
                                      <p:tavLst>
                                        <p:tav tm="0">
                                          <p:val>
                                            <p:strVal val="#ppt_x"/>
                                          </p:val>
                                        </p:tav>
                                        <p:tav tm="100000">
                                          <p:val>
                                            <p:strVal val="#ppt_x"/>
                                          </p:val>
                                        </p:tav>
                                      </p:tavLst>
                                    </p:anim>
                                    <p:anim calcmode="lin" valueType="num">
                                      <p:cBhvr>
                                        <p:cTn id="263" dur="500" fill="hold"/>
                                        <p:tgtEl>
                                          <p:spTgt spid="60"/>
                                        </p:tgtEl>
                                        <p:attrNameLst>
                                          <p:attrName>ppt_y</p:attrName>
                                        </p:attrNameLst>
                                      </p:cBhvr>
                                      <p:tavLst>
                                        <p:tav tm="0">
                                          <p:val>
                                            <p:strVal val="#ppt_y+0.05"/>
                                          </p:val>
                                        </p:tav>
                                        <p:tav tm="100000">
                                          <p:val>
                                            <p:strVal val="#ppt_y"/>
                                          </p:val>
                                        </p:tav>
                                      </p:tavLst>
                                    </p:anim>
                                  </p:childTnLst>
                                </p:cTn>
                              </p:par>
                              <p:par>
                                <p:cTn id="269" presetID="42" presetClass="entr" presetSubtype="0" fill="hold" grpId="0" nodeType="withEffect" decel="100000">
                                  <p:stCondLst>
                                    <p:cond delay="0"/>
                                  </p:stCondLst>
                                  <p:childTnLst>
                                    <p:set>
                                      <p:cBhvr>
                                        <p:cTn id="265" dur="1" fill="hold">
                                          <p:stCondLst>
                                            <p:cond delay="0"/>
                                          </p:stCondLst>
                                        </p:cTn>
                                        <p:tgtEl>
                                          <p:spTgt spid="61"/>
                                        </p:tgtEl>
                                        <p:attrNameLst>
                                          <p:attrName>style.visibility</p:attrName>
                                        </p:attrNameLst>
                                      </p:cBhvr>
                                      <p:to>
                                        <p:strVal val="visible"/>
                                      </p:to>
                                    </p:set>
                                    <p:animEffect transition="in" filter="fade">
                                      <p:cBhvr>
                                        <p:cTn id="266" dur="500"/>
                                        <p:tgtEl>
                                          <p:spTgt spid="61"/>
                                        </p:tgtEl>
                                      </p:cBhvr>
                                    </p:animEffect>
                                    <p:anim calcmode="lin" valueType="num">
                                      <p:cBhvr>
                                        <p:cTn id="267" dur="500" fill="hold"/>
                                        <p:tgtEl>
                                          <p:spTgt spid="61"/>
                                        </p:tgtEl>
                                        <p:attrNameLst>
                                          <p:attrName>ppt_x</p:attrName>
                                        </p:attrNameLst>
                                      </p:cBhvr>
                                      <p:tavLst>
                                        <p:tav tm="0">
                                          <p:val>
                                            <p:strVal val="#ppt_x"/>
                                          </p:val>
                                        </p:tav>
                                        <p:tav tm="100000">
                                          <p:val>
                                            <p:strVal val="#ppt_x"/>
                                          </p:val>
                                        </p:tav>
                                      </p:tavLst>
                                    </p:anim>
                                    <p:anim calcmode="lin" valueType="num">
                                      <p:cBhvr>
                                        <p:cTn id="268" dur="500" fill="hold"/>
                                        <p:tgtEl>
                                          <p:spTgt spid="61"/>
                                        </p:tgtEl>
                                        <p:attrNameLst>
                                          <p:attrName>ppt_y</p:attrName>
                                        </p:attrNameLst>
                                      </p:cBhvr>
                                      <p:tavLst>
                                        <p:tav tm="0">
                                          <p:val>
                                            <p:strVal val="#ppt_y+0.05"/>
                                          </p:val>
                                        </p:tav>
                                        <p:tav tm="100000">
                                          <p:val>
                                            <p:strVal val="#ppt_y"/>
                                          </p:val>
                                        </p:tav>
                                      </p:tavLst>
                                    </p:anim>
                                  </p:childTnLst>
                                </p:cTn>
                              </p:par>
                              <p:par>
                                <p:cTn id="274" presetID="42" presetClass="entr" presetSubtype="0" fill="hold" grpId="0" nodeType="withEffect" decel="100000">
                                  <p:stCondLst>
                                    <p:cond delay="0"/>
                                  </p:stCondLst>
                                  <p:childTnLst>
                                    <p:set>
                                      <p:cBhvr>
                                        <p:cTn id="270" dur="1" fill="hold">
                                          <p:stCondLst>
                                            <p:cond delay="0"/>
                                          </p:stCondLst>
                                        </p:cTn>
                                        <p:tgtEl>
                                          <p:spTgt spid="62"/>
                                        </p:tgtEl>
                                        <p:attrNameLst>
                                          <p:attrName>style.visibility</p:attrName>
                                        </p:attrNameLst>
                                      </p:cBhvr>
                                      <p:to>
                                        <p:strVal val="visible"/>
                                      </p:to>
                                    </p:set>
                                    <p:animEffect transition="in" filter="fade">
                                      <p:cBhvr>
                                        <p:cTn id="271" dur="500"/>
                                        <p:tgtEl>
                                          <p:spTgt spid="62"/>
                                        </p:tgtEl>
                                      </p:cBhvr>
                                    </p:animEffect>
                                    <p:anim calcmode="lin" valueType="num">
                                      <p:cBhvr>
                                        <p:cTn id="272" dur="500" fill="hold"/>
                                        <p:tgtEl>
                                          <p:spTgt spid="62"/>
                                        </p:tgtEl>
                                        <p:attrNameLst>
                                          <p:attrName>ppt_x</p:attrName>
                                        </p:attrNameLst>
                                      </p:cBhvr>
                                      <p:tavLst>
                                        <p:tav tm="0">
                                          <p:val>
                                            <p:strVal val="#ppt_x"/>
                                          </p:val>
                                        </p:tav>
                                        <p:tav tm="100000">
                                          <p:val>
                                            <p:strVal val="#ppt_x"/>
                                          </p:val>
                                        </p:tav>
                                      </p:tavLst>
                                    </p:anim>
                                    <p:anim calcmode="lin" valueType="num">
                                      <p:cBhvr>
                                        <p:cTn id="273" dur="500" fill="hold"/>
                                        <p:tgtEl>
                                          <p:spTgt spid="62"/>
                                        </p:tgtEl>
                                        <p:attrNameLst>
                                          <p:attrName>ppt_y</p:attrName>
                                        </p:attrNameLst>
                                      </p:cBhvr>
                                      <p:tavLst>
                                        <p:tav tm="0">
                                          <p:val>
                                            <p:strVal val="#ppt_y+0.05"/>
                                          </p:val>
                                        </p:tav>
                                        <p:tav tm="100000">
                                          <p:val>
                                            <p:strVal val="#ppt_y"/>
                                          </p:val>
                                        </p:tav>
                                      </p:tavLst>
                                    </p:anim>
                                  </p:childTnLst>
                                </p:cTn>
                              </p:par>
                              <p:par>
                                <p:cTn id="279" presetID="42" presetClass="entr" presetSubtype="0" fill="hold" grpId="0" nodeType="withEffect" decel="100000">
                                  <p:stCondLst>
                                    <p:cond delay="250"/>
                                  </p:stCondLst>
                                  <p:childTnLst>
                                    <p:set>
                                      <p:cBhvr>
                                        <p:cTn id="275" dur="1" fill="hold">
                                          <p:stCondLst>
                                            <p:cond delay="0"/>
                                          </p:stCondLst>
                                        </p:cTn>
                                        <p:tgtEl>
                                          <p:spTgt spid="63"/>
                                        </p:tgtEl>
                                        <p:attrNameLst>
                                          <p:attrName>style.visibility</p:attrName>
                                        </p:attrNameLst>
                                      </p:cBhvr>
                                      <p:to>
                                        <p:strVal val="visible"/>
                                      </p:to>
                                    </p:set>
                                    <p:animEffect transition="in" filter="fade">
                                      <p:cBhvr>
                                        <p:cTn id="276" dur="500"/>
                                        <p:tgtEl>
                                          <p:spTgt spid="63"/>
                                        </p:tgtEl>
                                      </p:cBhvr>
                                    </p:animEffect>
                                    <p:anim calcmode="lin" valueType="num">
                                      <p:cBhvr>
                                        <p:cTn id="277" dur="500" fill="hold"/>
                                        <p:tgtEl>
                                          <p:spTgt spid="63"/>
                                        </p:tgtEl>
                                        <p:attrNameLst>
                                          <p:attrName>ppt_x</p:attrName>
                                        </p:attrNameLst>
                                      </p:cBhvr>
                                      <p:tavLst>
                                        <p:tav tm="0">
                                          <p:val>
                                            <p:strVal val="#ppt_x"/>
                                          </p:val>
                                        </p:tav>
                                        <p:tav tm="100000">
                                          <p:val>
                                            <p:strVal val="#ppt_x"/>
                                          </p:val>
                                        </p:tav>
                                      </p:tavLst>
                                    </p:anim>
                                    <p:anim calcmode="lin" valueType="num">
                                      <p:cBhvr>
                                        <p:cTn id="278" dur="500" fill="hold"/>
                                        <p:tgtEl>
                                          <p:spTgt spid="63"/>
                                        </p:tgtEl>
                                        <p:attrNameLst>
                                          <p:attrName>ppt_y</p:attrName>
                                        </p:attrNameLst>
                                      </p:cBhvr>
                                      <p:tavLst>
                                        <p:tav tm="0">
                                          <p:val>
                                            <p:strVal val="#ppt_y+0.05"/>
                                          </p:val>
                                        </p:tav>
                                        <p:tav tm="100000">
                                          <p:val>
                                            <p:strVal val="#ppt_y"/>
                                          </p:val>
                                        </p:tav>
                                      </p:tavLst>
                                    </p:anim>
                                  </p:childTnLst>
                                </p:cTn>
                              </p:par>
                              <p:par>
                                <p:cTn id="284" presetID="42" presetClass="entr" presetSubtype="0" fill="hold" grpId="0" nodeType="withEffect" decel="100000">
                                  <p:stCondLst>
                                    <p:cond delay="250"/>
                                  </p:stCondLst>
                                  <p:childTnLst>
                                    <p:set>
                                      <p:cBhvr>
                                        <p:cTn id="280" dur="1" fill="hold">
                                          <p:stCondLst>
                                            <p:cond delay="0"/>
                                          </p:stCondLst>
                                        </p:cTn>
                                        <p:tgtEl>
                                          <p:spTgt spid="64"/>
                                        </p:tgtEl>
                                        <p:attrNameLst>
                                          <p:attrName>style.visibility</p:attrName>
                                        </p:attrNameLst>
                                      </p:cBhvr>
                                      <p:to>
                                        <p:strVal val="visible"/>
                                      </p:to>
                                    </p:set>
                                    <p:animEffect transition="in" filter="fade">
                                      <p:cBhvr>
                                        <p:cTn id="281" dur="500"/>
                                        <p:tgtEl>
                                          <p:spTgt spid="64"/>
                                        </p:tgtEl>
                                      </p:cBhvr>
                                    </p:animEffect>
                                    <p:anim calcmode="lin" valueType="num">
                                      <p:cBhvr>
                                        <p:cTn id="282" dur="500" fill="hold"/>
                                        <p:tgtEl>
                                          <p:spTgt spid="64"/>
                                        </p:tgtEl>
                                        <p:attrNameLst>
                                          <p:attrName>ppt_x</p:attrName>
                                        </p:attrNameLst>
                                      </p:cBhvr>
                                      <p:tavLst>
                                        <p:tav tm="0">
                                          <p:val>
                                            <p:strVal val="#ppt_x"/>
                                          </p:val>
                                        </p:tav>
                                        <p:tav tm="100000">
                                          <p:val>
                                            <p:strVal val="#ppt_x"/>
                                          </p:val>
                                        </p:tav>
                                      </p:tavLst>
                                    </p:anim>
                                    <p:anim calcmode="lin" valueType="num">
                                      <p:cBhvr>
                                        <p:cTn id="283" dur="500" fill="hold"/>
                                        <p:tgtEl>
                                          <p:spTgt spid="64"/>
                                        </p:tgtEl>
                                        <p:attrNameLst>
                                          <p:attrName>ppt_y</p:attrName>
                                        </p:attrNameLst>
                                      </p:cBhvr>
                                      <p:tavLst>
                                        <p:tav tm="0">
                                          <p:val>
                                            <p:strVal val="#ppt_y+0.05"/>
                                          </p:val>
                                        </p:tav>
                                        <p:tav tm="100000">
                                          <p:val>
                                            <p:strVal val="#ppt_y"/>
                                          </p:val>
                                        </p:tav>
                                      </p:tavLst>
                                    </p:anim>
                                  </p:childTnLst>
                                </p:cTn>
                              </p:par>
                              <p:par>
                                <p:cTn id="289" presetID="42" presetClass="entr" presetSubtype="0" fill="hold" grpId="0" nodeType="withEffect" decel="100000">
                                  <p:stCondLst>
                                    <p:cond delay="250"/>
                                  </p:stCondLst>
                                  <p:childTnLst>
                                    <p:set>
                                      <p:cBhvr>
                                        <p:cTn id="285" dur="1" fill="hold">
                                          <p:stCondLst>
                                            <p:cond delay="0"/>
                                          </p:stCondLst>
                                        </p:cTn>
                                        <p:tgtEl>
                                          <p:spTgt spid="65"/>
                                        </p:tgtEl>
                                        <p:attrNameLst>
                                          <p:attrName>style.visibility</p:attrName>
                                        </p:attrNameLst>
                                      </p:cBhvr>
                                      <p:to>
                                        <p:strVal val="visible"/>
                                      </p:to>
                                    </p:set>
                                    <p:animEffect transition="in" filter="fade">
                                      <p:cBhvr>
                                        <p:cTn id="286" dur="500"/>
                                        <p:tgtEl>
                                          <p:spTgt spid="65"/>
                                        </p:tgtEl>
                                      </p:cBhvr>
                                    </p:animEffect>
                                    <p:anim calcmode="lin" valueType="num">
                                      <p:cBhvr>
                                        <p:cTn id="287" dur="500" fill="hold"/>
                                        <p:tgtEl>
                                          <p:spTgt spid="65"/>
                                        </p:tgtEl>
                                        <p:attrNameLst>
                                          <p:attrName>ppt_x</p:attrName>
                                        </p:attrNameLst>
                                      </p:cBhvr>
                                      <p:tavLst>
                                        <p:tav tm="0">
                                          <p:val>
                                            <p:strVal val="#ppt_x"/>
                                          </p:val>
                                        </p:tav>
                                        <p:tav tm="100000">
                                          <p:val>
                                            <p:strVal val="#ppt_x"/>
                                          </p:val>
                                        </p:tav>
                                      </p:tavLst>
                                    </p:anim>
                                    <p:anim calcmode="lin" valueType="num">
                                      <p:cBhvr>
                                        <p:cTn id="288" dur="500" fill="hold"/>
                                        <p:tgtEl>
                                          <p:spTgt spid="65"/>
                                        </p:tgtEl>
                                        <p:attrNameLst>
                                          <p:attrName>ppt_y</p:attrName>
                                        </p:attrNameLst>
                                      </p:cBhvr>
                                      <p:tavLst>
                                        <p:tav tm="0">
                                          <p:val>
                                            <p:strVal val="#ppt_y+0.05"/>
                                          </p:val>
                                        </p:tav>
                                        <p:tav tm="100000">
                                          <p:val>
                                            <p:strVal val="#ppt_y"/>
                                          </p:val>
                                        </p:tav>
                                      </p:tavLst>
                                    </p:anim>
                                  </p:childTnLst>
                                </p:cTn>
                              </p:par>
                              <p:par>
                                <p:cTn id="294" presetID="42" presetClass="entr" presetSubtype="0" fill="hold" grpId="0" nodeType="withEffect" decel="100000">
                                  <p:stCondLst>
                                    <p:cond delay="250"/>
                                  </p:stCondLst>
                                  <p:childTnLst>
                                    <p:set>
                                      <p:cBhvr>
                                        <p:cTn id="290" dur="1" fill="hold">
                                          <p:stCondLst>
                                            <p:cond delay="0"/>
                                          </p:stCondLst>
                                        </p:cTn>
                                        <p:tgtEl>
                                          <p:spTgt spid="66"/>
                                        </p:tgtEl>
                                        <p:attrNameLst>
                                          <p:attrName>style.visibility</p:attrName>
                                        </p:attrNameLst>
                                      </p:cBhvr>
                                      <p:to>
                                        <p:strVal val="visible"/>
                                      </p:to>
                                    </p:set>
                                    <p:animEffect transition="in" filter="fade">
                                      <p:cBhvr>
                                        <p:cTn id="291" dur="500"/>
                                        <p:tgtEl>
                                          <p:spTgt spid="66"/>
                                        </p:tgtEl>
                                      </p:cBhvr>
                                    </p:animEffect>
                                    <p:anim calcmode="lin" valueType="num">
                                      <p:cBhvr>
                                        <p:cTn id="292" dur="500" fill="hold"/>
                                        <p:tgtEl>
                                          <p:spTgt spid="66"/>
                                        </p:tgtEl>
                                        <p:attrNameLst>
                                          <p:attrName>ppt_x</p:attrName>
                                        </p:attrNameLst>
                                      </p:cBhvr>
                                      <p:tavLst>
                                        <p:tav tm="0">
                                          <p:val>
                                            <p:strVal val="#ppt_x"/>
                                          </p:val>
                                        </p:tav>
                                        <p:tav tm="100000">
                                          <p:val>
                                            <p:strVal val="#ppt_x"/>
                                          </p:val>
                                        </p:tav>
                                      </p:tavLst>
                                    </p:anim>
                                    <p:anim calcmode="lin" valueType="num">
                                      <p:cBhvr>
                                        <p:cTn id="293" dur="500" fill="hold"/>
                                        <p:tgtEl>
                                          <p:spTgt spid="66"/>
                                        </p:tgtEl>
                                        <p:attrNameLst>
                                          <p:attrName>ppt_y</p:attrName>
                                        </p:attrNameLst>
                                      </p:cBhvr>
                                      <p:tavLst>
                                        <p:tav tm="0">
                                          <p:val>
                                            <p:strVal val="#ppt_y+0.05"/>
                                          </p:val>
                                        </p:tav>
                                        <p:tav tm="100000">
                                          <p:val>
                                            <p:strVal val="#ppt_y"/>
                                          </p:val>
                                        </p:tav>
                                      </p:tavLst>
                                    </p:anim>
                                  </p:childTnLst>
                                </p:cTn>
                              </p:par>
                              <p:par>
                                <p:cTn id="299" presetID="42" presetClass="entr" presetSubtype="0" fill="hold" grpId="0" nodeType="withEffect" decel="100000">
                                  <p:stCondLst>
                                    <p:cond delay="250"/>
                                  </p:stCondLst>
                                  <p:childTnLst>
                                    <p:set>
                                      <p:cBhvr>
                                        <p:cTn id="295" dur="1" fill="hold">
                                          <p:stCondLst>
                                            <p:cond delay="0"/>
                                          </p:stCondLst>
                                        </p:cTn>
                                        <p:tgtEl>
                                          <p:spTgt spid="67"/>
                                        </p:tgtEl>
                                        <p:attrNameLst>
                                          <p:attrName>style.visibility</p:attrName>
                                        </p:attrNameLst>
                                      </p:cBhvr>
                                      <p:to>
                                        <p:strVal val="visible"/>
                                      </p:to>
                                    </p:set>
                                    <p:animEffect transition="in" filter="fade">
                                      <p:cBhvr>
                                        <p:cTn id="296" dur="500"/>
                                        <p:tgtEl>
                                          <p:spTgt spid="67"/>
                                        </p:tgtEl>
                                      </p:cBhvr>
                                    </p:animEffect>
                                    <p:anim calcmode="lin" valueType="num">
                                      <p:cBhvr>
                                        <p:cTn id="297" dur="500" fill="hold"/>
                                        <p:tgtEl>
                                          <p:spTgt spid="67"/>
                                        </p:tgtEl>
                                        <p:attrNameLst>
                                          <p:attrName>ppt_x</p:attrName>
                                        </p:attrNameLst>
                                      </p:cBhvr>
                                      <p:tavLst>
                                        <p:tav tm="0">
                                          <p:val>
                                            <p:strVal val="#ppt_x"/>
                                          </p:val>
                                        </p:tav>
                                        <p:tav tm="100000">
                                          <p:val>
                                            <p:strVal val="#ppt_x"/>
                                          </p:val>
                                        </p:tav>
                                      </p:tavLst>
                                    </p:anim>
                                    <p:anim calcmode="lin" valueType="num">
                                      <p:cBhvr>
                                        <p:cTn id="298" dur="500" fill="hold"/>
                                        <p:tgtEl>
                                          <p:spTgt spid="6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1" grpId="0" animBg="1"/>
      <p:bldP spid="62" grpId="0" animBg="1"/>
      <p:bldP spid="63" grpId="0" animBg="1"/>
      <p:bldP spid="64" grpId="0" animBg="1"/>
      <p:bldP spid="66" grpId="0" animBg="1"/>
      <p:bldP spid="6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3" name="txt_9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1 · PRICING</a:t>
            </a:r>
            <a:endParaRPr lang="en-US" sz="1100" dirty="0"/>
          </a:p>
        </p:txBody>
      </p:sp>
      <p:sp>
        <p:nvSpPr>
          <p:cNvPr id="4" name="txt_9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How a Freight Price Is Built</a:t>
            </a:r>
            <a:endParaRPr lang="en-US" sz="3200" dirty="0"/>
          </a:p>
        </p:txBody>
      </p:sp>
      <p:sp>
        <p:nvSpPr>
          <p:cNvPr id="5" name="txt_9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Two independent price engines — a transparent formula and a trained model — reconciled by one orchestrator.</a:t>
            </a:r>
            <a:endParaRPr lang="en-US" sz="1500" dirty="0"/>
          </a:p>
        </p:txBody>
      </p:sp>
      <p:sp>
        <p:nvSpPr>
          <p:cNvPr id="6" name="shp_9_3"/>
          <p:cNvSpPr/>
          <p:nvPr/>
        </p:nvSpPr>
        <p:spPr>
          <a:xfrm>
            <a:off x="548640" y="3200400"/>
            <a:ext cx="2331720" cy="1554480"/>
          </a:xfrm>
          <a:prstGeom prst="roundRect">
            <a:avLst>
              <a:gd name="adj" fmla="val 5882"/>
            </a:avLst>
          </a:prstGeom>
          <a:solidFill>
            <a:srgbClr val="112038"/>
          </a:solidFill>
          <a:ln w="9525">
            <a:solidFill>
              <a:srgbClr val="243A5E"/>
            </a:solidFill>
            <a:prstDash val="solid"/>
          </a:ln>
        </p:spPr>
      </p:sp>
      <p:sp>
        <p:nvSpPr>
          <p:cNvPr id="7" name="shp_9_4"/>
          <p:cNvSpPr/>
          <p:nvPr/>
        </p:nvSpPr>
        <p:spPr>
          <a:xfrm>
            <a:off x="822960" y="3429000"/>
            <a:ext cx="502920" cy="502920"/>
          </a:xfrm>
          <a:prstGeom prst="ellipse">
            <a:avLst/>
          </a:prstGeom>
          <a:solidFill>
            <a:srgbClr val="3B2A0C"/>
          </a:solidFill>
          <a:ln w="9525">
            <a:solidFill>
              <a:srgbClr val="F5A524"/>
            </a:solidFill>
            <a:prstDash val="solid"/>
          </a:ln>
        </p:spPr>
      </p:sp>
      <p:pic>
        <p:nvPicPr>
          <p:cNvPr id="8" name="img_9_5" descr="preencoded.png">    </p:cNvPr>
          <p:cNvPicPr>
            <a:picLocks noChangeAspect="1"/>
          </p:cNvPicPr>
          <p:nvPr/>
        </p:nvPicPr>
        <p:blipFill>
          <a:blip r:embed="rId1"/>
          <a:stretch>
            <a:fillRect/>
          </a:stretch>
        </p:blipFill>
        <p:spPr>
          <a:xfrm>
            <a:off x="943661" y="3549701"/>
            <a:ext cx="261518" cy="261518"/>
          </a:xfrm>
          <a:prstGeom prst="rect">
            <a:avLst/>
          </a:prstGeom>
        </p:spPr>
      </p:pic>
      <p:sp>
        <p:nvSpPr>
          <p:cNvPr id="9" name="txt_9_6"/>
          <p:cNvSpPr txBox="1"/>
          <p:nvPr/>
        </p:nvSpPr>
        <p:spPr>
          <a:xfrm>
            <a:off x="822960" y="3950208"/>
            <a:ext cx="18745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Shipment details</a:t>
            </a:r>
            <a:endParaRPr lang="en-US" sz="1600" dirty="0"/>
          </a:p>
        </p:txBody>
      </p:sp>
      <p:sp>
        <p:nvSpPr>
          <p:cNvPr id="10" name="txt_9_7"/>
          <p:cNvSpPr txBox="1"/>
          <p:nvPr/>
        </p:nvSpPr>
        <p:spPr>
          <a:xfrm>
            <a:off x="822960" y="4279392"/>
            <a:ext cx="1874520" cy="457200"/>
          </a:xfrm>
          <a:prstGeom prst="rect">
            <a:avLst/>
          </a:prstGeom>
          <a:noFill/>
          <a:ln/>
        </p:spPr>
        <p:txBody>
          <a:bodyPr wrap="square" lIns="0" tIns="0" rIns="0" bIns="0" rtlCol="0" anchor="t"/>
          <a:lstStyle/>
          <a:p>
            <a:pPr indent="0" marL="0">
              <a:buNone/>
            </a:pPr>
            <a:r>
              <a:rPr lang="en-US" sz="1150" dirty="0">
                <a:solidFill>
                  <a:srgbClr val="AEBBCF"/>
                </a:solidFill>
                <a:latin typeface="Calibri" pitchFamily="34" charset="0"/>
                <a:ea typeface="Calibri" pitchFamily="34" charset="-122"/>
                <a:cs typeface="Calibri" pitchFamily="34" charset="-120"/>
              </a:rPr>
              <a:t>Origin, destination, weight, volume, mode, cargo type</a:t>
            </a:r>
            <a:endParaRPr lang="en-US" sz="1150" dirty="0"/>
          </a:p>
        </p:txBody>
      </p:sp>
      <p:sp>
        <p:nvSpPr>
          <p:cNvPr id="11" name="shp_9_8"/>
          <p:cNvSpPr/>
          <p:nvPr/>
        </p:nvSpPr>
        <p:spPr>
          <a:xfrm>
            <a:off x="2880360" y="3977640"/>
            <a:ext cx="274320" cy="0"/>
          </a:xfrm>
          <a:prstGeom prst="line">
            <a:avLst/>
          </a:prstGeom>
          <a:noFill/>
          <a:ln w="19050">
            <a:solidFill>
              <a:srgbClr val="F5A524"/>
            </a:solidFill>
            <a:prstDash val="solid"/>
          </a:ln>
        </p:spPr>
      </p:sp>
      <p:sp>
        <p:nvSpPr>
          <p:cNvPr id="12" name="shp_9_9"/>
          <p:cNvSpPr/>
          <p:nvPr/>
        </p:nvSpPr>
        <p:spPr>
          <a:xfrm>
            <a:off x="3154680" y="2788920"/>
            <a:ext cx="0" cy="2423160"/>
          </a:xfrm>
          <a:prstGeom prst="line">
            <a:avLst/>
          </a:prstGeom>
          <a:noFill/>
          <a:ln w="19050">
            <a:solidFill>
              <a:srgbClr val="F5A524"/>
            </a:solidFill>
            <a:prstDash val="solid"/>
          </a:ln>
        </p:spPr>
      </p:sp>
      <p:sp>
        <p:nvSpPr>
          <p:cNvPr id="13" name="shp_9_10"/>
          <p:cNvSpPr/>
          <p:nvPr/>
        </p:nvSpPr>
        <p:spPr>
          <a:xfrm>
            <a:off x="3154680" y="2788920"/>
            <a:ext cx="274320" cy="0"/>
          </a:xfrm>
          <a:prstGeom prst="line">
            <a:avLst/>
          </a:prstGeom>
          <a:noFill/>
          <a:ln w="19050">
            <a:solidFill>
              <a:srgbClr val="F5A524"/>
            </a:solidFill>
            <a:prstDash val="solid"/>
            <a:tailEnd type="triangle"/>
          </a:ln>
        </p:spPr>
      </p:sp>
      <p:sp>
        <p:nvSpPr>
          <p:cNvPr id="14" name="shp_9_11"/>
          <p:cNvSpPr/>
          <p:nvPr/>
        </p:nvSpPr>
        <p:spPr>
          <a:xfrm>
            <a:off x="3429000" y="2103120"/>
            <a:ext cx="2788920" cy="1371600"/>
          </a:xfrm>
          <a:prstGeom prst="roundRect">
            <a:avLst>
              <a:gd name="adj" fmla="val 6667"/>
            </a:avLst>
          </a:prstGeom>
          <a:solidFill>
            <a:srgbClr val="112038"/>
          </a:solidFill>
          <a:ln w="9525">
            <a:solidFill>
              <a:srgbClr val="243A5E"/>
            </a:solidFill>
            <a:prstDash val="solid"/>
          </a:ln>
        </p:spPr>
      </p:sp>
      <p:sp>
        <p:nvSpPr>
          <p:cNvPr id="15" name="shp_9_12"/>
          <p:cNvSpPr/>
          <p:nvPr/>
        </p:nvSpPr>
        <p:spPr>
          <a:xfrm>
            <a:off x="3703320" y="2377440"/>
            <a:ext cx="566928" cy="365760"/>
          </a:xfrm>
          <a:prstGeom prst="roundRect">
            <a:avLst>
              <a:gd name="adj" fmla="val 25000"/>
            </a:avLst>
          </a:prstGeom>
          <a:solidFill>
            <a:srgbClr val="F5A524"/>
          </a:solidFill>
          <a:ln w="9525">
            <a:solidFill>
              <a:srgbClr val="F5A524"/>
            </a:solidFill>
            <a:prstDash val="solid"/>
          </a:ln>
        </p:spPr>
      </p:sp>
      <p:sp>
        <p:nvSpPr>
          <p:cNvPr id="16" name="txt_9_13"/>
          <p:cNvSpPr txBox="1"/>
          <p:nvPr/>
        </p:nvSpPr>
        <p:spPr>
          <a:xfrm>
            <a:off x="3703320" y="2377440"/>
            <a:ext cx="566928" cy="36576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M1</a:t>
            </a:r>
            <a:endParaRPr lang="en-US" sz="1300" dirty="0"/>
          </a:p>
        </p:txBody>
      </p:sp>
      <p:sp>
        <p:nvSpPr>
          <p:cNvPr id="17" name="txt_9_14"/>
          <p:cNvSpPr txBox="1"/>
          <p:nvPr/>
        </p:nvSpPr>
        <p:spPr>
          <a:xfrm>
            <a:off x="4389120" y="2377440"/>
            <a:ext cx="169164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Formula pricing</a:t>
            </a:r>
            <a:endParaRPr lang="en-US" sz="1550" dirty="0"/>
          </a:p>
        </p:txBody>
      </p:sp>
      <p:sp>
        <p:nvSpPr>
          <p:cNvPr id="18" name="txt_9_15"/>
          <p:cNvSpPr txBox="1"/>
          <p:nvPr/>
        </p:nvSpPr>
        <p:spPr>
          <a:xfrm>
            <a:off x="3703320" y="2880360"/>
            <a:ext cx="2331720" cy="45720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A predefined formula calculates the price</a:t>
            </a:r>
            <a:endParaRPr lang="en-US" sz="1250" dirty="0"/>
          </a:p>
        </p:txBody>
      </p:sp>
      <p:sp>
        <p:nvSpPr>
          <p:cNvPr id="19" name="shp_9_16"/>
          <p:cNvSpPr/>
          <p:nvPr/>
        </p:nvSpPr>
        <p:spPr>
          <a:xfrm>
            <a:off x="3154680" y="5212080"/>
            <a:ext cx="274320" cy="0"/>
          </a:xfrm>
          <a:prstGeom prst="line">
            <a:avLst/>
          </a:prstGeom>
          <a:noFill/>
          <a:ln w="19050">
            <a:solidFill>
              <a:srgbClr val="F5A524"/>
            </a:solidFill>
            <a:prstDash val="solid"/>
            <a:tailEnd type="triangle"/>
          </a:ln>
        </p:spPr>
      </p:sp>
      <p:sp>
        <p:nvSpPr>
          <p:cNvPr id="20" name="shp_9_17"/>
          <p:cNvSpPr/>
          <p:nvPr/>
        </p:nvSpPr>
        <p:spPr>
          <a:xfrm>
            <a:off x="3429000" y="4526280"/>
            <a:ext cx="2788920" cy="1371600"/>
          </a:xfrm>
          <a:prstGeom prst="roundRect">
            <a:avLst>
              <a:gd name="adj" fmla="val 6667"/>
            </a:avLst>
          </a:prstGeom>
          <a:solidFill>
            <a:srgbClr val="112038"/>
          </a:solidFill>
          <a:ln w="9525">
            <a:solidFill>
              <a:srgbClr val="243A5E"/>
            </a:solidFill>
            <a:prstDash val="solid"/>
          </a:ln>
        </p:spPr>
      </p:sp>
      <p:sp>
        <p:nvSpPr>
          <p:cNvPr id="21" name="shp_9_18"/>
          <p:cNvSpPr/>
          <p:nvPr/>
        </p:nvSpPr>
        <p:spPr>
          <a:xfrm>
            <a:off x="3703320" y="4800600"/>
            <a:ext cx="566928" cy="365760"/>
          </a:xfrm>
          <a:prstGeom prst="roundRect">
            <a:avLst>
              <a:gd name="adj" fmla="val 25000"/>
            </a:avLst>
          </a:prstGeom>
          <a:solidFill>
            <a:srgbClr val="F5A524"/>
          </a:solidFill>
          <a:ln w="9525">
            <a:solidFill>
              <a:srgbClr val="F5A524"/>
            </a:solidFill>
            <a:prstDash val="solid"/>
          </a:ln>
        </p:spPr>
      </p:sp>
      <p:sp>
        <p:nvSpPr>
          <p:cNvPr id="22" name="txt_9_19"/>
          <p:cNvSpPr txBox="1"/>
          <p:nvPr/>
        </p:nvSpPr>
        <p:spPr>
          <a:xfrm>
            <a:off x="3703320" y="4800600"/>
            <a:ext cx="566928" cy="36576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M2</a:t>
            </a:r>
            <a:endParaRPr lang="en-US" sz="1300" dirty="0"/>
          </a:p>
        </p:txBody>
      </p:sp>
      <p:sp>
        <p:nvSpPr>
          <p:cNvPr id="23" name="txt_9_20"/>
          <p:cNvSpPr txBox="1"/>
          <p:nvPr/>
        </p:nvSpPr>
        <p:spPr>
          <a:xfrm>
            <a:off x="4389120" y="4800600"/>
            <a:ext cx="169164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ML pricing</a:t>
            </a:r>
            <a:endParaRPr lang="en-US" sz="1550" dirty="0"/>
          </a:p>
        </p:txBody>
      </p:sp>
      <p:sp>
        <p:nvSpPr>
          <p:cNvPr id="24" name="txt_9_21"/>
          <p:cNvSpPr txBox="1"/>
          <p:nvPr/>
        </p:nvSpPr>
        <p:spPr>
          <a:xfrm>
            <a:off x="3703320" y="5303520"/>
            <a:ext cx="2331720" cy="45720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A trained model predicts the price</a:t>
            </a:r>
            <a:endParaRPr lang="en-US" sz="1250" dirty="0"/>
          </a:p>
        </p:txBody>
      </p:sp>
      <p:sp>
        <p:nvSpPr>
          <p:cNvPr id="25" name="shp_9_22"/>
          <p:cNvSpPr/>
          <p:nvPr/>
        </p:nvSpPr>
        <p:spPr>
          <a:xfrm>
            <a:off x="6217920" y="2788920"/>
            <a:ext cx="338328" cy="0"/>
          </a:xfrm>
          <a:prstGeom prst="line">
            <a:avLst/>
          </a:prstGeom>
          <a:noFill/>
          <a:ln w="19050">
            <a:solidFill>
              <a:srgbClr val="F5A524"/>
            </a:solidFill>
            <a:prstDash val="solid"/>
          </a:ln>
        </p:spPr>
      </p:sp>
      <p:sp>
        <p:nvSpPr>
          <p:cNvPr id="26" name="shp_9_23"/>
          <p:cNvSpPr/>
          <p:nvPr/>
        </p:nvSpPr>
        <p:spPr>
          <a:xfrm>
            <a:off x="6217920" y="5212080"/>
            <a:ext cx="338328" cy="0"/>
          </a:xfrm>
          <a:prstGeom prst="line">
            <a:avLst/>
          </a:prstGeom>
          <a:noFill/>
          <a:ln w="19050">
            <a:solidFill>
              <a:srgbClr val="F5A524"/>
            </a:solidFill>
            <a:prstDash val="solid"/>
          </a:ln>
        </p:spPr>
      </p:sp>
      <p:sp>
        <p:nvSpPr>
          <p:cNvPr id="27" name="shp_9_24"/>
          <p:cNvSpPr/>
          <p:nvPr/>
        </p:nvSpPr>
        <p:spPr>
          <a:xfrm>
            <a:off x="6556248" y="2788920"/>
            <a:ext cx="0" cy="2423160"/>
          </a:xfrm>
          <a:prstGeom prst="line">
            <a:avLst/>
          </a:prstGeom>
          <a:noFill/>
          <a:ln w="19050">
            <a:solidFill>
              <a:srgbClr val="F5A524"/>
            </a:solidFill>
            <a:prstDash val="solid"/>
          </a:ln>
        </p:spPr>
      </p:sp>
      <p:sp>
        <p:nvSpPr>
          <p:cNvPr id="28" name="shp_9_25"/>
          <p:cNvSpPr/>
          <p:nvPr/>
        </p:nvSpPr>
        <p:spPr>
          <a:xfrm>
            <a:off x="6556248" y="3977640"/>
            <a:ext cx="347472" cy="0"/>
          </a:xfrm>
          <a:prstGeom prst="line">
            <a:avLst/>
          </a:prstGeom>
          <a:noFill/>
          <a:ln w="19050">
            <a:solidFill>
              <a:srgbClr val="F5A524"/>
            </a:solidFill>
            <a:prstDash val="solid"/>
            <a:tailEnd type="triangle"/>
          </a:ln>
        </p:spPr>
      </p:sp>
      <p:sp>
        <p:nvSpPr>
          <p:cNvPr id="29" name="shp_9_26"/>
          <p:cNvSpPr/>
          <p:nvPr/>
        </p:nvSpPr>
        <p:spPr>
          <a:xfrm>
            <a:off x="6903720" y="3200400"/>
            <a:ext cx="2331720" cy="1554480"/>
          </a:xfrm>
          <a:prstGeom prst="roundRect">
            <a:avLst>
              <a:gd name="adj" fmla="val 5882"/>
            </a:avLst>
          </a:prstGeom>
          <a:solidFill>
            <a:srgbClr val="112038"/>
          </a:solidFill>
          <a:ln w="9525">
            <a:solidFill>
              <a:srgbClr val="243A5E"/>
            </a:solidFill>
            <a:prstDash val="solid"/>
          </a:ln>
        </p:spPr>
      </p:sp>
      <p:sp>
        <p:nvSpPr>
          <p:cNvPr id="30" name="shp_9_27"/>
          <p:cNvSpPr/>
          <p:nvPr/>
        </p:nvSpPr>
        <p:spPr>
          <a:xfrm>
            <a:off x="7178040" y="3429000"/>
            <a:ext cx="502920" cy="502920"/>
          </a:xfrm>
          <a:prstGeom prst="ellipse">
            <a:avLst/>
          </a:prstGeom>
          <a:solidFill>
            <a:srgbClr val="3B2A0C"/>
          </a:solidFill>
          <a:ln w="9525">
            <a:solidFill>
              <a:srgbClr val="F5A524"/>
            </a:solidFill>
            <a:prstDash val="solid"/>
          </a:ln>
        </p:spPr>
      </p:sp>
      <p:pic>
        <p:nvPicPr>
          <p:cNvPr id="31" name="img_9_28" descr="preencoded.png">    </p:cNvPr>
          <p:cNvPicPr>
            <a:picLocks noChangeAspect="1"/>
          </p:cNvPicPr>
          <p:nvPr/>
        </p:nvPicPr>
        <p:blipFill>
          <a:blip r:embed="rId2"/>
          <a:stretch>
            <a:fillRect/>
          </a:stretch>
        </p:blipFill>
        <p:spPr>
          <a:xfrm>
            <a:off x="7298741" y="3549701"/>
            <a:ext cx="261518" cy="261518"/>
          </a:xfrm>
          <a:prstGeom prst="rect">
            <a:avLst/>
          </a:prstGeom>
        </p:spPr>
      </p:pic>
      <p:sp>
        <p:nvSpPr>
          <p:cNvPr id="32" name="txt_9_29"/>
          <p:cNvSpPr txBox="1"/>
          <p:nvPr/>
        </p:nvSpPr>
        <p:spPr>
          <a:xfrm>
            <a:off x="7178040" y="3950208"/>
            <a:ext cx="18745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Pricing orchestrator</a:t>
            </a:r>
            <a:endParaRPr lang="en-US" sz="1600" dirty="0"/>
          </a:p>
        </p:txBody>
      </p:sp>
      <p:sp>
        <p:nvSpPr>
          <p:cNvPr id="33" name="txt_9_30"/>
          <p:cNvSpPr txBox="1"/>
          <p:nvPr/>
        </p:nvSpPr>
        <p:spPr>
          <a:xfrm>
            <a:off x="7178040" y="4279392"/>
            <a:ext cx="1920240" cy="457200"/>
          </a:xfrm>
          <a:prstGeom prst="rect">
            <a:avLst/>
          </a:prstGeom>
          <a:noFill/>
          <a:ln/>
        </p:spPr>
        <p:txBody>
          <a:bodyPr wrap="square" lIns="0" tIns="0" rIns="0" bIns="0" rtlCol="0" anchor="t"/>
          <a:lstStyle/>
          <a:p>
            <a:pPr indent="0" marL="0">
              <a:buNone/>
            </a:pPr>
            <a:r>
              <a:rPr lang="en-US" sz="1150" dirty="0">
                <a:solidFill>
                  <a:srgbClr val="AEBBCF"/>
                </a:solidFill>
                <a:latin typeface="Calibri" pitchFamily="34" charset="0"/>
                <a:ea typeface="Calibri" pitchFamily="34" charset="-122"/>
                <a:cs typeface="Calibri" pitchFamily="34" charset="-120"/>
              </a:rPr>
              <a:t>Combines rule price + ML price, then applies a risk premium</a:t>
            </a:r>
            <a:endParaRPr lang="en-US" sz="1150" dirty="0"/>
          </a:p>
        </p:txBody>
      </p:sp>
      <p:sp>
        <p:nvSpPr>
          <p:cNvPr id="34" name="shp_9_31"/>
          <p:cNvSpPr/>
          <p:nvPr/>
        </p:nvSpPr>
        <p:spPr>
          <a:xfrm>
            <a:off x="9235440" y="3977640"/>
            <a:ext cx="274320" cy="0"/>
          </a:xfrm>
          <a:prstGeom prst="line">
            <a:avLst/>
          </a:prstGeom>
          <a:noFill/>
          <a:ln w="19050">
            <a:solidFill>
              <a:srgbClr val="F5A524"/>
            </a:solidFill>
            <a:prstDash val="solid"/>
            <a:tailEnd type="triangle"/>
          </a:ln>
        </p:spPr>
      </p:sp>
      <p:sp>
        <p:nvSpPr>
          <p:cNvPr id="35" name="shp_9_32"/>
          <p:cNvSpPr/>
          <p:nvPr/>
        </p:nvSpPr>
        <p:spPr>
          <a:xfrm>
            <a:off x="9509760" y="3200400"/>
            <a:ext cx="2133295" cy="1554480"/>
          </a:xfrm>
          <a:prstGeom prst="roundRect">
            <a:avLst>
              <a:gd name="adj" fmla="val 5882"/>
            </a:avLst>
          </a:prstGeom>
          <a:solidFill>
            <a:srgbClr val="F5A524"/>
          </a:solidFill>
          <a:ln w="9525">
            <a:solidFill>
              <a:srgbClr val="F5A524"/>
            </a:solidFill>
            <a:prstDash val="solid"/>
          </a:ln>
        </p:spPr>
      </p:sp>
      <p:pic>
        <p:nvPicPr>
          <p:cNvPr id="36" name="img_9_33" descr="preencoded.png">    </p:cNvPr>
          <p:cNvPicPr>
            <a:picLocks noChangeAspect="1"/>
          </p:cNvPicPr>
          <p:nvPr/>
        </p:nvPicPr>
        <p:blipFill>
          <a:blip r:embed="rId3"/>
          <a:stretch>
            <a:fillRect/>
          </a:stretch>
        </p:blipFill>
        <p:spPr>
          <a:xfrm>
            <a:off x="9784080" y="3456432"/>
            <a:ext cx="457200" cy="457200"/>
          </a:xfrm>
          <a:prstGeom prst="rect">
            <a:avLst/>
          </a:prstGeom>
        </p:spPr>
      </p:pic>
      <p:sp>
        <p:nvSpPr>
          <p:cNvPr id="37" name="txt_9_34"/>
          <p:cNvSpPr txBox="1"/>
          <p:nvPr/>
        </p:nvSpPr>
        <p:spPr>
          <a:xfrm>
            <a:off x="9784080" y="3950208"/>
            <a:ext cx="1676095" cy="685800"/>
          </a:xfrm>
          <a:prstGeom prst="rect">
            <a:avLst/>
          </a:prstGeom>
          <a:noFill/>
          <a:ln/>
        </p:spPr>
        <p:txBody>
          <a:bodyPr wrap="square" lIns="0" tIns="0" rIns="0" bIns="0" rtlCol="0" anchor="t"/>
          <a:lstStyle/>
          <a:p>
            <a:pPr indent="0" marL="0">
              <a:buNone/>
            </a:pPr>
            <a:r>
              <a:rPr lang="en-US" sz="1700" b="1" dirty="0">
                <a:solidFill>
                  <a:srgbClr val="0A1628"/>
                </a:solidFill>
                <a:latin typeface="Calibri" pitchFamily="34" charset="0"/>
                <a:ea typeface="Calibri" pitchFamily="34" charset="-122"/>
                <a:cs typeface="Calibri" pitchFamily="34" charset="-120"/>
              </a:rPr>
              <a:t>Recommended freight price</a:t>
            </a:r>
            <a:endParaRPr lang="en-US" sz="1700" dirty="0"/>
          </a:p>
        </p:txBody>
      </p:sp>
      <p:sp>
        <p:nvSpPr>
          <p:cNvPr id="38" name="txt_9_3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9" name="txt_9_3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09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45" presetID="22" presetClass="entr" presetSubtype="8" fill="hold" grpId="0" nodeType="clickEffect" decel="100000">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right)">
                                      <p:cBhvr>
                                        <p:cTn id="44" dur="250"/>
                                        <p:tgtEl>
                                          <p:spTgt spid="11"/>
                                        </p:tgtEl>
                                      </p:cBhvr>
                                    </p:animEffect>
                                  </p:childTnLst>
                                </p:cTn>
                              </p:par>
                              <p:par>
                                <p:cTn id="48" presetID="10" presetClass="entr" presetSubtype="0" fill="hold" grpId="0" nodeType="withEffect" decel="100000">
                                  <p:stCondLst>
                                    <p:cond delay="2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250"/>
                                        <p:tgtEl>
                                          <p:spTgt spid="12"/>
                                        </p:tgtEl>
                                      </p:cBhvr>
                                    </p:animEffect>
                                  </p:childTnLst>
                                </p:cTn>
                              </p:par>
                              <p:par>
                                <p:cTn id="51" presetID="22" presetClass="entr" presetSubtype="8" fill="hold" grpId="0" nodeType="withEffect" decel="100000">
                                  <p:stCondLst>
                                    <p:cond delay="400"/>
                                  </p:stCondLst>
                                  <p:childTnLst>
                                    <p:set>
                                      <p:cBhvr>
                                        <p:cTn id="49" dur="1" fill="hold">
                                          <p:stCondLst>
                                            <p:cond delay="0"/>
                                          </p:stCondLst>
                                        </p:cTn>
                                        <p:tgtEl>
                                          <p:spTgt spid="13"/>
                                        </p:tgtEl>
                                        <p:attrNameLst>
                                          <p:attrName>style.visibility</p:attrName>
                                        </p:attrNameLst>
                                      </p:cBhvr>
                                      <p:to>
                                        <p:strVal val="visible"/>
                                      </p:to>
                                    </p:set>
                                    <p:animEffect transition="in" filter="wipe(right)">
                                      <p:cBhvr>
                                        <p:cTn id="50" dur="250"/>
                                        <p:tgtEl>
                                          <p:spTgt spid="13"/>
                                        </p:tgtEl>
                                      </p:cBhvr>
                                    </p:animEffect>
                                  </p:childTnLst>
                                </p:cTn>
                              </p:par>
                              <p:par>
                                <p:cTn id="56" presetID="42" presetClass="entr" presetSubtype="0" fill="hold" grpId="0" nodeType="withEffect" decel="100000">
                                  <p:stCondLst>
                                    <p:cond delay="55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0.05"/>
                                          </p:val>
                                        </p:tav>
                                        <p:tav tm="100000">
                                          <p:val>
                                            <p:strVal val="#ppt_y"/>
                                          </p:val>
                                        </p:tav>
                                      </p:tavLst>
                                    </p:anim>
                                  </p:childTnLst>
                                </p:cTn>
                              </p:par>
                              <p:par>
                                <p:cTn id="61" presetID="42" presetClass="entr" presetSubtype="0" fill="hold" grpId="0" nodeType="withEffect" decel="100000">
                                  <p:stCondLst>
                                    <p:cond delay="55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strVal val="#ppt_x"/>
                                          </p:val>
                                        </p:tav>
                                        <p:tav tm="100000">
                                          <p:val>
                                            <p:strVal val="#ppt_x"/>
                                          </p:val>
                                        </p:tav>
                                      </p:tavLst>
                                    </p:anim>
                                    <p:anim calcmode="lin" valueType="num">
                                      <p:cBhvr>
                                        <p:cTn id="60" dur="500" fill="hold"/>
                                        <p:tgtEl>
                                          <p:spTgt spid="15"/>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decel="100000">
                                  <p:stCondLst>
                                    <p:cond delay="55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anim calcmode="lin" valueType="num">
                                      <p:cBhvr>
                                        <p:cTn id="64" dur="500" fill="hold"/>
                                        <p:tgtEl>
                                          <p:spTgt spid="16"/>
                                        </p:tgtEl>
                                        <p:attrNameLst>
                                          <p:attrName>ppt_x</p:attrName>
                                        </p:attrNameLst>
                                      </p:cBhvr>
                                      <p:tavLst>
                                        <p:tav tm="0">
                                          <p:val>
                                            <p:strVal val="#ppt_x"/>
                                          </p:val>
                                        </p:tav>
                                        <p:tav tm="100000">
                                          <p:val>
                                            <p:strVal val="#ppt_x"/>
                                          </p:val>
                                        </p:tav>
                                      </p:tavLst>
                                    </p:anim>
                                    <p:anim calcmode="lin" valueType="num">
                                      <p:cBhvr>
                                        <p:cTn id="65" dur="500" fill="hold"/>
                                        <p:tgtEl>
                                          <p:spTgt spid="16"/>
                                        </p:tgtEl>
                                        <p:attrNameLst>
                                          <p:attrName>ppt_y</p:attrName>
                                        </p:attrNameLst>
                                      </p:cBhvr>
                                      <p:tavLst>
                                        <p:tav tm="0">
                                          <p:val>
                                            <p:strVal val="#ppt_y+0.05"/>
                                          </p:val>
                                        </p:tav>
                                        <p:tav tm="100000">
                                          <p:val>
                                            <p:strVal val="#ppt_y"/>
                                          </p:val>
                                        </p:tav>
                                      </p:tavLst>
                                    </p:anim>
                                  </p:childTnLst>
                                </p:cTn>
                              </p:par>
                              <p:par>
                                <p:cTn id="71" presetID="42" presetClass="entr" presetSubtype="0" fill="hold" grpId="0" nodeType="withEffect" decel="100000">
                                  <p:stCondLst>
                                    <p:cond delay="55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p:cTn id="69" dur="500" fill="hold"/>
                                        <p:tgtEl>
                                          <p:spTgt spid="17"/>
                                        </p:tgtEl>
                                        <p:attrNameLst>
                                          <p:attrName>ppt_x</p:attrName>
                                        </p:attrNameLst>
                                      </p:cBhvr>
                                      <p:tavLst>
                                        <p:tav tm="0">
                                          <p:val>
                                            <p:strVal val="#ppt_x"/>
                                          </p:val>
                                        </p:tav>
                                        <p:tav tm="100000">
                                          <p:val>
                                            <p:strVal val="#ppt_x"/>
                                          </p:val>
                                        </p:tav>
                                      </p:tavLst>
                                    </p:anim>
                                    <p:anim calcmode="lin" valueType="num">
                                      <p:cBhvr>
                                        <p:cTn id="70" dur="500" fill="hold"/>
                                        <p:tgtEl>
                                          <p:spTgt spid="17"/>
                                        </p:tgtEl>
                                        <p:attrNameLst>
                                          <p:attrName>ppt_y</p:attrName>
                                        </p:attrNameLst>
                                      </p:cBhvr>
                                      <p:tavLst>
                                        <p:tav tm="0">
                                          <p:val>
                                            <p:strVal val="#ppt_y+0.05"/>
                                          </p:val>
                                        </p:tav>
                                        <p:tav tm="100000">
                                          <p:val>
                                            <p:strVal val="#ppt_y"/>
                                          </p:val>
                                        </p:tav>
                                      </p:tavLst>
                                    </p:anim>
                                  </p:childTnLst>
                                </p:cTn>
                              </p:par>
                              <p:par>
                                <p:cTn id="76" presetID="42" presetClass="entr" presetSubtype="0" fill="hold" grpId="0" nodeType="withEffect" decel="100000">
                                  <p:stCondLst>
                                    <p:cond delay="55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anim calcmode="lin" valueType="num">
                                      <p:cBhvr>
                                        <p:cTn id="74" dur="500" fill="hold"/>
                                        <p:tgtEl>
                                          <p:spTgt spid="18"/>
                                        </p:tgtEl>
                                        <p:attrNameLst>
                                          <p:attrName>ppt_x</p:attrName>
                                        </p:attrNameLst>
                                      </p:cBhvr>
                                      <p:tavLst>
                                        <p:tav tm="0">
                                          <p:val>
                                            <p:strVal val="#ppt_x"/>
                                          </p:val>
                                        </p:tav>
                                        <p:tav tm="100000">
                                          <p:val>
                                            <p:strVal val="#ppt_x"/>
                                          </p:val>
                                        </p:tav>
                                      </p:tavLst>
                                    </p:anim>
                                    <p:anim calcmode="lin" valueType="num">
                                      <p:cBhvr>
                                        <p:cTn id="75" dur="500" fill="hold"/>
                                        <p:tgtEl>
                                          <p:spTgt spid="18"/>
                                        </p:tgtEl>
                                        <p:attrNameLst>
                                          <p:attrName>ppt_y</p:attrName>
                                        </p:attrNameLst>
                                      </p:cBhvr>
                                      <p:tavLst>
                                        <p:tav tm="0">
                                          <p:val>
                                            <p:strVal val="#ppt_y+0.05"/>
                                          </p:val>
                                        </p:tav>
                                        <p:tav tm="100000">
                                          <p:val>
                                            <p:strVal val="#ppt_y"/>
                                          </p:val>
                                        </p:tav>
                                      </p:tavLst>
                                    </p:anim>
                                  </p:childTnLst>
                                </p:cTn>
                              </p:par>
                              <p:par>
                                <p:cTn id="79" presetID="22" presetClass="entr" presetSubtype="8" fill="hold" grpId="0" nodeType="withEffect" decel="100000">
                                  <p:stCondLst>
                                    <p:cond delay="600"/>
                                  </p:stCondLst>
                                  <p:childTnLst>
                                    <p:set>
                                      <p:cBhvr>
                                        <p:cTn id="77" dur="1" fill="hold">
                                          <p:stCondLst>
                                            <p:cond delay="0"/>
                                          </p:stCondLst>
                                        </p:cTn>
                                        <p:tgtEl>
                                          <p:spTgt spid="19"/>
                                        </p:tgtEl>
                                        <p:attrNameLst>
                                          <p:attrName>style.visibility</p:attrName>
                                        </p:attrNameLst>
                                      </p:cBhvr>
                                      <p:to>
                                        <p:strVal val="visible"/>
                                      </p:to>
                                    </p:set>
                                    <p:animEffect transition="in" filter="wipe(right)">
                                      <p:cBhvr>
                                        <p:cTn id="78" dur="250"/>
                                        <p:tgtEl>
                                          <p:spTgt spid="19"/>
                                        </p:tgtEl>
                                      </p:cBhvr>
                                    </p:animEffect>
                                  </p:childTnLst>
                                </p:cTn>
                              </p:par>
                              <p:par>
                                <p:cTn id="84" presetID="42" presetClass="entr" presetSubtype="0" fill="hold" grpId="0" nodeType="withEffect" decel="100000">
                                  <p:stCondLst>
                                    <p:cond delay="75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anim calcmode="lin" valueType="num">
                                      <p:cBhvr>
                                        <p:cTn id="82" dur="500" fill="hold"/>
                                        <p:tgtEl>
                                          <p:spTgt spid="20"/>
                                        </p:tgtEl>
                                        <p:attrNameLst>
                                          <p:attrName>ppt_x</p:attrName>
                                        </p:attrNameLst>
                                      </p:cBhvr>
                                      <p:tavLst>
                                        <p:tav tm="0">
                                          <p:val>
                                            <p:strVal val="#ppt_x"/>
                                          </p:val>
                                        </p:tav>
                                        <p:tav tm="100000">
                                          <p:val>
                                            <p:strVal val="#ppt_x"/>
                                          </p:val>
                                        </p:tav>
                                      </p:tavLst>
                                    </p:anim>
                                    <p:anim calcmode="lin" valueType="num">
                                      <p:cBhvr>
                                        <p:cTn id="83" dur="500" fill="hold"/>
                                        <p:tgtEl>
                                          <p:spTgt spid="20"/>
                                        </p:tgtEl>
                                        <p:attrNameLst>
                                          <p:attrName>ppt_y</p:attrName>
                                        </p:attrNameLst>
                                      </p:cBhvr>
                                      <p:tavLst>
                                        <p:tav tm="0">
                                          <p:val>
                                            <p:strVal val="#ppt_y+0.05"/>
                                          </p:val>
                                        </p:tav>
                                        <p:tav tm="100000">
                                          <p:val>
                                            <p:strVal val="#ppt_y"/>
                                          </p:val>
                                        </p:tav>
                                      </p:tavLst>
                                    </p:anim>
                                  </p:childTnLst>
                                </p:cTn>
                              </p:par>
                              <p:par>
                                <p:cTn id="89" presetID="42" presetClass="entr" presetSubtype="0" fill="hold" grpId="0" nodeType="withEffect" decel="100000">
                                  <p:stCondLst>
                                    <p:cond delay="75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anim calcmode="lin" valueType="num">
                                      <p:cBhvr>
                                        <p:cTn id="87" dur="500" fill="hold"/>
                                        <p:tgtEl>
                                          <p:spTgt spid="21"/>
                                        </p:tgtEl>
                                        <p:attrNameLst>
                                          <p:attrName>ppt_x</p:attrName>
                                        </p:attrNameLst>
                                      </p:cBhvr>
                                      <p:tavLst>
                                        <p:tav tm="0">
                                          <p:val>
                                            <p:strVal val="#ppt_x"/>
                                          </p:val>
                                        </p:tav>
                                        <p:tav tm="100000">
                                          <p:val>
                                            <p:strVal val="#ppt_x"/>
                                          </p:val>
                                        </p:tav>
                                      </p:tavLst>
                                    </p:anim>
                                    <p:anim calcmode="lin" valueType="num">
                                      <p:cBhvr>
                                        <p:cTn id="88" dur="500" fill="hold"/>
                                        <p:tgtEl>
                                          <p:spTgt spid="21"/>
                                        </p:tgtEl>
                                        <p:attrNameLst>
                                          <p:attrName>ppt_y</p:attrName>
                                        </p:attrNameLst>
                                      </p:cBhvr>
                                      <p:tavLst>
                                        <p:tav tm="0">
                                          <p:val>
                                            <p:strVal val="#ppt_y+0.05"/>
                                          </p:val>
                                        </p:tav>
                                        <p:tav tm="100000">
                                          <p:val>
                                            <p:strVal val="#ppt_y"/>
                                          </p:val>
                                        </p:tav>
                                      </p:tavLst>
                                    </p:anim>
                                  </p:childTnLst>
                                </p:cTn>
                              </p:par>
                              <p:par>
                                <p:cTn id="94" presetID="42" presetClass="entr" presetSubtype="0" fill="hold" grpId="0" nodeType="withEffect" decel="100000">
                                  <p:stCondLst>
                                    <p:cond delay="75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00"/>
                                        <p:tgtEl>
                                          <p:spTgt spid="22"/>
                                        </p:tgtEl>
                                      </p:cBhvr>
                                    </p:animEffect>
                                    <p:anim calcmode="lin" valueType="num">
                                      <p:cBhvr>
                                        <p:cTn id="92" dur="500" fill="hold"/>
                                        <p:tgtEl>
                                          <p:spTgt spid="22"/>
                                        </p:tgtEl>
                                        <p:attrNameLst>
                                          <p:attrName>ppt_x</p:attrName>
                                        </p:attrNameLst>
                                      </p:cBhvr>
                                      <p:tavLst>
                                        <p:tav tm="0">
                                          <p:val>
                                            <p:strVal val="#ppt_x"/>
                                          </p:val>
                                        </p:tav>
                                        <p:tav tm="100000">
                                          <p:val>
                                            <p:strVal val="#ppt_x"/>
                                          </p:val>
                                        </p:tav>
                                      </p:tavLst>
                                    </p:anim>
                                    <p:anim calcmode="lin" valueType="num">
                                      <p:cBhvr>
                                        <p:cTn id="93" dur="500" fill="hold"/>
                                        <p:tgtEl>
                                          <p:spTgt spid="22"/>
                                        </p:tgtEl>
                                        <p:attrNameLst>
                                          <p:attrName>ppt_y</p:attrName>
                                        </p:attrNameLst>
                                      </p:cBhvr>
                                      <p:tavLst>
                                        <p:tav tm="0">
                                          <p:val>
                                            <p:strVal val="#ppt_y+0.05"/>
                                          </p:val>
                                        </p:tav>
                                        <p:tav tm="100000">
                                          <p:val>
                                            <p:strVal val="#ppt_y"/>
                                          </p:val>
                                        </p:tav>
                                      </p:tavLst>
                                    </p:anim>
                                  </p:childTnLst>
                                </p:cTn>
                              </p:par>
                              <p:par>
                                <p:cTn id="99" presetID="42" presetClass="entr" presetSubtype="0" fill="hold" grpId="0" nodeType="withEffect" decel="100000">
                                  <p:stCondLst>
                                    <p:cond delay="75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00"/>
                                        <p:tgtEl>
                                          <p:spTgt spid="23"/>
                                        </p:tgtEl>
                                      </p:cBhvr>
                                    </p:animEffect>
                                    <p:anim calcmode="lin" valueType="num">
                                      <p:cBhvr>
                                        <p:cTn id="97" dur="500" fill="hold"/>
                                        <p:tgtEl>
                                          <p:spTgt spid="23"/>
                                        </p:tgtEl>
                                        <p:attrNameLst>
                                          <p:attrName>ppt_x</p:attrName>
                                        </p:attrNameLst>
                                      </p:cBhvr>
                                      <p:tavLst>
                                        <p:tav tm="0">
                                          <p:val>
                                            <p:strVal val="#ppt_x"/>
                                          </p:val>
                                        </p:tav>
                                        <p:tav tm="100000">
                                          <p:val>
                                            <p:strVal val="#ppt_x"/>
                                          </p:val>
                                        </p:tav>
                                      </p:tavLst>
                                    </p:anim>
                                    <p:anim calcmode="lin" valueType="num">
                                      <p:cBhvr>
                                        <p:cTn id="98" dur="500" fill="hold"/>
                                        <p:tgtEl>
                                          <p:spTgt spid="23"/>
                                        </p:tgtEl>
                                        <p:attrNameLst>
                                          <p:attrName>ppt_y</p:attrName>
                                        </p:attrNameLst>
                                      </p:cBhvr>
                                      <p:tavLst>
                                        <p:tav tm="0">
                                          <p:val>
                                            <p:strVal val="#ppt_y+0.05"/>
                                          </p:val>
                                        </p:tav>
                                        <p:tav tm="100000">
                                          <p:val>
                                            <p:strVal val="#ppt_y"/>
                                          </p:val>
                                        </p:tav>
                                      </p:tavLst>
                                    </p:anim>
                                  </p:childTnLst>
                                </p:cTn>
                              </p:par>
                              <p:par>
                                <p:cTn id="104" presetID="42" presetClass="entr" presetSubtype="0" fill="hold" grpId="0" nodeType="withEffect" decel="100000">
                                  <p:stCondLst>
                                    <p:cond delay="75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00"/>
                                        <p:tgtEl>
                                          <p:spTgt spid="24"/>
                                        </p:tgtEl>
                                      </p:cBhvr>
                                    </p:animEffect>
                                    <p:anim calcmode="lin" valueType="num">
                                      <p:cBhvr>
                                        <p:cTn id="102" dur="500" fill="hold"/>
                                        <p:tgtEl>
                                          <p:spTgt spid="24"/>
                                        </p:tgtEl>
                                        <p:attrNameLst>
                                          <p:attrName>ppt_x</p:attrName>
                                        </p:attrNameLst>
                                      </p:cBhvr>
                                      <p:tavLst>
                                        <p:tav tm="0">
                                          <p:val>
                                            <p:strVal val="#ppt_x"/>
                                          </p:val>
                                        </p:tav>
                                        <p:tav tm="100000">
                                          <p:val>
                                            <p:strVal val="#ppt_x"/>
                                          </p:val>
                                        </p:tav>
                                      </p:tavLst>
                                    </p:anim>
                                    <p:anim calcmode="lin" valueType="num">
                                      <p:cBhvr>
                                        <p:cTn id="103" dur="500" fill="hold"/>
                                        <p:tgtEl>
                                          <p:spTgt spid="24"/>
                                        </p:tgtEl>
                                        <p:attrNameLst>
                                          <p:attrName>ppt_y</p:attrName>
                                        </p:attrNameLst>
                                      </p:cBhvr>
                                      <p:tavLst>
                                        <p:tav tm="0">
                                          <p:val>
                                            <p:strVal val="#ppt_y+0.05"/>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09" presetID="22" presetClass="entr" presetSubtype="8" fill="hold" grpId="0" nodeType="clickEffect" decel="100000">
                                  <p:stCondLst>
                                    <p:cond delay="0"/>
                                  </p:stCondLst>
                                  <p:childTnLst>
                                    <p:set>
                                      <p:cBhvr>
                                        <p:cTn id="107" dur="1" fill="hold">
                                          <p:stCondLst>
                                            <p:cond delay="0"/>
                                          </p:stCondLst>
                                        </p:cTn>
                                        <p:tgtEl>
                                          <p:spTgt spid="25"/>
                                        </p:tgtEl>
                                        <p:attrNameLst>
                                          <p:attrName>style.visibility</p:attrName>
                                        </p:attrNameLst>
                                      </p:cBhvr>
                                      <p:to>
                                        <p:strVal val="visible"/>
                                      </p:to>
                                    </p:set>
                                    <p:animEffect transition="in" filter="wipe(right)">
                                      <p:cBhvr>
                                        <p:cTn id="108" dur="250"/>
                                        <p:tgtEl>
                                          <p:spTgt spid="25"/>
                                        </p:tgtEl>
                                      </p:cBhvr>
                                    </p:animEffect>
                                  </p:childTnLst>
                                </p:cTn>
                              </p:par>
                              <p:par>
                                <p:cTn id="112" presetID="22" presetClass="entr" presetSubtype="8" fill="hold" grpId="0" nodeType="withEffect" decel="100000">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wipe(right)">
                                      <p:cBhvr>
                                        <p:cTn id="111" dur="250"/>
                                        <p:tgtEl>
                                          <p:spTgt spid="26"/>
                                        </p:tgtEl>
                                      </p:cBhvr>
                                    </p:animEffect>
                                  </p:childTnLst>
                                </p:cTn>
                              </p:par>
                              <p:par>
                                <p:cTn id="115" presetID="10" presetClass="entr" presetSubtype="0" fill="hold" grpId="0" nodeType="withEffect" decel="100000">
                                  <p:stCondLst>
                                    <p:cond delay="20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250"/>
                                        <p:tgtEl>
                                          <p:spTgt spid="27"/>
                                        </p:tgtEl>
                                      </p:cBhvr>
                                    </p:animEffect>
                                  </p:childTnLst>
                                </p:cTn>
                              </p:par>
                              <p:par>
                                <p:cTn id="118" presetID="22" presetClass="entr" presetSubtype="8" fill="hold" grpId="0" nodeType="withEffect" decel="100000">
                                  <p:stCondLst>
                                    <p:cond delay="400"/>
                                  </p:stCondLst>
                                  <p:childTnLst>
                                    <p:set>
                                      <p:cBhvr>
                                        <p:cTn id="116" dur="1" fill="hold">
                                          <p:stCondLst>
                                            <p:cond delay="0"/>
                                          </p:stCondLst>
                                        </p:cTn>
                                        <p:tgtEl>
                                          <p:spTgt spid="28"/>
                                        </p:tgtEl>
                                        <p:attrNameLst>
                                          <p:attrName>style.visibility</p:attrName>
                                        </p:attrNameLst>
                                      </p:cBhvr>
                                      <p:to>
                                        <p:strVal val="visible"/>
                                      </p:to>
                                    </p:set>
                                    <p:animEffect transition="in" filter="wipe(right)">
                                      <p:cBhvr>
                                        <p:cTn id="117" dur="250"/>
                                        <p:tgtEl>
                                          <p:spTgt spid="28"/>
                                        </p:tgtEl>
                                      </p:cBhvr>
                                    </p:animEffect>
                                  </p:childTnLst>
                                </p:cTn>
                              </p:par>
                              <p:par>
                                <p:cTn id="123" presetID="42" presetClass="entr" presetSubtype="0" fill="hold" grpId="0" nodeType="withEffect" decel="100000">
                                  <p:stCondLst>
                                    <p:cond delay="55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500"/>
                                        <p:tgtEl>
                                          <p:spTgt spid="29"/>
                                        </p:tgtEl>
                                      </p:cBhvr>
                                    </p:animEffect>
                                    <p:anim calcmode="lin" valueType="num">
                                      <p:cBhvr>
                                        <p:cTn id="121" dur="500" fill="hold"/>
                                        <p:tgtEl>
                                          <p:spTgt spid="29"/>
                                        </p:tgtEl>
                                        <p:attrNameLst>
                                          <p:attrName>ppt_x</p:attrName>
                                        </p:attrNameLst>
                                      </p:cBhvr>
                                      <p:tavLst>
                                        <p:tav tm="0">
                                          <p:val>
                                            <p:strVal val="#ppt_x"/>
                                          </p:val>
                                        </p:tav>
                                        <p:tav tm="100000">
                                          <p:val>
                                            <p:strVal val="#ppt_x"/>
                                          </p:val>
                                        </p:tav>
                                      </p:tavLst>
                                    </p:anim>
                                    <p:anim calcmode="lin" valueType="num">
                                      <p:cBhvr>
                                        <p:cTn id="122" dur="500" fill="hold"/>
                                        <p:tgtEl>
                                          <p:spTgt spid="29"/>
                                        </p:tgtEl>
                                        <p:attrNameLst>
                                          <p:attrName>ppt_y</p:attrName>
                                        </p:attrNameLst>
                                      </p:cBhvr>
                                      <p:tavLst>
                                        <p:tav tm="0">
                                          <p:val>
                                            <p:strVal val="#ppt_y+0.05"/>
                                          </p:val>
                                        </p:tav>
                                        <p:tav tm="100000">
                                          <p:val>
                                            <p:strVal val="#ppt_y"/>
                                          </p:val>
                                        </p:tav>
                                      </p:tavLst>
                                    </p:anim>
                                  </p:childTnLst>
                                </p:cTn>
                              </p:par>
                              <p:par>
                                <p:cTn id="128" presetID="42" presetClass="entr" presetSubtype="0" fill="hold" grpId="0" nodeType="withEffect" decel="100000">
                                  <p:stCondLst>
                                    <p:cond delay="550"/>
                                  </p:stCondLst>
                                  <p:childTnLst>
                                    <p:set>
                                      <p:cBhvr>
                                        <p:cTn id="124" dur="1" fill="hold">
                                          <p:stCondLst>
                                            <p:cond delay="0"/>
                                          </p:stCondLst>
                                        </p:cTn>
                                        <p:tgtEl>
                                          <p:spTgt spid="30"/>
                                        </p:tgtEl>
                                        <p:attrNameLst>
                                          <p:attrName>style.visibility</p:attrName>
                                        </p:attrNameLst>
                                      </p:cBhvr>
                                      <p:to>
                                        <p:strVal val="visible"/>
                                      </p:to>
                                    </p:set>
                                    <p:animEffect transition="in" filter="fade">
                                      <p:cBhvr>
                                        <p:cTn id="125" dur="500"/>
                                        <p:tgtEl>
                                          <p:spTgt spid="30"/>
                                        </p:tgtEl>
                                      </p:cBhvr>
                                    </p:animEffect>
                                    <p:anim calcmode="lin" valueType="num">
                                      <p:cBhvr>
                                        <p:cTn id="126" dur="500" fill="hold"/>
                                        <p:tgtEl>
                                          <p:spTgt spid="30"/>
                                        </p:tgtEl>
                                        <p:attrNameLst>
                                          <p:attrName>ppt_x</p:attrName>
                                        </p:attrNameLst>
                                      </p:cBhvr>
                                      <p:tavLst>
                                        <p:tav tm="0">
                                          <p:val>
                                            <p:strVal val="#ppt_x"/>
                                          </p:val>
                                        </p:tav>
                                        <p:tav tm="100000">
                                          <p:val>
                                            <p:strVal val="#ppt_x"/>
                                          </p:val>
                                        </p:tav>
                                      </p:tavLst>
                                    </p:anim>
                                    <p:anim calcmode="lin" valueType="num">
                                      <p:cBhvr>
                                        <p:cTn id="127" dur="500" fill="hold"/>
                                        <p:tgtEl>
                                          <p:spTgt spid="30"/>
                                        </p:tgtEl>
                                        <p:attrNameLst>
                                          <p:attrName>ppt_y</p:attrName>
                                        </p:attrNameLst>
                                      </p:cBhvr>
                                      <p:tavLst>
                                        <p:tav tm="0">
                                          <p:val>
                                            <p:strVal val="#ppt_y+0.05"/>
                                          </p:val>
                                        </p:tav>
                                        <p:tav tm="100000">
                                          <p:val>
                                            <p:strVal val="#ppt_y"/>
                                          </p:val>
                                        </p:tav>
                                      </p:tavLst>
                                    </p:anim>
                                  </p:childTnLst>
                                </p:cTn>
                              </p:par>
                              <p:par>
                                <p:cTn id="133" presetID="42" presetClass="entr" presetSubtype="0" fill="hold" grpId="0" nodeType="withEffect" decel="100000">
                                  <p:stCondLst>
                                    <p:cond delay="55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500"/>
                                        <p:tgtEl>
                                          <p:spTgt spid="31"/>
                                        </p:tgtEl>
                                      </p:cBhvr>
                                    </p:animEffect>
                                    <p:anim calcmode="lin" valueType="num">
                                      <p:cBhvr>
                                        <p:cTn id="131" dur="500" fill="hold"/>
                                        <p:tgtEl>
                                          <p:spTgt spid="31"/>
                                        </p:tgtEl>
                                        <p:attrNameLst>
                                          <p:attrName>ppt_x</p:attrName>
                                        </p:attrNameLst>
                                      </p:cBhvr>
                                      <p:tavLst>
                                        <p:tav tm="0">
                                          <p:val>
                                            <p:strVal val="#ppt_x"/>
                                          </p:val>
                                        </p:tav>
                                        <p:tav tm="100000">
                                          <p:val>
                                            <p:strVal val="#ppt_x"/>
                                          </p:val>
                                        </p:tav>
                                      </p:tavLst>
                                    </p:anim>
                                    <p:anim calcmode="lin" valueType="num">
                                      <p:cBhvr>
                                        <p:cTn id="132" dur="500" fill="hold"/>
                                        <p:tgtEl>
                                          <p:spTgt spid="31"/>
                                        </p:tgtEl>
                                        <p:attrNameLst>
                                          <p:attrName>ppt_y</p:attrName>
                                        </p:attrNameLst>
                                      </p:cBhvr>
                                      <p:tavLst>
                                        <p:tav tm="0">
                                          <p:val>
                                            <p:strVal val="#ppt_y+0.05"/>
                                          </p:val>
                                        </p:tav>
                                        <p:tav tm="100000">
                                          <p:val>
                                            <p:strVal val="#ppt_y"/>
                                          </p:val>
                                        </p:tav>
                                      </p:tavLst>
                                    </p:anim>
                                  </p:childTnLst>
                                </p:cTn>
                              </p:par>
                              <p:par>
                                <p:cTn id="138" presetID="42" presetClass="entr" presetSubtype="0" fill="hold" grpId="0" nodeType="withEffect" decel="100000">
                                  <p:stCondLst>
                                    <p:cond delay="55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500"/>
                                        <p:tgtEl>
                                          <p:spTgt spid="32"/>
                                        </p:tgtEl>
                                      </p:cBhvr>
                                    </p:animEffect>
                                    <p:anim calcmode="lin" valueType="num">
                                      <p:cBhvr>
                                        <p:cTn id="136" dur="500" fill="hold"/>
                                        <p:tgtEl>
                                          <p:spTgt spid="32"/>
                                        </p:tgtEl>
                                        <p:attrNameLst>
                                          <p:attrName>ppt_x</p:attrName>
                                        </p:attrNameLst>
                                      </p:cBhvr>
                                      <p:tavLst>
                                        <p:tav tm="0">
                                          <p:val>
                                            <p:strVal val="#ppt_x"/>
                                          </p:val>
                                        </p:tav>
                                        <p:tav tm="100000">
                                          <p:val>
                                            <p:strVal val="#ppt_x"/>
                                          </p:val>
                                        </p:tav>
                                      </p:tavLst>
                                    </p:anim>
                                    <p:anim calcmode="lin" valueType="num">
                                      <p:cBhvr>
                                        <p:cTn id="137" dur="500" fill="hold"/>
                                        <p:tgtEl>
                                          <p:spTgt spid="32"/>
                                        </p:tgtEl>
                                        <p:attrNameLst>
                                          <p:attrName>ppt_y</p:attrName>
                                        </p:attrNameLst>
                                      </p:cBhvr>
                                      <p:tavLst>
                                        <p:tav tm="0">
                                          <p:val>
                                            <p:strVal val="#ppt_y+0.05"/>
                                          </p:val>
                                        </p:tav>
                                        <p:tav tm="100000">
                                          <p:val>
                                            <p:strVal val="#ppt_y"/>
                                          </p:val>
                                        </p:tav>
                                      </p:tavLst>
                                    </p:anim>
                                  </p:childTnLst>
                                </p:cTn>
                              </p:par>
                              <p:par>
                                <p:cTn id="143" presetID="42" presetClass="entr" presetSubtype="0" fill="hold" grpId="0" nodeType="withEffect" decel="100000">
                                  <p:stCondLst>
                                    <p:cond delay="55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500"/>
                                        <p:tgtEl>
                                          <p:spTgt spid="33"/>
                                        </p:tgtEl>
                                      </p:cBhvr>
                                    </p:animEffect>
                                    <p:anim calcmode="lin" valueType="num">
                                      <p:cBhvr>
                                        <p:cTn id="141" dur="500" fill="hold"/>
                                        <p:tgtEl>
                                          <p:spTgt spid="33"/>
                                        </p:tgtEl>
                                        <p:attrNameLst>
                                          <p:attrName>ppt_x</p:attrName>
                                        </p:attrNameLst>
                                      </p:cBhvr>
                                      <p:tavLst>
                                        <p:tav tm="0">
                                          <p:val>
                                            <p:strVal val="#ppt_x"/>
                                          </p:val>
                                        </p:tav>
                                        <p:tav tm="100000">
                                          <p:val>
                                            <p:strVal val="#ppt_x"/>
                                          </p:val>
                                        </p:tav>
                                      </p:tavLst>
                                    </p:anim>
                                    <p:anim calcmode="lin" valueType="num">
                                      <p:cBhvr>
                                        <p:cTn id="142" dur="500" fill="hold"/>
                                        <p:tgtEl>
                                          <p:spTgt spid="33"/>
                                        </p:tgtEl>
                                        <p:attrNameLst>
                                          <p:attrName>ppt_y</p:attrName>
                                        </p:attrNameLst>
                                      </p:cBhvr>
                                      <p:tavLst>
                                        <p:tav tm="0">
                                          <p:val>
                                            <p:strVal val="#ppt_y+0.05"/>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48" presetID="22" presetClass="entr" presetSubtype="8" fill="hold" grpId="0" nodeType="clickEffect" decel="100000">
                                  <p:stCondLst>
                                    <p:cond delay="0"/>
                                  </p:stCondLst>
                                  <p:childTnLst>
                                    <p:set>
                                      <p:cBhvr>
                                        <p:cTn id="146" dur="1" fill="hold">
                                          <p:stCondLst>
                                            <p:cond delay="0"/>
                                          </p:stCondLst>
                                        </p:cTn>
                                        <p:tgtEl>
                                          <p:spTgt spid="34"/>
                                        </p:tgtEl>
                                        <p:attrNameLst>
                                          <p:attrName>style.visibility</p:attrName>
                                        </p:attrNameLst>
                                      </p:cBhvr>
                                      <p:to>
                                        <p:strVal val="visible"/>
                                      </p:to>
                                    </p:set>
                                    <p:animEffect transition="in" filter="wipe(right)">
                                      <p:cBhvr>
                                        <p:cTn id="147" dur="250"/>
                                        <p:tgtEl>
                                          <p:spTgt spid="34"/>
                                        </p:tgtEl>
                                      </p:cBhvr>
                                    </p:animEffect>
                                  </p:childTnLst>
                                </p:cTn>
                              </p:par>
                              <p:par>
                                <p:cTn id="153" presetID="53" presetClass="entr" presetSubtype="16" fill="hold" grpId="0" nodeType="withEffect" decel="100000">
                                  <p:stCondLst>
                                    <p:cond delay="200"/>
                                  </p:stCondLst>
                                  <p:childTnLst>
                                    <p:set>
                                      <p:cBhvr>
                                        <p:cTn id="149" dur="1" fill="hold">
                                          <p:stCondLst>
                                            <p:cond delay="0"/>
                                          </p:stCondLst>
                                        </p:cTn>
                                        <p:tgtEl>
                                          <p:spTgt spid="35"/>
                                        </p:tgtEl>
                                        <p:attrNameLst>
                                          <p:attrName>style.visibility</p:attrName>
                                        </p:attrNameLst>
                                      </p:cBhvr>
                                      <p:to>
                                        <p:strVal val="visible"/>
                                      </p:to>
                                    </p:set>
                                    <p:anim calcmode="lin" valueType="num">
                                      <p:cBhvr>
                                        <p:cTn id="150" dur="500" fill="hold"/>
                                        <p:tgtEl>
                                          <p:spTgt spid="35"/>
                                        </p:tgtEl>
                                        <p:attrNameLst>
                                          <p:attrName>ppt_w</p:attrName>
                                        </p:attrNameLst>
                                      </p:cBhvr>
                                      <p:tavLst>
                                        <p:tav tm="0">
                                          <p:val>
                                            <p:strVal val="#ppt_w*0.70"/>
                                          </p:val>
                                        </p:tav>
                                        <p:tav tm="100000">
                                          <p:val>
                                            <p:strVal val="#ppt_w"/>
                                          </p:val>
                                        </p:tav>
                                      </p:tavLst>
                                    </p:anim>
                                    <p:anim calcmode="lin" valueType="num">
                                      <p:cBhvr>
                                        <p:cTn id="151" dur="500" fill="hold"/>
                                        <p:tgtEl>
                                          <p:spTgt spid="35"/>
                                        </p:tgtEl>
                                        <p:attrNameLst>
                                          <p:attrName>ppt_h</p:attrName>
                                        </p:attrNameLst>
                                      </p:cBhvr>
                                      <p:tavLst>
                                        <p:tav tm="0">
                                          <p:val>
                                            <p:strVal val="#ppt_h*0.70"/>
                                          </p:val>
                                        </p:tav>
                                        <p:tav tm="100000">
                                          <p:val>
                                            <p:strVal val="#ppt_h"/>
                                          </p:val>
                                        </p:tav>
                                      </p:tavLst>
                                    </p:anim>
                                    <p:animEffect transition="in" filter="fade">
                                      <p:cBhvr>
                                        <p:cTn id="152" dur="500"/>
                                        <p:tgtEl>
                                          <p:spTgt spid="35"/>
                                        </p:tgtEl>
                                      </p:cBhvr>
                                    </p:animEffect>
                                  </p:childTnLst>
                                </p:cTn>
                              </p:par>
                              <p:par>
                                <p:cTn id="158" presetID="53" presetClass="entr" presetSubtype="16" fill="hold" grpId="0" nodeType="withEffect" decel="100000">
                                  <p:stCondLst>
                                    <p:cond delay="200"/>
                                  </p:stCondLst>
                                  <p:childTnLst>
                                    <p:set>
                                      <p:cBhvr>
                                        <p:cTn id="154" dur="1" fill="hold">
                                          <p:stCondLst>
                                            <p:cond delay="0"/>
                                          </p:stCondLst>
                                        </p:cTn>
                                        <p:tgtEl>
                                          <p:spTgt spid="36"/>
                                        </p:tgtEl>
                                        <p:attrNameLst>
                                          <p:attrName>style.visibility</p:attrName>
                                        </p:attrNameLst>
                                      </p:cBhvr>
                                      <p:to>
                                        <p:strVal val="visible"/>
                                      </p:to>
                                    </p:set>
                                    <p:anim calcmode="lin" valueType="num">
                                      <p:cBhvr>
                                        <p:cTn id="155" dur="500" fill="hold"/>
                                        <p:tgtEl>
                                          <p:spTgt spid="36"/>
                                        </p:tgtEl>
                                        <p:attrNameLst>
                                          <p:attrName>ppt_w</p:attrName>
                                        </p:attrNameLst>
                                      </p:cBhvr>
                                      <p:tavLst>
                                        <p:tav tm="0">
                                          <p:val>
                                            <p:strVal val="#ppt_w*0.70"/>
                                          </p:val>
                                        </p:tav>
                                        <p:tav tm="100000">
                                          <p:val>
                                            <p:strVal val="#ppt_w"/>
                                          </p:val>
                                        </p:tav>
                                      </p:tavLst>
                                    </p:anim>
                                    <p:anim calcmode="lin" valueType="num">
                                      <p:cBhvr>
                                        <p:cTn id="156" dur="500" fill="hold"/>
                                        <p:tgtEl>
                                          <p:spTgt spid="36"/>
                                        </p:tgtEl>
                                        <p:attrNameLst>
                                          <p:attrName>ppt_h</p:attrName>
                                        </p:attrNameLst>
                                      </p:cBhvr>
                                      <p:tavLst>
                                        <p:tav tm="0">
                                          <p:val>
                                            <p:strVal val="#ppt_h*0.70"/>
                                          </p:val>
                                        </p:tav>
                                        <p:tav tm="100000">
                                          <p:val>
                                            <p:strVal val="#ppt_h"/>
                                          </p:val>
                                        </p:tav>
                                      </p:tavLst>
                                    </p:anim>
                                    <p:animEffect transition="in" filter="fade">
                                      <p:cBhvr>
                                        <p:cTn id="157" dur="500"/>
                                        <p:tgtEl>
                                          <p:spTgt spid="36"/>
                                        </p:tgtEl>
                                      </p:cBhvr>
                                    </p:animEffect>
                                  </p:childTnLst>
                                </p:cTn>
                              </p:par>
                              <p:par>
                                <p:cTn id="163" presetID="53" presetClass="entr" presetSubtype="16" fill="hold" grpId="0" nodeType="withEffect" decel="100000">
                                  <p:stCondLst>
                                    <p:cond delay="200"/>
                                  </p:stCondLst>
                                  <p:childTnLst>
                                    <p:set>
                                      <p:cBhvr>
                                        <p:cTn id="159" dur="1" fill="hold">
                                          <p:stCondLst>
                                            <p:cond delay="0"/>
                                          </p:stCondLst>
                                        </p:cTn>
                                        <p:tgtEl>
                                          <p:spTgt spid="37"/>
                                        </p:tgtEl>
                                        <p:attrNameLst>
                                          <p:attrName>style.visibility</p:attrName>
                                        </p:attrNameLst>
                                      </p:cBhvr>
                                      <p:to>
                                        <p:strVal val="visible"/>
                                      </p:to>
                                    </p:set>
                                    <p:anim calcmode="lin" valueType="num">
                                      <p:cBhvr>
                                        <p:cTn id="160" dur="500" fill="hold"/>
                                        <p:tgtEl>
                                          <p:spTgt spid="37"/>
                                        </p:tgtEl>
                                        <p:attrNameLst>
                                          <p:attrName>ppt_w</p:attrName>
                                        </p:attrNameLst>
                                      </p:cBhvr>
                                      <p:tavLst>
                                        <p:tav tm="0">
                                          <p:val>
                                            <p:strVal val="#ppt_w*0.70"/>
                                          </p:val>
                                        </p:tav>
                                        <p:tav tm="100000">
                                          <p:val>
                                            <p:strVal val="#ppt_w"/>
                                          </p:val>
                                        </p:tav>
                                      </p:tavLst>
                                    </p:anim>
                                    <p:anim calcmode="lin" valueType="num">
                                      <p:cBhvr>
                                        <p:cTn id="161" dur="500" fill="hold"/>
                                        <p:tgtEl>
                                          <p:spTgt spid="37"/>
                                        </p:tgtEl>
                                        <p:attrNameLst>
                                          <p:attrName>ppt_h</p:attrName>
                                        </p:attrNameLst>
                                      </p:cBhvr>
                                      <p:tavLst>
                                        <p:tav tm="0">
                                          <p:val>
                                            <p:strVal val="#ppt_h*0.70"/>
                                          </p:val>
                                        </p:tav>
                                        <p:tav tm="100000">
                                          <p:val>
                                            <p:strVal val="#ppt_h"/>
                                          </p:val>
                                        </p:tav>
                                      </p:tavLst>
                                    </p:anim>
                                    <p:animEffect transition="in" filter="fade">
                                      <p:cBhvr>
                                        <p:cTn id="16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4" grpId="0" animBg="1"/>
      <p:bldP spid="35"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3" name="txt_10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1 · PRICING</a:t>
            </a:r>
            <a:endParaRPr lang="en-US" sz="1100" dirty="0"/>
          </a:p>
        </p:txBody>
      </p:sp>
      <p:sp>
        <p:nvSpPr>
          <p:cNvPr id="4" name="txt_10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M1 — The Rule-Based Formula</a:t>
            </a:r>
            <a:endParaRPr lang="en-US" sz="3200" dirty="0"/>
          </a:p>
        </p:txBody>
      </p:sp>
      <p:sp>
        <p:nvSpPr>
          <p:cNvPr id="5" name="txt_10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Every rupee is traceable: a deterministic build-up from distance, chargeable weight and two multipliers.</a:t>
            </a:r>
            <a:endParaRPr lang="en-US" sz="1500" dirty="0"/>
          </a:p>
        </p:txBody>
      </p:sp>
      <p:sp>
        <p:nvSpPr>
          <p:cNvPr id="6" name="txt_10_3"/>
          <p:cNvSpPr txBox="1"/>
          <p:nvPr/>
        </p:nvSpPr>
        <p:spPr>
          <a:xfrm>
            <a:off x="6263640" y="1874520"/>
            <a:ext cx="27432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VARIABLES</a:t>
            </a:r>
            <a:endParaRPr lang="en-US" sz="1050" dirty="0"/>
          </a:p>
        </p:txBody>
      </p:sp>
      <p:sp>
        <p:nvSpPr>
          <p:cNvPr id="7" name="txt_10_4"/>
          <p:cNvSpPr txBox="1"/>
          <p:nvPr/>
        </p:nvSpPr>
        <p:spPr>
          <a:xfrm>
            <a:off x="6263640" y="2176272"/>
            <a:ext cx="2689708" cy="292608"/>
          </a:xfrm>
          <a:prstGeom prst="rect">
            <a:avLst/>
          </a:prstGeom>
          <a:noFill/>
          <a:ln/>
        </p:spPr>
        <p:txBody>
          <a:bodyPr wrap="square" lIns="0" tIns="0" rIns="0" bIns="0" rtlCol="0" anchor="t"/>
          <a:lstStyle/>
          <a:p>
            <a:pPr indent="0" marL="0">
              <a:buNone/>
            </a:pPr>
            <a:r>
              <a:rPr lang="en-US" sz="1300" b="1" dirty="0">
                <a:solidFill>
                  <a:srgbClr val="F5A524"/>
                </a:solidFill>
                <a:latin typeface="Cambria Math" pitchFamily="34" charset="0"/>
                <a:ea typeface="Cambria Math" pitchFamily="34" charset="-122"/>
                <a:cs typeface="Cambria Math" pitchFamily="34" charset="-120"/>
              </a:rPr>
              <a:t>d   </a:t>
            </a:r>
            <a:pPr indent="0" marL="0">
              <a:buNone/>
            </a:pPr>
            <a:r>
              <a:rPr lang="en-US" sz="1300" dirty="0">
                <a:solidFill>
                  <a:srgbClr val="AEBBCF"/>
                </a:solidFill>
                <a:latin typeface="Calibri" pitchFamily="34" charset="0"/>
                <a:ea typeface="Calibri" pitchFamily="34" charset="-122"/>
                <a:cs typeface="Calibri" pitchFamily="34" charset="-120"/>
              </a:rPr>
              <a:t>Distance in km</a:t>
            </a:r>
            <a:endParaRPr lang="en-US" sz="1300" dirty="0"/>
          </a:p>
        </p:txBody>
      </p:sp>
      <p:sp>
        <p:nvSpPr>
          <p:cNvPr id="8" name="txt_10_5"/>
          <p:cNvSpPr txBox="1"/>
          <p:nvPr/>
        </p:nvSpPr>
        <p:spPr>
          <a:xfrm>
            <a:off x="8953348" y="2176272"/>
            <a:ext cx="2689708" cy="292608"/>
          </a:xfrm>
          <a:prstGeom prst="rect">
            <a:avLst/>
          </a:prstGeom>
          <a:noFill/>
          <a:ln/>
        </p:spPr>
        <p:txBody>
          <a:bodyPr wrap="square" lIns="0" tIns="0" rIns="0" bIns="0" rtlCol="0" anchor="t"/>
          <a:lstStyle/>
          <a:p>
            <a:pPr indent="0" marL="0">
              <a:buNone/>
            </a:pPr>
            <a:r>
              <a:rPr lang="en-US" sz="1300" b="1" dirty="0">
                <a:solidFill>
                  <a:srgbClr val="F5A524"/>
                </a:solidFill>
                <a:latin typeface="Cambria Math" pitchFamily="34" charset="0"/>
                <a:ea typeface="Cambria Math" pitchFamily="34" charset="-122"/>
                <a:cs typeface="Cambria Math" pitchFamily="34" charset="-120"/>
              </a:rPr>
              <a:t>w   </a:t>
            </a:r>
            <a:pPr indent="0" marL="0">
              <a:buNone/>
            </a:pPr>
            <a:r>
              <a:rPr lang="en-US" sz="1300" dirty="0">
                <a:solidFill>
                  <a:srgbClr val="AEBBCF"/>
                </a:solidFill>
                <a:latin typeface="Calibri" pitchFamily="34" charset="0"/>
                <a:ea typeface="Calibri" pitchFamily="34" charset="-122"/>
                <a:cs typeface="Calibri" pitchFamily="34" charset="-120"/>
              </a:rPr>
              <a:t>Chargeable weight in tonnes</a:t>
            </a:r>
            <a:endParaRPr lang="en-US" sz="1300" dirty="0"/>
          </a:p>
        </p:txBody>
      </p:sp>
      <p:sp>
        <p:nvSpPr>
          <p:cNvPr id="9" name="txt_10_6"/>
          <p:cNvSpPr txBox="1"/>
          <p:nvPr/>
        </p:nvSpPr>
        <p:spPr>
          <a:xfrm>
            <a:off x="6263640" y="2523744"/>
            <a:ext cx="2689708" cy="292608"/>
          </a:xfrm>
          <a:prstGeom prst="rect">
            <a:avLst/>
          </a:prstGeom>
          <a:noFill/>
          <a:ln/>
        </p:spPr>
        <p:txBody>
          <a:bodyPr wrap="square" lIns="0" tIns="0" rIns="0" bIns="0" rtlCol="0" anchor="t"/>
          <a:lstStyle/>
          <a:p>
            <a:pPr indent="0" marL="0">
              <a:buNone/>
            </a:pPr>
            <a:r>
              <a:rPr lang="en-US" sz="1300" b="1" dirty="0">
                <a:solidFill>
                  <a:srgbClr val="F5A524"/>
                </a:solidFill>
                <a:latin typeface="Cambria Math" pitchFamily="34" charset="0"/>
                <a:ea typeface="Cambria Math" pitchFamily="34" charset="-122"/>
                <a:cs typeface="Cambria Math" pitchFamily="34" charset="-120"/>
              </a:rPr>
              <a:t>D   </a:t>
            </a:r>
            <a:pPr indent="0" marL="0">
              <a:buNone/>
            </a:pPr>
            <a:r>
              <a:rPr lang="en-US" sz="1300" dirty="0">
                <a:solidFill>
                  <a:srgbClr val="AEBBCF"/>
                </a:solidFill>
                <a:latin typeface="Calibri" pitchFamily="34" charset="0"/>
                <a:ea typeface="Calibri" pitchFamily="34" charset="-122"/>
                <a:cs typeface="Calibri" pitchFamily="34" charset="-120"/>
              </a:rPr>
              <a:t>Distance cost</a:t>
            </a:r>
            <a:endParaRPr lang="en-US" sz="1300" dirty="0"/>
          </a:p>
        </p:txBody>
      </p:sp>
      <p:sp>
        <p:nvSpPr>
          <p:cNvPr id="10" name="txt_10_7"/>
          <p:cNvSpPr txBox="1"/>
          <p:nvPr/>
        </p:nvSpPr>
        <p:spPr>
          <a:xfrm>
            <a:off x="8953348" y="2523744"/>
            <a:ext cx="2689708" cy="292608"/>
          </a:xfrm>
          <a:prstGeom prst="rect">
            <a:avLst/>
          </a:prstGeom>
          <a:noFill/>
          <a:ln/>
        </p:spPr>
        <p:txBody>
          <a:bodyPr wrap="square" lIns="0" tIns="0" rIns="0" bIns="0" rtlCol="0" anchor="t"/>
          <a:lstStyle/>
          <a:p>
            <a:pPr indent="0" marL="0">
              <a:buNone/>
            </a:pPr>
            <a:r>
              <a:rPr lang="en-US" sz="1300" b="1" dirty="0">
                <a:solidFill>
                  <a:srgbClr val="F5A524"/>
                </a:solidFill>
                <a:latin typeface="Cambria Math" pitchFamily="34" charset="0"/>
                <a:ea typeface="Cambria Math" pitchFamily="34" charset="-122"/>
                <a:cs typeface="Cambria Math" pitchFamily="34" charset="-120"/>
              </a:rPr>
              <a:t>C   </a:t>
            </a:r>
            <a:pPr indent="0" marL="0">
              <a:buNone/>
            </a:pPr>
            <a:r>
              <a:rPr lang="en-US" sz="1300" dirty="0">
                <a:solidFill>
                  <a:srgbClr val="AEBBCF"/>
                </a:solidFill>
                <a:latin typeface="Calibri" pitchFamily="34" charset="0"/>
                <a:ea typeface="Calibri" pitchFamily="34" charset="-122"/>
                <a:cs typeface="Calibri" pitchFamily="34" charset="-120"/>
              </a:rPr>
              <a:t>Additional cargo charge</a:t>
            </a:r>
            <a:endParaRPr lang="en-US" sz="1300" dirty="0"/>
          </a:p>
        </p:txBody>
      </p:sp>
      <p:sp>
        <p:nvSpPr>
          <p:cNvPr id="11" name="txt_10_8"/>
          <p:cNvSpPr txBox="1"/>
          <p:nvPr/>
        </p:nvSpPr>
        <p:spPr>
          <a:xfrm>
            <a:off x="6263640" y="3017520"/>
            <a:ext cx="5379415"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TRANSPORT MODE MULTIPLIER  (m)</a:t>
            </a:r>
            <a:endParaRPr lang="en-US" sz="1050" dirty="0"/>
          </a:p>
        </p:txBody>
      </p:sp>
      <p:sp>
        <p:nvSpPr>
          <p:cNvPr id="12" name="shp_10_9"/>
          <p:cNvSpPr/>
          <p:nvPr/>
        </p:nvSpPr>
        <p:spPr>
          <a:xfrm>
            <a:off x="6263640" y="3310128"/>
            <a:ext cx="1241984" cy="566928"/>
          </a:xfrm>
          <a:prstGeom prst="roundRect">
            <a:avLst>
              <a:gd name="adj" fmla="val 16129"/>
            </a:avLst>
          </a:prstGeom>
          <a:solidFill>
            <a:srgbClr val="15294A"/>
          </a:solidFill>
          <a:ln w="9525">
            <a:solidFill>
              <a:srgbClr val="243A5E"/>
            </a:solidFill>
            <a:prstDash val="solid"/>
          </a:ln>
        </p:spPr>
      </p:sp>
      <p:sp>
        <p:nvSpPr>
          <p:cNvPr id="13" name="txt_10_10"/>
          <p:cNvSpPr txBox="1"/>
          <p:nvPr/>
        </p:nvSpPr>
        <p:spPr>
          <a:xfrm>
            <a:off x="6263640" y="334670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Road</a:t>
            </a:r>
            <a:endParaRPr lang="en-US" sz="1050" dirty="0"/>
          </a:p>
        </p:txBody>
      </p:sp>
      <p:sp>
        <p:nvSpPr>
          <p:cNvPr id="14" name="txt_10_11"/>
          <p:cNvSpPr txBox="1"/>
          <p:nvPr/>
        </p:nvSpPr>
        <p:spPr>
          <a:xfrm>
            <a:off x="6263640" y="356616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5" name="shp_10_12"/>
          <p:cNvSpPr/>
          <p:nvPr/>
        </p:nvSpPr>
        <p:spPr>
          <a:xfrm>
            <a:off x="7642784" y="3310128"/>
            <a:ext cx="1241984" cy="566928"/>
          </a:xfrm>
          <a:prstGeom prst="roundRect">
            <a:avLst>
              <a:gd name="adj" fmla="val 16129"/>
            </a:avLst>
          </a:prstGeom>
          <a:solidFill>
            <a:srgbClr val="15294A"/>
          </a:solidFill>
          <a:ln w="9525">
            <a:solidFill>
              <a:srgbClr val="243A5E"/>
            </a:solidFill>
            <a:prstDash val="solid"/>
          </a:ln>
        </p:spPr>
      </p:sp>
      <p:sp>
        <p:nvSpPr>
          <p:cNvPr id="16" name="txt_10_13"/>
          <p:cNvSpPr txBox="1"/>
          <p:nvPr/>
        </p:nvSpPr>
        <p:spPr>
          <a:xfrm>
            <a:off x="7642784" y="334670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Rail</a:t>
            </a:r>
            <a:endParaRPr lang="en-US" sz="1050" dirty="0"/>
          </a:p>
        </p:txBody>
      </p:sp>
      <p:sp>
        <p:nvSpPr>
          <p:cNvPr id="17" name="txt_10_14"/>
          <p:cNvSpPr txBox="1"/>
          <p:nvPr/>
        </p:nvSpPr>
        <p:spPr>
          <a:xfrm>
            <a:off x="7642784" y="356616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0.85</a:t>
            </a:r>
            <a:endParaRPr lang="en-US" sz="1500" dirty="0"/>
          </a:p>
        </p:txBody>
      </p:sp>
      <p:sp>
        <p:nvSpPr>
          <p:cNvPr id="18" name="shp_10_15"/>
          <p:cNvSpPr/>
          <p:nvPr/>
        </p:nvSpPr>
        <p:spPr>
          <a:xfrm>
            <a:off x="9021928" y="3310128"/>
            <a:ext cx="1241984" cy="566928"/>
          </a:xfrm>
          <a:prstGeom prst="roundRect">
            <a:avLst>
              <a:gd name="adj" fmla="val 16129"/>
            </a:avLst>
          </a:prstGeom>
          <a:solidFill>
            <a:srgbClr val="15294A"/>
          </a:solidFill>
          <a:ln w="9525">
            <a:solidFill>
              <a:srgbClr val="243A5E"/>
            </a:solidFill>
            <a:prstDash val="solid"/>
          </a:ln>
        </p:spPr>
      </p:sp>
      <p:sp>
        <p:nvSpPr>
          <p:cNvPr id="19" name="txt_10_16"/>
          <p:cNvSpPr txBox="1"/>
          <p:nvPr/>
        </p:nvSpPr>
        <p:spPr>
          <a:xfrm>
            <a:off x="9021928" y="334670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Air</a:t>
            </a:r>
            <a:endParaRPr lang="en-US" sz="1050" dirty="0"/>
          </a:p>
        </p:txBody>
      </p:sp>
      <p:sp>
        <p:nvSpPr>
          <p:cNvPr id="20" name="txt_10_17"/>
          <p:cNvSpPr txBox="1"/>
          <p:nvPr/>
        </p:nvSpPr>
        <p:spPr>
          <a:xfrm>
            <a:off x="9021928" y="356616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3.2</a:t>
            </a:r>
            <a:endParaRPr lang="en-US" sz="1500" dirty="0"/>
          </a:p>
        </p:txBody>
      </p:sp>
      <p:sp>
        <p:nvSpPr>
          <p:cNvPr id="21" name="shp_10_18"/>
          <p:cNvSpPr/>
          <p:nvPr/>
        </p:nvSpPr>
        <p:spPr>
          <a:xfrm>
            <a:off x="10401071" y="3310128"/>
            <a:ext cx="1241984" cy="566928"/>
          </a:xfrm>
          <a:prstGeom prst="roundRect">
            <a:avLst>
              <a:gd name="adj" fmla="val 16129"/>
            </a:avLst>
          </a:prstGeom>
          <a:solidFill>
            <a:srgbClr val="15294A"/>
          </a:solidFill>
          <a:ln w="9525">
            <a:solidFill>
              <a:srgbClr val="243A5E"/>
            </a:solidFill>
            <a:prstDash val="solid"/>
          </a:ln>
        </p:spPr>
      </p:sp>
      <p:sp>
        <p:nvSpPr>
          <p:cNvPr id="22" name="txt_10_19"/>
          <p:cNvSpPr txBox="1"/>
          <p:nvPr/>
        </p:nvSpPr>
        <p:spPr>
          <a:xfrm>
            <a:off x="10401071" y="334670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Ocean</a:t>
            </a:r>
            <a:endParaRPr lang="en-US" sz="1050" dirty="0"/>
          </a:p>
        </p:txBody>
      </p:sp>
      <p:sp>
        <p:nvSpPr>
          <p:cNvPr id="23" name="txt_10_20"/>
          <p:cNvSpPr txBox="1"/>
          <p:nvPr/>
        </p:nvSpPr>
        <p:spPr>
          <a:xfrm>
            <a:off x="10401071" y="356616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0.65</a:t>
            </a:r>
            <a:endParaRPr lang="en-US" sz="1500" dirty="0"/>
          </a:p>
        </p:txBody>
      </p:sp>
      <p:sp>
        <p:nvSpPr>
          <p:cNvPr id="24" name="txt_10_21"/>
          <p:cNvSpPr txBox="1"/>
          <p:nvPr/>
        </p:nvSpPr>
        <p:spPr>
          <a:xfrm>
            <a:off x="6263640" y="4069080"/>
            <a:ext cx="5379415"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CARGO-TYPE MULTIPLIER  (c)</a:t>
            </a:r>
            <a:endParaRPr lang="en-US" sz="1050" dirty="0"/>
          </a:p>
        </p:txBody>
      </p:sp>
      <p:sp>
        <p:nvSpPr>
          <p:cNvPr id="25" name="shp_10_22"/>
          <p:cNvSpPr/>
          <p:nvPr/>
        </p:nvSpPr>
        <p:spPr>
          <a:xfrm>
            <a:off x="6263640" y="4361688"/>
            <a:ext cx="1241984" cy="566928"/>
          </a:xfrm>
          <a:prstGeom prst="roundRect">
            <a:avLst>
              <a:gd name="adj" fmla="val 16129"/>
            </a:avLst>
          </a:prstGeom>
          <a:solidFill>
            <a:srgbClr val="15294A"/>
          </a:solidFill>
          <a:ln w="9525">
            <a:solidFill>
              <a:srgbClr val="243A5E"/>
            </a:solidFill>
            <a:prstDash val="solid"/>
          </a:ln>
        </p:spPr>
      </p:sp>
      <p:sp>
        <p:nvSpPr>
          <p:cNvPr id="26" name="txt_10_23"/>
          <p:cNvSpPr txBox="1"/>
          <p:nvPr/>
        </p:nvSpPr>
        <p:spPr>
          <a:xfrm>
            <a:off x="6263640" y="439826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General</a:t>
            </a:r>
            <a:endParaRPr lang="en-US" sz="1050" dirty="0"/>
          </a:p>
        </p:txBody>
      </p:sp>
      <p:sp>
        <p:nvSpPr>
          <p:cNvPr id="27" name="txt_10_24"/>
          <p:cNvSpPr txBox="1"/>
          <p:nvPr/>
        </p:nvSpPr>
        <p:spPr>
          <a:xfrm>
            <a:off x="6263640" y="461772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28" name="shp_10_25"/>
          <p:cNvSpPr/>
          <p:nvPr/>
        </p:nvSpPr>
        <p:spPr>
          <a:xfrm>
            <a:off x="7642784" y="4361688"/>
            <a:ext cx="1241984" cy="566928"/>
          </a:xfrm>
          <a:prstGeom prst="roundRect">
            <a:avLst>
              <a:gd name="adj" fmla="val 16129"/>
            </a:avLst>
          </a:prstGeom>
          <a:solidFill>
            <a:srgbClr val="15294A"/>
          </a:solidFill>
          <a:ln w="9525">
            <a:solidFill>
              <a:srgbClr val="243A5E"/>
            </a:solidFill>
            <a:prstDash val="solid"/>
          </a:ln>
        </p:spPr>
      </p:sp>
      <p:sp>
        <p:nvSpPr>
          <p:cNvPr id="29" name="txt_10_26"/>
          <p:cNvSpPr txBox="1"/>
          <p:nvPr/>
        </p:nvSpPr>
        <p:spPr>
          <a:xfrm>
            <a:off x="7642784" y="439826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Express</a:t>
            </a:r>
            <a:endParaRPr lang="en-US" sz="1050" dirty="0"/>
          </a:p>
        </p:txBody>
      </p:sp>
      <p:sp>
        <p:nvSpPr>
          <p:cNvPr id="30" name="txt_10_27"/>
          <p:cNvSpPr txBox="1"/>
          <p:nvPr/>
        </p:nvSpPr>
        <p:spPr>
          <a:xfrm>
            <a:off x="7642784" y="461772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31" name="shp_10_28"/>
          <p:cNvSpPr/>
          <p:nvPr/>
        </p:nvSpPr>
        <p:spPr>
          <a:xfrm>
            <a:off x="9021928" y="4361688"/>
            <a:ext cx="1241984" cy="566928"/>
          </a:xfrm>
          <a:prstGeom prst="roundRect">
            <a:avLst>
              <a:gd name="adj" fmla="val 16129"/>
            </a:avLst>
          </a:prstGeom>
          <a:solidFill>
            <a:srgbClr val="15294A"/>
          </a:solidFill>
          <a:ln w="9525">
            <a:solidFill>
              <a:srgbClr val="243A5E"/>
            </a:solidFill>
            <a:prstDash val="solid"/>
          </a:ln>
        </p:spPr>
      </p:sp>
      <p:sp>
        <p:nvSpPr>
          <p:cNvPr id="32" name="txt_10_29"/>
          <p:cNvSpPr txBox="1"/>
          <p:nvPr/>
        </p:nvSpPr>
        <p:spPr>
          <a:xfrm>
            <a:off x="9021928" y="439826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Cold chain</a:t>
            </a:r>
            <a:endParaRPr lang="en-US" sz="1050" dirty="0"/>
          </a:p>
        </p:txBody>
      </p:sp>
      <p:sp>
        <p:nvSpPr>
          <p:cNvPr id="33" name="txt_10_30"/>
          <p:cNvSpPr txBox="1"/>
          <p:nvPr/>
        </p:nvSpPr>
        <p:spPr>
          <a:xfrm>
            <a:off x="9021928" y="461772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34" name="shp_10_31"/>
          <p:cNvSpPr/>
          <p:nvPr/>
        </p:nvSpPr>
        <p:spPr>
          <a:xfrm>
            <a:off x="10401071" y="4361688"/>
            <a:ext cx="1241984" cy="566928"/>
          </a:xfrm>
          <a:prstGeom prst="roundRect">
            <a:avLst>
              <a:gd name="adj" fmla="val 16129"/>
            </a:avLst>
          </a:prstGeom>
          <a:solidFill>
            <a:srgbClr val="15294A"/>
          </a:solidFill>
          <a:ln w="9525">
            <a:solidFill>
              <a:srgbClr val="243A5E"/>
            </a:solidFill>
            <a:prstDash val="solid"/>
          </a:ln>
        </p:spPr>
      </p:sp>
      <p:sp>
        <p:nvSpPr>
          <p:cNvPr id="35" name="txt_10_32"/>
          <p:cNvSpPr txBox="1"/>
          <p:nvPr/>
        </p:nvSpPr>
        <p:spPr>
          <a:xfrm>
            <a:off x="10401071" y="439826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Hazardous</a:t>
            </a:r>
            <a:endParaRPr lang="en-US" sz="1050" dirty="0"/>
          </a:p>
        </p:txBody>
      </p:sp>
      <p:sp>
        <p:nvSpPr>
          <p:cNvPr id="36" name="txt_10_33"/>
          <p:cNvSpPr txBox="1"/>
          <p:nvPr/>
        </p:nvSpPr>
        <p:spPr>
          <a:xfrm>
            <a:off x="10401071" y="461772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37" name="txt_10_34"/>
          <p:cNvSpPr txBox="1"/>
          <p:nvPr/>
        </p:nvSpPr>
        <p:spPr>
          <a:xfrm>
            <a:off x="6263640" y="5120640"/>
            <a:ext cx="5379415"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FIXED VALUES</a:t>
            </a:r>
            <a:endParaRPr lang="en-US" sz="1050" dirty="0"/>
          </a:p>
        </p:txBody>
      </p:sp>
      <p:sp>
        <p:nvSpPr>
          <p:cNvPr id="38" name="shp_10_35"/>
          <p:cNvSpPr/>
          <p:nvPr/>
        </p:nvSpPr>
        <p:spPr>
          <a:xfrm>
            <a:off x="6263640" y="5413248"/>
            <a:ext cx="1241984" cy="566928"/>
          </a:xfrm>
          <a:prstGeom prst="roundRect">
            <a:avLst>
              <a:gd name="adj" fmla="val 16129"/>
            </a:avLst>
          </a:prstGeom>
          <a:solidFill>
            <a:srgbClr val="15294A"/>
          </a:solidFill>
          <a:ln w="9525">
            <a:solidFill>
              <a:srgbClr val="243A5E"/>
            </a:solidFill>
            <a:prstDash val="solid"/>
          </a:ln>
        </p:spPr>
      </p:sp>
      <p:sp>
        <p:nvSpPr>
          <p:cNvPr id="39" name="txt_10_36"/>
          <p:cNvSpPr txBox="1"/>
          <p:nvPr/>
        </p:nvSpPr>
        <p:spPr>
          <a:xfrm>
            <a:off x="6263640" y="544982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Base handling</a:t>
            </a:r>
            <a:endParaRPr lang="en-US" sz="1050" dirty="0"/>
          </a:p>
        </p:txBody>
      </p:sp>
      <p:sp>
        <p:nvSpPr>
          <p:cNvPr id="40" name="txt_10_37"/>
          <p:cNvSpPr txBox="1"/>
          <p:nvPr/>
        </p:nvSpPr>
        <p:spPr>
          <a:xfrm>
            <a:off x="6263640" y="566928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₹250</a:t>
            </a:r>
            <a:endParaRPr lang="en-US" sz="1500" dirty="0"/>
          </a:p>
        </p:txBody>
      </p:sp>
      <p:sp>
        <p:nvSpPr>
          <p:cNvPr id="41" name="shp_10_38"/>
          <p:cNvSpPr/>
          <p:nvPr/>
        </p:nvSpPr>
        <p:spPr>
          <a:xfrm>
            <a:off x="7642784" y="5413248"/>
            <a:ext cx="1241984" cy="566928"/>
          </a:xfrm>
          <a:prstGeom prst="roundRect">
            <a:avLst>
              <a:gd name="adj" fmla="val 16129"/>
            </a:avLst>
          </a:prstGeom>
          <a:solidFill>
            <a:srgbClr val="15294A"/>
          </a:solidFill>
          <a:ln w="9525">
            <a:solidFill>
              <a:srgbClr val="243A5E"/>
            </a:solidFill>
            <a:prstDash val="solid"/>
          </a:ln>
        </p:spPr>
      </p:sp>
      <p:sp>
        <p:nvSpPr>
          <p:cNvPr id="42" name="txt_10_39"/>
          <p:cNvSpPr txBox="1"/>
          <p:nvPr/>
        </p:nvSpPr>
        <p:spPr>
          <a:xfrm>
            <a:off x="7642784" y="544982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Rate / km / t</a:t>
            </a:r>
            <a:endParaRPr lang="en-US" sz="1050" dirty="0"/>
          </a:p>
        </p:txBody>
      </p:sp>
      <p:sp>
        <p:nvSpPr>
          <p:cNvPr id="43" name="txt_10_40"/>
          <p:cNvSpPr txBox="1"/>
          <p:nvPr/>
        </p:nvSpPr>
        <p:spPr>
          <a:xfrm>
            <a:off x="7642784" y="566928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₹3.5</a:t>
            </a:r>
            <a:endParaRPr lang="en-US" sz="1500" dirty="0"/>
          </a:p>
        </p:txBody>
      </p:sp>
      <p:sp>
        <p:nvSpPr>
          <p:cNvPr id="44" name="shp_10_41"/>
          <p:cNvSpPr/>
          <p:nvPr/>
        </p:nvSpPr>
        <p:spPr>
          <a:xfrm>
            <a:off x="9021928" y="5413248"/>
            <a:ext cx="1241984" cy="566928"/>
          </a:xfrm>
          <a:prstGeom prst="roundRect">
            <a:avLst>
              <a:gd name="adj" fmla="val 16129"/>
            </a:avLst>
          </a:prstGeom>
          <a:solidFill>
            <a:srgbClr val="15294A"/>
          </a:solidFill>
          <a:ln w="9525">
            <a:solidFill>
              <a:srgbClr val="243A5E"/>
            </a:solidFill>
            <a:prstDash val="solid"/>
          </a:ln>
        </p:spPr>
      </p:sp>
      <p:sp>
        <p:nvSpPr>
          <p:cNvPr id="45" name="txt_10_42"/>
          <p:cNvSpPr txBox="1"/>
          <p:nvPr/>
        </p:nvSpPr>
        <p:spPr>
          <a:xfrm>
            <a:off x="9021928" y="544982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Fuel surcharge</a:t>
            </a:r>
            <a:endParaRPr lang="en-US" sz="1050" dirty="0"/>
          </a:p>
        </p:txBody>
      </p:sp>
      <p:sp>
        <p:nvSpPr>
          <p:cNvPr id="46" name="txt_10_43"/>
          <p:cNvSpPr txBox="1"/>
          <p:nvPr/>
        </p:nvSpPr>
        <p:spPr>
          <a:xfrm>
            <a:off x="9021928" y="566928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7" name="shp_10_44"/>
          <p:cNvSpPr/>
          <p:nvPr/>
        </p:nvSpPr>
        <p:spPr>
          <a:xfrm>
            <a:off x="10401071" y="5413248"/>
            <a:ext cx="1241984" cy="566928"/>
          </a:xfrm>
          <a:prstGeom prst="roundRect">
            <a:avLst>
              <a:gd name="adj" fmla="val 16129"/>
            </a:avLst>
          </a:prstGeom>
          <a:solidFill>
            <a:srgbClr val="15294A"/>
          </a:solidFill>
          <a:ln w="9525">
            <a:solidFill>
              <a:srgbClr val="243A5E"/>
            </a:solidFill>
            <a:prstDash val="solid"/>
          </a:ln>
        </p:spPr>
      </p:sp>
      <p:sp>
        <p:nvSpPr>
          <p:cNvPr id="48" name="txt_10_45"/>
          <p:cNvSpPr txBox="1"/>
          <p:nvPr/>
        </p:nvSpPr>
        <p:spPr>
          <a:xfrm>
            <a:off x="10401071" y="5449824"/>
            <a:ext cx="1241984" cy="228600"/>
          </a:xfrm>
          <a:prstGeom prst="rect">
            <a:avLst/>
          </a:prstGeom>
          <a:noFill/>
          <a:ln/>
        </p:spPr>
        <p:txBody>
          <a:bodyPr wrap="square" lIns="0" tIns="0" rIns="0" bIns="0" rtlCol="0" anchor="t"/>
          <a:lstStyle/>
          <a:p>
            <a:pPr algn="ctr" indent="0" marL="0">
              <a:buNone/>
            </a:pPr>
            <a:r>
              <a:rPr lang="en-US" sz="1050" dirty="0">
                <a:solidFill>
                  <a:srgbClr val="AEBBCF"/>
                </a:solidFill>
                <a:latin typeface="Calibri" pitchFamily="34" charset="0"/>
                <a:ea typeface="Calibri" pitchFamily="34" charset="-122"/>
                <a:cs typeface="Calibri" pitchFamily="34" charset="-120"/>
              </a:rPr>
              <a:t>Quote validity</a:t>
            </a:r>
            <a:endParaRPr lang="en-US" sz="1050" dirty="0"/>
          </a:p>
        </p:txBody>
      </p:sp>
      <p:sp>
        <p:nvSpPr>
          <p:cNvPr id="49" name="txt_10_46"/>
          <p:cNvSpPr txBox="1"/>
          <p:nvPr/>
        </p:nvSpPr>
        <p:spPr>
          <a:xfrm>
            <a:off x="10401071" y="5669280"/>
            <a:ext cx="1241984"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7 days</a:t>
            </a:r>
            <a:endParaRPr lang="en-US" sz="1500" dirty="0"/>
          </a:p>
        </p:txBody>
      </p:sp>
      <p:sp>
        <p:nvSpPr>
          <p:cNvPr id="50" name="shp_10_47"/>
          <p:cNvSpPr/>
          <p:nvPr/>
        </p:nvSpPr>
        <p:spPr>
          <a:xfrm>
            <a:off x="548640" y="1874520"/>
            <a:ext cx="5394960" cy="804672"/>
          </a:xfrm>
          <a:prstGeom prst="roundRect">
            <a:avLst>
              <a:gd name="adj" fmla="val 11364"/>
            </a:avLst>
          </a:prstGeom>
          <a:solidFill>
            <a:srgbClr val="112038"/>
          </a:solidFill>
          <a:ln w="9525">
            <a:solidFill>
              <a:srgbClr val="243A5E"/>
            </a:solidFill>
            <a:prstDash val="solid"/>
          </a:ln>
        </p:spPr>
      </p:sp>
      <p:sp>
        <p:nvSpPr>
          <p:cNvPr id="51" name="shp_10_48"/>
          <p:cNvSpPr/>
          <p:nvPr/>
        </p:nvSpPr>
        <p:spPr>
          <a:xfrm>
            <a:off x="777240" y="2075688"/>
            <a:ext cx="402336" cy="402336"/>
          </a:xfrm>
          <a:prstGeom prst="ellipse">
            <a:avLst/>
          </a:prstGeom>
          <a:solidFill>
            <a:srgbClr val="F5A524"/>
          </a:solidFill>
          <a:ln w="12700">
            <a:solidFill>
              <a:srgbClr val="F5A524"/>
            </a:solidFill>
            <a:prstDash val="solid"/>
          </a:ln>
        </p:spPr>
      </p:sp>
      <p:sp>
        <p:nvSpPr>
          <p:cNvPr id="52" name="txt_10_49"/>
          <p:cNvSpPr txBox="1"/>
          <p:nvPr/>
        </p:nvSpPr>
        <p:spPr>
          <a:xfrm>
            <a:off x="777240" y="2075688"/>
            <a:ext cx="402336" cy="402336"/>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53" name="txt_10_50"/>
          <p:cNvSpPr txBox="1"/>
          <p:nvPr/>
        </p:nvSpPr>
        <p:spPr>
          <a:xfrm>
            <a:off x="1371600" y="1965960"/>
            <a:ext cx="4389120" cy="274320"/>
          </a:xfrm>
          <a:prstGeom prst="rect">
            <a:avLst/>
          </a:prstGeom>
          <a:noFill/>
          <a:ln/>
        </p:spPr>
        <p:txBody>
          <a:bodyPr wrap="square" lIns="0" tIns="0" rIns="0" bIns="0" rtlCol="0" anchor="t"/>
          <a:lstStyle/>
          <a:p>
            <a:pPr indent="0" marL="0">
              <a:buNone/>
            </a:pPr>
            <a:r>
              <a:rPr lang="en-US" sz="1150" b="1" spc="50" kern="0" dirty="0">
                <a:solidFill>
                  <a:srgbClr val="AEBBCF"/>
                </a:solidFill>
                <a:latin typeface="Calibri" pitchFamily="34" charset="0"/>
                <a:ea typeface="Calibri" pitchFamily="34" charset="-122"/>
                <a:cs typeface="Calibri" pitchFamily="34" charset="-120"/>
              </a:rPr>
              <a:t>Chargeable weight (kg)</a:t>
            </a:r>
            <a:endParaRPr lang="en-US" sz="1150" dirty="0"/>
          </a:p>
        </p:txBody>
      </p:sp>
      <p:sp>
        <p:nvSpPr>
          <p:cNvPr id="54" name="txt_10_51"/>
          <p:cNvSpPr txBox="1"/>
          <p:nvPr/>
        </p:nvSpPr>
        <p:spPr>
          <a:xfrm>
            <a:off x="1371600" y="2240280"/>
            <a:ext cx="4389120" cy="347472"/>
          </a:xfrm>
          <a:prstGeom prst="rect">
            <a:avLst/>
          </a:prstGeom>
          <a:noFill/>
          <a:ln/>
        </p:spPr>
        <p:txBody>
          <a:bodyPr wrap="square" lIns="0" tIns="0" rIns="0" bIns="0" rtlCol="0" anchor="t"/>
          <a:lstStyle/>
          <a:p>
            <a:pPr indent="0" marL="0">
              <a:buNone/>
            </a:pPr>
            <a:r>
              <a:rPr lang="en-US" sz="1700" dirty="0">
                <a:solidFill>
                  <a:srgbClr val="FFFFFF"/>
                </a:solidFill>
                <a:latin typeface="Cambria Math" pitchFamily="34" charset="0"/>
                <a:ea typeface="Cambria Math" pitchFamily="34" charset="-122"/>
                <a:cs typeface="Cambria Math" pitchFamily="34" charset="-120"/>
              </a:rPr>
              <a:t>max(Actual weight, Volume × 250)</a:t>
            </a:r>
            <a:endParaRPr lang="en-US" sz="1700" dirty="0"/>
          </a:p>
        </p:txBody>
      </p:sp>
      <p:sp>
        <p:nvSpPr>
          <p:cNvPr id="55" name="shp_10_52"/>
          <p:cNvSpPr/>
          <p:nvPr/>
        </p:nvSpPr>
        <p:spPr>
          <a:xfrm>
            <a:off x="548640" y="2834640"/>
            <a:ext cx="5394960" cy="804672"/>
          </a:xfrm>
          <a:prstGeom prst="roundRect">
            <a:avLst>
              <a:gd name="adj" fmla="val 11364"/>
            </a:avLst>
          </a:prstGeom>
          <a:solidFill>
            <a:srgbClr val="112038"/>
          </a:solidFill>
          <a:ln w="9525">
            <a:solidFill>
              <a:srgbClr val="243A5E"/>
            </a:solidFill>
            <a:prstDash val="solid"/>
          </a:ln>
        </p:spPr>
      </p:sp>
      <p:sp>
        <p:nvSpPr>
          <p:cNvPr id="56" name="shp_10_53"/>
          <p:cNvSpPr/>
          <p:nvPr/>
        </p:nvSpPr>
        <p:spPr>
          <a:xfrm>
            <a:off x="777240" y="3035808"/>
            <a:ext cx="402336" cy="402336"/>
          </a:xfrm>
          <a:prstGeom prst="ellipse">
            <a:avLst/>
          </a:prstGeom>
          <a:solidFill>
            <a:srgbClr val="F5A524"/>
          </a:solidFill>
          <a:ln w="12700">
            <a:solidFill>
              <a:srgbClr val="F5A524"/>
            </a:solidFill>
            <a:prstDash val="solid"/>
          </a:ln>
        </p:spPr>
      </p:sp>
      <p:sp>
        <p:nvSpPr>
          <p:cNvPr id="57" name="txt_10_54"/>
          <p:cNvSpPr txBox="1"/>
          <p:nvPr/>
        </p:nvSpPr>
        <p:spPr>
          <a:xfrm>
            <a:off x="777240" y="3035808"/>
            <a:ext cx="402336" cy="402336"/>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58" name="txt_10_55"/>
          <p:cNvSpPr txBox="1"/>
          <p:nvPr/>
        </p:nvSpPr>
        <p:spPr>
          <a:xfrm>
            <a:off x="1371600" y="2926080"/>
            <a:ext cx="4389120" cy="274320"/>
          </a:xfrm>
          <a:prstGeom prst="rect">
            <a:avLst/>
          </a:prstGeom>
          <a:noFill/>
          <a:ln/>
        </p:spPr>
        <p:txBody>
          <a:bodyPr wrap="square" lIns="0" tIns="0" rIns="0" bIns="0" rtlCol="0" anchor="t"/>
          <a:lstStyle/>
          <a:p>
            <a:pPr indent="0" marL="0">
              <a:buNone/>
            </a:pPr>
            <a:r>
              <a:rPr lang="en-US" sz="1150" b="1" spc="50" kern="0" dirty="0">
                <a:solidFill>
                  <a:srgbClr val="AEBBCF"/>
                </a:solidFill>
                <a:latin typeface="Calibri" pitchFamily="34" charset="0"/>
                <a:ea typeface="Calibri" pitchFamily="34" charset="-122"/>
                <a:cs typeface="Calibri" pitchFamily="34" charset="-120"/>
              </a:rPr>
              <a:t>Distance cost  D</a:t>
            </a:r>
            <a:endParaRPr lang="en-US" sz="1150" dirty="0"/>
          </a:p>
        </p:txBody>
      </p:sp>
      <p:sp>
        <p:nvSpPr>
          <p:cNvPr id="59" name="txt_10_56"/>
          <p:cNvSpPr txBox="1"/>
          <p:nvPr/>
        </p:nvSpPr>
        <p:spPr>
          <a:xfrm>
            <a:off x="1371600" y="3200400"/>
            <a:ext cx="4389120" cy="347472"/>
          </a:xfrm>
          <a:prstGeom prst="rect">
            <a:avLst/>
          </a:prstGeom>
          <a:noFill/>
          <a:ln/>
        </p:spPr>
        <p:txBody>
          <a:bodyPr wrap="square" lIns="0" tIns="0" rIns="0" bIns="0" rtlCol="0" anchor="t"/>
          <a:lstStyle/>
          <a:p>
            <a:pPr indent="0" marL="0">
              <a:buNone/>
            </a:pPr>
            <a:r>
              <a:rPr lang="en-US" sz="1700" dirty="0">
                <a:solidFill>
                  <a:srgbClr val="FFFFFF"/>
                </a:solidFill>
                <a:latin typeface="Cambria Math" pitchFamily="34" charset="0"/>
                <a:ea typeface="Cambria Math" pitchFamily="34" charset="-122"/>
                <a:cs typeface="Cambria Math" pitchFamily="34" charset="-120"/>
              </a:rPr>
              <a:t>D = 3.5 × d × w × m</a:t>
            </a:r>
            <a:endParaRPr lang="en-US" sz="1700" dirty="0"/>
          </a:p>
        </p:txBody>
      </p:sp>
      <p:sp>
        <p:nvSpPr>
          <p:cNvPr id="60" name="shp_10_57"/>
          <p:cNvSpPr/>
          <p:nvPr/>
        </p:nvSpPr>
        <p:spPr>
          <a:xfrm>
            <a:off x="548640" y="3794760"/>
            <a:ext cx="5394960" cy="804672"/>
          </a:xfrm>
          <a:prstGeom prst="roundRect">
            <a:avLst>
              <a:gd name="adj" fmla="val 11364"/>
            </a:avLst>
          </a:prstGeom>
          <a:solidFill>
            <a:srgbClr val="112038"/>
          </a:solidFill>
          <a:ln w="9525">
            <a:solidFill>
              <a:srgbClr val="243A5E"/>
            </a:solidFill>
            <a:prstDash val="solid"/>
          </a:ln>
        </p:spPr>
      </p:sp>
      <p:sp>
        <p:nvSpPr>
          <p:cNvPr id="61" name="shp_10_58"/>
          <p:cNvSpPr/>
          <p:nvPr/>
        </p:nvSpPr>
        <p:spPr>
          <a:xfrm>
            <a:off x="777240" y="3995928"/>
            <a:ext cx="402336" cy="402336"/>
          </a:xfrm>
          <a:prstGeom prst="ellipse">
            <a:avLst/>
          </a:prstGeom>
          <a:solidFill>
            <a:srgbClr val="F5A524"/>
          </a:solidFill>
          <a:ln w="12700">
            <a:solidFill>
              <a:srgbClr val="F5A524"/>
            </a:solidFill>
            <a:prstDash val="solid"/>
          </a:ln>
        </p:spPr>
      </p:sp>
      <p:sp>
        <p:nvSpPr>
          <p:cNvPr id="62" name="txt_10_59"/>
          <p:cNvSpPr txBox="1"/>
          <p:nvPr/>
        </p:nvSpPr>
        <p:spPr>
          <a:xfrm>
            <a:off x="777240" y="3995928"/>
            <a:ext cx="402336" cy="402336"/>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63" name="txt_10_60"/>
          <p:cNvSpPr txBox="1"/>
          <p:nvPr/>
        </p:nvSpPr>
        <p:spPr>
          <a:xfrm>
            <a:off x="1371600" y="3886200"/>
            <a:ext cx="4389120" cy="274320"/>
          </a:xfrm>
          <a:prstGeom prst="rect">
            <a:avLst/>
          </a:prstGeom>
          <a:noFill/>
          <a:ln/>
        </p:spPr>
        <p:txBody>
          <a:bodyPr wrap="square" lIns="0" tIns="0" rIns="0" bIns="0" rtlCol="0" anchor="t"/>
          <a:lstStyle/>
          <a:p>
            <a:pPr indent="0" marL="0">
              <a:buNone/>
            </a:pPr>
            <a:r>
              <a:rPr lang="en-US" sz="1150" b="1" spc="50" kern="0" dirty="0">
                <a:solidFill>
                  <a:srgbClr val="AEBBCF"/>
                </a:solidFill>
                <a:latin typeface="Calibri" pitchFamily="34" charset="0"/>
                <a:ea typeface="Calibri" pitchFamily="34" charset="-122"/>
                <a:cs typeface="Calibri" pitchFamily="34" charset="-120"/>
              </a:rPr>
              <a:t>Additional cargo charge  C</a:t>
            </a:r>
            <a:endParaRPr lang="en-US" sz="1150" dirty="0"/>
          </a:p>
        </p:txBody>
      </p:sp>
      <p:sp>
        <p:nvSpPr>
          <p:cNvPr id="64" name="txt_10_61"/>
          <p:cNvSpPr txBox="1"/>
          <p:nvPr/>
        </p:nvSpPr>
        <p:spPr>
          <a:xfrm>
            <a:off x="1371600" y="4160520"/>
            <a:ext cx="4389120" cy="347472"/>
          </a:xfrm>
          <a:prstGeom prst="rect">
            <a:avLst/>
          </a:prstGeom>
          <a:noFill/>
          <a:ln/>
        </p:spPr>
        <p:txBody>
          <a:bodyPr wrap="square" lIns="0" tIns="0" rIns="0" bIns="0" rtlCol="0" anchor="t"/>
          <a:lstStyle/>
          <a:p>
            <a:pPr indent="0" marL="0">
              <a:buNone/>
            </a:pPr>
            <a:r>
              <a:rPr lang="en-US" sz="1700" dirty="0">
                <a:solidFill>
                  <a:srgbClr val="FFFFFF"/>
                </a:solidFill>
                <a:latin typeface="Cambria Math" pitchFamily="34" charset="0"/>
                <a:ea typeface="Cambria Math" pitchFamily="34" charset="-122"/>
                <a:cs typeface="Cambria Math" pitchFamily="34" charset="-120"/>
              </a:rPr>
              <a:t>C = D × (c − 1)</a:t>
            </a:r>
            <a:endParaRPr lang="en-US" sz="1700" dirty="0"/>
          </a:p>
        </p:txBody>
      </p:sp>
      <p:sp>
        <p:nvSpPr>
          <p:cNvPr id="65" name="shp_10_62"/>
          <p:cNvSpPr/>
          <p:nvPr/>
        </p:nvSpPr>
        <p:spPr>
          <a:xfrm>
            <a:off x="548640" y="4846320"/>
            <a:ext cx="5394960" cy="1188720"/>
          </a:xfrm>
          <a:prstGeom prst="roundRect">
            <a:avLst>
              <a:gd name="adj" fmla="val 7692"/>
            </a:avLst>
          </a:prstGeom>
          <a:solidFill>
            <a:srgbClr val="3B2A0C"/>
          </a:solidFill>
          <a:ln w="19050">
            <a:solidFill>
              <a:srgbClr val="F5A524"/>
            </a:solidFill>
            <a:prstDash val="solid"/>
          </a:ln>
        </p:spPr>
      </p:sp>
      <p:sp>
        <p:nvSpPr>
          <p:cNvPr id="66" name="txt_10_63"/>
          <p:cNvSpPr txBox="1"/>
          <p:nvPr/>
        </p:nvSpPr>
        <p:spPr>
          <a:xfrm>
            <a:off x="822960" y="4983480"/>
            <a:ext cx="2743200" cy="274320"/>
          </a:xfrm>
          <a:prstGeom prst="rect">
            <a:avLst/>
          </a:prstGeom>
          <a:noFill/>
          <a:ln/>
        </p:spPr>
        <p:txBody>
          <a:bodyPr wrap="square" lIns="0" tIns="0" rIns="0" bIns="0" rtlCol="0" anchor="t"/>
          <a:lstStyle/>
          <a:p>
            <a:pPr indent="0" marL="0">
              <a:buNone/>
            </a:pPr>
            <a:r>
              <a:rPr lang="en-US" sz="1100" b="1" spc="200" kern="0" dirty="0">
                <a:solidFill>
                  <a:srgbClr val="F5A524"/>
                </a:solidFill>
                <a:latin typeface="Calibri" pitchFamily="34" charset="0"/>
                <a:ea typeface="Calibri" pitchFamily="34" charset="-122"/>
                <a:cs typeface="Calibri" pitchFamily="34" charset="-120"/>
              </a:rPr>
              <a:t>TOTAL PRICE</a:t>
            </a:r>
            <a:endParaRPr lang="en-US" sz="1100" dirty="0"/>
          </a:p>
        </p:txBody>
      </p:sp>
      <p:sp>
        <p:nvSpPr>
          <p:cNvPr id="67" name="txt_10_64"/>
          <p:cNvSpPr txBox="1"/>
          <p:nvPr/>
        </p:nvSpPr>
        <p:spPr>
          <a:xfrm>
            <a:off x="822960" y="5285232"/>
            <a:ext cx="4846320" cy="548640"/>
          </a:xfrm>
          <a:prstGeom prst="rect">
            <a:avLst/>
          </a:prstGeom>
          <a:noFill/>
          <a:ln/>
        </p:spPr>
        <p:txBody>
          <a:bodyPr wrap="square" lIns="0" tIns="0" rIns="0" bIns="0" rtlCol="0" anchor="t"/>
          <a:lstStyle/>
          <a:p>
            <a:pPr indent="0" marL="0">
              <a:buNone/>
            </a:pPr>
            <a:r>
              <a:rPr lang="en-US" sz="2800" dirty="0">
                <a:solidFill>
                  <a:srgbClr val="FFFFFF"/>
                </a:solidFill>
                <a:latin typeface="Cambria Math" pitchFamily="34" charset="0"/>
                <a:ea typeface="Cambria Math" pitchFamily="34" charset="-122"/>
                <a:cs typeface="Cambria Math" pitchFamily="34" charset="-120"/>
              </a:rPr>
              <a:t>(250 + D + C) × 1.12</a:t>
            </a:r>
            <a:endParaRPr lang="en-US" sz="2800" dirty="0"/>
          </a:p>
        </p:txBody>
      </p:sp>
      <p:sp>
        <p:nvSpPr>
          <p:cNvPr id="68" name="txt_10_6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69" name="txt_10_6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10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220" fill="hold">
                      <p:stCondLst>
                        <p:cond delay="indefinite"/>
                      </p:stCondLst>
                      <p:childTnLst>
                        <p:par>
                          <p:cTn id="221" fill="hold">
                            <p:stCondLst>
                              <p:cond delay="0"/>
                            </p:stCondLst>
                            <p:childTnLst>
                              <p:par>
                                <p:cTn id="18" presetID="10"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21" presetID="10" presetClass="entr" presetSubtype="0" fill="hold" grpId="0" nodeType="withEffect" decel="100000">
                                  <p:stCondLst>
                                    <p:cond delay="1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4" presetID="10" presetClass="entr" presetSubtype="0" fill="hold" grpId="0" nodeType="withEffect" decel="100000">
                                  <p:stCondLst>
                                    <p:cond delay="18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7" presetID="10" presetClass="entr" presetSubtype="0" fill="hold" grpId="0" nodeType="withEffect" decel="100000">
                                  <p:stCondLst>
                                    <p:cond delay="26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30" presetID="10" presetClass="entr" presetSubtype="0" fill="hold" grpId="0" nodeType="withEffect" decel="100000">
                                  <p:stCondLst>
                                    <p:cond delay="34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3" presetID="10" presetClass="entr" presetSubtype="0" fill="hold" grpId="0" nodeType="withEffect" decel="100000">
                                  <p:stCondLst>
                                    <p:cond delay="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8" presetID="42" presetClass="entr" presetSubtype="0" fill="hold" grpId="0" nodeType="withEffect" decel="100000">
                                  <p:stCondLst>
                                    <p:cond delay="5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0.05"/>
                                          </p:val>
                                        </p:tav>
                                        <p:tav tm="100000">
                                          <p:val>
                                            <p:strVal val="#ppt_y"/>
                                          </p:val>
                                        </p:tav>
                                      </p:tavLst>
                                    </p:anim>
                                  </p:childTnLst>
                                </p:cTn>
                              </p:par>
                              <p:par>
                                <p:cTn id="43" presetID="42" presetClass="entr" presetSubtype="0" fill="hold" grpId="0" nodeType="withEffect" decel="100000">
                                  <p:stCondLst>
                                    <p:cond delay="5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anim calcmode="lin" valueType="num">
                                      <p:cBhvr>
                                        <p:cTn id="41" dur="500" fill="hold"/>
                                        <p:tgtEl>
                                          <p:spTgt spid="13"/>
                                        </p:tgtEl>
                                        <p:attrNameLst>
                                          <p:attrName>ppt_x</p:attrName>
                                        </p:attrNameLst>
                                      </p:cBhvr>
                                      <p:tavLst>
                                        <p:tav tm="0">
                                          <p:val>
                                            <p:strVal val="#ppt_x"/>
                                          </p:val>
                                        </p:tav>
                                        <p:tav tm="100000">
                                          <p:val>
                                            <p:strVal val="#ppt_x"/>
                                          </p:val>
                                        </p:tav>
                                      </p:tavLst>
                                    </p:anim>
                                    <p:anim calcmode="lin" valueType="num">
                                      <p:cBhvr>
                                        <p:cTn id="42" dur="500" fill="hold"/>
                                        <p:tgtEl>
                                          <p:spTgt spid="13"/>
                                        </p:tgtEl>
                                        <p:attrNameLst>
                                          <p:attrName>ppt_y</p:attrName>
                                        </p:attrNameLst>
                                      </p:cBhvr>
                                      <p:tavLst>
                                        <p:tav tm="0">
                                          <p:val>
                                            <p:strVal val="#ppt_y+0.05"/>
                                          </p:val>
                                        </p:tav>
                                        <p:tav tm="100000">
                                          <p:val>
                                            <p:strVal val="#ppt_y"/>
                                          </p:val>
                                        </p:tav>
                                      </p:tavLst>
                                    </p:anim>
                                  </p:childTnLst>
                                </p:cTn>
                              </p:par>
                              <p:par>
                                <p:cTn id="48" presetID="42" presetClass="entr" presetSubtype="0" fill="hold" grpId="0" nodeType="withEffect" decel="100000">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anim calcmode="lin" valueType="num">
                                      <p:cBhvr>
                                        <p:cTn id="46" dur="500" fill="hold"/>
                                        <p:tgtEl>
                                          <p:spTgt spid="14"/>
                                        </p:tgtEl>
                                        <p:attrNameLst>
                                          <p:attrName>ppt_x</p:attrName>
                                        </p:attrNameLst>
                                      </p:cBhvr>
                                      <p:tavLst>
                                        <p:tav tm="0">
                                          <p:val>
                                            <p:strVal val="#ppt_x"/>
                                          </p:val>
                                        </p:tav>
                                        <p:tav tm="100000">
                                          <p:val>
                                            <p:strVal val="#ppt_x"/>
                                          </p:val>
                                        </p:tav>
                                      </p:tavLst>
                                    </p:anim>
                                    <p:anim calcmode="lin" valueType="num">
                                      <p:cBhvr>
                                        <p:cTn id="47" dur="500" fill="hold"/>
                                        <p:tgtEl>
                                          <p:spTgt spid="14"/>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decel="100000">
                                  <p:stCondLst>
                                    <p:cond delay="58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anim calcmode="lin" valueType="num">
                                      <p:cBhvr>
                                        <p:cTn id="51" dur="500" fill="hold"/>
                                        <p:tgtEl>
                                          <p:spTgt spid="15"/>
                                        </p:tgtEl>
                                        <p:attrNameLst>
                                          <p:attrName>ppt_x</p:attrName>
                                        </p:attrNameLst>
                                      </p:cBhvr>
                                      <p:tavLst>
                                        <p:tav tm="0">
                                          <p:val>
                                            <p:strVal val="#ppt_x"/>
                                          </p:val>
                                        </p:tav>
                                        <p:tav tm="100000">
                                          <p:val>
                                            <p:strVal val="#ppt_x"/>
                                          </p:val>
                                        </p:tav>
                                      </p:tavLst>
                                    </p:anim>
                                    <p:anim calcmode="lin" valueType="num">
                                      <p:cBhvr>
                                        <p:cTn id="52" dur="500" fill="hold"/>
                                        <p:tgtEl>
                                          <p:spTgt spid="15"/>
                                        </p:tgtEl>
                                        <p:attrNameLst>
                                          <p:attrName>ppt_y</p:attrName>
                                        </p:attrNameLst>
                                      </p:cBhvr>
                                      <p:tavLst>
                                        <p:tav tm="0">
                                          <p:val>
                                            <p:strVal val="#ppt_y+0.05"/>
                                          </p:val>
                                        </p:tav>
                                        <p:tav tm="100000">
                                          <p:val>
                                            <p:strVal val="#ppt_y"/>
                                          </p:val>
                                        </p:tav>
                                      </p:tavLst>
                                    </p:anim>
                                  </p:childTnLst>
                                </p:cTn>
                              </p:par>
                              <p:par>
                                <p:cTn id="58" presetID="42" presetClass="entr" presetSubtype="0" fill="hold" grpId="0" nodeType="withEffect" decel="100000">
                                  <p:stCondLst>
                                    <p:cond delay="58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p:cTn id="56" dur="500" fill="hold"/>
                                        <p:tgtEl>
                                          <p:spTgt spid="16"/>
                                        </p:tgtEl>
                                        <p:attrNameLst>
                                          <p:attrName>ppt_x</p:attrName>
                                        </p:attrNameLst>
                                      </p:cBhvr>
                                      <p:tavLst>
                                        <p:tav tm="0">
                                          <p:val>
                                            <p:strVal val="#ppt_x"/>
                                          </p:val>
                                        </p:tav>
                                        <p:tav tm="100000">
                                          <p:val>
                                            <p:strVal val="#ppt_x"/>
                                          </p:val>
                                        </p:tav>
                                      </p:tavLst>
                                    </p:anim>
                                    <p:anim calcmode="lin" valueType="num">
                                      <p:cBhvr>
                                        <p:cTn id="57" dur="500" fill="hold"/>
                                        <p:tgtEl>
                                          <p:spTgt spid="16"/>
                                        </p:tgtEl>
                                        <p:attrNameLst>
                                          <p:attrName>ppt_y</p:attrName>
                                        </p:attrNameLst>
                                      </p:cBhvr>
                                      <p:tavLst>
                                        <p:tav tm="0">
                                          <p:val>
                                            <p:strVal val="#ppt_y+0.05"/>
                                          </p:val>
                                        </p:tav>
                                        <p:tav tm="100000">
                                          <p:val>
                                            <p:strVal val="#ppt_y"/>
                                          </p:val>
                                        </p:tav>
                                      </p:tavLst>
                                    </p:anim>
                                  </p:childTnLst>
                                </p:cTn>
                              </p:par>
                              <p:par>
                                <p:cTn id="63" presetID="42" presetClass="entr" presetSubtype="0" fill="hold" grpId="0" nodeType="withEffect" decel="100000">
                                  <p:stCondLst>
                                    <p:cond delay="58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ppt_x</p:attrName>
                                        </p:attrNameLst>
                                      </p:cBhvr>
                                      <p:tavLst>
                                        <p:tav tm="0">
                                          <p:val>
                                            <p:strVal val="#ppt_x"/>
                                          </p:val>
                                        </p:tav>
                                        <p:tav tm="100000">
                                          <p:val>
                                            <p:strVal val="#ppt_x"/>
                                          </p:val>
                                        </p:tav>
                                      </p:tavLst>
                                    </p:anim>
                                    <p:anim calcmode="lin" valueType="num">
                                      <p:cBhvr>
                                        <p:cTn id="62" dur="500" fill="hold"/>
                                        <p:tgtEl>
                                          <p:spTgt spid="17"/>
                                        </p:tgtEl>
                                        <p:attrNameLst>
                                          <p:attrName>ppt_y</p:attrName>
                                        </p:attrNameLst>
                                      </p:cBhvr>
                                      <p:tavLst>
                                        <p:tav tm="0">
                                          <p:val>
                                            <p:strVal val="#ppt_y+0.05"/>
                                          </p:val>
                                        </p:tav>
                                        <p:tav tm="100000">
                                          <p:val>
                                            <p:strVal val="#ppt_y"/>
                                          </p:val>
                                        </p:tav>
                                      </p:tavLst>
                                    </p:anim>
                                  </p:childTnLst>
                                </p:cTn>
                              </p:par>
                              <p:par>
                                <p:cTn id="68" presetID="42" presetClass="entr" presetSubtype="0" fill="hold" grpId="0" nodeType="withEffect" decel="100000">
                                  <p:stCondLst>
                                    <p:cond delay="66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anim calcmode="lin" valueType="num">
                                      <p:cBhvr>
                                        <p:cTn id="66" dur="500" fill="hold"/>
                                        <p:tgtEl>
                                          <p:spTgt spid="18"/>
                                        </p:tgtEl>
                                        <p:attrNameLst>
                                          <p:attrName>ppt_x</p:attrName>
                                        </p:attrNameLst>
                                      </p:cBhvr>
                                      <p:tavLst>
                                        <p:tav tm="0">
                                          <p:val>
                                            <p:strVal val="#ppt_x"/>
                                          </p:val>
                                        </p:tav>
                                        <p:tav tm="100000">
                                          <p:val>
                                            <p:strVal val="#ppt_x"/>
                                          </p:val>
                                        </p:tav>
                                      </p:tavLst>
                                    </p:anim>
                                    <p:anim calcmode="lin" valueType="num">
                                      <p:cBhvr>
                                        <p:cTn id="67" dur="500" fill="hold"/>
                                        <p:tgtEl>
                                          <p:spTgt spid="18"/>
                                        </p:tgtEl>
                                        <p:attrNameLst>
                                          <p:attrName>ppt_y</p:attrName>
                                        </p:attrNameLst>
                                      </p:cBhvr>
                                      <p:tavLst>
                                        <p:tav tm="0">
                                          <p:val>
                                            <p:strVal val="#ppt_y+0.05"/>
                                          </p:val>
                                        </p:tav>
                                        <p:tav tm="100000">
                                          <p:val>
                                            <p:strVal val="#ppt_y"/>
                                          </p:val>
                                        </p:tav>
                                      </p:tavLst>
                                    </p:anim>
                                  </p:childTnLst>
                                </p:cTn>
                              </p:par>
                              <p:par>
                                <p:cTn id="73" presetID="42" presetClass="entr" presetSubtype="0" fill="hold" grpId="0" nodeType="withEffect" decel="100000">
                                  <p:stCondLst>
                                    <p:cond delay="66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anim calcmode="lin" valueType="num">
                                      <p:cBhvr>
                                        <p:cTn id="71" dur="500" fill="hold"/>
                                        <p:tgtEl>
                                          <p:spTgt spid="19"/>
                                        </p:tgtEl>
                                        <p:attrNameLst>
                                          <p:attrName>ppt_x</p:attrName>
                                        </p:attrNameLst>
                                      </p:cBhvr>
                                      <p:tavLst>
                                        <p:tav tm="0">
                                          <p:val>
                                            <p:strVal val="#ppt_x"/>
                                          </p:val>
                                        </p:tav>
                                        <p:tav tm="100000">
                                          <p:val>
                                            <p:strVal val="#ppt_x"/>
                                          </p:val>
                                        </p:tav>
                                      </p:tavLst>
                                    </p:anim>
                                    <p:anim calcmode="lin" valueType="num">
                                      <p:cBhvr>
                                        <p:cTn id="72" dur="500" fill="hold"/>
                                        <p:tgtEl>
                                          <p:spTgt spid="19"/>
                                        </p:tgtEl>
                                        <p:attrNameLst>
                                          <p:attrName>ppt_y</p:attrName>
                                        </p:attrNameLst>
                                      </p:cBhvr>
                                      <p:tavLst>
                                        <p:tav tm="0">
                                          <p:val>
                                            <p:strVal val="#ppt_y+0.05"/>
                                          </p:val>
                                        </p:tav>
                                        <p:tav tm="100000">
                                          <p:val>
                                            <p:strVal val="#ppt_y"/>
                                          </p:val>
                                        </p:tav>
                                      </p:tavLst>
                                    </p:anim>
                                  </p:childTnLst>
                                </p:cTn>
                              </p:par>
                              <p:par>
                                <p:cTn id="78" presetID="42" presetClass="entr" presetSubtype="0" fill="hold" grpId="0" nodeType="withEffect" decel="100000">
                                  <p:stCondLst>
                                    <p:cond delay="66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anim calcmode="lin" valueType="num">
                                      <p:cBhvr>
                                        <p:cTn id="76" dur="500" fill="hold"/>
                                        <p:tgtEl>
                                          <p:spTgt spid="20"/>
                                        </p:tgtEl>
                                        <p:attrNameLst>
                                          <p:attrName>ppt_x</p:attrName>
                                        </p:attrNameLst>
                                      </p:cBhvr>
                                      <p:tavLst>
                                        <p:tav tm="0">
                                          <p:val>
                                            <p:strVal val="#ppt_x"/>
                                          </p:val>
                                        </p:tav>
                                        <p:tav tm="100000">
                                          <p:val>
                                            <p:strVal val="#ppt_x"/>
                                          </p:val>
                                        </p:tav>
                                      </p:tavLst>
                                    </p:anim>
                                    <p:anim calcmode="lin" valueType="num">
                                      <p:cBhvr>
                                        <p:cTn id="77" dur="500" fill="hold"/>
                                        <p:tgtEl>
                                          <p:spTgt spid="20"/>
                                        </p:tgtEl>
                                        <p:attrNameLst>
                                          <p:attrName>ppt_y</p:attrName>
                                        </p:attrNameLst>
                                      </p:cBhvr>
                                      <p:tavLst>
                                        <p:tav tm="0">
                                          <p:val>
                                            <p:strVal val="#ppt_y+0.05"/>
                                          </p:val>
                                        </p:tav>
                                        <p:tav tm="100000">
                                          <p:val>
                                            <p:strVal val="#ppt_y"/>
                                          </p:val>
                                        </p:tav>
                                      </p:tavLst>
                                    </p:anim>
                                  </p:childTnLst>
                                </p:cTn>
                              </p:par>
                              <p:par>
                                <p:cTn id="83" presetID="42" presetClass="entr" presetSubtype="0" fill="hold" grpId="0" nodeType="withEffect" decel="100000">
                                  <p:stCondLst>
                                    <p:cond delay="74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500"/>
                                        <p:tgtEl>
                                          <p:spTgt spid="21"/>
                                        </p:tgtEl>
                                      </p:cBhvr>
                                    </p:animEffect>
                                    <p:anim calcmode="lin" valueType="num">
                                      <p:cBhvr>
                                        <p:cTn id="81" dur="500" fill="hold"/>
                                        <p:tgtEl>
                                          <p:spTgt spid="21"/>
                                        </p:tgtEl>
                                        <p:attrNameLst>
                                          <p:attrName>ppt_x</p:attrName>
                                        </p:attrNameLst>
                                      </p:cBhvr>
                                      <p:tavLst>
                                        <p:tav tm="0">
                                          <p:val>
                                            <p:strVal val="#ppt_x"/>
                                          </p:val>
                                        </p:tav>
                                        <p:tav tm="100000">
                                          <p:val>
                                            <p:strVal val="#ppt_x"/>
                                          </p:val>
                                        </p:tav>
                                      </p:tavLst>
                                    </p:anim>
                                    <p:anim calcmode="lin" valueType="num">
                                      <p:cBhvr>
                                        <p:cTn id="82" dur="500" fill="hold"/>
                                        <p:tgtEl>
                                          <p:spTgt spid="21"/>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74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anim calcmode="lin" valueType="num">
                                      <p:cBhvr>
                                        <p:cTn id="86" dur="500" fill="hold"/>
                                        <p:tgtEl>
                                          <p:spTgt spid="22"/>
                                        </p:tgtEl>
                                        <p:attrNameLst>
                                          <p:attrName>ppt_x</p:attrName>
                                        </p:attrNameLst>
                                      </p:cBhvr>
                                      <p:tavLst>
                                        <p:tav tm="0">
                                          <p:val>
                                            <p:strVal val="#ppt_x"/>
                                          </p:val>
                                        </p:tav>
                                        <p:tav tm="100000">
                                          <p:val>
                                            <p:strVal val="#ppt_x"/>
                                          </p:val>
                                        </p:tav>
                                      </p:tavLst>
                                    </p:anim>
                                    <p:anim calcmode="lin" valueType="num">
                                      <p:cBhvr>
                                        <p:cTn id="87" dur="500" fill="hold"/>
                                        <p:tgtEl>
                                          <p:spTgt spid="22"/>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decel="100000">
                                  <p:stCondLst>
                                    <p:cond delay="74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anim calcmode="lin" valueType="num">
                                      <p:cBhvr>
                                        <p:cTn id="91" dur="500" fill="hold"/>
                                        <p:tgtEl>
                                          <p:spTgt spid="23"/>
                                        </p:tgtEl>
                                        <p:attrNameLst>
                                          <p:attrName>ppt_x</p:attrName>
                                        </p:attrNameLst>
                                      </p:cBhvr>
                                      <p:tavLst>
                                        <p:tav tm="0">
                                          <p:val>
                                            <p:strVal val="#ppt_x"/>
                                          </p:val>
                                        </p:tav>
                                        <p:tav tm="100000">
                                          <p:val>
                                            <p:strVal val="#ppt_x"/>
                                          </p:val>
                                        </p:tav>
                                      </p:tavLst>
                                    </p:anim>
                                    <p:anim calcmode="lin" valueType="num">
                                      <p:cBhvr>
                                        <p:cTn id="92" dur="500" fill="hold"/>
                                        <p:tgtEl>
                                          <p:spTgt spid="23"/>
                                        </p:tgtEl>
                                        <p:attrNameLst>
                                          <p:attrName>ppt_y</p:attrName>
                                        </p:attrNameLst>
                                      </p:cBhvr>
                                      <p:tavLst>
                                        <p:tav tm="0">
                                          <p:val>
                                            <p:strVal val="#ppt_y+0.05"/>
                                          </p:val>
                                        </p:tav>
                                        <p:tav tm="100000">
                                          <p:val>
                                            <p:strVal val="#ppt_y"/>
                                          </p:val>
                                        </p:tav>
                                      </p:tavLst>
                                    </p:anim>
                                  </p:childTnLst>
                                </p:cTn>
                              </p:par>
                              <p:par>
                                <p:cTn id="96" presetID="10" presetClass="entr" presetSubtype="0" fill="hold" grpId="0" nodeType="withEffect" decel="100000">
                                  <p:stCondLst>
                                    <p:cond delay="80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childTnLst>
                                </p:cTn>
                              </p:par>
                              <p:par>
                                <p:cTn id="101" presetID="42" presetClass="entr" presetSubtype="0" fill="hold" grpId="0" nodeType="withEffect" decel="100000">
                                  <p:stCondLst>
                                    <p:cond delay="90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anim calcmode="lin" valueType="num">
                                      <p:cBhvr>
                                        <p:cTn id="99" dur="500" fill="hold"/>
                                        <p:tgtEl>
                                          <p:spTgt spid="25"/>
                                        </p:tgtEl>
                                        <p:attrNameLst>
                                          <p:attrName>ppt_x</p:attrName>
                                        </p:attrNameLst>
                                      </p:cBhvr>
                                      <p:tavLst>
                                        <p:tav tm="0">
                                          <p:val>
                                            <p:strVal val="#ppt_x"/>
                                          </p:val>
                                        </p:tav>
                                        <p:tav tm="100000">
                                          <p:val>
                                            <p:strVal val="#ppt_x"/>
                                          </p:val>
                                        </p:tav>
                                      </p:tavLst>
                                    </p:anim>
                                    <p:anim calcmode="lin" valueType="num">
                                      <p:cBhvr>
                                        <p:cTn id="100" dur="500" fill="hold"/>
                                        <p:tgtEl>
                                          <p:spTgt spid="25"/>
                                        </p:tgtEl>
                                        <p:attrNameLst>
                                          <p:attrName>ppt_y</p:attrName>
                                        </p:attrNameLst>
                                      </p:cBhvr>
                                      <p:tavLst>
                                        <p:tav tm="0">
                                          <p:val>
                                            <p:strVal val="#ppt_y+0.05"/>
                                          </p:val>
                                        </p:tav>
                                        <p:tav tm="100000">
                                          <p:val>
                                            <p:strVal val="#ppt_y"/>
                                          </p:val>
                                        </p:tav>
                                      </p:tavLst>
                                    </p:anim>
                                  </p:childTnLst>
                                </p:cTn>
                              </p:par>
                              <p:par>
                                <p:cTn id="106" presetID="42" presetClass="entr" presetSubtype="0" fill="hold" grpId="0" nodeType="withEffect" decel="100000">
                                  <p:stCondLst>
                                    <p:cond delay="9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anim calcmode="lin" valueType="num">
                                      <p:cBhvr>
                                        <p:cTn id="104" dur="500" fill="hold"/>
                                        <p:tgtEl>
                                          <p:spTgt spid="26"/>
                                        </p:tgtEl>
                                        <p:attrNameLst>
                                          <p:attrName>ppt_x</p:attrName>
                                        </p:attrNameLst>
                                      </p:cBhvr>
                                      <p:tavLst>
                                        <p:tav tm="0">
                                          <p:val>
                                            <p:strVal val="#ppt_x"/>
                                          </p:val>
                                        </p:tav>
                                        <p:tav tm="100000">
                                          <p:val>
                                            <p:strVal val="#ppt_x"/>
                                          </p:val>
                                        </p:tav>
                                      </p:tavLst>
                                    </p:anim>
                                    <p:anim calcmode="lin" valueType="num">
                                      <p:cBhvr>
                                        <p:cTn id="105" dur="500" fill="hold"/>
                                        <p:tgtEl>
                                          <p:spTgt spid="26"/>
                                        </p:tgtEl>
                                        <p:attrNameLst>
                                          <p:attrName>ppt_y</p:attrName>
                                        </p:attrNameLst>
                                      </p:cBhvr>
                                      <p:tavLst>
                                        <p:tav tm="0">
                                          <p:val>
                                            <p:strVal val="#ppt_y+0.05"/>
                                          </p:val>
                                        </p:tav>
                                        <p:tav tm="100000">
                                          <p:val>
                                            <p:strVal val="#ppt_y"/>
                                          </p:val>
                                        </p:tav>
                                      </p:tavLst>
                                    </p:anim>
                                  </p:childTnLst>
                                </p:cTn>
                              </p:par>
                              <p:par>
                                <p:cTn id="111" presetID="42" presetClass="entr" presetSubtype="0" fill="hold" grpId="0" nodeType="withEffect" decel="100000">
                                  <p:stCondLst>
                                    <p:cond delay="90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500"/>
                                        <p:tgtEl>
                                          <p:spTgt spid="27"/>
                                        </p:tgtEl>
                                      </p:cBhvr>
                                    </p:animEffect>
                                    <p:anim calcmode="lin" valueType="num">
                                      <p:cBhvr>
                                        <p:cTn id="109" dur="500" fill="hold"/>
                                        <p:tgtEl>
                                          <p:spTgt spid="27"/>
                                        </p:tgtEl>
                                        <p:attrNameLst>
                                          <p:attrName>ppt_x</p:attrName>
                                        </p:attrNameLst>
                                      </p:cBhvr>
                                      <p:tavLst>
                                        <p:tav tm="0">
                                          <p:val>
                                            <p:strVal val="#ppt_x"/>
                                          </p:val>
                                        </p:tav>
                                        <p:tav tm="100000">
                                          <p:val>
                                            <p:strVal val="#ppt_x"/>
                                          </p:val>
                                        </p:tav>
                                      </p:tavLst>
                                    </p:anim>
                                    <p:anim calcmode="lin" valueType="num">
                                      <p:cBhvr>
                                        <p:cTn id="110" dur="500" fill="hold"/>
                                        <p:tgtEl>
                                          <p:spTgt spid="27"/>
                                        </p:tgtEl>
                                        <p:attrNameLst>
                                          <p:attrName>ppt_y</p:attrName>
                                        </p:attrNameLst>
                                      </p:cBhvr>
                                      <p:tavLst>
                                        <p:tav tm="0">
                                          <p:val>
                                            <p:strVal val="#ppt_y+0.05"/>
                                          </p:val>
                                        </p:tav>
                                        <p:tav tm="100000">
                                          <p:val>
                                            <p:strVal val="#ppt_y"/>
                                          </p:val>
                                        </p:tav>
                                      </p:tavLst>
                                    </p:anim>
                                  </p:childTnLst>
                                </p:cTn>
                              </p:par>
                              <p:par>
                                <p:cTn id="116" presetID="42" presetClass="entr" presetSubtype="0" fill="hold" grpId="0" nodeType="withEffect" decel="100000">
                                  <p:stCondLst>
                                    <p:cond delay="98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00"/>
                                        <p:tgtEl>
                                          <p:spTgt spid="28"/>
                                        </p:tgtEl>
                                      </p:cBhvr>
                                    </p:animEffect>
                                    <p:anim calcmode="lin" valueType="num">
                                      <p:cBhvr>
                                        <p:cTn id="114" dur="500" fill="hold"/>
                                        <p:tgtEl>
                                          <p:spTgt spid="28"/>
                                        </p:tgtEl>
                                        <p:attrNameLst>
                                          <p:attrName>ppt_x</p:attrName>
                                        </p:attrNameLst>
                                      </p:cBhvr>
                                      <p:tavLst>
                                        <p:tav tm="0">
                                          <p:val>
                                            <p:strVal val="#ppt_x"/>
                                          </p:val>
                                        </p:tav>
                                        <p:tav tm="100000">
                                          <p:val>
                                            <p:strVal val="#ppt_x"/>
                                          </p:val>
                                        </p:tav>
                                      </p:tavLst>
                                    </p:anim>
                                    <p:anim calcmode="lin" valueType="num">
                                      <p:cBhvr>
                                        <p:cTn id="115" dur="500" fill="hold"/>
                                        <p:tgtEl>
                                          <p:spTgt spid="28"/>
                                        </p:tgtEl>
                                        <p:attrNameLst>
                                          <p:attrName>ppt_y</p:attrName>
                                        </p:attrNameLst>
                                      </p:cBhvr>
                                      <p:tavLst>
                                        <p:tav tm="0">
                                          <p:val>
                                            <p:strVal val="#ppt_y+0.05"/>
                                          </p:val>
                                        </p:tav>
                                        <p:tav tm="100000">
                                          <p:val>
                                            <p:strVal val="#ppt_y"/>
                                          </p:val>
                                        </p:tav>
                                      </p:tavLst>
                                    </p:anim>
                                  </p:childTnLst>
                                </p:cTn>
                              </p:par>
                              <p:par>
                                <p:cTn id="121" presetID="42" presetClass="entr" presetSubtype="0" fill="hold" grpId="0" nodeType="withEffect" decel="100000">
                                  <p:stCondLst>
                                    <p:cond delay="98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8" dur="500"/>
                                        <p:tgtEl>
                                          <p:spTgt spid="29"/>
                                        </p:tgtEl>
                                      </p:cBhvr>
                                    </p:animEffect>
                                    <p:anim calcmode="lin" valueType="num">
                                      <p:cBhvr>
                                        <p:cTn id="119" dur="500" fill="hold"/>
                                        <p:tgtEl>
                                          <p:spTgt spid="29"/>
                                        </p:tgtEl>
                                        <p:attrNameLst>
                                          <p:attrName>ppt_x</p:attrName>
                                        </p:attrNameLst>
                                      </p:cBhvr>
                                      <p:tavLst>
                                        <p:tav tm="0">
                                          <p:val>
                                            <p:strVal val="#ppt_x"/>
                                          </p:val>
                                        </p:tav>
                                        <p:tav tm="100000">
                                          <p:val>
                                            <p:strVal val="#ppt_x"/>
                                          </p:val>
                                        </p:tav>
                                      </p:tavLst>
                                    </p:anim>
                                    <p:anim calcmode="lin" valueType="num">
                                      <p:cBhvr>
                                        <p:cTn id="120" dur="500" fill="hold"/>
                                        <p:tgtEl>
                                          <p:spTgt spid="29"/>
                                        </p:tgtEl>
                                        <p:attrNameLst>
                                          <p:attrName>ppt_y</p:attrName>
                                        </p:attrNameLst>
                                      </p:cBhvr>
                                      <p:tavLst>
                                        <p:tav tm="0">
                                          <p:val>
                                            <p:strVal val="#ppt_y+0.05"/>
                                          </p:val>
                                        </p:tav>
                                        <p:tav tm="100000">
                                          <p:val>
                                            <p:strVal val="#ppt_y"/>
                                          </p:val>
                                        </p:tav>
                                      </p:tavLst>
                                    </p:anim>
                                  </p:childTnLst>
                                </p:cTn>
                              </p:par>
                              <p:par>
                                <p:cTn id="126" presetID="42" presetClass="entr" presetSubtype="0" fill="hold" grpId="0" nodeType="withEffect" decel="100000">
                                  <p:stCondLst>
                                    <p:cond delay="980"/>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500"/>
                                        <p:tgtEl>
                                          <p:spTgt spid="30"/>
                                        </p:tgtEl>
                                      </p:cBhvr>
                                    </p:animEffect>
                                    <p:anim calcmode="lin" valueType="num">
                                      <p:cBhvr>
                                        <p:cTn id="124" dur="500" fill="hold"/>
                                        <p:tgtEl>
                                          <p:spTgt spid="30"/>
                                        </p:tgtEl>
                                        <p:attrNameLst>
                                          <p:attrName>ppt_x</p:attrName>
                                        </p:attrNameLst>
                                      </p:cBhvr>
                                      <p:tavLst>
                                        <p:tav tm="0">
                                          <p:val>
                                            <p:strVal val="#ppt_x"/>
                                          </p:val>
                                        </p:tav>
                                        <p:tav tm="100000">
                                          <p:val>
                                            <p:strVal val="#ppt_x"/>
                                          </p:val>
                                        </p:tav>
                                      </p:tavLst>
                                    </p:anim>
                                    <p:anim calcmode="lin" valueType="num">
                                      <p:cBhvr>
                                        <p:cTn id="125" dur="500" fill="hold"/>
                                        <p:tgtEl>
                                          <p:spTgt spid="30"/>
                                        </p:tgtEl>
                                        <p:attrNameLst>
                                          <p:attrName>ppt_y</p:attrName>
                                        </p:attrNameLst>
                                      </p:cBhvr>
                                      <p:tavLst>
                                        <p:tav tm="0">
                                          <p:val>
                                            <p:strVal val="#ppt_y+0.05"/>
                                          </p:val>
                                        </p:tav>
                                        <p:tav tm="100000">
                                          <p:val>
                                            <p:strVal val="#ppt_y"/>
                                          </p:val>
                                        </p:tav>
                                      </p:tavLst>
                                    </p:anim>
                                  </p:childTnLst>
                                </p:cTn>
                              </p:par>
                              <p:par>
                                <p:cTn id="131" presetID="42" presetClass="entr" presetSubtype="0" fill="hold" grpId="0" nodeType="withEffect" decel="100000">
                                  <p:stCondLst>
                                    <p:cond delay="1060"/>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8" dur="500"/>
                                        <p:tgtEl>
                                          <p:spTgt spid="31"/>
                                        </p:tgtEl>
                                      </p:cBhvr>
                                    </p:animEffect>
                                    <p:anim calcmode="lin" valueType="num">
                                      <p:cBhvr>
                                        <p:cTn id="129" dur="500" fill="hold"/>
                                        <p:tgtEl>
                                          <p:spTgt spid="31"/>
                                        </p:tgtEl>
                                        <p:attrNameLst>
                                          <p:attrName>ppt_x</p:attrName>
                                        </p:attrNameLst>
                                      </p:cBhvr>
                                      <p:tavLst>
                                        <p:tav tm="0">
                                          <p:val>
                                            <p:strVal val="#ppt_x"/>
                                          </p:val>
                                        </p:tav>
                                        <p:tav tm="100000">
                                          <p:val>
                                            <p:strVal val="#ppt_x"/>
                                          </p:val>
                                        </p:tav>
                                      </p:tavLst>
                                    </p:anim>
                                    <p:anim calcmode="lin" valueType="num">
                                      <p:cBhvr>
                                        <p:cTn id="130" dur="500" fill="hold"/>
                                        <p:tgtEl>
                                          <p:spTgt spid="31"/>
                                        </p:tgtEl>
                                        <p:attrNameLst>
                                          <p:attrName>ppt_y</p:attrName>
                                        </p:attrNameLst>
                                      </p:cBhvr>
                                      <p:tavLst>
                                        <p:tav tm="0">
                                          <p:val>
                                            <p:strVal val="#ppt_y+0.05"/>
                                          </p:val>
                                        </p:tav>
                                        <p:tav tm="100000">
                                          <p:val>
                                            <p:strVal val="#ppt_y"/>
                                          </p:val>
                                        </p:tav>
                                      </p:tavLst>
                                    </p:anim>
                                  </p:childTnLst>
                                </p:cTn>
                              </p:par>
                              <p:par>
                                <p:cTn id="136" presetID="42" presetClass="entr" presetSubtype="0" fill="hold" grpId="0" nodeType="withEffect" decel="100000">
                                  <p:stCondLst>
                                    <p:cond delay="106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500"/>
                                        <p:tgtEl>
                                          <p:spTgt spid="32"/>
                                        </p:tgtEl>
                                      </p:cBhvr>
                                    </p:animEffect>
                                    <p:anim calcmode="lin" valueType="num">
                                      <p:cBhvr>
                                        <p:cTn id="134" dur="500" fill="hold"/>
                                        <p:tgtEl>
                                          <p:spTgt spid="32"/>
                                        </p:tgtEl>
                                        <p:attrNameLst>
                                          <p:attrName>ppt_x</p:attrName>
                                        </p:attrNameLst>
                                      </p:cBhvr>
                                      <p:tavLst>
                                        <p:tav tm="0">
                                          <p:val>
                                            <p:strVal val="#ppt_x"/>
                                          </p:val>
                                        </p:tav>
                                        <p:tav tm="100000">
                                          <p:val>
                                            <p:strVal val="#ppt_x"/>
                                          </p:val>
                                        </p:tav>
                                      </p:tavLst>
                                    </p:anim>
                                    <p:anim calcmode="lin" valueType="num">
                                      <p:cBhvr>
                                        <p:cTn id="135" dur="500" fill="hold"/>
                                        <p:tgtEl>
                                          <p:spTgt spid="32"/>
                                        </p:tgtEl>
                                        <p:attrNameLst>
                                          <p:attrName>ppt_y</p:attrName>
                                        </p:attrNameLst>
                                      </p:cBhvr>
                                      <p:tavLst>
                                        <p:tav tm="0">
                                          <p:val>
                                            <p:strVal val="#ppt_y+0.05"/>
                                          </p:val>
                                        </p:tav>
                                        <p:tav tm="100000">
                                          <p:val>
                                            <p:strVal val="#ppt_y"/>
                                          </p:val>
                                        </p:tav>
                                      </p:tavLst>
                                    </p:anim>
                                  </p:childTnLst>
                                </p:cTn>
                              </p:par>
                              <p:par>
                                <p:cTn id="141" presetID="42" presetClass="entr" presetSubtype="0" fill="hold" grpId="0" nodeType="withEffect" decel="100000">
                                  <p:stCondLst>
                                    <p:cond delay="106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500"/>
                                        <p:tgtEl>
                                          <p:spTgt spid="33"/>
                                        </p:tgtEl>
                                      </p:cBhvr>
                                    </p:animEffect>
                                    <p:anim calcmode="lin" valueType="num">
                                      <p:cBhvr>
                                        <p:cTn id="139" dur="500" fill="hold"/>
                                        <p:tgtEl>
                                          <p:spTgt spid="33"/>
                                        </p:tgtEl>
                                        <p:attrNameLst>
                                          <p:attrName>ppt_x</p:attrName>
                                        </p:attrNameLst>
                                      </p:cBhvr>
                                      <p:tavLst>
                                        <p:tav tm="0">
                                          <p:val>
                                            <p:strVal val="#ppt_x"/>
                                          </p:val>
                                        </p:tav>
                                        <p:tav tm="100000">
                                          <p:val>
                                            <p:strVal val="#ppt_x"/>
                                          </p:val>
                                        </p:tav>
                                      </p:tavLst>
                                    </p:anim>
                                    <p:anim calcmode="lin" valueType="num">
                                      <p:cBhvr>
                                        <p:cTn id="140" dur="500" fill="hold"/>
                                        <p:tgtEl>
                                          <p:spTgt spid="33"/>
                                        </p:tgtEl>
                                        <p:attrNameLst>
                                          <p:attrName>ppt_y</p:attrName>
                                        </p:attrNameLst>
                                      </p:cBhvr>
                                      <p:tavLst>
                                        <p:tav tm="0">
                                          <p:val>
                                            <p:strVal val="#ppt_y+0.05"/>
                                          </p:val>
                                        </p:tav>
                                        <p:tav tm="100000">
                                          <p:val>
                                            <p:strVal val="#ppt_y"/>
                                          </p:val>
                                        </p:tav>
                                      </p:tavLst>
                                    </p:anim>
                                  </p:childTnLst>
                                </p:cTn>
                              </p:par>
                              <p:par>
                                <p:cTn id="146" presetID="42" presetClass="entr" presetSubtype="0" fill="hold" grpId="0" nodeType="withEffect" decel="100000">
                                  <p:stCondLst>
                                    <p:cond delay="1140"/>
                                  </p:stCondLst>
                                  <p:childTnLst>
                                    <p:set>
                                      <p:cBhvr>
                                        <p:cTn id="142" dur="1" fill="hold">
                                          <p:stCondLst>
                                            <p:cond delay="0"/>
                                          </p:stCondLst>
                                        </p:cTn>
                                        <p:tgtEl>
                                          <p:spTgt spid="34"/>
                                        </p:tgtEl>
                                        <p:attrNameLst>
                                          <p:attrName>style.visibility</p:attrName>
                                        </p:attrNameLst>
                                      </p:cBhvr>
                                      <p:to>
                                        <p:strVal val="visible"/>
                                      </p:to>
                                    </p:set>
                                    <p:animEffect transition="in" filter="fade">
                                      <p:cBhvr>
                                        <p:cTn id="143" dur="500"/>
                                        <p:tgtEl>
                                          <p:spTgt spid="34"/>
                                        </p:tgtEl>
                                      </p:cBhvr>
                                    </p:animEffect>
                                    <p:anim calcmode="lin" valueType="num">
                                      <p:cBhvr>
                                        <p:cTn id="144" dur="500" fill="hold"/>
                                        <p:tgtEl>
                                          <p:spTgt spid="34"/>
                                        </p:tgtEl>
                                        <p:attrNameLst>
                                          <p:attrName>ppt_x</p:attrName>
                                        </p:attrNameLst>
                                      </p:cBhvr>
                                      <p:tavLst>
                                        <p:tav tm="0">
                                          <p:val>
                                            <p:strVal val="#ppt_x"/>
                                          </p:val>
                                        </p:tav>
                                        <p:tav tm="100000">
                                          <p:val>
                                            <p:strVal val="#ppt_x"/>
                                          </p:val>
                                        </p:tav>
                                      </p:tavLst>
                                    </p:anim>
                                    <p:anim calcmode="lin" valueType="num">
                                      <p:cBhvr>
                                        <p:cTn id="145" dur="500" fill="hold"/>
                                        <p:tgtEl>
                                          <p:spTgt spid="34"/>
                                        </p:tgtEl>
                                        <p:attrNameLst>
                                          <p:attrName>ppt_y</p:attrName>
                                        </p:attrNameLst>
                                      </p:cBhvr>
                                      <p:tavLst>
                                        <p:tav tm="0">
                                          <p:val>
                                            <p:strVal val="#ppt_y+0.05"/>
                                          </p:val>
                                        </p:tav>
                                        <p:tav tm="100000">
                                          <p:val>
                                            <p:strVal val="#ppt_y"/>
                                          </p:val>
                                        </p:tav>
                                      </p:tavLst>
                                    </p:anim>
                                  </p:childTnLst>
                                </p:cTn>
                              </p:par>
                              <p:par>
                                <p:cTn id="151" presetID="42" presetClass="entr" presetSubtype="0" fill="hold" grpId="0" nodeType="withEffect" decel="100000">
                                  <p:stCondLst>
                                    <p:cond delay="1140"/>
                                  </p:stCondLst>
                                  <p:childTnLst>
                                    <p:set>
                                      <p:cBhvr>
                                        <p:cTn id="147" dur="1" fill="hold">
                                          <p:stCondLst>
                                            <p:cond delay="0"/>
                                          </p:stCondLst>
                                        </p:cTn>
                                        <p:tgtEl>
                                          <p:spTgt spid="35"/>
                                        </p:tgtEl>
                                        <p:attrNameLst>
                                          <p:attrName>style.visibility</p:attrName>
                                        </p:attrNameLst>
                                      </p:cBhvr>
                                      <p:to>
                                        <p:strVal val="visible"/>
                                      </p:to>
                                    </p:set>
                                    <p:animEffect transition="in" filter="fade">
                                      <p:cBhvr>
                                        <p:cTn id="148" dur="500"/>
                                        <p:tgtEl>
                                          <p:spTgt spid="35"/>
                                        </p:tgtEl>
                                      </p:cBhvr>
                                    </p:animEffect>
                                    <p:anim calcmode="lin" valueType="num">
                                      <p:cBhvr>
                                        <p:cTn id="149" dur="500" fill="hold"/>
                                        <p:tgtEl>
                                          <p:spTgt spid="35"/>
                                        </p:tgtEl>
                                        <p:attrNameLst>
                                          <p:attrName>ppt_x</p:attrName>
                                        </p:attrNameLst>
                                      </p:cBhvr>
                                      <p:tavLst>
                                        <p:tav tm="0">
                                          <p:val>
                                            <p:strVal val="#ppt_x"/>
                                          </p:val>
                                        </p:tav>
                                        <p:tav tm="100000">
                                          <p:val>
                                            <p:strVal val="#ppt_x"/>
                                          </p:val>
                                        </p:tav>
                                      </p:tavLst>
                                    </p:anim>
                                    <p:anim calcmode="lin" valueType="num">
                                      <p:cBhvr>
                                        <p:cTn id="150" dur="500" fill="hold"/>
                                        <p:tgtEl>
                                          <p:spTgt spid="35"/>
                                        </p:tgtEl>
                                        <p:attrNameLst>
                                          <p:attrName>ppt_y</p:attrName>
                                        </p:attrNameLst>
                                      </p:cBhvr>
                                      <p:tavLst>
                                        <p:tav tm="0">
                                          <p:val>
                                            <p:strVal val="#ppt_y+0.05"/>
                                          </p:val>
                                        </p:tav>
                                        <p:tav tm="100000">
                                          <p:val>
                                            <p:strVal val="#ppt_y"/>
                                          </p:val>
                                        </p:tav>
                                      </p:tavLst>
                                    </p:anim>
                                  </p:childTnLst>
                                </p:cTn>
                              </p:par>
                              <p:par>
                                <p:cTn id="156" presetID="42" presetClass="entr" presetSubtype="0" fill="hold" grpId="0" nodeType="withEffect" decel="100000">
                                  <p:stCondLst>
                                    <p:cond delay="1140"/>
                                  </p:stCondLst>
                                  <p:childTnLst>
                                    <p:set>
                                      <p:cBhvr>
                                        <p:cTn id="152" dur="1" fill="hold">
                                          <p:stCondLst>
                                            <p:cond delay="0"/>
                                          </p:stCondLst>
                                        </p:cTn>
                                        <p:tgtEl>
                                          <p:spTgt spid="36"/>
                                        </p:tgtEl>
                                        <p:attrNameLst>
                                          <p:attrName>style.visibility</p:attrName>
                                        </p:attrNameLst>
                                      </p:cBhvr>
                                      <p:to>
                                        <p:strVal val="visible"/>
                                      </p:to>
                                    </p:set>
                                    <p:animEffect transition="in" filter="fade">
                                      <p:cBhvr>
                                        <p:cTn id="153" dur="500"/>
                                        <p:tgtEl>
                                          <p:spTgt spid="36"/>
                                        </p:tgtEl>
                                      </p:cBhvr>
                                    </p:animEffect>
                                    <p:anim calcmode="lin" valueType="num">
                                      <p:cBhvr>
                                        <p:cTn id="154" dur="500" fill="hold"/>
                                        <p:tgtEl>
                                          <p:spTgt spid="36"/>
                                        </p:tgtEl>
                                        <p:attrNameLst>
                                          <p:attrName>ppt_x</p:attrName>
                                        </p:attrNameLst>
                                      </p:cBhvr>
                                      <p:tavLst>
                                        <p:tav tm="0">
                                          <p:val>
                                            <p:strVal val="#ppt_x"/>
                                          </p:val>
                                        </p:tav>
                                        <p:tav tm="100000">
                                          <p:val>
                                            <p:strVal val="#ppt_x"/>
                                          </p:val>
                                        </p:tav>
                                      </p:tavLst>
                                    </p:anim>
                                    <p:anim calcmode="lin" valueType="num">
                                      <p:cBhvr>
                                        <p:cTn id="155" dur="500" fill="hold"/>
                                        <p:tgtEl>
                                          <p:spTgt spid="36"/>
                                        </p:tgtEl>
                                        <p:attrNameLst>
                                          <p:attrName>ppt_y</p:attrName>
                                        </p:attrNameLst>
                                      </p:cBhvr>
                                      <p:tavLst>
                                        <p:tav tm="0">
                                          <p:val>
                                            <p:strVal val="#ppt_y+0.05"/>
                                          </p:val>
                                        </p:tav>
                                        <p:tav tm="100000">
                                          <p:val>
                                            <p:strVal val="#ppt_y"/>
                                          </p:val>
                                        </p:tav>
                                      </p:tavLst>
                                    </p:anim>
                                  </p:childTnLst>
                                </p:cTn>
                              </p:par>
                              <p:par>
                                <p:cTn id="159" presetID="10" presetClass="entr" presetSubtype="0" fill="hold" grpId="0" nodeType="withEffect" decel="100000">
                                  <p:stCondLst>
                                    <p:cond delay="120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500"/>
                                        <p:tgtEl>
                                          <p:spTgt spid="37"/>
                                        </p:tgtEl>
                                      </p:cBhvr>
                                    </p:animEffect>
                                  </p:childTnLst>
                                </p:cTn>
                              </p:par>
                              <p:par>
                                <p:cTn id="164" presetID="42" presetClass="entr" presetSubtype="0" fill="hold" grpId="0" nodeType="withEffect" decel="100000">
                                  <p:stCondLst>
                                    <p:cond delay="130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500"/>
                                        <p:tgtEl>
                                          <p:spTgt spid="38"/>
                                        </p:tgtEl>
                                      </p:cBhvr>
                                    </p:animEffect>
                                    <p:anim calcmode="lin" valueType="num">
                                      <p:cBhvr>
                                        <p:cTn id="162" dur="500" fill="hold"/>
                                        <p:tgtEl>
                                          <p:spTgt spid="38"/>
                                        </p:tgtEl>
                                        <p:attrNameLst>
                                          <p:attrName>ppt_x</p:attrName>
                                        </p:attrNameLst>
                                      </p:cBhvr>
                                      <p:tavLst>
                                        <p:tav tm="0">
                                          <p:val>
                                            <p:strVal val="#ppt_x"/>
                                          </p:val>
                                        </p:tav>
                                        <p:tav tm="100000">
                                          <p:val>
                                            <p:strVal val="#ppt_x"/>
                                          </p:val>
                                        </p:tav>
                                      </p:tavLst>
                                    </p:anim>
                                    <p:anim calcmode="lin" valueType="num">
                                      <p:cBhvr>
                                        <p:cTn id="163" dur="500" fill="hold"/>
                                        <p:tgtEl>
                                          <p:spTgt spid="38"/>
                                        </p:tgtEl>
                                        <p:attrNameLst>
                                          <p:attrName>ppt_y</p:attrName>
                                        </p:attrNameLst>
                                      </p:cBhvr>
                                      <p:tavLst>
                                        <p:tav tm="0">
                                          <p:val>
                                            <p:strVal val="#ppt_y+0.05"/>
                                          </p:val>
                                        </p:tav>
                                        <p:tav tm="100000">
                                          <p:val>
                                            <p:strVal val="#ppt_y"/>
                                          </p:val>
                                        </p:tav>
                                      </p:tavLst>
                                    </p:anim>
                                  </p:childTnLst>
                                </p:cTn>
                              </p:par>
                              <p:par>
                                <p:cTn id="169" presetID="42" presetClass="entr" presetSubtype="0" fill="hold" grpId="0" nodeType="withEffect" decel="100000">
                                  <p:stCondLst>
                                    <p:cond delay="1300"/>
                                  </p:stCondLst>
                                  <p:childTnLst>
                                    <p:set>
                                      <p:cBhvr>
                                        <p:cTn id="165" dur="1" fill="hold">
                                          <p:stCondLst>
                                            <p:cond delay="0"/>
                                          </p:stCondLst>
                                        </p:cTn>
                                        <p:tgtEl>
                                          <p:spTgt spid="39"/>
                                        </p:tgtEl>
                                        <p:attrNameLst>
                                          <p:attrName>style.visibility</p:attrName>
                                        </p:attrNameLst>
                                      </p:cBhvr>
                                      <p:to>
                                        <p:strVal val="visible"/>
                                      </p:to>
                                    </p:set>
                                    <p:animEffect transition="in" filter="fade">
                                      <p:cBhvr>
                                        <p:cTn id="166" dur="500"/>
                                        <p:tgtEl>
                                          <p:spTgt spid="39"/>
                                        </p:tgtEl>
                                      </p:cBhvr>
                                    </p:animEffect>
                                    <p:anim calcmode="lin" valueType="num">
                                      <p:cBhvr>
                                        <p:cTn id="167" dur="500" fill="hold"/>
                                        <p:tgtEl>
                                          <p:spTgt spid="39"/>
                                        </p:tgtEl>
                                        <p:attrNameLst>
                                          <p:attrName>ppt_x</p:attrName>
                                        </p:attrNameLst>
                                      </p:cBhvr>
                                      <p:tavLst>
                                        <p:tav tm="0">
                                          <p:val>
                                            <p:strVal val="#ppt_x"/>
                                          </p:val>
                                        </p:tav>
                                        <p:tav tm="100000">
                                          <p:val>
                                            <p:strVal val="#ppt_x"/>
                                          </p:val>
                                        </p:tav>
                                      </p:tavLst>
                                    </p:anim>
                                    <p:anim calcmode="lin" valueType="num">
                                      <p:cBhvr>
                                        <p:cTn id="168" dur="500" fill="hold"/>
                                        <p:tgtEl>
                                          <p:spTgt spid="39"/>
                                        </p:tgtEl>
                                        <p:attrNameLst>
                                          <p:attrName>ppt_y</p:attrName>
                                        </p:attrNameLst>
                                      </p:cBhvr>
                                      <p:tavLst>
                                        <p:tav tm="0">
                                          <p:val>
                                            <p:strVal val="#ppt_y+0.05"/>
                                          </p:val>
                                        </p:tav>
                                        <p:tav tm="100000">
                                          <p:val>
                                            <p:strVal val="#ppt_y"/>
                                          </p:val>
                                        </p:tav>
                                      </p:tavLst>
                                    </p:anim>
                                  </p:childTnLst>
                                </p:cTn>
                              </p:par>
                              <p:par>
                                <p:cTn id="174" presetID="42" presetClass="entr" presetSubtype="0" fill="hold" grpId="0" nodeType="withEffect" decel="100000">
                                  <p:stCondLst>
                                    <p:cond delay="1300"/>
                                  </p:stCondLst>
                                  <p:childTnLst>
                                    <p:set>
                                      <p:cBhvr>
                                        <p:cTn id="170" dur="1" fill="hold">
                                          <p:stCondLst>
                                            <p:cond delay="0"/>
                                          </p:stCondLst>
                                        </p:cTn>
                                        <p:tgtEl>
                                          <p:spTgt spid="40"/>
                                        </p:tgtEl>
                                        <p:attrNameLst>
                                          <p:attrName>style.visibility</p:attrName>
                                        </p:attrNameLst>
                                      </p:cBhvr>
                                      <p:to>
                                        <p:strVal val="visible"/>
                                      </p:to>
                                    </p:set>
                                    <p:animEffect transition="in" filter="fade">
                                      <p:cBhvr>
                                        <p:cTn id="171" dur="500"/>
                                        <p:tgtEl>
                                          <p:spTgt spid="40"/>
                                        </p:tgtEl>
                                      </p:cBhvr>
                                    </p:animEffect>
                                    <p:anim calcmode="lin" valueType="num">
                                      <p:cBhvr>
                                        <p:cTn id="172" dur="500" fill="hold"/>
                                        <p:tgtEl>
                                          <p:spTgt spid="40"/>
                                        </p:tgtEl>
                                        <p:attrNameLst>
                                          <p:attrName>ppt_x</p:attrName>
                                        </p:attrNameLst>
                                      </p:cBhvr>
                                      <p:tavLst>
                                        <p:tav tm="0">
                                          <p:val>
                                            <p:strVal val="#ppt_x"/>
                                          </p:val>
                                        </p:tav>
                                        <p:tav tm="100000">
                                          <p:val>
                                            <p:strVal val="#ppt_x"/>
                                          </p:val>
                                        </p:tav>
                                      </p:tavLst>
                                    </p:anim>
                                    <p:anim calcmode="lin" valueType="num">
                                      <p:cBhvr>
                                        <p:cTn id="173" dur="500" fill="hold"/>
                                        <p:tgtEl>
                                          <p:spTgt spid="40"/>
                                        </p:tgtEl>
                                        <p:attrNameLst>
                                          <p:attrName>ppt_y</p:attrName>
                                        </p:attrNameLst>
                                      </p:cBhvr>
                                      <p:tavLst>
                                        <p:tav tm="0">
                                          <p:val>
                                            <p:strVal val="#ppt_y+0.05"/>
                                          </p:val>
                                        </p:tav>
                                        <p:tav tm="100000">
                                          <p:val>
                                            <p:strVal val="#ppt_y"/>
                                          </p:val>
                                        </p:tav>
                                      </p:tavLst>
                                    </p:anim>
                                  </p:childTnLst>
                                </p:cTn>
                              </p:par>
                              <p:par>
                                <p:cTn id="179" presetID="42" presetClass="entr" presetSubtype="0" fill="hold" grpId="0" nodeType="withEffect" decel="100000">
                                  <p:stCondLst>
                                    <p:cond delay="138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500"/>
                                        <p:tgtEl>
                                          <p:spTgt spid="41"/>
                                        </p:tgtEl>
                                      </p:cBhvr>
                                    </p:animEffect>
                                    <p:anim calcmode="lin" valueType="num">
                                      <p:cBhvr>
                                        <p:cTn id="177" dur="500" fill="hold"/>
                                        <p:tgtEl>
                                          <p:spTgt spid="41"/>
                                        </p:tgtEl>
                                        <p:attrNameLst>
                                          <p:attrName>ppt_x</p:attrName>
                                        </p:attrNameLst>
                                      </p:cBhvr>
                                      <p:tavLst>
                                        <p:tav tm="0">
                                          <p:val>
                                            <p:strVal val="#ppt_x"/>
                                          </p:val>
                                        </p:tav>
                                        <p:tav tm="100000">
                                          <p:val>
                                            <p:strVal val="#ppt_x"/>
                                          </p:val>
                                        </p:tav>
                                      </p:tavLst>
                                    </p:anim>
                                    <p:anim calcmode="lin" valueType="num">
                                      <p:cBhvr>
                                        <p:cTn id="178" dur="500" fill="hold"/>
                                        <p:tgtEl>
                                          <p:spTgt spid="41"/>
                                        </p:tgtEl>
                                        <p:attrNameLst>
                                          <p:attrName>ppt_y</p:attrName>
                                        </p:attrNameLst>
                                      </p:cBhvr>
                                      <p:tavLst>
                                        <p:tav tm="0">
                                          <p:val>
                                            <p:strVal val="#ppt_y+0.05"/>
                                          </p:val>
                                        </p:tav>
                                        <p:tav tm="100000">
                                          <p:val>
                                            <p:strVal val="#ppt_y"/>
                                          </p:val>
                                        </p:tav>
                                      </p:tavLst>
                                    </p:anim>
                                  </p:childTnLst>
                                </p:cTn>
                              </p:par>
                              <p:par>
                                <p:cTn id="184" presetID="42" presetClass="entr" presetSubtype="0" fill="hold" grpId="0" nodeType="withEffect" decel="100000">
                                  <p:stCondLst>
                                    <p:cond delay="1380"/>
                                  </p:stCondLst>
                                  <p:childTnLst>
                                    <p:set>
                                      <p:cBhvr>
                                        <p:cTn id="180" dur="1" fill="hold">
                                          <p:stCondLst>
                                            <p:cond delay="0"/>
                                          </p:stCondLst>
                                        </p:cTn>
                                        <p:tgtEl>
                                          <p:spTgt spid="42"/>
                                        </p:tgtEl>
                                        <p:attrNameLst>
                                          <p:attrName>style.visibility</p:attrName>
                                        </p:attrNameLst>
                                      </p:cBhvr>
                                      <p:to>
                                        <p:strVal val="visible"/>
                                      </p:to>
                                    </p:set>
                                    <p:animEffect transition="in" filter="fade">
                                      <p:cBhvr>
                                        <p:cTn id="181" dur="500"/>
                                        <p:tgtEl>
                                          <p:spTgt spid="42"/>
                                        </p:tgtEl>
                                      </p:cBhvr>
                                    </p:animEffect>
                                    <p:anim calcmode="lin" valueType="num">
                                      <p:cBhvr>
                                        <p:cTn id="182" dur="500" fill="hold"/>
                                        <p:tgtEl>
                                          <p:spTgt spid="42"/>
                                        </p:tgtEl>
                                        <p:attrNameLst>
                                          <p:attrName>ppt_x</p:attrName>
                                        </p:attrNameLst>
                                      </p:cBhvr>
                                      <p:tavLst>
                                        <p:tav tm="0">
                                          <p:val>
                                            <p:strVal val="#ppt_x"/>
                                          </p:val>
                                        </p:tav>
                                        <p:tav tm="100000">
                                          <p:val>
                                            <p:strVal val="#ppt_x"/>
                                          </p:val>
                                        </p:tav>
                                      </p:tavLst>
                                    </p:anim>
                                    <p:anim calcmode="lin" valueType="num">
                                      <p:cBhvr>
                                        <p:cTn id="183" dur="500" fill="hold"/>
                                        <p:tgtEl>
                                          <p:spTgt spid="42"/>
                                        </p:tgtEl>
                                        <p:attrNameLst>
                                          <p:attrName>ppt_y</p:attrName>
                                        </p:attrNameLst>
                                      </p:cBhvr>
                                      <p:tavLst>
                                        <p:tav tm="0">
                                          <p:val>
                                            <p:strVal val="#ppt_y+0.05"/>
                                          </p:val>
                                        </p:tav>
                                        <p:tav tm="100000">
                                          <p:val>
                                            <p:strVal val="#ppt_y"/>
                                          </p:val>
                                        </p:tav>
                                      </p:tavLst>
                                    </p:anim>
                                  </p:childTnLst>
                                </p:cTn>
                              </p:par>
                              <p:par>
                                <p:cTn id="189" presetID="42" presetClass="entr" presetSubtype="0" fill="hold" grpId="0" nodeType="withEffect" decel="100000">
                                  <p:stCondLst>
                                    <p:cond delay="1380"/>
                                  </p:stCondLst>
                                  <p:childTnLst>
                                    <p:set>
                                      <p:cBhvr>
                                        <p:cTn id="185" dur="1" fill="hold">
                                          <p:stCondLst>
                                            <p:cond delay="0"/>
                                          </p:stCondLst>
                                        </p:cTn>
                                        <p:tgtEl>
                                          <p:spTgt spid="43"/>
                                        </p:tgtEl>
                                        <p:attrNameLst>
                                          <p:attrName>style.visibility</p:attrName>
                                        </p:attrNameLst>
                                      </p:cBhvr>
                                      <p:to>
                                        <p:strVal val="visible"/>
                                      </p:to>
                                    </p:set>
                                    <p:animEffect transition="in" filter="fade">
                                      <p:cBhvr>
                                        <p:cTn id="186" dur="500"/>
                                        <p:tgtEl>
                                          <p:spTgt spid="43"/>
                                        </p:tgtEl>
                                      </p:cBhvr>
                                    </p:animEffect>
                                    <p:anim calcmode="lin" valueType="num">
                                      <p:cBhvr>
                                        <p:cTn id="187" dur="500" fill="hold"/>
                                        <p:tgtEl>
                                          <p:spTgt spid="43"/>
                                        </p:tgtEl>
                                        <p:attrNameLst>
                                          <p:attrName>ppt_x</p:attrName>
                                        </p:attrNameLst>
                                      </p:cBhvr>
                                      <p:tavLst>
                                        <p:tav tm="0">
                                          <p:val>
                                            <p:strVal val="#ppt_x"/>
                                          </p:val>
                                        </p:tav>
                                        <p:tav tm="100000">
                                          <p:val>
                                            <p:strVal val="#ppt_x"/>
                                          </p:val>
                                        </p:tav>
                                      </p:tavLst>
                                    </p:anim>
                                    <p:anim calcmode="lin" valueType="num">
                                      <p:cBhvr>
                                        <p:cTn id="188" dur="500" fill="hold"/>
                                        <p:tgtEl>
                                          <p:spTgt spid="43"/>
                                        </p:tgtEl>
                                        <p:attrNameLst>
                                          <p:attrName>ppt_y</p:attrName>
                                        </p:attrNameLst>
                                      </p:cBhvr>
                                      <p:tavLst>
                                        <p:tav tm="0">
                                          <p:val>
                                            <p:strVal val="#ppt_y+0.05"/>
                                          </p:val>
                                        </p:tav>
                                        <p:tav tm="100000">
                                          <p:val>
                                            <p:strVal val="#ppt_y"/>
                                          </p:val>
                                        </p:tav>
                                      </p:tavLst>
                                    </p:anim>
                                  </p:childTnLst>
                                </p:cTn>
                              </p:par>
                              <p:par>
                                <p:cTn id="194" presetID="42" presetClass="entr" presetSubtype="0" fill="hold" grpId="0" nodeType="withEffect" decel="100000">
                                  <p:stCondLst>
                                    <p:cond delay="1460"/>
                                  </p:stCondLst>
                                  <p:childTnLst>
                                    <p:set>
                                      <p:cBhvr>
                                        <p:cTn id="190" dur="1" fill="hold">
                                          <p:stCondLst>
                                            <p:cond delay="0"/>
                                          </p:stCondLst>
                                        </p:cTn>
                                        <p:tgtEl>
                                          <p:spTgt spid="44"/>
                                        </p:tgtEl>
                                        <p:attrNameLst>
                                          <p:attrName>style.visibility</p:attrName>
                                        </p:attrNameLst>
                                      </p:cBhvr>
                                      <p:to>
                                        <p:strVal val="visible"/>
                                      </p:to>
                                    </p:set>
                                    <p:animEffect transition="in" filter="fade">
                                      <p:cBhvr>
                                        <p:cTn id="191" dur="500"/>
                                        <p:tgtEl>
                                          <p:spTgt spid="44"/>
                                        </p:tgtEl>
                                      </p:cBhvr>
                                    </p:animEffect>
                                    <p:anim calcmode="lin" valueType="num">
                                      <p:cBhvr>
                                        <p:cTn id="192" dur="500" fill="hold"/>
                                        <p:tgtEl>
                                          <p:spTgt spid="44"/>
                                        </p:tgtEl>
                                        <p:attrNameLst>
                                          <p:attrName>ppt_x</p:attrName>
                                        </p:attrNameLst>
                                      </p:cBhvr>
                                      <p:tavLst>
                                        <p:tav tm="0">
                                          <p:val>
                                            <p:strVal val="#ppt_x"/>
                                          </p:val>
                                        </p:tav>
                                        <p:tav tm="100000">
                                          <p:val>
                                            <p:strVal val="#ppt_x"/>
                                          </p:val>
                                        </p:tav>
                                      </p:tavLst>
                                    </p:anim>
                                    <p:anim calcmode="lin" valueType="num">
                                      <p:cBhvr>
                                        <p:cTn id="193" dur="500" fill="hold"/>
                                        <p:tgtEl>
                                          <p:spTgt spid="44"/>
                                        </p:tgtEl>
                                        <p:attrNameLst>
                                          <p:attrName>ppt_y</p:attrName>
                                        </p:attrNameLst>
                                      </p:cBhvr>
                                      <p:tavLst>
                                        <p:tav tm="0">
                                          <p:val>
                                            <p:strVal val="#ppt_y+0.05"/>
                                          </p:val>
                                        </p:tav>
                                        <p:tav tm="100000">
                                          <p:val>
                                            <p:strVal val="#ppt_y"/>
                                          </p:val>
                                        </p:tav>
                                      </p:tavLst>
                                    </p:anim>
                                  </p:childTnLst>
                                </p:cTn>
                              </p:par>
                              <p:par>
                                <p:cTn id="199" presetID="42" presetClass="entr" presetSubtype="0" fill="hold" grpId="0" nodeType="withEffect" decel="100000">
                                  <p:stCondLst>
                                    <p:cond delay="1460"/>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500"/>
                                        <p:tgtEl>
                                          <p:spTgt spid="45"/>
                                        </p:tgtEl>
                                      </p:cBhvr>
                                    </p:animEffect>
                                    <p:anim calcmode="lin" valueType="num">
                                      <p:cBhvr>
                                        <p:cTn id="197" dur="500" fill="hold"/>
                                        <p:tgtEl>
                                          <p:spTgt spid="45"/>
                                        </p:tgtEl>
                                        <p:attrNameLst>
                                          <p:attrName>ppt_x</p:attrName>
                                        </p:attrNameLst>
                                      </p:cBhvr>
                                      <p:tavLst>
                                        <p:tav tm="0">
                                          <p:val>
                                            <p:strVal val="#ppt_x"/>
                                          </p:val>
                                        </p:tav>
                                        <p:tav tm="100000">
                                          <p:val>
                                            <p:strVal val="#ppt_x"/>
                                          </p:val>
                                        </p:tav>
                                      </p:tavLst>
                                    </p:anim>
                                    <p:anim calcmode="lin" valueType="num">
                                      <p:cBhvr>
                                        <p:cTn id="198" dur="500" fill="hold"/>
                                        <p:tgtEl>
                                          <p:spTgt spid="45"/>
                                        </p:tgtEl>
                                        <p:attrNameLst>
                                          <p:attrName>ppt_y</p:attrName>
                                        </p:attrNameLst>
                                      </p:cBhvr>
                                      <p:tavLst>
                                        <p:tav tm="0">
                                          <p:val>
                                            <p:strVal val="#ppt_y+0.05"/>
                                          </p:val>
                                        </p:tav>
                                        <p:tav tm="100000">
                                          <p:val>
                                            <p:strVal val="#ppt_y"/>
                                          </p:val>
                                        </p:tav>
                                      </p:tavLst>
                                    </p:anim>
                                  </p:childTnLst>
                                </p:cTn>
                              </p:par>
                              <p:par>
                                <p:cTn id="204" presetID="42" presetClass="entr" presetSubtype="0" fill="hold" grpId="0" nodeType="withEffect" decel="100000">
                                  <p:stCondLst>
                                    <p:cond delay="1460"/>
                                  </p:stCondLst>
                                  <p:childTnLst>
                                    <p:set>
                                      <p:cBhvr>
                                        <p:cTn id="200" dur="1" fill="hold">
                                          <p:stCondLst>
                                            <p:cond delay="0"/>
                                          </p:stCondLst>
                                        </p:cTn>
                                        <p:tgtEl>
                                          <p:spTgt spid="46"/>
                                        </p:tgtEl>
                                        <p:attrNameLst>
                                          <p:attrName>style.visibility</p:attrName>
                                        </p:attrNameLst>
                                      </p:cBhvr>
                                      <p:to>
                                        <p:strVal val="visible"/>
                                      </p:to>
                                    </p:set>
                                    <p:animEffect transition="in" filter="fade">
                                      <p:cBhvr>
                                        <p:cTn id="201" dur="500"/>
                                        <p:tgtEl>
                                          <p:spTgt spid="46"/>
                                        </p:tgtEl>
                                      </p:cBhvr>
                                    </p:animEffect>
                                    <p:anim calcmode="lin" valueType="num">
                                      <p:cBhvr>
                                        <p:cTn id="202" dur="500" fill="hold"/>
                                        <p:tgtEl>
                                          <p:spTgt spid="46"/>
                                        </p:tgtEl>
                                        <p:attrNameLst>
                                          <p:attrName>ppt_x</p:attrName>
                                        </p:attrNameLst>
                                      </p:cBhvr>
                                      <p:tavLst>
                                        <p:tav tm="0">
                                          <p:val>
                                            <p:strVal val="#ppt_x"/>
                                          </p:val>
                                        </p:tav>
                                        <p:tav tm="100000">
                                          <p:val>
                                            <p:strVal val="#ppt_x"/>
                                          </p:val>
                                        </p:tav>
                                      </p:tavLst>
                                    </p:anim>
                                    <p:anim calcmode="lin" valueType="num">
                                      <p:cBhvr>
                                        <p:cTn id="203" dur="500" fill="hold"/>
                                        <p:tgtEl>
                                          <p:spTgt spid="46"/>
                                        </p:tgtEl>
                                        <p:attrNameLst>
                                          <p:attrName>ppt_y</p:attrName>
                                        </p:attrNameLst>
                                      </p:cBhvr>
                                      <p:tavLst>
                                        <p:tav tm="0">
                                          <p:val>
                                            <p:strVal val="#ppt_y+0.05"/>
                                          </p:val>
                                        </p:tav>
                                        <p:tav tm="100000">
                                          <p:val>
                                            <p:strVal val="#ppt_y"/>
                                          </p:val>
                                        </p:tav>
                                      </p:tavLst>
                                    </p:anim>
                                  </p:childTnLst>
                                </p:cTn>
                              </p:par>
                              <p:par>
                                <p:cTn id="209" presetID="42" presetClass="entr" presetSubtype="0" fill="hold" grpId="0" nodeType="withEffect" decel="100000">
                                  <p:stCondLst>
                                    <p:cond delay="154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500"/>
                                        <p:tgtEl>
                                          <p:spTgt spid="47"/>
                                        </p:tgtEl>
                                      </p:cBhvr>
                                    </p:animEffect>
                                    <p:anim calcmode="lin" valueType="num">
                                      <p:cBhvr>
                                        <p:cTn id="207" dur="500" fill="hold"/>
                                        <p:tgtEl>
                                          <p:spTgt spid="47"/>
                                        </p:tgtEl>
                                        <p:attrNameLst>
                                          <p:attrName>ppt_x</p:attrName>
                                        </p:attrNameLst>
                                      </p:cBhvr>
                                      <p:tavLst>
                                        <p:tav tm="0">
                                          <p:val>
                                            <p:strVal val="#ppt_x"/>
                                          </p:val>
                                        </p:tav>
                                        <p:tav tm="100000">
                                          <p:val>
                                            <p:strVal val="#ppt_x"/>
                                          </p:val>
                                        </p:tav>
                                      </p:tavLst>
                                    </p:anim>
                                    <p:anim calcmode="lin" valueType="num">
                                      <p:cBhvr>
                                        <p:cTn id="208" dur="500" fill="hold"/>
                                        <p:tgtEl>
                                          <p:spTgt spid="47"/>
                                        </p:tgtEl>
                                        <p:attrNameLst>
                                          <p:attrName>ppt_y</p:attrName>
                                        </p:attrNameLst>
                                      </p:cBhvr>
                                      <p:tavLst>
                                        <p:tav tm="0">
                                          <p:val>
                                            <p:strVal val="#ppt_y+0.05"/>
                                          </p:val>
                                        </p:tav>
                                        <p:tav tm="100000">
                                          <p:val>
                                            <p:strVal val="#ppt_y"/>
                                          </p:val>
                                        </p:tav>
                                      </p:tavLst>
                                    </p:anim>
                                  </p:childTnLst>
                                </p:cTn>
                              </p:par>
                              <p:par>
                                <p:cTn id="214" presetID="42" presetClass="entr" presetSubtype="0" fill="hold" grpId="0" nodeType="withEffect" decel="100000">
                                  <p:stCondLst>
                                    <p:cond delay="1540"/>
                                  </p:stCondLst>
                                  <p:childTnLst>
                                    <p:set>
                                      <p:cBhvr>
                                        <p:cTn id="210" dur="1" fill="hold">
                                          <p:stCondLst>
                                            <p:cond delay="0"/>
                                          </p:stCondLst>
                                        </p:cTn>
                                        <p:tgtEl>
                                          <p:spTgt spid="48"/>
                                        </p:tgtEl>
                                        <p:attrNameLst>
                                          <p:attrName>style.visibility</p:attrName>
                                        </p:attrNameLst>
                                      </p:cBhvr>
                                      <p:to>
                                        <p:strVal val="visible"/>
                                      </p:to>
                                    </p:set>
                                    <p:animEffect transition="in" filter="fade">
                                      <p:cBhvr>
                                        <p:cTn id="211" dur="500"/>
                                        <p:tgtEl>
                                          <p:spTgt spid="48"/>
                                        </p:tgtEl>
                                      </p:cBhvr>
                                    </p:animEffect>
                                    <p:anim calcmode="lin" valueType="num">
                                      <p:cBhvr>
                                        <p:cTn id="212" dur="500" fill="hold"/>
                                        <p:tgtEl>
                                          <p:spTgt spid="48"/>
                                        </p:tgtEl>
                                        <p:attrNameLst>
                                          <p:attrName>ppt_x</p:attrName>
                                        </p:attrNameLst>
                                      </p:cBhvr>
                                      <p:tavLst>
                                        <p:tav tm="0">
                                          <p:val>
                                            <p:strVal val="#ppt_x"/>
                                          </p:val>
                                        </p:tav>
                                        <p:tav tm="100000">
                                          <p:val>
                                            <p:strVal val="#ppt_x"/>
                                          </p:val>
                                        </p:tav>
                                      </p:tavLst>
                                    </p:anim>
                                    <p:anim calcmode="lin" valueType="num">
                                      <p:cBhvr>
                                        <p:cTn id="213" dur="500" fill="hold"/>
                                        <p:tgtEl>
                                          <p:spTgt spid="48"/>
                                        </p:tgtEl>
                                        <p:attrNameLst>
                                          <p:attrName>ppt_y</p:attrName>
                                        </p:attrNameLst>
                                      </p:cBhvr>
                                      <p:tavLst>
                                        <p:tav tm="0">
                                          <p:val>
                                            <p:strVal val="#ppt_y+0.05"/>
                                          </p:val>
                                        </p:tav>
                                        <p:tav tm="100000">
                                          <p:val>
                                            <p:strVal val="#ppt_y"/>
                                          </p:val>
                                        </p:tav>
                                      </p:tavLst>
                                    </p:anim>
                                  </p:childTnLst>
                                </p:cTn>
                              </p:par>
                              <p:par>
                                <p:cTn id="219" presetID="42" presetClass="entr" presetSubtype="0" fill="hold" grpId="0" nodeType="withEffect" decel="100000">
                                  <p:stCondLst>
                                    <p:cond delay="1540"/>
                                  </p:stCondLst>
                                  <p:childTnLst>
                                    <p:set>
                                      <p:cBhvr>
                                        <p:cTn id="215" dur="1" fill="hold">
                                          <p:stCondLst>
                                            <p:cond delay="0"/>
                                          </p:stCondLst>
                                        </p:cTn>
                                        <p:tgtEl>
                                          <p:spTgt spid="49"/>
                                        </p:tgtEl>
                                        <p:attrNameLst>
                                          <p:attrName>style.visibility</p:attrName>
                                        </p:attrNameLst>
                                      </p:cBhvr>
                                      <p:to>
                                        <p:strVal val="visible"/>
                                      </p:to>
                                    </p:set>
                                    <p:animEffect transition="in" filter="fade">
                                      <p:cBhvr>
                                        <p:cTn id="216" dur="500"/>
                                        <p:tgtEl>
                                          <p:spTgt spid="49"/>
                                        </p:tgtEl>
                                      </p:cBhvr>
                                    </p:animEffect>
                                    <p:anim calcmode="lin" valueType="num">
                                      <p:cBhvr>
                                        <p:cTn id="217" dur="500" fill="hold"/>
                                        <p:tgtEl>
                                          <p:spTgt spid="49"/>
                                        </p:tgtEl>
                                        <p:attrNameLst>
                                          <p:attrName>ppt_x</p:attrName>
                                        </p:attrNameLst>
                                      </p:cBhvr>
                                      <p:tavLst>
                                        <p:tav tm="0">
                                          <p:val>
                                            <p:strVal val="#ppt_x"/>
                                          </p:val>
                                        </p:tav>
                                        <p:tav tm="100000">
                                          <p:val>
                                            <p:strVal val="#ppt_x"/>
                                          </p:val>
                                        </p:tav>
                                      </p:tavLst>
                                    </p:anim>
                                    <p:anim calcmode="lin" valueType="num">
                                      <p:cBhvr>
                                        <p:cTn id="218" dur="500" fill="hold"/>
                                        <p:tgtEl>
                                          <p:spTgt spid="49"/>
                                        </p:tgtEl>
                                        <p:attrNameLst>
                                          <p:attrName>ppt_y</p:attrName>
                                        </p:attrNameLst>
                                      </p:cBhvr>
                                      <p:tavLst>
                                        <p:tav tm="0">
                                          <p:val>
                                            <p:strVal val="#ppt_y+0.05"/>
                                          </p:val>
                                        </p:tav>
                                        <p:tav tm="100000">
                                          <p:val>
                                            <p:strVal val="#ppt_y"/>
                                          </p:val>
                                        </p:tav>
                                      </p:tavLst>
                                    </p:anim>
                                  </p:childTnLst>
                                </p:cTn>
                              </p:par>
                            </p:childTnLst>
                          </p:cTn>
                        </p:par>
                      </p:childTnLst>
                    </p:cTn>
                  </p:par>
                  <p:par>
                    <p:cTn id="245" fill="hold">
                      <p:stCondLst>
                        <p:cond delay="indefinite"/>
                      </p:stCondLst>
                      <p:childTnLst>
                        <p:par>
                          <p:cTn id="246" fill="hold">
                            <p:stCondLst>
                              <p:cond delay="0"/>
                            </p:stCondLst>
                            <p:childTnLst>
                              <p:par>
                                <p:cTn id="226" presetID="42" presetClass="entr" presetSubtype="0" fill="hold" grpId="0" nodeType="clickEffect" decel="100000">
                                  <p:stCondLst>
                                    <p:cond delay="0"/>
                                  </p:stCondLst>
                                  <p:childTnLst>
                                    <p:set>
                                      <p:cBhvr>
                                        <p:cTn id="222" dur="1" fill="hold">
                                          <p:stCondLst>
                                            <p:cond delay="0"/>
                                          </p:stCondLst>
                                        </p:cTn>
                                        <p:tgtEl>
                                          <p:spTgt spid="50"/>
                                        </p:tgtEl>
                                        <p:attrNameLst>
                                          <p:attrName>style.visibility</p:attrName>
                                        </p:attrNameLst>
                                      </p:cBhvr>
                                      <p:to>
                                        <p:strVal val="visible"/>
                                      </p:to>
                                    </p:set>
                                    <p:animEffect transition="in" filter="fade">
                                      <p:cBhvr>
                                        <p:cTn id="223" dur="500"/>
                                        <p:tgtEl>
                                          <p:spTgt spid="50"/>
                                        </p:tgtEl>
                                      </p:cBhvr>
                                    </p:animEffect>
                                    <p:anim calcmode="lin" valueType="num">
                                      <p:cBhvr>
                                        <p:cTn id="224" dur="500" fill="hold"/>
                                        <p:tgtEl>
                                          <p:spTgt spid="50"/>
                                        </p:tgtEl>
                                        <p:attrNameLst>
                                          <p:attrName>ppt_x</p:attrName>
                                        </p:attrNameLst>
                                      </p:cBhvr>
                                      <p:tavLst>
                                        <p:tav tm="0">
                                          <p:val>
                                            <p:strVal val="#ppt_x"/>
                                          </p:val>
                                        </p:tav>
                                        <p:tav tm="100000">
                                          <p:val>
                                            <p:strVal val="#ppt_x"/>
                                          </p:val>
                                        </p:tav>
                                      </p:tavLst>
                                    </p:anim>
                                    <p:anim calcmode="lin" valueType="num">
                                      <p:cBhvr>
                                        <p:cTn id="225" dur="500" fill="hold"/>
                                        <p:tgtEl>
                                          <p:spTgt spid="50"/>
                                        </p:tgtEl>
                                        <p:attrNameLst>
                                          <p:attrName>ppt_y</p:attrName>
                                        </p:attrNameLst>
                                      </p:cBhvr>
                                      <p:tavLst>
                                        <p:tav tm="0">
                                          <p:val>
                                            <p:strVal val="#ppt_y+0.05"/>
                                          </p:val>
                                        </p:tav>
                                        <p:tav tm="100000">
                                          <p:val>
                                            <p:strVal val="#ppt_y"/>
                                          </p:val>
                                        </p:tav>
                                      </p:tavLst>
                                    </p:anim>
                                  </p:childTnLst>
                                </p:cTn>
                              </p:par>
                              <p:par>
                                <p:cTn id="231" presetID="42" presetClass="entr" presetSubtype="0" fill="hold" grpId="0" nodeType="withEffect" decel="100000">
                                  <p:stCondLst>
                                    <p:cond delay="0"/>
                                  </p:stCondLst>
                                  <p:childTnLst>
                                    <p:set>
                                      <p:cBhvr>
                                        <p:cTn id="227" dur="1" fill="hold">
                                          <p:stCondLst>
                                            <p:cond delay="0"/>
                                          </p:stCondLst>
                                        </p:cTn>
                                        <p:tgtEl>
                                          <p:spTgt spid="51"/>
                                        </p:tgtEl>
                                        <p:attrNameLst>
                                          <p:attrName>style.visibility</p:attrName>
                                        </p:attrNameLst>
                                      </p:cBhvr>
                                      <p:to>
                                        <p:strVal val="visible"/>
                                      </p:to>
                                    </p:set>
                                    <p:animEffect transition="in" filter="fade">
                                      <p:cBhvr>
                                        <p:cTn id="228" dur="500"/>
                                        <p:tgtEl>
                                          <p:spTgt spid="51"/>
                                        </p:tgtEl>
                                      </p:cBhvr>
                                    </p:animEffect>
                                    <p:anim calcmode="lin" valueType="num">
                                      <p:cBhvr>
                                        <p:cTn id="229" dur="500" fill="hold"/>
                                        <p:tgtEl>
                                          <p:spTgt spid="51"/>
                                        </p:tgtEl>
                                        <p:attrNameLst>
                                          <p:attrName>ppt_x</p:attrName>
                                        </p:attrNameLst>
                                      </p:cBhvr>
                                      <p:tavLst>
                                        <p:tav tm="0">
                                          <p:val>
                                            <p:strVal val="#ppt_x"/>
                                          </p:val>
                                        </p:tav>
                                        <p:tav tm="100000">
                                          <p:val>
                                            <p:strVal val="#ppt_x"/>
                                          </p:val>
                                        </p:tav>
                                      </p:tavLst>
                                    </p:anim>
                                    <p:anim calcmode="lin" valueType="num">
                                      <p:cBhvr>
                                        <p:cTn id="230" dur="500" fill="hold"/>
                                        <p:tgtEl>
                                          <p:spTgt spid="51"/>
                                        </p:tgtEl>
                                        <p:attrNameLst>
                                          <p:attrName>ppt_y</p:attrName>
                                        </p:attrNameLst>
                                      </p:cBhvr>
                                      <p:tavLst>
                                        <p:tav tm="0">
                                          <p:val>
                                            <p:strVal val="#ppt_y+0.05"/>
                                          </p:val>
                                        </p:tav>
                                        <p:tav tm="100000">
                                          <p:val>
                                            <p:strVal val="#ppt_y"/>
                                          </p:val>
                                        </p:tav>
                                      </p:tavLst>
                                    </p:anim>
                                  </p:childTnLst>
                                </p:cTn>
                              </p:par>
                              <p:par>
                                <p:cTn id="236" presetID="42" presetClass="entr" presetSubtype="0" fill="hold" grpId="0" nodeType="withEffect" decel="100000">
                                  <p:stCondLst>
                                    <p:cond delay="0"/>
                                  </p:stCondLst>
                                  <p:childTnLst>
                                    <p:set>
                                      <p:cBhvr>
                                        <p:cTn id="232" dur="1" fill="hold">
                                          <p:stCondLst>
                                            <p:cond delay="0"/>
                                          </p:stCondLst>
                                        </p:cTn>
                                        <p:tgtEl>
                                          <p:spTgt spid="52"/>
                                        </p:tgtEl>
                                        <p:attrNameLst>
                                          <p:attrName>style.visibility</p:attrName>
                                        </p:attrNameLst>
                                      </p:cBhvr>
                                      <p:to>
                                        <p:strVal val="visible"/>
                                      </p:to>
                                    </p:set>
                                    <p:animEffect transition="in" filter="fade">
                                      <p:cBhvr>
                                        <p:cTn id="233" dur="500"/>
                                        <p:tgtEl>
                                          <p:spTgt spid="52"/>
                                        </p:tgtEl>
                                      </p:cBhvr>
                                    </p:animEffect>
                                    <p:anim calcmode="lin" valueType="num">
                                      <p:cBhvr>
                                        <p:cTn id="234" dur="500" fill="hold"/>
                                        <p:tgtEl>
                                          <p:spTgt spid="52"/>
                                        </p:tgtEl>
                                        <p:attrNameLst>
                                          <p:attrName>ppt_x</p:attrName>
                                        </p:attrNameLst>
                                      </p:cBhvr>
                                      <p:tavLst>
                                        <p:tav tm="0">
                                          <p:val>
                                            <p:strVal val="#ppt_x"/>
                                          </p:val>
                                        </p:tav>
                                        <p:tav tm="100000">
                                          <p:val>
                                            <p:strVal val="#ppt_x"/>
                                          </p:val>
                                        </p:tav>
                                      </p:tavLst>
                                    </p:anim>
                                    <p:anim calcmode="lin" valueType="num">
                                      <p:cBhvr>
                                        <p:cTn id="235" dur="500" fill="hold"/>
                                        <p:tgtEl>
                                          <p:spTgt spid="52"/>
                                        </p:tgtEl>
                                        <p:attrNameLst>
                                          <p:attrName>ppt_y</p:attrName>
                                        </p:attrNameLst>
                                      </p:cBhvr>
                                      <p:tavLst>
                                        <p:tav tm="0">
                                          <p:val>
                                            <p:strVal val="#ppt_y+0.05"/>
                                          </p:val>
                                        </p:tav>
                                        <p:tav tm="100000">
                                          <p:val>
                                            <p:strVal val="#ppt_y"/>
                                          </p:val>
                                        </p:tav>
                                      </p:tavLst>
                                    </p:anim>
                                  </p:childTnLst>
                                </p:cTn>
                              </p:par>
                              <p:par>
                                <p:cTn id="241" presetID="42" presetClass="entr" presetSubtype="0" fill="hold" grpId="0" nodeType="withEffect" decel="100000">
                                  <p:stCondLst>
                                    <p:cond delay="0"/>
                                  </p:stCondLst>
                                  <p:childTnLst>
                                    <p:set>
                                      <p:cBhvr>
                                        <p:cTn id="237" dur="1" fill="hold">
                                          <p:stCondLst>
                                            <p:cond delay="0"/>
                                          </p:stCondLst>
                                        </p:cTn>
                                        <p:tgtEl>
                                          <p:spTgt spid="53"/>
                                        </p:tgtEl>
                                        <p:attrNameLst>
                                          <p:attrName>style.visibility</p:attrName>
                                        </p:attrNameLst>
                                      </p:cBhvr>
                                      <p:to>
                                        <p:strVal val="visible"/>
                                      </p:to>
                                    </p:set>
                                    <p:animEffect transition="in" filter="fade">
                                      <p:cBhvr>
                                        <p:cTn id="238" dur="500"/>
                                        <p:tgtEl>
                                          <p:spTgt spid="53"/>
                                        </p:tgtEl>
                                      </p:cBhvr>
                                    </p:animEffect>
                                    <p:anim calcmode="lin" valueType="num">
                                      <p:cBhvr>
                                        <p:cTn id="239" dur="500" fill="hold"/>
                                        <p:tgtEl>
                                          <p:spTgt spid="53"/>
                                        </p:tgtEl>
                                        <p:attrNameLst>
                                          <p:attrName>ppt_x</p:attrName>
                                        </p:attrNameLst>
                                      </p:cBhvr>
                                      <p:tavLst>
                                        <p:tav tm="0">
                                          <p:val>
                                            <p:strVal val="#ppt_x"/>
                                          </p:val>
                                        </p:tav>
                                        <p:tav tm="100000">
                                          <p:val>
                                            <p:strVal val="#ppt_x"/>
                                          </p:val>
                                        </p:tav>
                                      </p:tavLst>
                                    </p:anim>
                                    <p:anim calcmode="lin" valueType="num">
                                      <p:cBhvr>
                                        <p:cTn id="240" dur="500" fill="hold"/>
                                        <p:tgtEl>
                                          <p:spTgt spid="53"/>
                                        </p:tgtEl>
                                        <p:attrNameLst>
                                          <p:attrName>ppt_y</p:attrName>
                                        </p:attrNameLst>
                                      </p:cBhvr>
                                      <p:tavLst>
                                        <p:tav tm="0">
                                          <p:val>
                                            <p:strVal val="#ppt_y+0.05"/>
                                          </p:val>
                                        </p:tav>
                                        <p:tav tm="100000">
                                          <p:val>
                                            <p:strVal val="#ppt_y"/>
                                          </p:val>
                                        </p:tav>
                                      </p:tavLst>
                                    </p:anim>
                                  </p:childTnLst>
                                </p:cTn>
                              </p:par>
                              <p:par>
                                <p:cTn id="244" presetID="10" presetClass="entr" presetSubtype="0" fill="hold" grpId="0" nodeType="withEffect" decel="100000">
                                  <p:stCondLst>
                                    <p:cond delay="200"/>
                                  </p:stCondLst>
                                  <p:childTnLst>
                                    <p:set>
                                      <p:cBhvr>
                                        <p:cTn id="242" dur="1" fill="hold">
                                          <p:stCondLst>
                                            <p:cond delay="0"/>
                                          </p:stCondLst>
                                        </p:cTn>
                                        <p:tgtEl>
                                          <p:spTgt spid="54"/>
                                        </p:tgtEl>
                                        <p:attrNameLst>
                                          <p:attrName>style.visibility</p:attrName>
                                        </p:attrNameLst>
                                      </p:cBhvr>
                                      <p:to>
                                        <p:strVal val="visible"/>
                                      </p:to>
                                    </p:set>
                                    <p:animEffect transition="in" filter="fade">
                                      <p:cBhvr>
                                        <p:cTn id="243" dur="500"/>
                                        <p:tgtEl>
                                          <p:spTgt spid="54"/>
                                        </p:tgtEl>
                                      </p:cBhvr>
                                    </p:animEffect>
                                  </p:childTnLst>
                                </p:cTn>
                              </p:par>
                            </p:childTnLst>
                          </p:cTn>
                        </p:par>
                      </p:childTnLst>
                    </p:cTn>
                  </p:par>
                  <p:par>
                    <p:cTn id="270" fill="hold">
                      <p:stCondLst>
                        <p:cond delay="indefinite"/>
                      </p:stCondLst>
                      <p:childTnLst>
                        <p:par>
                          <p:cTn id="271" fill="hold">
                            <p:stCondLst>
                              <p:cond delay="0"/>
                            </p:stCondLst>
                            <p:childTnLst>
                              <p:par>
                                <p:cTn id="251" presetID="42" presetClass="entr" presetSubtype="0" fill="hold" grpId="0" nodeType="clickEffect" decel="100000">
                                  <p:stCondLst>
                                    <p:cond delay="0"/>
                                  </p:stCondLst>
                                  <p:childTnLst>
                                    <p:set>
                                      <p:cBhvr>
                                        <p:cTn id="247" dur="1" fill="hold">
                                          <p:stCondLst>
                                            <p:cond delay="0"/>
                                          </p:stCondLst>
                                        </p:cTn>
                                        <p:tgtEl>
                                          <p:spTgt spid="55"/>
                                        </p:tgtEl>
                                        <p:attrNameLst>
                                          <p:attrName>style.visibility</p:attrName>
                                        </p:attrNameLst>
                                      </p:cBhvr>
                                      <p:to>
                                        <p:strVal val="visible"/>
                                      </p:to>
                                    </p:set>
                                    <p:animEffect transition="in" filter="fade">
                                      <p:cBhvr>
                                        <p:cTn id="248" dur="500"/>
                                        <p:tgtEl>
                                          <p:spTgt spid="55"/>
                                        </p:tgtEl>
                                      </p:cBhvr>
                                    </p:animEffect>
                                    <p:anim calcmode="lin" valueType="num">
                                      <p:cBhvr>
                                        <p:cTn id="249" dur="500" fill="hold"/>
                                        <p:tgtEl>
                                          <p:spTgt spid="55"/>
                                        </p:tgtEl>
                                        <p:attrNameLst>
                                          <p:attrName>ppt_x</p:attrName>
                                        </p:attrNameLst>
                                      </p:cBhvr>
                                      <p:tavLst>
                                        <p:tav tm="0">
                                          <p:val>
                                            <p:strVal val="#ppt_x"/>
                                          </p:val>
                                        </p:tav>
                                        <p:tav tm="100000">
                                          <p:val>
                                            <p:strVal val="#ppt_x"/>
                                          </p:val>
                                        </p:tav>
                                      </p:tavLst>
                                    </p:anim>
                                    <p:anim calcmode="lin" valueType="num">
                                      <p:cBhvr>
                                        <p:cTn id="250" dur="500" fill="hold"/>
                                        <p:tgtEl>
                                          <p:spTgt spid="55"/>
                                        </p:tgtEl>
                                        <p:attrNameLst>
                                          <p:attrName>ppt_y</p:attrName>
                                        </p:attrNameLst>
                                      </p:cBhvr>
                                      <p:tavLst>
                                        <p:tav tm="0">
                                          <p:val>
                                            <p:strVal val="#ppt_y+0.05"/>
                                          </p:val>
                                        </p:tav>
                                        <p:tav tm="100000">
                                          <p:val>
                                            <p:strVal val="#ppt_y"/>
                                          </p:val>
                                        </p:tav>
                                      </p:tavLst>
                                    </p:anim>
                                  </p:childTnLst>
                                </p:cTn>
                              </p:par>
                              <p:par>
                                <p:cTn id="256" presetID="42" presetClass="entr" presetSubtype="0" fill="hold" grpId="0" nodeType="withEffect" decel="100000">
                                  <p:stCondLst>
                                    <p:cond delay="0"/>
                                  </p:stCondLst>
                                  <p:childTnLst>
                                    <p:set>
                                      <p:cBhvr>
                                        <p:cTn id="252" dur="1" fill="hold">
                                          <p:stCondLst>
                                            <p:cond delay="0"/>
                                          </p:stCondLst>
                                        </p:cTn>
                                        <p:tgtEl>
                                          <p:spTgt spid="56"/>
                                        </p:tgtEl>
                                        <p:attrNameLst>
                                          <p:attrName>style.visibility</p:attrName>
                                        </p:attrNameLst>
                                      </p:cBhvr>
                                      <p:to>
                                        <p:strVal val="visible"/>
                                      </p:to>
                                    </p:set>
                                    <p:animEffect transition="in" filter="fade">
                                      <p:cBhvr>
                                        <p:cTn id="253" dur="500"/>
                                        <p:tgtEl>
                                          <p:spTgt spid="56"/>
                                        </p:tgtEl>
                                      </p:cBhvr>
                                    </p:animEffect>
                                    <p:anim calcmode="lin" valueType="num">
                                      <p:cBhvr>
                                        <p:cTn id="254" dur="500" fill="hold"/>
                                        <p:tgtEl>
                                          <p:spTgt spid="56"/>
                                        </p:tgtEl>
                                        <p:attrNameLst>
                                          <p:attrName>ppt_x</p:attrName>
                                        </p:attrNameLst>
                                      </p:cBhvr>
                                      <p:tavLst>
                                        <p:tav tm="0">
                                          <p:val>
                                            <p:strVal val="#ppt_x"/>
                                          </p:val>
                                        </p:tav>
                                        <p:tav tm="100000">
                                          <p:val>
                                            <p:strVal val="#ppt_x"/>
                                          </p:val>
                                        </p:tav>
                                      </p:tavLst>
                                    </p:anim>
                                    <p:anim calcmode="lin" valueType="num">
                                      <p:cBhvr>
                                        <p:cTn id="255" dur="500" fill="hold"/>
                                        <p:tgtEl>
                                          <p:spTgt spid="56"/>
                                        </p:tgtEl>
                                        <p:attrNameLst>
                                          <p:attrName>ppt_y</p:attrName>
                                        </p:attrNameLst>
                                      </p:cBhvr>
                                      <p:tavLst>
                                        <p:tav tm="0">
                                          <p:val>
                                            <p:strVal val="#ppt_y+0.05"/>
                                          </p:val>
                                        </p:tav>
                                        <p:tav tm="100000">
                                          <p:val>
                                            <p:strVal val="#ppt_y"/>
                                          </p:val>
                                        </p:tav>
                                      </p:tavLst>
                                    </p:anim>
                                  </p:childTnLst>
                                </p:cTn>
                              </p:par>
                              <p:par>
                                <p:cTn id="261" presetID="42" presetClass="entr" presetSubtype="0" fill="hold" grpId="0" nodeType="withEffect" decel="100000">
                                  <p:stCondLst>
                                    <p:cond delay="0"/>
                                  </p:stCondLst>
                                  <p:childTnLst>
                                    <p:set>
                                      <p:cBhvr>
                                        <p:cTn id="257" dur="1" fill="hold">
                                          <p:stCondLst>
                                            <p:cond delay="0"/>
                                          </p:stCondLst>
                                        </p:cTn>
                                        <p:tgtEl>
                                          <p:spTgt spid="57"/>
                                        </p:tgtEl>
                                        <p:attrNameLst>
                                          <p:attrName>style.visibility</p:attrName>
                                        </p:attrNameLst>
                                      </p:cBhvr>
                                      <p:to>
                                        <p:strVal val="visible"/>
                                      </p:to>
                                    </p:set>
                                    <p:animEffect transition="in" filter="fade">
                                      <p:cBhvr>
                                        <p:cTn id="258" dur="500"/>
                                        <p:tgtEl>
                                          <p:spTgt spid="57"/>
                                        </p:tgtEl>
                                      </p:cBhvr>
                                    </p:animEffect>
                                    <p:anim calcmode="lin" valueType="num">
                                      <p:cBhvr>
                                        <p:cTn id="259" dur="500" fill="hold"/>
                                        <p:tgtEl>
                                          <p:spTgt spid="57"/>
                                        </p:tgtEl>
                                        <p:attrNameLst>
                                          <p:attrName>ppt_x</p:attrName>
                                        </p:attrNameLst>
                                      </p:cBhvr>
                                      <p:tavLst>
                                        <p:tav tm="0">
                                          <p:val>
                                            <p:strVal val="#ppt_x"/>
                                          </p:val>
                                        </p:tav>
                                        <p:tav tm="100000">
                                          <p:val>
                                            <p:strVal val="#ppt_x"/>
                                          </p:val>
                                        </p:tav>
                                      </p:tavLst>
                                    </p:anim>
                                    <p:anim calcmode="lin" valueType="num">
                                      <p:cBhvr>
                                        <p:cTn id="260" dur="500" fill="hold"/>
                                        <p:tgtEl>
                                          <p:spTgt spid="57"/>
                                        </p:tgtEl>
                                        <p:attrNameLst>
                                          <p:attrName>ppt_y</p:attrName>
                                        </p:attrNameLst>
                                      </p:cBhvr>
                                      <p:tavLst>
                                        <p:tav tm="0">
                                          <p:val>
                                            <p:strVal val="#ppt_y+0.05"/>
                                          </p:val>
                                        </p:tav>
                                        <p:tav tm="100000">
                                          <p:val>
                                            <p:strVal val="#ppt_y"/>
                                          </p:val>
                                        </p:tav>
                                      </p:tavLst>
                                    </p:anim>
                                  </p:childTnLst>
                                </p:cTn>
                              </p:par>
                              <p:par>
                                <p:cTn id="266" presetID="42" presetClass="entr" presetSubtype="0" fill="hold" grpId="0" nodeType="withEffect" decel="100000">
                                  <p:stCondLst>
                                    <p:cond delay="0"/>
                                  </p:stCondLst>
                                  <p:childTnLst>
                                    <p:set>
                                      <p:cBhvr>
                                        <p:cTn id="262" dur="1" fill="hold">
                                          <p:stCondLst>
                                            <p:cond delay="0"/>
                                          </p:stCondLst>
                                        </p:cTn>
                                        <p:tgtEl>
                                          <p:spTgt spid="58"/>
                                        </p:tgtEl>
                                        <p:attrNameLst>
                                          <p:attrName>style.visibility</p:attrName>
                                        </p:attrNameLst>
                                      </p:cBhvr>
                                      <p:to>
                                        <p:strVal val="visible"/>
                                      </p:to>
                                    </p:set>
                                    <p:animEffect transition="in" filter="fade">
                                      <p:cBhvr>
                                        <p:cTn id="263" dur="500"/>
                                        <p:tgtEl>
                                          <p:spTgt spid="58"/>
                                        </p:tgtEl>
                                      </p:cBhvr>
                                    </p:animEffect>
                                    <p:anim calcmode="lin" valueType="num">
                                      <p:cBhvr>
                                        <p:cTn id="264" dur="500" fill="hold"/>
                                        <p:tgtEl>
                                          <p:spTgt spid="58"/>
                                        </p:tgtEl>
                                        <p:attrNameLst>
                                          <p:attrName>ppt_x</p:attrName>
                                        </p:attrNameLst>
                                      </p:cBhvr>
                                      <p:tavLst>
                                        <p:tav tm="0">
                                          <p:val>
                                            <p:strVal val="#ppt_x"/>
                                          </p:val>
                                        </p:tav>
                                        <p:tav tm="100000">
                                          <p:val>
                                            <p:strVal val="#ppt_x"/>
                                          </p:val>
                                        </p:tav>
                                      </p:tavLst>
                                    </p:anim>
                                    <p:anim calcmode="lin" valueType="num">
                                      <p:cBhvr>
                                        <p:cTn id="265" dur="500" fill="hold"/>
                                        <p:tgtEl>
                                          <p:spTgt spid="58"/>
                                        </p:tgtEl>
                                        <p:attrNameLst>
                                          <p:attrName>ppt_y</p:attrName>
                                        </p:attrNameLst>
                                      </p:cBhvr>
                                      <p:tavLst>
                                        <p:tav tm="0">
                                          <p:val>
                                            <p:strVal val="#ppt_y+0.05"/>
                                          </p:val>
                                        </p:tav>
                                        <p:tav tm="100000">
                                          <p:val>
                                            <p:strVal val="#ppt_y"/>
                                          </p:val>
                                        </p:tav>
                                      </p:tavLst>
                                    </p:anim>
                                  </p:childTnLst>
                                </p:cTn>
                              </p:par>
                              <p:par>
                                <p:cTn id="269" presetID="10" presetClass="entr" presetSubtype="0" fill="hold" grpId="0" nodeType="withEffect" decel="100000">
                                  <p:stCondLst>
                                    <p:cond delay="200"/>
                                  </p:stCondLst>
                                  <p:childTnLst>
                                    <p:set>
                                      <p:cBhvr>
                                        <p:cTn id="267" dur="1" fill="hold">
                                          <p:stCondLst>
                                            <p:cond delay="0"/>
                                          </p:stCondLst>
                                        </p:cTn>
                                        <p:tgtEl>
                                          <p:spTgt spid="59"/>
                                        </p:tgtEl>
                                        <p:attrNameLst>
                                          <p:attrName>style.visibility</p:attrName>
                                        </p:attrNameLst>
                                      </p:cBhvr>
                                      <p:to>
                                        <p:strVal val="visible"/>
                                      </p:to>
                                    </p:set>
                                    <p:animEffect transition="in" filter="fade">
                                      <p:cBhvr>
                                        <p:cTn id="268" dur="500"/>
                                        <p:tgtEl>
                                          <p:spTgt spid="59"/>
                                        </p:tgtEl>
                                      </p:cBhvr>
                                    </p:animEffect>
                                  </p:childTnLst>
                                </p:cTn>
                              </p:par>
                            </p:childTnLst>
                          </p:cTn>
                        </p:par>
                      </p:childTnLst>
                    </p:cTn>
                  </p:par>
                  <p:par>
                    <p:cTn id="295" fill="hold">
                      <p:stCondLst>
                        <p:cond delay="indefinite"/>
                      </p:stCondLst>
                      <p:childTnLst>
                        <p:par>
                          <p:cTn id="296" fill="hold">
                            <p:stCondLst>
                              <p:cond delay="0"/>
                            </p:stCondLst>
                            <p:childTnLst>
                              <p:par>
                                <p:cTn id="276" presetID="42" presetClass="entr" presetSubtype="0" fill="hold" grpId="0" nodeType="clickEffect" decel="100000">
                                  <p:stCondLst>
                                    <p:cond delay="0"/>
                                  </p:stCondLst>
                                  <p:childTnLst>
                                    <p:set>
                                      <p:cBhvr>
                                        <p:cTn id="272" dur="1" fill="hold">
                                          <p:stCondLst>
                                            <p:cond delay="0"/>
                                          </p:stCondLst>
                                        </p:cTn>
                                        <p:tgtEl>
                                          <p:spTgt spid="60"/>
                                        </p:tgtEl>
                                        <p:attrNameLst>
                                          <p:attrName>style.visibility</p:attrName>
                                        </p:attrNameLst>
                                      </p:cBhvr>
                                      <p:to>
                                        <p:strVal val="visible"/>
                                      </p:to>
                                    </p:set>
                                    <p:animEffect transition="in" filter="fade">
                                      <p:cBhvr>
                                        <p:cTn id="273" dur="500"/>
                                        <p:tgtEl>
                                          <p:spTgt spid="60"/>
                                        </p:tgtEl>
                                      </p:cBhvr>
                                    </p:animEffect>
                                    <p:anim calcmode="lin" valueType="num">
                                      <p:cBhvr>
                                        <p:cTn id="274" dur="500" fill="hold"/>
                                        <p:tgtEl>
                                          <p:spTgt spid="60"/>
                                        </p:tgtEl>
                                        <p:attrNameLst>
                                          <p:attrName>ppt_x</p:attrName>
                                        </p:attrNameLst>
                                      </p:cBhvr>
                                      <p:tavLst>
                                        <p:tav tm="0">
                                          <p:val>
                                            <p:strVal val="#ppt_x"/>
                                          </p:val>
                                        </p:tav>
                                        <p:tav tm="100000">
                                          <p:val>
                                            <p:strVal val="#ppt_x"/>
                                          </p:val>
                                        </p:tav>
                                      </p:tavLst>
                                    </p:anim>
                                    <p:anim calcmode="lin" valueType="num">
                                      <p:cBhvr>
                                        <p:cTn id="275" dur="500" fill="hold"/>
                                        <p:tgtEl>
                                          <p:spTgt spid="60"/>
                                        </p:tgtEl>
                                        <p:attrNameLst>
                                          <p:attrName>ppt_y</p:attrName>
                                        </p:attrNameLst>
                                      </p:cBhvr>
                                      <p:tavLst>
                                        <p:tav tm="0">
                                          <p:val>
                                            <p:strVal val="#ppt_y+0.05"/>
                                          </p:val>
                                        </p:tav>
                                        <p:tav tm="100000">
                                          <p:val>
                                            <p:strVal val="#ppt_y"/>
                                          </p:val>
                                        </p:tav>
                                      </p:tavLst>
                                    </p:anim>
                                  </p:childTnLst>
                                </p:cTn>
                              </p:par>
                              <p:par>
                                <p:cTn id="281" presetID="42" presetClass="entr" presetSubtype="0" fill="hold" grpId="0" nodeType="withEffect" decel="100000">
                                  <p:stCondLst>
                                    <p:cond delay="0"/>
                                  </p:stCondLst>
                                  <p:childTnLst>
                                    <p:set>
                                      <p:cBhvr>
                                        <p:cTn id="277" dur="1" fill="hold">
                                          <p:stCondLst>
                                            <p:cond delay="0"/>
                                          </p:stCondLst>
                                        </p:cTn>
                                        <p:tgtEl>
                                          <p:spTgt spid="61"/>
                                        </p:tgtEl>
                                        <p:attrNameLst>
                                          <p:attrName>style.visibility</p:attrName>
                                        </p:attrNameLst>
                                      </p:cBhvr>
                                      <p:to>
                                        <p:strVal val="visible"/>
                                      </p:to>
                                    </p:set>
                                    <p:animEffect transition="in" filter="fade">
                                      <p:cBhvr>
                                        <p:cTn id="278" dur="500"/>
                                        <p:tgtEl>
                                          <p:spTgt spid="61"/>
                                        </p:tgtEl>
                                      </p:cBhvr>
                                    </p:animEffect>
                                    <p:anim calcmode="lin" valueType="num">
                                      <p:cBhvr>
                                        <p:cTn id="279" dur="500" fill="hold"/>
                                        <p:tgtEl>
                                          <p:spTgt spid="61"/>
                                        </p:tgtEl>
                                        <p:attrNameLst>
                                          <p:attrName>ppt_x</p:attrName>
                                        </p:attrNameLst>
                                      </p:cBhvr>
                                      <p:tavLst>
                                        <p:tav tm="0">
                                          <p:val>
                                            <p:strVal val="#ppt_x"/>
                                          </p:val>
                                        </p:tav>
                                        <p:tav tm="100000">
                                          <p:val>
                                            <p:strVal val="#ppt_x"/>
                                          </p:val>
                                        </p:tav>
                                      </p:tavLst>
                                    </p:anim>
                                    <p:anim calcmode="lin" valueType="num">
                                      <p:cBhvr>
                                        <p:cTn id="280" dur="500" fill="hold"/>
                                        <p:tgtEl>
                                          <p:spTgt spid="61"/>
                                        </p:tgtEl>
                                        <p:attrNameLst>
                                          <p:attrName>ppt_y</p:attrName>
                                        </p:attrNameLst>
                                      </p:cBhvr>
                                      <p:tavLst>
                                        <p:tav tm="0">
                                          <p:val>
                                            <p:strVal val="#ppt_y+0.05"/>
                                          </p:val>
                                        </p:tav>
                                        <p:tav tm="100000">
                                          <p:val>
                                            <p:strVal val="#ppt_y"/>
                                          </p:val>
                                        </p:tav>
                                      </p:tavLst>
                                    </p:anim>
                                  </p:childTnLst>
                                </p:cTn>
                              </p:par>
                              <p:par>
                                <p:cTn id="286" presetID="42" presetClass="entr" presetSubtype="0" fill="hold" grpId="0" nodeType="withEffect" decel="100000">
                                  <p:stCondLst>
                                    <p:cond delay="0"/>
                                  </p:stCondLst>
                                  <p:childTnLst>
                                    <p:set>
                                      <p:cBhvr>
                                        <p:cTn id="282" dur="1" fill="hold">
                                          <p:stCondLst>
                                            <p:cond delay="0"/>
                                          </p:stCondLst>
                                        </p:cTn>
                                        <p:tgtEl>
                                          <p:spTgt spid="62"/>
                                        </p:tgtEl>
                                        <p:attrNameLst>
                                          <p:attrName>style.visibility</p:attrName>
                                        </p:attrNameLst>
                                      </p:cBhvr>
                                      <p:to>
                                        <p:strVal val="visible"/>
                                      </p:to>
                                    </p:set>
                                    <p:animEffect transition="in" filter="fade">
                                      <p:cBhvr>
                                        <p:cTn id="283" dur="500"/>
                                        <p:tgtEl>
                                          <p:spTgt spid="62"/>
                                        </p:tgtEl>
                                      </p:cBhvr>
                                    </p:animEffect>
                                    <p:anim calcmode="lin" valueType="num">
                                      <p:cBhvr>
                                        <p:cTn id="284" dur="500" fill="hold"/>
                                        <p:tgtEl>
                                          <p:spTgt spid="62"/>
                                        </p:tgtEl>
                                        <p:attrNameLst>
                                          <p:attrName>ppt_x</p:attrName>
                                        </p:attrNameLst>
                                      </p:cBhvr>
                                      <p:tavLst>
                                        <p:tav tm="0">
                                          <p:val>
                                            <p:strVal val="#ppt_x"/>
                                          </p:val>
                                        </p:tav>
                                        <p:tav tm="100000">
                                          <p:val>
                                            <p:strVal val="#ppt_x"/>
                                          </p:val>
                                        </p:tav>
                                      </p:tavLst>
                                    </p:anim>
                                    <p:anim calcmode="lin" valueType="num">
                                      <p:cBhvr>
                                        <p:cTn id="285" dur="500" fill="hold"/>
                                        <p:tgtEl>
                                          <p:spTgt spid="62"/>
                                        </p:tgtEl>
                                        <p:attrNameLst>
                                          <p:attrName>ppt_y</p:attrName>
                                        </p:attrNameLst>
                                      </p:cBhvr>
                                      <p:tavLst>
                                        <p:tav tm="0">
                                          <p:val>
                                            <p:strVal val="#ppt_y+0.05"/>
                                          </p:val>
                                        </p:tav>
                                        <p:tav tm="100000">
                                          <p:val>
                                            <p:strVal val="#ppt_y"/>
                                          </p:val>
                                        </p:tav>
                                      </p:tavLst>
                                    </p:anim>
                                  </p:childTnLst>
                                </p:cTn>
                              </p:par>
                              <p:par>
                                <p:cTn id="291" presetID="42" presetClass="entr" presetSubtype="0" fill="hold" grpId="0" nodeType="withEffect" decel="100000">
                                  <p:stCondLst>
                                    <p:cond delay="0"/>
                                  </p:stCondLst>
                                  <p:childTnLst>
                                    <p:set>
                                      <p:cBhvr>
                                        <p:cTn id="287" dur="1" fill="hold">
                                          <p:stCondLst>
                                            <p:cond delay="0"/>
                                          </p:stCondLst>
                                        </p:cTn>
                                        <p:tgtEl>
                                          <p:spTgt spid="63"/>
                                        </p:tgtEl>
                                        <p:attrNameLst>
                                          <p:attrName>style.visibility</p:attrName>
                                        </p:attrNameLst>
                                      </p:cBhvr>
                                      <p:to>
                                        <p:strVal val="visible"/>
                                      </p:to>
                                    </p:set>
                                    <p:animEffect transition="in" filter="fade">
                                      <p:cBhvr>
                                        <p:cTn id="288" dur="500"/>
                                        <p:tgtEl>
                                          <p:spTgt spid="63"/>
                                        </p:tgtEl>
                                      </p:cBhvr>
                                    </p:animEffect>
                                    <p:anim calcmode="lin" valueType="num">
                                      <p:cBhvr>
                                        <p:cTn id="289" dur="500" fill="hold"/>
                                        <p:tgtEl>
                                          <p:spTgt spid="63"/>
                                        </p:tgtEl>
                                        <p:attrNameLst>
                                          <p:attrName>ppt_x</p:attrName>
                                        </p:attrNameLst>
                                      </p:cBhvr>
                                      <p:tavLst>
                                        <p:tav tm="0">
                                          <p:val>
                                            <p:strVal val="#ppt_x"/>
                                          </p:val>
                                        </p:tav>
                                        <p:tav tm="100000">
                                          <p:val>
                                            <p:strVal val="#ppt_x"/>
                                          </p:val>
                                        </p:tav>
                                      </p:tavLst>
                                    </p:anim>
                                    <p:anim calcmode="lin" valueType="num">
                                      <p:cBhvr>
                                        <p:cTn id="290" dur="500" fill="hold"/>
                                        <p:tgtEl>
                                          <p:spTgt spid="63"/>
                                        </p:tgtEl>
                                        <p:attrNameLst>
                                          <p:attrName>ppt_y</p:attrName>
                                        </p:attrNameLst>
                                      </p:cBhvr>
                                      <p:tavLst>
                                        <p:tav tm="0">
                                          <p:val>
                                            <p:strVal val="#ppt_y+0.05"/>
                                          </p:val>
                                        </p:tav>
                                        <p:tav tm="100000">
                                          <p:val>
                                            <p:strVal val="#ppt_y"/>
                                          </p:val>
                                        </p:tav>
                                      </p:tavLst>
                                    </p:anim>
                                  </p:childTnLst>
                                </p:cTn>
                              </p:par>
                              <p:par>
                                <p:cTn id="294" presetID="10" presetClass="entr" presetSubtype="0" fill="hold" grpId="0" nodeType="withEffect" decel="100000">
                                  <p:stCondLst>
                                    <p:cond delay="200"/>
                                  </p:stCondLst>
                                  <p:childTnLst>
                                    <p:set>
                                      <p:cBhvr>
                                        <p:cTn id="292" dur="1" fill="hold">
                                          <p:stCondLst>
                                            <p:cond delay="0"/>
                                          </p:stCondLst>
                                        </p:cTn>
                                        <p:tgtEl>
                                          <p:spTgt spid="64"/>
                                        </p:tgtEl>
                                        <p:attrNameLst>
                                          <p:attrName>style.visibility</p:attrName>
                                        </p:attrNameLst>
                                      </p:cBhvr>
                                      <p:to>
                                        <p:strVal val="visible"/>
                                      </p:to>
                                    </p:set>
                                    <p:animEffect transition="in" filter="fade">
                                      <p:cBhvr>
                                        <p:cTn id="293" dur="500"/>
                                        <p:tgtEl>
                                          <p:spTgt spid="64"/>
                                        </p:tgtEl>
                                      </p:cBhvr>
                                    </p:animEffect>
                                  </p:childTnLst>
                                </p:cTn>
                              </p:par>
                            </p:childTnLst>
                          </p:cTn>
                        </p:par>
                      </p:childTnLst>
                    </p:cTn>
                  </p:par>
                  <p:par>
                    <p:cTn id="312" fill="hold">
                      <p:stCondLst>
                        <p:cond delay="indefinite"/>
                      </p:stCondLst>
                      <p:childTnLst>
                        <p:par>
                          <p:cTn id="313" fill="hold">
                            <p:stCondLst>
                              <p:cond delay="0"/>
                            </p:stCondLst>
                            <p:childTnLst>
                              <p:par>
                                <p:cTn id="301" presetID="53" presetClass="entr" presetSubtype="16" fill="hold" grpId="0" nodeType="clickEffect" decel="100000">
                                  <p:stCondLst>
                                    <p:cond delay="0"/>
                                  </p:stCondLst>
                                  <p:childTnLst>
                                    <p:set>
                                      <p:cBhvr>
                                        <p:cTn id="297" dur="1" fill="hold">
                                          <p:stCondLst>
                                            <p:cond delay="0"/>
                                          </p:stCondLst>
                                        </p:cTn>
                                        <p:tgtEl>
                                          <p:spTgt spid="65"/>
                                        </p:tgtEl>
                                        <p:attrNameLst>
                                          <p:attrName>style.visibility</p:attrName>
                                        </p:attrNameLst>
                                      </p:cBhvr>
                                      <p:to>
                                        <p:strVal val="visible"/>
                                      </p:to>
                                    </p:set>
                                    <p:anim calcmode="lin" valueType="num">
                                      <p:cBhvr>
                                        <p:cTn id="298" dur="500" fill="hold"/>
                                        <p:tgtEl>
                                          <p:spTgt spid="65"/>
                                        </p:tgtEl>
                                        <p:attrNameLst>
                                          <p:attrName>ppt_w</p:attrName>
                                        </p:attrNameLst>
                                      </p:cBhvr>
                                      <p:tavLst>
                                        <p:tav tm="0">
                                          <p:val>
                                            <p:strVal val="#ppt_w*0.70"/>
                                          </p:val>
                                        </p:tav>
                                        <p:tav tm="100000">
                                          <p:val>
                                            <p:strVal val="#ppt_w"/>
                                          </p:val>
                                        </p:tav>
                                      </p:tavLst>
                                    </p:anim>
                                    <p:anim calcmode="lin" valueType="num">
                                      <p:cBhvr>
                                        <p:cTn id="299" dur="500" fill="hold"/>
                                        <p:tgtEl>
                                          <p:spTgt spid="65"/>
                                        </p:tgtEl>
                                        <p:attrNameLst>
                                          <p:attrName>ppt_h</p:attrName>
                                        </p:attrNameLst>
                                      </p:cBhvr>
                                      <p:tavLst>
                                        <p:tav tm="0">
                                          <p:val>
                                            <p:strVal val="#ppt_h*0.70"/>
                                          </p:val>
                                        </p:tav>
                                        <p:tav tm="100000">
                                          <p:val>
                                            <p:strVal val="#ppt_h"/>
                                          </p:val>
                                        </p:tav>
                                      </p:tavLst>
                                    </p:anim>
                                    <p:animEffect transition="in" filter="fade">
                                      <p:cBhvr>
                                        <p:cTn id="300" dur="500"/>
                                        <p:tgtEl>
                                          <p:spTgt spid="65"/>
                                        </p:tgtEl>
                                      </p:cBhvr>
                                    </p:animEffect>
                                  </p:childTnLst>
                                </p:cTn>
                              </p:par>
                              <p:par>
                                <p:cTn id="306" presetID="53" presetClass="entr" presetSubtype="16" fill="hold" grpId="0" nodeType="withEffect" decel="100000">
                                  <p:stCondLst>
                                    <p:cond delay="0"/>
                                  </p:stCondLst>
                                  <p:childTnLst>
                                    <p:set>
                                      <p:cBhvr>
                                        <p:cTn id="302" dur="1" fill="hold">
                                          <p:stCondLst>
                                            <p:cond delay="0"/>
                                          </p:stCondLst>
                                        </p:cTn>
                                        <p:tgtEl>
                                          <p:spTgt spid="66"/>
                                        </p:tgtEl>
                                        <p:attrNameLst>
                                          <p:attrName>style.visibility</p:attrName>
                                        </p:attrNameLst>
                                      </p:cBhvr>
                                      <p:to>
                                        <p:strVal val="visible"/>
                                      </p:to>
                                    </p:set>
                                    <p:anim calcmode="lin" valueType="num">
                                      <p:cBhvr>
                                        <p:cTn id="303" dur="500" fill="hold"/>
                                        <p:tgtEl>
                                          <p:spTgt spid="66"/>
                                        </p:tgtEl>
                                        <p:attrNameLst>
                                          <p:attrName>ppt_w</p:attrName>
                                        </p:attrNameLst>
                                      </p:cBhvr>
                                      <p:tavLst>
                                        <p:tav tm="0">
                                          <p:val>
                                            <p:strVal val="#ppt_w*0.70"/>
                                          </p:val>
                                        </p:tav>
                                        <p:tav tm="100000">
                                          <p:val>
                                            <p:strVal val="#ppt_w"/>
                                          </p:val>
                                        </p:tav>
                                      </p:tavLst>
                                    </p:anim>
                                    <p:anim calcmode="lin" valueType="num">
                                      <p:cBhvr>
                                        <p:cTn id="304" dur="500" fill="hold"/>
                                        <p:tgtEl>
                                          <p:spTgt spid="66"/>
                                        </p:tgtEl>
                                        <p:attrNameLst>
                                          <p:attrName>ppt_h</p:attrName>
                                        </p:attrNameLst>
                                      </p:cBhvr>
                                      <p:tavLst>
                                        <p:tav tm="0">
                                          <p:val>
                                            <p:strVal val="#ppt_h*0.70"/>
                                          </p:val>
                                        </p:tav>
                                        <p:tav tm="100000">
                                          <p:val>
                                            <p:strVal val="#ppt_h"/>
                                          </p:val>
                                        </p:tav>
                                      </p:tavLst>
                                    </p:anim>
                                    <p:animEffect transition="in" filter="fade">
                                      <p:cBhvr>
                                        <p:cTn id="305" dur="500"/>
                                        <p:tgtEl>
                                          <p:spTgt spid="66"/>
                                        </p:tgtEl>
                                      </p:cBhvr>
                                    </p:animEffect>
                                  </p:childTnLst>
                                </p:cTn>
                              </p:par>
                              <p:par>
                                <p:cTn id="311" presetID="53" presetClass="entr" presetSubtype="16" fill="hold" grpId="0" nodeType="withEffect" decel="100000">
                                  <p:stCondLst>
                                    <p:cond delay="0"/>
                                  </p:stCondLst>
                                  <p:childTnLst>
                                    <p:set>
                                      <p:cBhvr>
                                        <p:cTn id="307" dur="1" fill="hold">
                                          <p:stCondLst>
                                            <p:cond delay="0"/>
                                          </p:stCondLst>
                                        </p:cTn>
                                        <p:tgtEl>
                                          <p:spTgt spid="67"/>
                                        </p:tgtEl>
                                        <p:attrNameLst>
                                          <p:attrName>style.visibility</p:attrName>
                                        </p:attrNameLst>
                                      </p:cBhvr>
                                      <p:to>
                                        <p:strVal val="visible"/>
                                      </p:to>
                                    </p:set>
                                    <p:anim calcmode="lin" valueType="num">
                                      <p:cBhvr>
                                        <p:cTn id="308" dur="500" fill="hold"/>
                                        <p:tgtEl>
                                          <p:spTgt spid="67"/>
                                        </p:tgtEl>
                                        <p:attrNameLst>
                                          <p:attrName>ppt_w</p:attrName>
                                        </p:attrNameLst>
                                      </p:cBhvr>
                                      <p:tavLst>
                                        <p:tav tm="0">
                                          <p:val>
                                            <p:strVal val="#ppt_w*0.70"/>
                                          </p:val>
                                        </p:tav>
                                        <p:tav tm="100000">
                                          <p:val>
                                            <p:strVal val="#ppt_w"/>
                                          </p:val>
                                        </p:tav>
                                      </p:tavLst>
                                    </p:anim>
                                    <p:anim calcmode="lin" valueType="num">
                                      <p:cBhvr>
                                        <p:cTn id="309" dur="500" fill="hold"/>
                                        <p:tgtEl>
                                          <p:spTgt spid="67"/>
                                        </p:tgtEl>
                                        <p:attrNameLst>
                                          <p:attrName>ppt_h</p:attrName>
                                        </p:attrNameLst>
                                      </p:cBhvr>
                                      <p:tavLst>
                                        <p:tav tm="0">
                                          <p:val>
                                            <p:strVal val="#ppt_h*0.70"/>
                                          </p:val>
                                        </p:tav>
                                        <p:tav tm="100000">
                                          <p:val>
                                            <p:strVal val="#ppt_h"/>
                                          </p:val>
                                        </p:tav>
                                      </p:tavLst>
                                    </p:anim>
                                    <p:animEffect transition="in" filter="fade">
                                      <p:cBhvr>
                                        <p:cTn id="310"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3" name="txt_11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1 · PRICING</a:t>
            </a:r>
            <a:endParaRPr lang="en-US" sz="1100" dirty="0"/>
          </a:p>
        </p:txBody>
      </p:sp>
      <p:sp>
        <p:nvSpPr>
          <p:cNvPr id="4" name="txt_11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M2 — Gradient Boosting, Tree by Tree</a:t>
            </a:r>
            <a:endParaRPr lang="en-US" sz="3200" dirty="0"/>
          </a:p>
        </p:txBody>
      </p:sp>
      <p:sp>
        <p:nvSpPr>
          <p:cNvPr id="5" name="txt_11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Trained on shipment features and actual freight prices, the model predicts a price for any new shipment.</a:t>
            </a:r>
            <a:endParaRPr lang="en-US" sz="1500" dirty="0"/>
          </a:p>
        </p:txBody>
      </p:sp>
      <p:sp>
        <p:nvSpPr>
          <p:cNvPr id="6" name="shp_11_3"/>
          <p:cNvSpPr/>
          <p:nvPr/>
        </p:nvSpPr>
        <p:spPr>
          <a:xfrm>
            <a:off x="548640" y="1874520"/>
            <a:ext cx="11094415" cy="914400"/>
          </a:xfrm>
          <a:prstGeom prst="roundRect">
            <a:avLst>
              <a:gd name="adj" fmla="val 10000"/>
            </a:avLst>
          </a:prstGeom>
          <a:solidFill>
            <a:srgbClr val="112038"/>
          </a:solidFill>
          <a:ln w="9525">
            <a:solidFill>
              <a:srgbClr val="243A5E"/>
            </a:solidFill>
            <a:prstDash val="solid"/>
          </a:ln>
        </p:spPr>
      </p:sp>
      <p:sp>
        <p:nvSpPr>
          <p:cNvPr id="7" name="shp_11_4"/>
          <p:cNvSpPr/>
          <p:nvPr/>
        </p:nvSpPr>
        <p:spPr>
          <a:xfrm>
            <a:off x="822960" y="2057400"/>
            <a:ext cx="548640" cy="548640"/>
          </a:xfrm>
          <a:prstGeom prst="ellipse">
            <a:avLst/>
          </a:prstGeom>
          <a:solidFill>
            <a:srgbClr val="3B2A0C"/>
          </a:solidFill>
          <a:ln w="9525">
            <a:solidFill>
              <a:srgbClr val="F5A524"/>
            </a:solidFill>
            <a:prstDash val="solid"/>
          </a:ln>
        </p:spPr>
      </p:sp>
      <p:pic>
        <p:nvPicPr>
          <p:cNvPr id="8" name="img_11_5" descr="preencoded.png">    </p:cNvPr>
          <p:cNvPicPr>
            <a:picLocks noChangeAspect="1"/>
          </p:cNvPicPr>
          <p:nvPr/>
        </p:nvPicPr>
        <p:blipFill>
          <a:blip r:embed="rId1"/>
          <a:stretch>
            <a:fillRect/>
          </a:stretch>
        </p:blipFill>
        <p:spPr>
          <a:xfrm>
            <a:off x="954634" y="2189074"/>
            <a:ext cx="285293" cy="285293"/>
          </a:xfrm>
          <a:prstGeom prst="rect">
            <a:avLst/>
          </a:prstGeom>
        </p:spPr>
      </p:pic>
      <p:sp>
        <p:nvSpPr>
          <p:cNvPr id="9" name="txt_11_6"/>
          <p:cNvSpPr txBox="1"/>
          <p:nvPr/>
        </p:nvSpPr>
        <p:spPr>
          <a:xfrm>
            <a:off x="1554480" y="1993392"/>
            <a:ext cx="4937760" cy="32918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Training data  </a:t>
            </a:r>
            <a:pPr indent="0" marL="0">
              <a:buNone/>
            </a:pPr>
            <a:r>
              <a:rPr lang="en-US" sz="1500" dirty="0">
                <a:solidFill>
                  <a:srgbClr val="AEBBCF"/>
                </a:solidFill>
                <a:latin typeface="Calibri" pitchFamily="34" charset="0"/>
                <a:ea typeface="Calibri" pitchFamily="34" charset="-122"/>
                <a:cs typeface="Calibri" pitchFamily="34" charset="-120"/>
              </a:rPr>
              <a:t>shipment features + actual freight prices</a:t>
            </a:r>
            <a:endParaRPr lang="en-US" sz="1500" dirty="0"/>
          </a:p>
        </p:txBody>
      </p:sp>
      <p:sp>
        <p:nvSpPr>
          <p:cNvPr id="10" name="txt_11_7"/>
          <p:cNvSpPr txBox="1"/>
          <p:nvPr/>
        </p:nvSpPr>
        <p:spPr>
          <a:xfrm>
            <a:off x="1554480" y="2331720"/>
            <a:ext cx="5760720" cy="329184"/>
          </a:xfrm>
          <a:prstGeom prst="rect">
            <a:avLst/>
          </a:prstGeom>
          <a:noFill/>
          <a:ln/>
        </p:spPr>
        <p:txBody>
          <a:bodyPr wrap="square" lIns="0" tIns="0" rIns="0" bIns="0" rtlCol="0" anchor="t"/>
          <a:lstStyle/>
          <a:p>
            <a:pPr indent="0" marL="0">
              <a:buNone/>
            </a:pPr>
            <a:r>
              <a:rPr lang="en-US" sz="1250" dirty="0">
                <a:solidFill>
                  <a:srgbClr val="71819A"/>
                </a:solidFill>
                <a:latin typeface="Calibri" pitchFamily="34" charset="0"/>
                <a:ea typeface="Calibri" pitchFamily="34" charset="-122"/>
                <a:cs typeface="Calibri" pitchFamily="34" charset="-120"/>
              </a:rPr>
              <a:t>The model learns relationships between shipment characteristics and historical prices.</a:t>
            </a:r>
            <a:endParaRPr lang="en-US" sz="1250" dirty="0"/>
          </a:p>
        </p:txBody>
      </p:sp>
      <p:sp>
        <p:nvSpPr>
          <p:cNvPr id="11" name="txt_11_8"/>
          <p:cNvSpPr txBox="1"/>
          <p:nvPr/>
        </p:nvSpPr>
        <p:spPr>
          <a:xfrm>
            <a:off x="7132320" y="1993392"/>
            <a:ext cx="4236415" cy="685800"/>
          </a:xfrm>
          <a:prstGeom prst="rect">
            <a:avLst/>
          </a:prstGeom>
          <a:noFill/>
          <a:ln/>
        </p:spPr>
        <p:txBody>
          <a:bodyPr wrap="square" lIns="0" tIns="0" rIns="0" bIns="0" rtlCol="0" anchor="t"/>
          <a:lstStyle/>
          <a:p>
            <a:pPr algn="r" indent="0" marL="0">
              <a:buNone/>
            </a:pPr>
            <a:r>
              <a:rPr lang="en-US" sz="1600" b="1" dirty="0">
                <a:solidFill>
                  <a:srgbClr val="F5A524"/>
                </a:solidFill>
                <a:latin typeface="Calibri" pitchFamily="34" charset="0"/>
                <a:ea typeface="Calibri" pitchFamily="34" charset="-122"/>
                <a:cs typeface="Calibri" pitchFamily="34" charset="-120"/>
              </a:rPr>
              <a:t>Gradient Boosting Regressor</a:t>
            </a:r>
            <a:endParaRPr lang="en-US" sz="1600" dirty="0"/>
          </a:p>
          <a:p>
            <a:pPr algn="r" indent="0" marL="0">
              <a:buNone/>
            </a:pPr>
            <a:r>
              <a:rPr lang="en-US" sz="1250" dirty="0">
                <a:solidFill>
                  <a:srgbClr val="AEBBCF"/>
                </a:solidFill>
                <a:latin typeface="Calibri" pitchFamily="34" charset="0"/>
                <a:ea typeface="Calibri" pitchFamily="34" charset="-122"/>
                <a:cs typeface="Calibri" pitchFamily="34" charset="-120"/>
              </a:rPr>
              <a:t>Think of it as a series of small decision trees.</a:t>
            </a:r>
            <a:endParaRPr lang="en-US" sz="1600" dirty="0"/>
          </a:p>
        </p:txBody>
      </p:sp>
      <p:sp>
        <p:nvSpPr>
          <p:cNvPr id="12" name="shp_11_9"/>
          <p:cNvSpPr/>
          <p:nvPr/>
        </p:nvSpPr>
        <p:spPr>
          <a:xfrm>
            <a:off x="548640" y="3063240"/>
            <a:ext cx="2464994" cy="1463040"/>
          </a:xfrm>
          <a:prstGeom prst="roundRect">
            <a:avLst>
              <a:gd name="adj" fmla="val 6250"/>
            </a:avLst>
          </a:prstGeom>
          <a:solidFill>
            <a:srgbClr val="112038"/>
          </a:solidFill>
          <a:ln w="9525">
            <a:solidFill>
              <a:srgbClr val="243A5E"/>
            </a:solidFill>
            <a:prstDash val="solid"/>
          </a:ln>
        </p:spPr>
      </p:sp>
      <p:pic>
        <p:nvPicPr>
          <p:cNvPr id="13" name="img_11_10" descr="preencoded.png">    </p:cNvPr>
          <p:cNvPicPr>
            <a:picLocks noChangeAspect="1"/>
          </p:cNvPicPr>
          <p:nvPr/>
        </p:nvPicPr>
        <p:blipFill>
          <a:blip r:embed="rId2"/>
          <a:stretch>
            <a:fillRect/>
          </a:stretch>
        </p:blipFill>
        <p:spPr>
          <a:xfrm>
            <a:off x="822960" y="3319272"/>
            <a:ext cx="438912" cy="438912"/>
          </a:xfrm>
          <a:prstGeom prst="rect">
            <a:avLst/>
          </a:prstGeom>
        </p:spPr>
      </p:pic>
      <p:sp>
        <p:nvSpPr>
          <p:cNvPr id="14" name="txt_11_11"/>
          <p:cNvSpPr txBox="1"/>
          <p:nvPr/>
        </p:nvSpPr>
        <p:spPr>
          <a:xfrm>
            <a:off x="1417320" y="3319272"/>
            <a:ext cx="1459154"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Tree 1</a:t>
            </a:r>
            <a:endParaRPr lang="en-US" sz="1700" dirty="0"/>
          </a:p>
        </p:txBody>
      </p:sp>
      <p:sp>
        <p:nvSpPr>
          <p:cNvPr id="15" name="txt_11_12"/>
          <p:cNvSpPr txBox="1"/>
          <p:nvPr/>
        </p:nvSpPr>
        <p:spPr>
          <a:xfrm>
            <a:off x="822960" y="3886200"/>
            <a:ext cx="2007794" cy="5486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Makes an initial prediction.</a:t>
            </a:r>
            <a:endParaRPr lang="en-US" sz="1250" dirty="0"/>
          </a:p>
        </p:txBody>
      </p:sp>
      <p:sp>
        <p:nvSpPr>
          <p:cNvPr id="16" name="shp_11_13"/>
          <p:cNvSpPr/>
          <p:nvPr/>
        </p:nvSpPr>
        <p:spPr>
          <a:xfrm>
            <a:off x="3077642" y="3794760"/>
            <a:ext cx="283464" cy="0"/>
          </a:xfrm>
          <a:prstGeom prst="line">
            <a:avLst/>
          </a:prstGeom>
          <a:noFill/>
          <a:ln w="19050">
            <a:solidFill>
              <a:srgbClr val="F5A524"/>
            </a:solidFill>
            <a:prstDash val="solid"/>
            <a:tailEnd type="triangle"/>
          </a:ln>
        </p:spPr>
      </p:sp>
      <p:sp>
        <p:nvSpPr>
          <p:cNvPr id="17" name="shp_11_14"/>
          <p:cNvSpPr/>
          <p:nvPr/>
        </p:nvSpPr>
        <p:spPr>
          <a:xfrm>
            <a:off x="3425114" y="3063240"/>
            <a:ext cx="2464994" cy="1463040"/>
          </a:xfrm>
          <a:prstGeom prst="roundRect">
            <a:avLst>
              <a:gd name="adj" fmla="val 6250"/>
            </a:avLst>
          </a:prstGeom>
          <a:solidFill>
            <a:srgbClr val="112038"/>
          </a:solidFill>
          <a:ln w="9525">
            <a:solidFill>
              <a:srgbClr val="243A5E"/>
            </a:solidFill>
            <a:prstDash val="solid"/>
          </a:ln>
        </p:spPr>
      </p:sp>
      <p:pic>
        <p:nvPicPr>
          <p:cNvPr id="18" name="img_11_15" descr="preencoded.png">    </p:cNvPr>
          <p:cNvPicPr>
            <a:picLocks noChangeAspect="1"/>
          </p:cNvPicPr>
          <p:nvPr/>
        </p:nvPicPr>
        <p:blipFill>
          <a:blip r:embed="rId3"/>
          <a:stretch>
            <a:fillRect/>
          </a:stretch>
        </p:blipFill>
        <p:spPr>
          <a:xfrm>
            <a:off x="3699434" y="3319272"/>
            <a:ext cx="438912" cy="438912"/>
          </a:xfrm>
          <a:prstGeom prst="rect">
            <a:avLst/>
          </a:prstGeom>
        </p:spPr>
      </p:pic>
      <p:sp>
        <p:nvSpPr>
          <p:cNvPr id="19" name="txt_11_16"/>
          <p:cNvSpPr txBox="1"/>
          <p:nvPr/>
        </p:nvSpPr>
        <p:spPr>
          <a:xfrm>
            <a:off x="4293794" y="3319272"/>
            <a:ext cx="1459154"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Tree 2</a:t>
            </a:r>
            <a:endParaRPr lang="en-US" sz="1700" dirty="0"/>
          </a:p>
        </p:txBody>
      </p:sp>
      <p:sp>
        <p:nvSpPr>
          <p:cNvPr id="20" name="txt_11_17"/>
          <p:cNvSpPr txBox="1"/>
          <p:nvPr/>
        </p:nvSpPr>
        <p:spPr>
          <a:xfrm>
            <a:off x="3699434" y="3886200"/>
            <a:ext cx="2007794" cy="5486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Learns to reduce the errors left by the earlier tree.</a:t>
            </a:r>
            <a:endParaRPr lang="en-US" sz="1250" dirty="0"/>
          </a:p>
        </p:txBody>
      </p:sp>
      <p:sp>
        <p:nvSpPr>
          <p:cNvPr id="21" name="shp_11_18"/>
          <p:cNvSpPr/>
          <p:nvPr/>
        </p:nvSpPr>
        <p:spPr>
          <a:xfrm>
            <a:off x="5954116" y="3794760"/>
            <a:ext cx="283464" cy="0"/>
          </a:xfrm>
          <a:prstGeom prst="line">
            <a:avLst/>
          </a:prstGeom>
          <a:noFill/>
          <a:ln w="19050">
            <a:solidFill>
              <a:srgbClr val="F5A524"/>
            </a:solidFill>
            <a:prstDash val="solid"/>
            <a:tailEnd type="triangle"/>
          </a:ln>
        </p:spPr>
      </p:sp>
      <p:sp>
        <p:nvSpPr>
          <p:cNvPr id="22" name="shp_11_19"/>
          <p:cNvSpPr/>
          <p:nvPr/>
        </p:nvSpPr>
        <p:spPr>
          <a:xfrm>
            <a:off x="6301588" y="3063240"/>
            <a:ext cx="2464994" cy="1463040"/>
          </a:xfrm>
          <a:prstGeom prst="roundRect">
            <a:avLst>
              <a:gd name="adj" fmla="val 6250"/>
            </a:avLst>
          </a:prstGeom>
          <a:solidFill>
            <a:srgbClr val="112038"/>
          </a:solidFill>
          <a:ln w="9525">
            <a:solidFill>
              <a:srgbClr val="243A5E"/>
            </a:solidFill>
            <a:prstDash val="solid"/>
          </a:ln>
        </p:spPr>
      </p:sp>
      <p:pic>
        <p:nvPicPr>
          <p:cNvPr id="23" name="img_11_20" descr="preencoded.png">    </p:cNvPr>
          <p:cNvPicPr>
            <a:picLocks noChangeAspect="1"/>
          </p:cNvPicPr>
          <p:nvPr/>
        </p:nvPicPr>
        <p:blipFill>
          <a:blip r:embed="rId4"/>
          <a:stretch>
            <a:fillRect/>
          </a:stretch>
        </p:blipFill>
        <p:spPr>
          <a:xfrm>
            <a:off x="6575908" y="3319272"/>
            <a:ext cx="438912" cy="438912"/>
          </a:xfrm>
          <a:prstGeom prst="rect">
            <a:avLst/>
          </a:prstGeom>
        </p:spPr>
      </p:pic>
      <p:sp>
        <p:nvSpPr>
          <p:cNvPr id="24" name="txt_11_21"/>
          <p:cNvSpPr txBox="1"/>
          <p:nvPr/>
        </p:nvSpPr>
        <p:spPr>
          <a:xfrm>
            <a:off x="7170268" y="3319272"/>
            <a:ext cx="1459154"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Tree 3, 4 …</a:t>
            </a:r>
            <a:endParaRPr lang="en-US" sz="1700" dirty="0"/>
          </a:p>
        </p:txBody>
      </p:sp>
      <p:sp>
        <p:nvSpPr>
          <p:cNvPr id="25" name="txt_11_22"/>
          <p:cNvSpPr txBox="1"/>
          <p:nvPr/>
        </p:nvSpPr>
        <p:spPr>
          <a:xfrm>
            <a:off x="6575908" y="3886200"/>
            <a:ext cx="2007794" cy="5486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Each tree fits the errors that remain.</a:t>
            </a:r>
            <a:endParaRPr lang="en-US" sz="1250" dirty="0"/>
          </a:p>
        </p:txBody>
      </p:sp>
      <p:sp>
        <p:nvSpPr>
          <p:cNvPr id="26" name="shp_11_23"/>
          <p:cNvSpPr/>
          <p:nvPr/>
        </p:nvSpPr>
        <p:spPr>
          <a:xfrm>
            <a:off x="8830589" y="3794760"/>
            <a:ext cx="283464" cy="0"/>
          </a:xfrm>
          <a:prstGeom prst="line">
            <a:avLst/>
          </a:prstGeom>
          <a:noFill/>
          <a:ln w="19050">
            <a:solidFill>
              <a:srgbClr val="F5A524"/>
            </a:solidFill>
            <a:prstDash val="solid"/>
            <a:tailEnd type="triangle"/>
          </a:ln>
        </p:spPr>
      </p:sp>
      <p:sp>
        <p:nvSpPr>
          <p:cNvPr id="27" name="shp_11_24"/>
          <p:cNvSpPr/>
          <p:nvPr/>
        </p:nvSpPr>
        <p:spPr>
          <a:xfrm>
            <a:off x="9178061" y="3063240"/>
            <a:ext cx="2464994" cy="1463040"/>
          </a:xfrm>
          <a:prstGeom prst="roundRect">
            <a:avLst>
              <a:gd name="adj" fmla="val 6250"/>
            </a:avLst>
          </a:prstGeom>
          <a:solidFill>
            <a:srgbClr val="15294A"/>
          </a:solidFill>
          <a:ln w="9525">
            <a:solidFill>
              <a:srgbClr val="F5A524"/>
            </a:solidFill>
            <a:prstDash val="solid"/>
          </a:ln>
        </p:spPr>
      </p:sp>
      <p:pic>
        <p:nvPicPr>
          <p:cNvPr id="28" name="img_11_25" descr="preencoded.png">    </p:cNvPr>
          <p:cNvPicPr>
            <a:picLocks noChangeAspect="1"/>
          </p:cNvPicPr>
          <p:nvPr/>
        </p:nvPicPr>
        <p:blipFill>
          <a:blip r:embed="rId5"/>
          <a:stretch>
            <a:fillRect/>
          </a:stretch>
        </p:blipFill>
        <p:spPr>
          <a:xfrm>
            <a:off x="9452381" y="3319272"/>
            <a:ext cx="438912" cy="438912"/>
          </a:xfrm>
          <a:prstGeom prst="rect">
            <a:avLst/>
          </a:prstGeom>
        </p:spPr>
      </p:pic>
      <p:sp>
        <p:nvSpPr>
          <p:cNvPr id="29" name="txt_11_26"/>
          <p:cNvSpPr txBox="1"/>
          <p:nvPr/>
        </p:nvSpPr>
        <p:spPr>
          <a:xfrm>
            <a:off x="10046741" y="3319272"/>
            <a:ext cx="1459154"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Tree 200</a:t>
            </a:r>
            <a:endParaRPr lang="en-US" sz="1700" dirty="0"/>
          </a:p>
        </p:txBody>
      </p:sp>
      <p:sp>
        <p:nvSpPr>
          <p:cNvPr id="30" name="txt_11_27"/>
          <p:cNvSpPr txBox="1"/>
          <p:nvPr/>
        </p:nvSpPr>
        <p:spPr>
          <a:xfrm>
            <a:off x="9452381" y="3886200"/>
            <a:ext cx="2007794" cy="5486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The combined prediction is the final price.</a:t>
            </a:r>
            <a:endParaRPr lang="en-US" sz="1250" dirty="0"/>
          </a:p>
        </p:txBody>
      </p:sp>
      <p:sp>
        <p:nvSpPr>
          <p:cNvPr id="31" name="shp_11_28"/>
          <p:cNvSpPr/>
          <p:nvPr/>
        </p:nvSpPr>
        <p:spPr>
          <a:xfrm>
            <a:off x="548640" y="4800600"/>
            <a:ext cx="11094415" cy="1280160"/>
          </a:xfrm>
          <a:prstGeom prst="roundRect">
            <a:avLst>
              <a:gd name="adj" fmla="val 7143"/>
            </a:avLst>
          </a:prstGeom>
          <a:solidFill>
            <a:srgbClr val="3B2A0C"/>
          </a:solidFill>
          <a:ln w="19050">
            <a:solidFill>
              <a:srgbClr val="F5A524"/>
            </a:solidFill>
            <a:prstDash val="solid"/>
          </a:ln>
        </p:spPr>
      </p:sp>
      <p:sp>
        <p:nvSpPr>
          <p:cNvPr id="32" name="txt_11_29"/>
          <p:cNvSpPr txBox="1"/>
          <p:nvPr/>
        </p:nvSpPr>
        <p:spPr>
          <a:xfrm>
            <a:off x="868680" y="4937760"/>
            <a:ext cx="2743200" cy="256032"/>
          </a:xfrm>
          <a:prstGeom prst="rect">
            <a:avLst/>
          </a:prstGeom>
          <a:noFill/>
          <a:ln/>
        </p:spPr>
        <p:txBody>
          <a:bodyPr wrap="square" lIns="0" tIns="0" rIns="0" bIns="0" rtlCol="0" anchor="t"/>
          <a:lstStyle/>
          <a:p>
            <a:pPr indent="0" marL="0">
              <a:buNone/>
            </a:pPr>
            <a:r>
              <a:rPr lang="en-US" sz="1100" b="1" spc="200" kern="0" dirty="0">
                <a:solidFill>
                  <a:srgbClr val="F5A524"/>
                </a:solidFill>
                <a:latin typeface="Calibri" pitchFamily="34" charset="0"/>
                <a:ea typeface="Calibri" pitchFamily="34" charset="-122"/>
                <a:cs typeface="Calibri" pitchFamily="34" charset="-120"/>
              </a:rPr>
              <a:t>FINAL PREDICTION</a:t>
            </a:r>
            <a:endParaRPr lang="en-US" sz="1100" dirty="0"/>
          </a:p>
        </p:txBody>
      </p:sp>
      <p:sp>
        <p:nvSpPr>
          <p:cNvPr id="33" name="txt_11_30"/>
          <p:cNvSpPr txBox="1"/>
          <p:nvPr/>
        </p:nvSpPr>
        <p:spPr>
          <a:xfrm>
            <a:off x="868680" y="5230368"/>
            <a:ext cx="4206240" cy="548640"/>
          </a:xfrm>
          <a:prstGeom prst="rect">
            <a:avLst/>
          </a:prstGeom>
          <a:noFill/>
          <a:ln/>
        </p:spPr>
        <p:txBody>
          <a:bodyPr wrap="square" lIns="0" tIns="0" rIns="0" bIns="0" rtlCol="0" anchor="t"/>
          <a:lstStyle/>
          <a:p>
            <a:pPr indent="0" marL="0">
              <a:buNone/>
            </a:pPr>
            <a:r>
              <a:rPr lang="en-US" sz="2800" dirty="0">
                <a:solidFill>
                  <a:srgbClr val="FFFFFF"/>
                </a:solidFill>
                <a:latin typeface="Cambria Math" pitchFamily="34" charset="0"/>
                <a:ea typeface="Cambria Math" pitchFamily="34" charset="-122"/>
                <a:cs typeface="Cambria Math" pitchFamily="34" charset="-120"/>
              </a:rPr>
              <a:t>ŷ = F₀(x) + η · Σ hₜ(x)</a:t>
            </a:r>
            <a:endParaRPr lang="en-US" sz="2800" dirty="0"/>
          </a:p>
        </p:txBody>
      </p:sp>
      <p:sp>
        <p:nvSpPr>
          <p:cNvPr id="34" name="txt_11_31"/>
          <p:cNvSpPr txBox="1"/>
          <p:nvPr/>
        </p:nvSpPr>
        <p:spPr>
          <a:xfrm>
            <a:off x="868680" y="5760720"/>
            <a:ext cx="2743200" cy="237744"/>
          </a:xfrm>
          <a:prstGeom prst="rect">
            <a:avLst/>
          </a:prstGeom>
          <a:noFill/>
          <a:ln/>
        </p:spPr>
        <p:txBody>
          <a:bodyPr wrap="square" lIns="0" tIns="0" rIns="0" bIns="0" rtlCol="0" anchor="t"/>
          <a:lstStyle/>
          <a:p>
            <a:pPr indent="0" marL="0">
              <a:buNone/>
            </a:pPr>
            <a:r>
              <a:rPr lang="en-US" sz="1100" dirty="0">
                <a:solidFill>
                  <a:srgbClr val="AEBBCF"/>
                </a:solidFill>
                <a:latin typeface="Cambria Math" pitchFamily="34" charset="0"/>
                <a:ea typeface="Cambria Math" pitchFamily="34" charset="-122"/>
                <a:cs typeface="Cambria Math" pitchFamily="34" charset="-120"/>
              </a:rPr>
              <a:t>t = 1 … 200</a:t>
            </a:r>
            <a:endParaRPr lang="en-US" sz="1100" dirty="0"/>
          </a:p>
        </p:txBody>
      </p:sp>
      <p:sp>
        <p:nvSpPr>
          <p:cNvPr id="35" name="txt_11_32"/>
          <p:cNvSpPr txBox="1"/>
          <p:nvPr/>
        </p:nvSpPr>
        <p:spPr>
          <a:xfrm>
            <a:off x="5486400" y="5029200"/>
            <a:ext cx="2926080" cy="329184"/>
          </a:xfrm>
          <a:prstGeom prst="rect">
            <a:avLst/>
          </a:prstGeom>
          <a:noFill/>
          <a:ln/>
        </p:spPr>
        <p:txBody>
          <a:bodyPr wrap="square" lIns="0" tIns="0" rIns="0" bIns="0" rtlCol="0" anchor="t"/>
          <a:lstStyle/>
          <a:p>
            <a:pPr indent="0" marL="0">
              <a:buNone/>
            </a:pPr>
            <a:r>
              <a:rPr lang="en-US" sz="1400" b="1" dirty="0">
                <a:solidFill>
                  <a:srgbClr val="F5A524"/>
                </a:solidFill>
                <a:latin typeface="Cambria Math" pitchFamily="34" charset="0"/>
                <a:ea typeface="Cambria Math" pitchFamily="34" charset="-122"/>
                <a:cs typeface="Cambria Math" pitchFamily="34" charset="-120"/>
              </a:rPr>
              <a:t>F₀(x)   </a:t>
            </a:r>
            <a:pPr indent="0" marL="0">
              <a:buNone/>
            </a:pPr>
            <a:r>
              <a:rPr lang="en-US" sz="1400" dirty="0">
                <a:solidFill>
                  <a:srgbClr val="F1F5F9"/>
                </a:solidFill>
                <a:latin typeface="Calibri" pitchFamily="34" charset="0"/>
                <a:ea typeface="Calibri" pitchFamily="34" charset="-122"/>
                <a:cs typeface="Calibri" pitchFamily="34" charset="-120"/>
              </a:rPr>
              <a:t>initial prediction</a:t>
            </a:r>
            <a:endParaRPr lang="en-US" sz="1400" dirty="0"/>
          </a:p>
        </p:txBody>
      </p:sp>
      <p:sp>
        <p:nvSpPr>
          <p:cNvPr id="36" name="txt_11_33"/>
          <p:cNvSpPr txBox="1"/>
          <p:nvPr/>
        </p:nvSpPr>
        <p:spPr>
          <a:xfrm>
            <a:off x="8503920" y="5029200"/>
            <a:ext cx="2926080" cy="329184"/>
          </a:xfrm>
          <a:prstGeom prst="rect">
            <a:avLst/>
          </a:prstGeom>
          <a:noFill/>
          <a:ln/>
        </p:spPr>
        <p:txBody>
          <a:bodyPr wrap="square" lIns="0" tIns="0" rIns="0" bIns="0" rtlCol="0" anchor="t"/>
          <a:lstStyle/>
          <a:p>
            <a:pPr indent="0" marL="0">
              <a:buNone/>
            </a:pPr>
            <a:r>
              <a:rPr lang="en-US" sz="1400" b="1" dirty="0">
                <a:solidFill>
                  <a:srgbClr val="F5A524"/>
                </a:solidFill>
                <a:latin typeface="Cambria Math" pitchFamily="34" charset="0"/>
                <a:ea typeface="Cambria Math" pitchFamily="34" charset="-122"/>
                <a:cs typeface="Cambria Math" pitchFamily="34" charset="-120"/>
              </a:rPr>
              <a:t>hₜ(x)   </a:t>
            </a:r>
            <a:pPr indent="0" marL="0">
              <a:buNone/>
            </a:pPr>
            <a:r>
              <a:rPr lang="en-US" sz="1400" dirty="0">
                <a:solidFill>
                  <a:srgbClr val="F1F5F9"/>
                </a:solidFill>
                <a:latin typeface="Calibri" pitchFamily="34" charset="0"/>
                <a:ea typeface="Calibri" pitchFamily="34" charset="-122"/>
                <a:cs typeface="Calibri" pitchFamily="34" charset="-120"/>
              </a:rPr>
              <a:t>prediction from tree t</a:t>
            </a:r>
            <a:endParaRPr lang="en-US" sz="1400" dirty="0"/>
          </a:p>
        </p:txBody>
      </p:sp>
      <p:sp>
        <p:nvSpPr>
          <p:cNvPr id="37" name="txt_11_34"/>
          <p:cNvSpPr txBox="1"/>
          <p:nvPr/>
        </p:nvSpPr>
        <p:spPr>
          <a:xfrm>
            <a:off x="5486400" y="5486400"/>
            <a:ext cx="2926080" cy="329184"/>
          </a:xfrm>
          <a:prstGeom prst="rect">
            <a:avLst/>
          </a:prstGeom>
          <a:noFill/>
          <a:ln/>
        </p:spPr>
        <p:txBody>
          <a:bodyPr wrap="square" lIns="0" tIns="0" rIns="0" bIns="0" rtlCol="0" anchor="t"/>
          <a:lstStyle/>
          <a:p>
            <a:pPr indent="0" marL="0">
              <a:buNone/>
            </a:pPr>
            <a:r>
              <a:rPr lang="en-US" sz="1400" b="1" dirty="0">
                <a:solidFill>
                  <a:srgbClr val="F5A524"/>
                </a:solidFill>
                <a:latin typeface="Cambria Math" pitchFamily="34" charset="0"/>
                <a:ea typeface="Cambria Math" pitchFamily="34" charset="-122"/>
                <a:cs typeface="Cambria Math" pitchFamily="34" charset="-120"/>
              </a:rPr>
              <a:t>η   </a:t>
            </a:r>
            <a:pPr indent="0" marL="0">
              <a:buNone/>
            </a:pPr>
            <a:r>
              <a:rPr lang="en-US" sz="1400" dirty="0">
                <a:solidFill>
                  <a:srgbClr val="F1F5F9"/>
                </a:solidFill>
                <a:latin typeface="Calibri" pitchFamily="34" charset="0"/>
                <a:ea typeface="Calibri" pitchFamily="34" charset="-122"/>
                <a:cs typeface="Calibri" pitchFamily="34" charset="-120"/>
              </a:rPr>
              <a:t>learning rate</a:t>
            </a:r>
            <a:endParaRPr lang="en-US" sz="1400" dirty="0"/>
          </a:p>
        </p:txBody>
      </p:sp>
      <p:sp>
        <p:nvSpPr>
          <p:cNvPr id="38" name="txt_11_35"/>
          <p:cNvSpPr txBox="1"/>
          <p:nvPr/>
        </p:nvSpPr>
        <p:spPr>
          <a:xfrm>
            <a:off x="8503920" y="5486400"/>
            <a:ext cx="2926080" cy="329184"/>
          </a:xfrm>
          <a:prstGeom prst="rect">
            <a:avLst/>
          </a:prstGeom>
          <a:noFill/>
          <a:ln/>
        </p:spPr>
        <p:txBody>
          <a:bodyPr wrap="square" lIns="0" tIns="0" rIns="0" bIns="0" rtlCol="0" anchor="t"/>
          <a:lstStyle/>
          <a:p>
            <a:pPr indent="0" marL="0">
              <a:buNone/>
            </a:pPr>
            <a:r>
              <a:rPr lang="en-US" sz="1400" b="1" dirty="0">
                <a:solidFill>
                  <a:srgbClr val="F5A524"/>
                </a:solidFill>
                <a:latin typeface="Cambria Math" pitchFamily="34" charset="0"/>
                <a:ea typeface="Cambria Math" pitchFamily="34" charset="-122"/>
                <a:cs typeface="Cambria Math" pitchFamily="34" charset="-120"/>
              </a:rPr>
              <a:t>200   </a:t>
            </a:r>
            <a:pPr indent="0" marL="0">
              <a:buNone/>
            </a:pPr>
            <a:r>
              <a:rPr lang="en-US" sz="1400" dirty="0">
                <a:solidFill>
                  <a:srgbClr val="F1F5F9"/>
                </a:solidFill>
                <a:latin typeface="Calibri" pitchFamily="34" charset="0"/>
                <a:ea typeface="Calibri" pitchFamily="34" charset="-122"/>
                <a:cs typeface="Calibri" pitchFamily="34" charset="-120"/>
              </a:rPr>
              <a:t>boosting stages</a:t>
            </a:r>
            <a:endParaRPr lang="en-US" sz="1400" dirty="0"/>
          </a:p>
        </p:txBody>
      </p:sp>
      <p:sp>
        <p:nvSpPr>
          <p:cNvPr id="39" name="txt_11_36"/>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40" name="txt_11_37"/>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11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3" presetID="10" presetClass="entr" presetSubtype="0" fill="hold" grpId="0" nodeType="withEffect" decel="100000">
                                  <p:stCondLst>
                                    <p:cond delay="2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135" fill="hold">
                      <p:stCondLst>
                        <p:cond delay="indefinite"/>
                      </p:stCondLst>
                      <p:childTnLst>
                        <p:par>
                          <p:cTn id="136" fill="hold">
                            <p:stCondLst>
                              <p:cond delay="0"/>
                            </p:stCondLst>
                            <p:childTnLst>
                              <p:par>
                                <p:cTn id="50" presetID="42" presetClass="entr" presetSubtype="0" fill="hold" grpId="0" nodeType="clickEffect" decel="100000">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decel="100000">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decel="100000">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decel="100000">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0.05"/>
                                          </p:val>
                                        </p:tav>
                                        <p:tav tm="100000">
                                          <p:val>
                                            <p:strVal val="#ppt_y"/>
                                          </p:val>
                                        </p:tav>
                                      </p:tavLst>
                                    </p:anim>
                                  </p:childTnLst>
                                </p:cTn>
                              </p:par>
                              <p:par>
                                <p:cTn id="68" presetID="22" presetClass="entr" presetSubtype="8" fill="hold" grpId="0" nodeType="withEffect" decel="100000">
                                  <p:stCondLst>
                                    <p:cond delay="250"/>
                                  </p:stCondLst>
                                  <p:childTnLst>
                                    <p:set>
                                      <p:cBhvr>
                                        <p:cTn id="66" dur="1" fill="hold">
                                          <p:stCondLst>
                                            <p:cond delay="0"/>
                                          </p:stCondLst>
                                        </p:cTn>
                                        <p:tgtEl>
                                          <p:spTgt spid="16"/>
                                        </p:tgtEl>
                                        <p:attrNameLst>
                                          <p:attrName>style.visibility</p:attrName>
                                        </p:attrNameLst>
                                      </p:cBhvr>
                                      <p:to>
                                        <p:strVal val="visible"/>
                                      </p:to>
                                    </p:set>
                                    <p:animEffect transition="in" filter="wipe(right)">
                                      <p:cBhvr>
                                        <p:cTn id="67" dur="200"/>
                                        <p:tgtEl>
                                          <p:spTgt spid="16"/>
                                        </p:tgtEl>
                                      </p:cBhvr>
                                    </p:animEffect>
                                  </p:childTnLst>
                                </p:cTn>
                              </p:par>
                              <p:par>
                                <p:cTn id="73" presetID="42" presetClass="entr" presetSubtype="0" fill="hold" grpId="0" nodeType="withEffect" decel="100000">
                                  <p:stCondLst>
                                    <p:cond delay="35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p:cTn id="71" dur="500" fill="hold"/>
                                        <p:tgtEl>
                                          <p:spTgt spid="17"/>
                                        </p:tgtEl>
                                        <p:attrNameLst>
                                          <p:attrName>ppt_x</p:attrName>
                                        </p:attrNameLst>
                                      </p:cBhvr>
                                      <p:tavLst>
                                        <p:tav tm="0">
                                          <p:val>
                                            <p:strVal val="#ppt_x"/>
                                          </p:val>
                                        </p:tav>
                                        <p:tav tm="100000">
                                          <p:val>
                                            <p:strVal val="#ppt_x"/>
                                          </p:val>
                                        </p:tav>
                                      </p:tavLst>
                                    </p:anim>
                                    <p:anim calcmode="lin" valueType="num">
                                      <p:cBhvr>
                                        <p:cTn id="72" dur="500" fill="hold"/>
                                        <p:tgtEl>
                                          <p:spTgt spid="17"/>
                                        </p:tgtEl>
                                        <p:attrNameLst>
                                          <p:attrName>ppt_y</p:attrName>
                                        </p:attrNameLst>
                                      </p:cBhvr>
                                      <p:tavLst>
                                        <p:tav tm="0">
                                          <p:val>
                                            <p:strVal val="#ppt_y+0.05"/>
                                          </p:val>
                                        </p:tav>
                                        <p:tav tm="100000">
                                          <p:val>
                                            <p:strVal val="#ppt_y"/>
                                          </p:val>
                                        </p:tav>
                                      </p:tavLst>
                                    </p:anim>
                                  </p:childTnLst>
                                </p:cTn>
                              </p:par>
                              <p:par>
                                <p:cTn id="78" presetID="42" presetClass="entr" presetSubtype="0" fill="hold" grpId="0" nodeType="withEffect" decel="100000">
                                  <p:stCondLst>
                                    <p:cond delay="35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p:cTn id="76" dur="500" fill="hold"/>
                                        <p:tgtEl>
                                          <p:spTgt spid="18"/>
                                        </p:tgtEl>
                                        <p:attrNameLst>
                                          <p:attrName>ppt_x</p:attrName>
                                        </p:attrNameLst>
                                      </p:cBhvr>
                                      <p:tavLst>
                                        <p:tav tm="0">
                                          <p:val>
                                            <p:strVal val="#ppt_x"/>
                                          </p:val>
                                        </p:tav>
                                        <p:tav tm="100000">
                                          <p:val>
                                            <p:strVal val="#ppt_x"/>
                                          </p:val>
                                        </p:tav>
                                      </p:tavLst>
                                    </p:anim>
                                    <p:anim calcmode="lin" valueType="num">
                                      <p:cBhvr>
                                        <p:cTn id="77" dur="500" fill="hold"/>
                                        <p:tgtEl>
                                          <p:spTgt spid="18"/>
                                        </p:tgtEl>
                                        <p:attrNameLst>
                                          <p:attrName>ppt_y</p:attrName>
                                        </p:attrNameLst>
                                      </p:cBhvr>
                                      <p:tavLst>
                                        <p:tav tm="0">
                                          <p:val>
                                            <p:strVal val="#ppt_y+0.05"/>
                                          </p:val>
                                        </p:tav>
                                        <p:tav tm="100000">
                                          <p:val>
                                            <p:strVal val="#ppt_y"/>
                                          </p:val>
                                        </p:tav>
                                      </p:tavLst>
                                    </p:anim>
                                  </p:childTnLst>
                                </p:cTn>
                              </p:par>
                              <p:par>
                                <p:cTn id="83" presetID="42" presetClass="entr" presetSubtype="0" fill="hold" grpId="0" nodeType="withEffect" decel="100000">
                                  <p:stCondLst>
                                    <p:cond delay="35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500" fill="hold"/>
                                        <p:tgtEl>
                                          <p:spTgt spid="19"/>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35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p:cTn id="86" dur="500" fill="hold"/>
                                        <p:tgtEl>
                                          <p:spTgt spid="20"/>
                                        </p:tgtEl>
                                        <p:attrNameLst>
                                          <p:attrName>ppt_x</p:attrName>
                                        </p:attrNameLst>
                                      </p:cBhvr>
                                      <p:tavLst>
                                        <p:tav tm="0">
                                          <p:val>
                                            <p:strVal val="#ppt_x"/>
                                          </p:val>
                                        </p:tav>
                                        <p:tav tm="100000">
                                          <p:val>
                                            <p:strVal val="#ppt_x"/>
                                          </p:val>
                                        </p:tav>
                                      </p:tavLst>
                                    </p:anim>
                                    <p:anim calcmode="lin" valueType="num">
                                      <p:cBhvr>
                                        <p:cTn id="87" dur="500" fill="hold"/>
                                        <p:tgtEl>
                                          <p:spTgt spid="20"/>
                                        </p:tgtEl>
                                        <p:attrNameLst>
                                          <p:attrName>ppt_y</p:attrName>
                                        </p:attrNameLst>
                                      </p:cBhvr>
                                      <p:tavLst>
                                        <p:tav tm="0">
                                          <p:val>
                                            <p:strVal val="#ppt_y+0.05"/>
                                          </p:val>
                                        </p:tav>
                                        <p:tav tm="100000">
                                          <p:val>
                                            <p:strVal val="#ppt_y"/>
                                          </p:val>
                                        </p:tav>
                                      </p:tavLst>
                                    </p:anim>
                                  </p:childTnLst>
                                </p:cTn>
                              </p:par>
                              <p:par>
                                <p:cTn id="91" presetID="22" presetClass="entr" presetSubtype="8" fill="hold" grpId="0" nodeType="withEffect" decel="100000">
                                  <p:stCondLst>
                                    <p:cond delay="600"/>
                                  </p:stCondLst>
                                  <p:childTnLst>
                                    <p:set>
                                      <p:cBhvr>
                                        <p:cTn id="89" dur="1" fill="hold">
                                          <p:stCondLst>
                                            <p:cond delay="0"/>
                                          </p:stCondLst>
                                        </p:cTn>
                                        <p:tgtEl>
                                          <p:spTgt spid="21"/>
                                        </p:tgtEl>
                                        <p:attrNameLst>
                                          <p:attrName>style.visibility</p:attrName>
                                        </p:attrNameLst>
                                      </p:cBhvr>
                                      <p:to>
                                        <p:strVal val="visible"/>
                                      </p:to>
                                    </p:set>
                                    <p:animEffect transition="in" filter="wipe(right)">
                                      <p:cBhvr>
                                        <p:cTn id="90" dur="200"/>
                                        <p:tgtEl>
                                          <p:spTgt spid="21"/>
                                        </p:tgtEl>
                                      </p:cBhvr>
                                    </p:animEffect>
                                  </p:childTnLst>
                                </p:cTn>
                              </p:par>
                              <p:par>
                                <p:cTn id="96" presetID="42" presetClass="entr" presetSubtype="0" fill="hold" grpId="0" nodeType="withEffect" decel="100000">
                                  <p:stCondLst>
                                    <p:cond delay="70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anim calcmode="lin" valueType="num">
                                      <p:cBhvr>
                                        <p:cTn id="94" dur="500" fill="hold"/>
                                        <p:tgtEl>
                                          <p:spTgt spid="22"/>
                                        </p:tgtEl>
                                        <p:attrNameLst>
                                          <p:attrName>ppt_x</p:attrName>
                                        </p:attrNameLst>
                                      </p:cBhvr>
                                      <p:tavLst>
                                        <p:tav tm="0">
                                          <p:val>
                                            <p:strVal val="#ppt_x"/>
                                          </p:val>
                                        </p:tav>
                                        <p:tav tm="100000">
                                          <p:val>
                                            <p:strVal val="#ppt_x"/>
                                          </p:val>
                                        </p:tav>
                                      </p:tavLst>
                                    </p:anim>
                                    <p:anim calcmode="lin" valueType="num">
                                      <p:cBhvr>
                                        <p:cTn id="95" dur="500" fill="hold"/>
                                        <p:tgtEl>
                                          <p:spTgt spid="22"/>
                                        </p:tgtEl>
                                        <p:attrNameLst>
                                          <p:attrName>ppt_y</p:attrName>
                                        </p:attrNameLst>
                                      </p:cBhvr>
                                      <p:tavLst>
                                        <p:tav tm="0">
                                          <p:val>
                                            <p:strVal val="#ppt_y+0.05"/>
                                          </p:val>
                                        </p:tav>
                                        <p:tav tm="100000">
                                          <p:val>
                                            <p:strVal val="#ppt_y"/>
                                          </p:val>
                                        </p:tav>
                                      </p:tavLst>
                                    </p:anim>
                                  </p:childTnLst>
                                </p:cTn>
                              </p:par>
                              <p:par>
                                <p:cTn id="101" presetID="42" presetClass="entr" presetSubtype="0" fill="hold" grpId="0" nodeType="withEffect" decel="100000">
                                  <p:stCondLst>
                                    <p:cond delay="70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00"/>
                                        <p:tgtEl>
                                          <p:spTgt spid="23"/>
                                        </p:tgtEl>
                                      </p:cBhvr>
                                    </p:animEffect>
                                    <p:anim calcmode="lin" valueType="num">
                                      <p:cBhvr>
                                        <p:cTn id="99" dur="500" fill="hold"/>
                                        <p:tgtEl>
                                          <p:spTgt spid="23"/>
                                        </p:tgtEl>
                                        <p:attrNameLst>
                                          <p:attrName>ppt_x</p:attrName>
                                        </p:attrNameLst>
                                      </p:cBhvr>
                                      <p:tavLst>
                                        <p:tav tm="0">
                                          <p:val>
                                            <p:strVal val="#ppt_x"/>
                                          </p:val>
                                        </p:tav>
                                        <p:tav tm="100000">
                                          <p:val>
                                            <p:strVal val="#ppt_x"/>
                                          </p:val>
                                        </p:tav>
                                      </p:tavLst>
                                    </p:anim>
                                    <p:anim calcmode="lin" valueType="num">
                                      <p:cBhvr>
                                        <p:cTn id="100" dur="500" fill="hold"/>
                                        <p:tgtEl>
                                          <p:spTgt spid="23"/>
                                        </p:tgtEl>
                                        <p:attrNameLst>
                                          <p:attrName>ppt_y</p:attrName>
                                        </p:attrNameLst>
                                      </p:cBhvr>
                                      <p:tavLst>
                                        <p:tav tm="0">
                                          <p:val>
                                            <p:strVal val="#ppt_y+0.05"/>
                                          </p:val>
                                        </p:tav>
                                        <p:tav tm="100000">
                                          <p:val>
                                            <p:strVal val="#ppt_y"/>
                                          </p:val>
                                        </p:tav>
                                      </p:tavLst>
                                    </p:anim>
                                  </p:childTnLst>
                                </p:cTn>
                              </p:par>
                              <p:par>
                                <p:cTn id="106" presetID="42" presetClass="entr" presetSubtype="0" fill="hold" grpId="0" nodeType="withEffect" decel="100000">
                                  <p:stCondLst>
                                    <p:cond delay="70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anim calcmode="lin" valueType="num">
                                      <p:cBhvr>
                                        <p:cTn id="104" dur="500" fill="hold"/>
                                        <p:tgtEl>
                                          <p:spTgt spid="24"/>
                                        </p:tgtEl>
                                        <p:attrNameLst>
                                          <p:attrName>ppt_x</p:attrName>
                                        </p:attrNameLst>
                                      </p:cBhvr>
                                      <p:tavLst>
                                        <p:tav tm="0">
                                          <p:val>
                                            <p:strVal val="#ppt_x"/>
                                          </p:val>
                                        </p:tav>
                                        <p:tav tm="100000">
                                          <p:val>
                                            <p:strVal val="#ppt_x"/>
                                          </p:val>
                                        </p:tav>
                                      </p:tavLst>
                                    </p:anim>
                                    <p:anim calcmode="lin" valueType="num">
                                      <p:cBhvr>
                                        <p:cTn id="105" dur="500" fill="hold"/>
                                        <p:tgtEl>
                                          <p:spTgt spid="24"/>
                                        </p:tgtEl>
                                        <p:attrNameLst>
                                          <p:attrName>ppt_y</p:attrName>
                                        </p:attrNameLst>
                                      </p:cBhvr>
                                      <p:tavLst>
                                        <p:tav tm="0">
                                          <p:val>
                                            <p:strVal val="#ppt_y+0.05"/>
                                          </p:val>
                                        </p:tav>
                                        <p:tav tm="100000">
                                          <p:val>
                                            <p:strVal val="#ppt_y"/>
                                          </p:val>
                                        </p:tav>
                                      </p:tavLst>
                                    </p:anim>
                                  </p:childTnLst>
                                </p:cTn>
                              </p:par>
                              <p:par>
                                <p:cTn id="111" presetID="42" presetClass="entr" presetSubtype="0" fill="hold" grpId="0" nodeType="withEffect" decel="100000">
                                  <p:stCondLst>
                                    <p:cond delay="70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500"/>
                                        <p:tgtEl>
                                          <p:spTgt spid="25"/>
                                        </p:tgtEl>
                                      </p:cBhvr>
                                    </p:animEffect>
                                    <p:anim calcmode="lin" valueType="num">
                                      <p:cBhvr>
                                        <p:cTn id="109" dur="500" fill="hold"/>
                                        <p:tgtEl>
                                          <p:spTgt spid="25"/>
                                        </p:tgtEl>
                                        <p:attrNameLst>
                                          <p:attrName>ppt_x</p:attrName>
                                        </p:attrNameLst>
                                      </p:cBhvr>
                                      <p:tavLst>
                                        <p:tav tm="0">
                                          <p:val>
                                            <p:strVal val="#ppt_x"/>
                                          </p:val>
                                        </p:tav>
                                        <p:tav tm="100000">
                                          <p:val>
                                            <p:strVal val="#ppt_x"/>
                                          </p:val>
                                        </p:tav>
                                      </p:tavLst>
                                    </p:anim>
                                    <p:anim calcmode="lin" valueType="num">
                                      <p:cBhvr>
                                        <p:cTn id="110" dur="500" fill="hold"/>
                                        <p:tgtEl>
                                          <p:spTgt spid="25"/>
                                        </p:tgtEl>
                                        <p:attrNameLst>
                                          <p:attrName>ppt_y</p:attrName>
                                        </p:attrNameLst>
                                      </p:cBhvr>
                                      <p:tavLst>
                                        <p:tav tm="0">
                                          <p:val>
                                            <p:strVal val="#ppt_y+0.05"/>
                                          </p:val>
                                        </p:tav>
                                        <p:tav tm="100000">
                                          <p:val>
                                            <p:strVal val="#ppt_y"/>
                                          </p:val>
                                        </p:tav>
                                      </p:tavLst>
                                    </p:anim>
                                  </p:childTnLst>
                                </p:cTn>
                              </p:par>
                              <p:par>
                                <p:cTn id="114" presetID="22" presetClass="entr" presetSubtype="8" fill="hold" grpId="0" nodeType="withEffect" decel="100000">
                                  <p:stCondLst>
                                    <p:cond delay="950"/>
                                  </p:stCondLst>
                                  <p:childTnLst>
                                    <p:set>
                                      <p:cBhvr>
                                        <p:cTn id="112" dur="1" fill="hold">
                                          <p:stCondLst>
                                            <p:cond delay="0"/>
                                          </p:stCondLst>
                                        </p:cTn>
                                        <p:tgtEl>
                                          <p:spTgt spid="26"/>
                                        </p:tgtEl>
                                        <p:attrNameLst>
                                          <p:attrName>style.visibility</p:attrName>
                                        </p:attrNameLst>
                                      </p:cBhvr>
                                      <p:to>
                                        <p:strVal val="visible"/>
                                      </p:to>
                                    </p:set>
                                    <p:animEffect transition="in" filter="wipe(right)">
                                      <p:cBhvr>
                                        <p:cTn id="113" dur="200"/>
                                        <p:tgtEl>
                                          <p:spTgt spid="26"/>
                                        </p:tgtEl>
                                      </p:cBhvr>
                                    </p:animEffect>
                                  </p:childTnLst>
                                </p:cTn>
                              </p:par>
                              <p:par>
                                <p:cTn id="119" presetID="42" presetClass="entr" presetSubtype="0" fill="hold" grpId="0" nodeType="withEffect" decel="100000">
                                  <p:stCondLst>
                                    <p:cond delay="105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00"/>
                                        <p:tgtEl>
                                          <p:spTgt spid="27"/>
                                        </p:tgtEl>
                                      </p:cBhvr>
                                    </p:animEffect>
                                    <p:anim calcmode="lin" valueType="num">
                                      <p:cBhvr>
                                        <p:cTn id="117" dur="500" fill="hold"/>
                                        <p:tgtEl>
                                          <p:spTgt spid="27"/>
                                        </p:tgtEl>
                                        <p:attrNameLst>
                                          <p:attrName>ppt_x</p:attrName>
                                        </p:attrNameLst>
                                      </p:cBhvr>
                                      <p:tavLst>
                                        <p:tav tm="0">
                                          <p:val>
                                            <p:strVal val="#ppt_x"/>
                                          </p:val>
                                        </p:tav>
                                        <p:tav tm="100000">
                                          <p:val>
                                            <p:strVal val="#ppt_x"/>
                                          </p:val>
                                        </p:tav>
                                      </p:tavLst>
                                    </p:anim>
                                    <p:anim calcmode="lin" valueType="num">
                                      <p:cBhvr>
                                        <p:cTn id="118" dur="500" fill="hold"/>
                                        <p:tgtEl>
                                          <p:spTgt spid="27"/>
                                        </p:tgtEl>
                                        <p:attrNameLst>
                                          <p:attrName>ppt_y</p:attrName>
                                        </p:attrNameLst>
                                      </p:cBhvr>
                                      <p:tavLst>
                                        <p:tav tm="0">
                                          <p:val>
                                            <p:strVal val="#ppt_y+0.05"/>
                                          </p:val>
                                        </p:tav>
                                        <p:tav tm="100000">
                                          <p:val>
                                            <p:strVal val="#ppt_y"/>
                                          </p:val>
                                        </p:tav>
                                      </p:tavLst>
                                    </p:anim>
                                  </p:childTnLst>
                                </p:cTn>
                              </p:par>
                              <p:par>
                                <p:cTn id="124" presetID="42" presetClass="entr" presetSubtype="0" fill="hold" grpId="0" nodeType="withEffect" decel="100000">
                                  <p:stCondLst>
                                    <p:cond delay="105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00"/>
                                        <p:tgtEl>
                                          <p:spTgt spid="28"/>
                                        </p:tgtEl>
                                      </p:cBhvr>
                                    </p:animEffect>
                                    <p:anim calcmode="lin" valueType="num">
                                      <p:cBhvr>
                                        <p:cTn id="122" dur="500" fill="hold"/>
                                        <p:tgtEl>
                                          <p:spTgt spid="28"/>
                                        </p:tgtEl>
                                        <p:attrNameLst>
                                          <p:attrName>ppt_x</p:attrName>
                                        </p:attrNameLst>
                                      </p:cBhvr>
                                      <p:tavLst>
                                        <p:tav tm="0">
                                          <p:val>
                                            <p:strVal val="#ppt_x"/>
                                          </p:val>
                                        </p:tav>
                                        <p:tav tm="100000">
                                          <p:val>
                                            <p:strVal val="#ppt_x"/>
                                          </p:val>
                                        </p:tav>
                                      </p:tavLst>
                                    </p:anim>
                                    <p:anim calcmode="lin" valueType="num">
                                      <p:cBhvr>
                                        <p:cTn id="123" dur="500" fill="hold"/>
                                        <p:tgtEl>
                                          <p:spTgt spid="28"/>
                                        </p:tgtEl>
                                        <p:attrNameLst>
                                          <p:attrName>ppt_y</p:attrName>
                                        </p:attrNameLst>
                                      </p:cBhvr>
                                      <p:tavLst>
                                        <p:tav tm="0">
                                          <p:val>
                                            <p:strVal val="#ppt_y+0.05"/>
                                          </p:val>
                                        </p:tav>
                                        <p:tav tm="100000">
                                          <p:val>
                                            <p:strVal val="#ppt_y"/>
                                          </p:val>
                                        </p:tav>
                                      </p:tavLst>
                                    </p:anim>
                                  </p:childTnLst>
                                </p:cTn>
                              </p:par>
                              <p:par>
                                <p:cTn id="129" presetID="42" presetClass="entr" presetSubtype="0" fill="hold" grpId="0" nodeType="withEffect" decel="100000">
                                  <p:stCondLst>
                                    <p:cond delay="105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00"/>
                                        <p:tgtEl>
                                          <p:spTgt spid="29"/>
                                        </p:tgtEl>
                                      </p:cBhvr>
                                    </p:animEffect>
                                    <p:anim calcmode="lin" valueType="num">
                                      <p:cBhvr>
                                        <p:cTn id="127" dur="500" fill="hold"/>
                                        <p:tgtEl>
                                          <p:spTgt spid="29"/>
                                        </p:tgtEl>
                                        <p:attrNameLst>
                                          <p:attrName>ppt_x</p:attrName>
                                        </p:attrNameLst>
                                      </p:cBhvr>
                                      <p:tavLst>
                                        <p:tav tm="0">
                                          <p:val>
                                            <p:strVal val="#ppt_x"/>
                                          </p:val>
                                        </p:tav>
                                        <p:tav tm="100000">
                                          <p:val>
                                            <p:strVal val="#ppt_x"/>
                                          </p:val>
                                        </p:tav>
                                      </p:tavLst>
                                    </p:anim>
                                    <p:anim calcmode="lin" valueType="num">
                                      <p:cBhvr>
                                        <p:cTn id="128" dur="500" fill="hold"/>
                                        <p:tgtEl>
                                          <p:spTgt spid="29"/>
                                        </p:tgtEl>
                                        <p:attrNameLst>
                                          <p:attrName>ppt_y</p:attrName>
                                        </p:attrNameLst>
                                      </p:cBhvr>
                                      <p:tavLst>
                                        <p:tav tm="0">
                                          <p:val>
                                            <p:strVal val="#ppt_y+0.05"/>
                                          </p:val>
                                        </p:tav>
                                        <p:tav tm="100000">
                                          <p:val>
                                            <p:strVal val="#ppt_y"/>
                                          </p:val>
                                        </p:tav>
                                      </p:tavLst>
                                    </p:anim>
                                  </p:childTnLst>
                                </p:cTn>
                              </p:par>
                              <p:par>
                                <p:cTn id="134" presetID="42" presetClass="entr" presetSubtype="0" fill="hold" grpId="0" nodeType="withEffect" decel="100000">
                                  <p:stCondLst>
                                    <p:cond delay="105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500"/>
                                        <p:tgtEl>
                                          <p:spTgt spid="30"/>
                                        </p:tgtEl>
                                      </p:cBhvr>
                                    </p:animEffect>
                                    <p:anim calcmode="lin" valueType="num">
                                      <p:cBhvr>
                                        <p:cTn id="132" dur="500" fill="hold"/>
                                        <p:tgtEl>
                                          <p:spTgt spid="30"/>
                                        </p:tgtEl>
                                        <p:attrNameLst>
                                          <p:attrName>ppt_x</p:attrName>
                                        </p:attrNameLst>
                                      </p:cBhvr>
                                      <p:tavLst>
                                        <p:tav tm="0">
                                          <p:val>
                                            <p:strVal val="#ppt_x"/>
                                          </p:val>
                                        </p:tav>
                                        <p:tav tm="100000">
                                          <p:val>
                                            <p:strVal val="#ppt_x"/>
                                          </p:val>
                                        </p:tav>
                                      </p:tavLst>
                                    </p:anim>
                                    <p:anim calcmode="lin" valueType="num">
                                      <p:cBhvr>
                                        <p:cTn id="133" dur="500" fill="hold"/>
                                        <p:tgtEl>
                                          <p:spTgt spid="30"/>
                                        </p:tgtEl>
                                        <p:attrNameLst>
                                          <p:attrName>ppt_y</p:attrName>
                                        </p:attrNameLst>
                                      </p:cBhvr>
                                      <p:tavLst>
                                        <p:tav tm="0">
                                          <p:val>
                                            <p:strVal val="#ppt_y+0.05"/>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41" presetID="53" presetClass="entr" presetSubtype="16" fill="hold" grpId="0" nodeType="clickEffect" decel="100000">
                                  <p:stCondLst>
                                    <p:cond delay="0"/>
                                  </p:stCondLst>
                                  <p:childTnLst>
                                    <p:set>
                                      <p:cBhvr>
                                        <p:cTn id="137" dur="1" fill="hold">
                                          <p:stCondLst>
                                            <p:cond delay="0"/>
                                          </p:stCondLst>
                                        </p:cTn>
                                        <p:tgtEl>
                                          <p:spTgt spid="31"/>
                                        </p:tgtEl>
                                        <p:attrNameLst>
                                          <p:attrName>style.visibility</p:attrName>
                                        </p:attrNameLst>
                                      </p:cBhvr>
                                      <p:to>
                                        <p:strVal val="visible"/>
                                      </p:to>
                                    </p:set>
                                    <p:anim calcmode="lin" valueType="num">
                                      <p:cBhvr>
                                        <p:cTn id="138" dur="500" fill="hold"/>
                                        <p:tgtEl>
                                          <p:spTgt spid="31"/>
                                        </p:tgtEl>
                                        <p:attrNameLst>
                                          <p:attrName>ppt_w</p:attrName>
                                        </p:attrNameLst>
                                      </p:cBhvr>
                                      <p:tavLst>
                                        <p:tav tm="0">
                                          <p:val>
                                            <p:strVal val="#ppt_w*0.70"/>
                                          </p:val>
                                        </p:tav>
                                        <p:tav tm="100000">
                                          <p:val>
                                            <p:strVal val="#ppt_w"/>
                                          </p:val>
                                        </p:tav>
                                      </p:tavLst>
                                    </p:anim>
                                    <p:anim calcmode="lin" valueType="num">
                                      <p:cBhvr>
                                        <p:cTn id="139" dur="500" fill="hold"/>
                                        <p:tgtEl>
                                          <p:spTgt spid="31"/>
                                        </p:tgtEl>
                                        <p:attrNameLst>
                                          <p:attrName>ppt_h</p:attrName>
                                        </p:attrNameLst>
                                      </p:cBhvr>
                                      <p:tavLst>
                                        <p:tav tm="0">
                                          <p:val>
                                            <p:strVal val="#ppt_h*0.70"/>
                                          </p:val>
                                        </p:tav>
                                        <p:tav tm="100000">
                                          <p:val>
                                            <p:strVal val="#ppt_h"/>
                                          </p:val>
                                        </p:tav>
                                      </p:tavLst>
                                    </p:anim>
                                    <p:animEffect transition="in" filter="fade">
                                      <p:cBhvr>
                                        <p:cTn id="140" dur="500"/>
                                        <p:tgtEl>
                                          <p:spTgt spid="31"/>
                                        </p:tgtEl>
                                      </p:cBhvr>
                                    </p:animEffect>
                                  </p:childTnLst>
                                </p:cTn>
                              </p:par>
                              <p:par>
                                <p:cTn id="146" presetID="53" presetClass="entr" presetSubtype="16" fill="hold" grpId="0" nodeType="withEffect" decel="100000">
                                  <p:stCondLst>
                                    <p:cond delay="0"/>
                                  </p:stCondLst>
                                  <p:childTnLst>
                                    <p:set>
                                      <p:cBhvr>
                                        <p:cTn id="142" dur="1" fill="hold">
                                          <p:stCondLst>
                                            <p:cond delay="0"/>
                                          </p:stCondLst>
                                        </p:cTn>
                                        <p:tgtEl>
                                          <p:spTgt spid="32"/>
                                        </p:tgtEl>
                                        <p:attrNameLst>
                                          <p:attrName>style.visibility</p:attrName>
                                        </p:attrNameLst>
                                      </p:cBhvr>
                                      <p:to>
                                        <p:strVal val="visible"/>
                                      </p:to>
                                    </p:set>
                                    <p:anim calcmode="lin" valueType="num">
                                      <p:cBhvr>
                                        <p:cTn id="143" dur="500" fill="hold"/>
                                        <p:tgtEl>
                                          <p:spTgt spid="32"/>
                                        </p:tgtEl>
                                        <p:attrNameLst>
                                          <p:attrName>ppt_w</p:attrName>
                                        </p:attrNameLst>
                                      </p:cBhvr>
                                      <p:tavLst>
                                        <p:tav tm="0">
                                          <p:val>
                                            <p:strVal val="#ppt_w*0.70"/>
                                          </p:val>
                                        </p:tav>
                                        <p:tav tm="100000">
                                          <p:val>
                                            <p:strVal val="#ppt_w"/>
                                          </p:val>
                                        </p:tav>
                                      </p:tavLst>
                                    </p:anim>
                                    <p:anim calcmode="lin" valueType="num">
                                      <p:cBhvr>
                                        <p:cTn id="144" dur="500" fill="hold"/>
                                        <p:tgtEl>
                                          <p:spTgt spid="32"/>
                                        </p:tgtEl>
                                        <p:attrNameLst>
                                          <p:attrName>ppt_h</p:attrName>
                                        </p:attrNameLst>
                                      </p:cBhvr>
                                      <p:tavLst>
                                        <p:tav tm="0">
                                          <p:val>
                                            <p:strVal val="#ppt_h*0.70"/>
                                          </p:val>
                                        </p:tav>
                                        <p:tav tm="100000">
                                          <p:val>
                                            <p:strVal val="#ppt_h"/>
                                          </p:val>
                                        </p:tav>
                                      </p:tavLst>
                                    </p:anim>
                                    <p:animEffect transition="in" filter="fade">
                                      <p:cBhvr>
                                        <p:cTn id="145" dur="500"/>
                                        <p:tgtEl>
                                          <p:spTgt spid="32"/>
                                        </p:tgtEl>
                                      </p:cBhvr>
                                    </p:animEffect>
                                  </p:childTnLst>
                                </p:cTn>
                              </p:par>
                              <p:par>
                                <p:cTn id="151" presetID="53" presetClass="entr" presetSubtype="16" fill="hold" grpId="0" nodeType="withEffect" decel="100000">
                                  <p:stCondLst>
                                    <p:cond delay="0"/>
                                  </p:stCondLst>
                                  <p:childTnLst>
                                    <p:set>
                                      <p:cBhvr>
                                        <p:cTn id="147" dur="1" fill="hold">
                                          <p:stCondLst>
                                            <p:cond delay="0"/>
                                          </p:stCondLst>
                                        </p:cTn>
                                        <p:tgtEl>
                                          <p:spTgt spid="33"/>
                                        </p:tgtEl>
                                        <p:attrNameLst>
                                          <p:attrName>style.visibility</p:attrName>
                                        </p:attrNameLst>
                                      </p:cBhvr>
                                      <p:to>
                                        <p:strVal val="visible"/>
                                      </p:to>
                                    </p:set>
                                    <p:anim calcmode="lin" valueType="num">
                                      <p:cBhvr>
                                        <p:cTn id="148" dur="500" fill="hold"/>
                                        <p:tgtEl>
                                          <p:spTgt spid="33"/>
                                        </p:tgtEl>
                                        <p:attrNameLst>
                                          <p:attrName>ppt_w</p:attrName>
                                        </p:attrNameLst>
                                      </p:cBhvr>
                                      <p:tavLst>
                                        <p:tav tm="0">
                                          <p:val>
                                            <p:strVal val="#ppt_w*0.70"/>
                                          </p:val>
                                        </p:tav>
                                        <p:tav tm="100000">
                                          <p:val>
                                            <p:strVal val="#ppt_w"/>
                                          </p:val>
                                        </p:tav>
                                      </p:tavLst>
                                    </p:anim>
                                    <p:anim calcmode="lin" valueType="num">
                                      <p:cBhvr>
                                        <p:cTn id="149" dur="500" fill="hold"/>
                                        <p:tgtEl>
                                          <p:spTgt spid="33"/>
                                        </p:tgtEl>
                                        <p:attrNameLst>
                                          <p:attrName>ppt_h</p:attrName>
                                        </p:attrNameLst>
                                      </p:cBhvr>
                                      <p:tavLst>
                                        <p:tav tm="0">
                                          <p:val>
                                            <p:strVal val="#ppt_h*0.70"/>
                                          </p:val>
                                        </p:tav>
                                        <p:tav tm="100000">
                                          <p:val>
                                            <p:strVal val="#ppt_h"/>
                                          </p:val>
                                        </p:tav>
                                      </p:tavLst>
                                    </p:anim>
                                    <p:animEffect transition="in" filter="fade">
                                      <p:cBhvr>
                                        <p:cTn id="150" dur="500"/>
                                        <p:tgtEl>
                                          <p:spTgt spid="33"/>
                                        </p:tgtEl>
                                      </p:cBhvr>
                                    </p:animEffect>
                                  </p:childTnLst>
                                </p:cTn>
                              </p:par>
                              <p:par>
                                <p:cTn id="156" presetID="53" presetClass="entr" presetSubtype="16" fill="hold" grpId="0" nodeType="withEffect" decel="100000">
                                  <p:stCondLst>
                                    <p:cond delay="0"/>
                                  </p:stCondLst>
                                  <p:childTnLst>
                                    <p:set>
                                      <p:cBhvr>
                                        <p:cTn id="152" dur="1" fill="hold">
                                          <p:stCondLst>
                                            <p:cond delay="0"/>
                                          </p:stCondLst>
                                        </p:cTn>
                                        <p:tgtEl>
                                          <p:spTgt spid="34"/>
                                        </p:tgtEl>
                                        <p:attrNameLst>
                                          <p:attrName>style.visibility</p:attrName>
                                        </p:attrNameLst>
                                      </p:cBhvr>
                                      <p:to>
                                        <p:strVal val="visible"/>
                                      </p:to>
                                    </p:set>
                                    <p:anim calcmode="lin" valueType="num">
                                      <p:cBhvr>
                                        <p:cTn id="153" dur="500" fill="hold"/>
                                        <p:tgtEl>
                                          <p:spTgt spid="34"/>
                                        </p:tgtEl>
                                        <p:attrNameLst>
                                          <p:attrName>ppt_w</p:attrName>
                                        </p:attrNameLst>
                                      </p:cBhvr>
                                      <p:tavLst>
                                        <p:tav tm="0">
                                          <p:val>
                                            <p:strVal val="#ppt_w*0.70"/>
                                          </p:val>
                                        </p:tav>
                                        <p:tav tm="100000">
                                          <p:val>
                                            <p:strVal val="#ppt_w"/>
                                          </p:val>
                                        </p:tav>
                                      </p:tavLst>
                                    </p:anim>
                                    <p:anim calcmode="lin" valueType="num">
                                      <p:cBhvr>
                                        <p:cTn id="154" dur="500" fill="hold"/>
                                        <p:tgtEl>
                                          <p:spTgt spid="34"/>
                                        </p:tgtEl>
                                        <p:attrNameLst>
                                          <p:attrName>ppt_h</p:attrName>
                                        </p:attrNameLst>
                                      </p:cBhvr>
                                      <p:tavLst>
                                        <p:tav tm="0">
                                          <p:val>
                                            <p:strVal val="#ppt_h*0.70"/>
                                          </p:val>
                                        </p:tav>
                                        <p:tav tm="100000">
                                          <p:val>
                                            <p:strVal val="#ppt_h"/>
                                          </p:val>
                                        </p:tav>
                                      </p:tavLst>
                                    </p:anim>
                                    <p:animEffect transition="in" filter="fade">
                                      <p:cBhvr>
                                        <p:cTn id="155" dur="500"/>
                                        <p:tgtEl>
                                          <p:spTgt spid="34"/>
                                        </p:tgtEl>
                                      </p:cBhvr>
                                    </p:animEffect>
                                  </p:childTnLst>
                                </p:cTn>
                              </p:par>
                              <p:par>
                                <p:cTn id="159" presetID="10" presetClass="entr" presetSubtype="0" fill="hold" grpId="0" nodeType="withEffect" decel="100000">
                                  <p:stCondLst>
                                    <p:cond delay="300"/>
                                  </p:stCondLst>
                                  <p:childTnLst>
                                    <p:set>
                                      <p:cBhvr>
                                        <p:cTn id="157" dur="1" fill="hold">
                                          <p:stCondLst>
                                            <p:cond delay="0"/>
                                          </p:stCondLst>
                                        </p:cTn>
                                        <p:tgtEl>
                                          <p:spTgt spid="35"/>
                                        </p:tgtEl>
                                        <p:attrNameLst>
                                          <p:attrName>style.visibility</p:attrName>
                                        </p:attrNameLst>
                                      </p:cBhvr>
                                      <p:to>
                                        <p:strVal val="visible"/>
                                      </p:to>
                                    </p:set>
                                    <p:animEffect transition="in" filter="fade">
                                      <p:cBhvr>
                                        <p:cTn id="158" dur="500"/>
                                        <p:tgtEl>
                                          <p:spTgt spid="35"/>
                                        </p:tgtEl>
                                      </p:cBhvr>
                                    </p:animEffect>
                                  </p:childTnLst>
                                </p:cTn>
                              </p:par>
                              <p:par>
                                <p:cTn id="162" presetID="10" presetClass="entr" presetSubtype="0" fill="hold" grpId="0" nodeType="withEffect" decel="100000">
                                  <p:stCondLst>
                                    <p:cond delay="400"/>
                                  </p:stCondLst>
                                  <p:childTnLst>
                                    <p:set>
                                      <p:cBhvr>
                                        <p:cTn id="160" dur="1" fill="hold">
                                          <p:stCondLst>
                                            <p:cond delay="0"/>
                                          </p:stCondLst>
                                        </p:cTn>
                                        <p:tgtEl>
                                          <p:spTgt spid="36"/>
                                        </p:tgtEl>
                                        <p:attrNameLst>
                                          <p:attrName>style.visibility</p:attrName>
                                        </p:attrNameLst>
                                      </p:cBhvr>
                                      <p:to>
                                        <p:strVal val="visible"/>
                                      </p:to>
                                    </p:set>
                                    <p:animEffect transition="in" filter="fade">
                                      <p:cBhvr>
                                        <p:cTn id="161" dur="500"/>
                                        <p:tgtEl>
                                          <p:spTgt spid="36"/>
                                        </p:tgtEl>
                                      </p:cBhvr>
                                    </p:animEffect>
                                  </p:childTnLst>
                                </p:cTn>
                              </p:par>
                              <p:par>
                                <p:cTn id="165" presetID="10" presetClass="entr" presetSubtype="0" fill="hold" grpId="0" nodeType="withEffect" decel="100000">
                                  <p:stCondLst>
                                    <p:cond delay="500"/>
                                  </p:stCondLst>
                                  <p:childTnLst>
                                    <p:set>
                                      <p:cBhvr>
                                        <p:cTn id="163" dur="1" fill="hold">
                                          <p:stCondLst>
                                            <p:cond delay="0"/>
                                          </p:stCondLst>
                                        </p:cTn>
                                        <p:tgtEl>
                                          <p:spTgt spid="37"/>
                                        </p:tgtEl>
                                        <p:attrNameLst>
                                          <p:attrName>style.visibility</p:attrName>
                                        </p:attrNameLst>
                                      </p:cBhvr>
                                      <p:to>
                                        <p:strVal val="visible"/>
                                      </p:to>
                                    </p:set>
                                    <p:animEffect transition="in" filter="fade">
                                      <p:cBhvr>
                                        <p:cTn id="164" dur="500"/>
                                        <p:tgtEl>
                                          <p:spTgt spid="37"/>
                                        </p:tgtEl>
                                      </p:cBhvr>
                                    </p:animEffect>
                                  </p:childTnLst>
                                </p:cTn>
                              </p:par>
                              <p:par>
                                <p:cTn id="168" presetID="10" presetClass="entr" presetSubtype="0" fill="hold" grpId="0" nodeType="withEffect" decel="100000">
                                  <p:stCondLst>
                                    <p:cond delay="600"/>
                                  </p:stCondLst>
                                  <p:childTnLst>
                                    <p:set>
                                      <p:cBhvr>
                                        <p:cTn id="166" dur="1" fill="hold">
                                          <p:stCondLst>
                                            <p:cond delay="0"/>
                                          </p:stCondLst>
                                        </p:cTn>
                                        <p:tgtEl>
                                          <p:spTgt spid="38"/>
                                        </p:tgtEl>
                                        <p:attrNameLst>
                                          <p:attrName>style.visibility</p:attrName>
                                        </p:attrNameLst>
                                      </p:cBhvr>
                                      <p:to>
                                        <p:strVal val="visible"/>
                                      </p:to>
                                    </p:set>
                                    <p:animEffect transition="in" filter="fade">
                                      <p:cBhvr>
                                        <p:cTn id="16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3" name="txt_12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1 · PRICING</a:t>
            </a:r>
            <a:endParaRPr lang="en-US" sz="1100" dirty="0"/>
          </a:p>
        </p:txBody>
      </p:sp>
      <p:sp>
        <p:nvSpPr>
          <p:cNvPr id="4" name="txt_12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Training Data &amp; Model Benchmark</a:t>
            </a:r>
            <a:endParaRPr lang="en-US" sz="3200" dirty="0"/>
          </a:p>
        </p:txBody>
      </p:sp>
      <p:sp>
        <p:nvSpPr>
          <p:cNvPr id="5" name="txt_12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Five regression families trained on the same 5,000 lanes and scored on the same held-out 1,000.</a:t>
            </a:r>
            <a:endParaRPr lang="en-US" sz="1500" dirty="0"/>
          </a:p>
        </p:txBody>
      </p:sp>
      <p:sp>
        <p:nvSpPr>
          <p:cNvPr id="6" name="shp_12_3"/>
          <p:cNvSpPr/>
          <p:nvPr/>
        </p:nvSpPr>
        <p:spPr>
          <a:xfrm>
            <a:off x="548640" y="1874520"/>
            <a:ext cx="2606040" cy="1234440"/>
          </a:xfrm>
          <a:prstGeom prst="roundRect">
            <a:avLst>
              <a:gd name="adj" fmla="val 7407"/>
            </a:avLst>
          </a:prstGeom>
          <a:solidFill>
            <a:srgbClr val="112038"/>
          </a:solidFill>
          <a:ln w="9525">
            <a:solidFill>
              <a:srgbClr val="243A5E"/>
            </a:solidFill>
            <a:prstDash val="solid"/>
          </a:ln>
        </p:spPr>
      </p:sp>
      <p:pic>
        <p:nvPicPr>
          <p:cNvPr id="7" name="img_12_4" descr="preencoded.png">    </p:cNvPr>
          <p:cNvPicPr>
            <a:picLocks noChangeAspect="1"/>
          </p:cNvPicPr>
          <p:nvPr/>
        </p:nvPicPr>
        <p:blipFill>
          <a:blip r:embed="rId1"/>
          <a:stretch>
            <a:fillRect/>
          </a:stretch>
        </p:blipFill>
        <p:spPr>
          <a:xfrm>
            <a:off x="2560320" y="2148840"/>
            <a:ext cx="347472" cy="347472"/>
          </a:xfrm>
          <a:prstGeom prst="rect">
            <a:avLst/>
          </a:prstGeom>
        </p:spPr>
      </p:pic>
      <p:sp>
        <p:nvSpPr>
          <p:cNvPr id="8" name="txt_12_5"/>
          <p:cNvSpPr txBox="1"/>
          <p:nvPr/>
        </p:nvSpPr>
        <p:spPr>
          <a:xfrm>
            <a:off x="822960" y="2075688"/>
            <a:ext cx="1691640" cy="54864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5,000</a:t>
            </a:r>
            <a:endParaRPr lang="en-US" sz="3000" dirty="0"/>
          </a:p>
        </p:txBody>
      </p:sp>
      <p:sp>
        <p:nvSpPr>
          <p:cNvPr id="9" name="txt_12_6"/>
          <p:cNvSpPr txBox="1"/>
          <p:nvPr/>
        </p:nvSpPr>
        <p:spPr>
          <a:xfrm>
            <a:off x="822960" y="2651760"/>
            <a:ext cx="2148840" cy="27432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Total records</a:t>
            </a:r>
            <a:endParaRPr lang="en-US" sz="1300" dirty="0"/>
          </a:p>
        </p:txBody>
      </p:sp>
      <p:sp>
        <p:nvSpPr>
          <p:cNvPr id="10" name="shp_12_7"/>
          <p:cNvSpPr/>
          <p:nvPr/>
        </p:nvSpPr>
        <p:spPr>
          <a:xfrm>
            <a:off x="3429000" y="1874520"/>
            <a:ext cx="2606040" cy="1234440"/>
          </a:xfrm>
          <a:prstGeom prst="roundRect">
            <a:avLst>
              <a:gd name="adj" fmla="val 7407"/>
            </a:avLst>
          </a:prstGeom>
          <a:solidFill>
            <a:srgbClr val="112038"/>
          </a:solidFill>
          <a:ln w="9525">
            <a:solidFill>
              <a:srgbClr val="243A5E"/>
            </a:solidFill>
            <a:prstDash val="solid"/>
          </a:ln>
        </p:spPr>
      </p:sp>
      <p:pic>
        <p:nvPicPr>
          <p:cNvPr id="11" name="img_12_8" descr="preencoded.png">    </p:cNvPr>
          <p:cNvPicPr>
            <a:picLocks noChangeAspect="1"/>
          </p:cNvPicPr>
          <p:nvPr/>
        </p:nvPicPr>
        <p:blipFill>
          <a:blip r:embed="rId2"/>
          <a:stretch>
            <a:fillRect/>
          </a:stretch>
        </p:blipFill>
        <p:spPr>
          <a:xfrm>
            <a:off x="5440680" y="2148840"/>
            <a:ext cx="347472" cy="347472"/>
          </a:xfrm>
          <a:prstGeom prst="rect">
            <a:avLst/>
          </a:prstGeom>
        </p:spPr>
      </p:pic>
      <p:sp>
        <p:nvSpPr>
          <p:cNvPr id="12" name="txt_12_9"/>
          <p:cNvSpPr txBox="1"/>
          <p:nvPr/>
        </p:nvSpPr>
        <p:spPr>
          <a:xfrm>
            <a:off x="3703320" y="2075688"/>
            <a:ext cx="1691640" cy="54864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12</a:t>
            </a:r>
            <a:endParaRPr lang="en-US" sz="3000" dirty="0"/>
          </a:p>
        </p:txBody>
      </p:sp>
      <p:sp>
        <p:nvSpPr>
          <p:cNvPr id="13" name="txt_12_10"/>
          <p:cNvSpPr txBox="1"/>
          <p:nvPr/>
        </p:nvSpPr>
        <p:spPr>
          <a:xfrm>
            <a:off x="3703320" y="2651760"/>
            <a:ext cx="2148840" cy="27432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Input features</a:t>
            </a:r>
            <a:endParaRPr lang="en-US" sz="1300" dirty="0"/>
          </a:p>
        </p:txBody>
      </p:sp>
      <p:sp>
        <p:nvSpPr>
          <p:cNvPr id="14" name="shp_12_11"/>
          <p:cNvSpPr/>
          <p:nvPr/>
        </p:nvSpPr>
        <p:spPr>
          <a:xfrm>
            <a:off x="548640" y="3383280"/>
            <a:ext cx="2606040" cy="1234440"/>
          </a:xfrm>
          <a:prstGeom prst="roundRect">
            <a:avLst>
              <a:gd name="adj" fmla="val 7407"/>
            </a:avLst>
          </a:prstGeom>
          <a:solidFill>
            <a:srgbClr val="112038"/>
          </a:solidFill>
          <a:ln w="9525">
            <a:solidFill>
              <a:srgbClr val="243A5E"/>
            </a:solidFill>
            <a:prstDash val="solid"/>
          </a:ln>
        </p:spPr>
      </p:sp>
      <p:pic>
        <p:nvPicPr>
          <p:cNvPr id="15" name="img_12_12" descr="preencoded.png">    </p:cNvPr>
          <p:cNvPicPr>
            <a:picLocks noChangeAspect="1"/>
          </p:cNvPicPr>
          <p:nvPr/>
        </p:nvPicPr>
        <p:blipFill>
          <a:blip r:embed="rId3"/>
          <a:stretch>
            <a:fillRect/>
          </a:stretch>
        </p:blipFill>
        <p:spPr>
          <a:xfrm>
            <a:off x="2560320" y="3657600"/>
            <a:ext cx="347472" cy="347472"/>
          </a:xfrm>
          <a:prstGeom prst="rect">
            <a:avLst/>
          </a:prstGeom>
        </p:spPr>
      </p:pic>
      <p:sp>
        <p:nvSpPr>
          <p:cNvPr id="16" name="txt_12_13"/>
          <p:cNvSpPr txBox="1"/>
          <p:nvPr/>
        </p:nvSpPr>
        <p:spPr>
          <a:xfrm>
            <a:off x="822960" y="3584448"/>
            <a:ext cx="1691640" cy="54864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4,000</a:t>
            </a:r>
            <a:endParaRPr lang="en-US" sz="3000" dirty="0"/>
          </a:p>
        </p:txBody>
      </p:sp>
      <p:sp>
        <p:nvSpPr>
          <p:cNvPr id="17" name="txt_12_14"/>
          <p:cNvSpPr txBox="1"/>
          <p:nvPr/>
        </p:nvSpPr>
        <p:spPr>
          <a:xfrm>
            <a:off x="822960" y="4160520"/>
            <a:ext cx="2148840" cy="27432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Training records</a:t>
            </a:r>
            <a:endParaRPr lang="en-US" sz="1300" dirty="0"/>
          </a:p>
        </p:txBody>
      </p:sp>
      <p:sp>
        <p:nvSpPr>
          <p:cNvPr id="18" name="shp_12_15"/>
          <p:cNvSpPr/>
          <p:nvPr/>
        </p:nvSpPr>
        <p:spPr>
          <a:xfrm>
            <a:off x="3429000" y="3383280"/>
            <a:ext cx="2606040" cy="1234440"/>
          </a:xfrm>
          <a:prstGeom prst="roundRect">
            <a:avLst>
              <a:gd name="adj" fmla="val 7407"/>
            </a:avLst>
          </a:prstGeom>
          <a:solidFill>
            <a:srgbClr val="112038"/>
          </a:solidFill>
          <a:ln w="9525">
            <a:solidFill>
              <a:srgbClr val="243A5E"/>
            </a:solidFill>
            <a:prstDash val="solid"/>
          </a:ln>
        </p:spPr>
      </p:sp>
      <p:pic>
        <p:nvPicPr>
          <p:cNvPr id="19" name="img_12_16" descr="preencoded.png">    </p:cNvPr>
          <p:cNvPicPr>
            <a:picLocks noChangeAspect="1"/>
          </p:cNvPicPr>
          <p:nvPr/>
        </p:nvPicPr>
        <p:blipFill>
          <a:blip r:embed="rId4"/>
          <a:stretch>
            <a:fillRect/>
          </a:stretch>
        </p:blipFill>
        <p:spPr>
          <a:xfrm>
            <a:off x="5440680" y="3657600"/>
            <a:ext cx="347472" cy="347472"/>
          </a:xfrm>
          <a:prstGeom prst="rect">
            <a:avLst/>
          </a:prstGeom>
        </p:spPr>
      </p:pic>
      <p:sp>
        <p:nvSpPr>
          <p:cNvPr id="20" name="txt_12_17"/>
          <p:cNvSpPr txBox="1"/>
          <p:nvPr/>
        </p:nvSpPr>
        <p:spPr>
          <a:xfrm>
            <a:off x="3703320" y="3584448"/>
            <a:ext cx="1691640" cy="54864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1,000</a:t>
            </a:r>
            <a:endParaRPr lang="en-US" sz="3000" dirty="0"/>
          </a:p>
        </p:txBody>
      </p:sp>
      <p:sp>
        <p:nvSpPr>
          <p:cNvPr id="21" name="txt_12_18"/>
          <p:cNvSpPr txBox="1"/>
          <p:nvPr/>
        </p:nvSpPr>
        <p:spPr>
          <a:xfrm>
            <a:off x="3703320" y="4160520"/>
            <a:ext cx="2148840" cy="27432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Testing records</a:t>
            </a:r>
            <a:endParaRPr lang="en-US" sz="1300" dirty="0"/>
          </a:p>
        </p:txBody>
      </p:sp>
      <p:sp>
        <p:nvSpPr>
          <p:cNvPr id="22" name="txt_12_19"/>
          <p:cNvSpPr txBox="1"/>
          <p:nvPr/>
        </p:nvSpPr>
        <p:spPr>
          <a:xfrm>
            <a:off x="548640" y="4937760"/>
            <a:ext cx="36576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TRAIN / TEST SPLIT</a:t>
            </a:r>
            <a:endParaRPr lang="en-US" sz="1050" dirty="0"/>
          </a:p>
        </p:txBody>
      </p:sp>
      <p:sp>
        <p:nvSpPr>
          <p:cNvPr id="23" name="shp_12_20"/>
          <p:cNvSpPr/>
          <p:nvPr/>
        </p:nvSpPr>
        <p:spPr>
          <a:xfrm>
            <a:off x="548640" y="5257800"/>
            <a:ext cx="4389120" cy="457200"/>
          </a:xfrm>
          <a:prstGeom prst="rect">
            <a:avLst/>
          </a:prstGeom>
          <a:solidFill>
            <a:srgbClr val="F5A524"/>
          </a:solidFill>
          <a:ln w="12700">
            <a:solidFill>
              <a:srgbClr val="F5A524"/>
            </a:solidFill>
            <a:prstDash val="solid"/>
          </a:ln>
        </p:spPr>
      </p:sp>
      <p:sp>
        <p:nvSpPr>
          <p:cNvPr id="24" name="txt_12_21"/>
          <p:cNvSpPr txBox="1"/>
          <p:nvPr/>
        </p:nvSpPr>
        <p:spPr>
          <a:xfrm>
            <a:off x="731520" y="5257800"/>
            <a:ext cx="4114800" cy="45720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Train  4,000 · 80%</a:t>
            </a:r>
            <a:endParaRPr lang="en-US" sz="1300" dirty="0"/>
          </a:p>
        </p:txBody>
      </p:sp>
      <p:sp>
        <p:nvSpPr>
          <p:cNvPr id="25" name="shp_12_22"/>
          <p:cNvSpPr/>
          <p:nvPr/>
        </p:nvSpPr>
        <p:spPr>
          <a:xfrm>
            <a:off x="4974336" y="5257800"/>
            <a:ext cx="1060704" cy="457200"/>
          </a:xfrm>
          <a:prstGeom prst="rect">
            <a:avLst/>
          </a:prstGeom>
          <a:solidFill>
            <a:srgbClr val="243A5E"/>
          </a:solidFill>
          <a:ln w="12700">
            <a:solidFill>
              <a:srgbClr val="243A5E"/>
            </a:solidFill>
            <a:prstDash val="solid"/>
          </a:ln>
        </p:spPr>
      </p:sp>
      <p:sp>
        <p:nvSpPr>
          <p:cNvPr id="26" name="txt_12_23"/>
          <p:cNvSpPr txBox="1"/>
          <p:nvPr/>
        </p:nvSpPr>
        <p:spPr>
          <a:xfrm>
            <a:off x="4974336" y="5257800"/>
            <a:ext cx="1060704" cy="457200"/>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Test 20%</a:t>
            </a:r>
            <a:endParaRPr lang="en-US" sz="1200" dirty="0"/>
          </a:p>
        </p:txBody>
      </p:sp>
      <p:sp>
        <p:nvSpPr>
          <p:cNvPr id="27" name="shp_12_24"/>
          <p:cNvSpPr/>
          <p:nvPr/>
        </p:nvSpPr>
        <p:spPr>
          <a:xfrm>
            <a:off x="6446520" y="1874520"/>
            <a:ext cx="5196535" cy="4206240"/>
          </a:xfrm>
          <a:prstGeom prst="roundRect">
            <a:avLst>
              <a:gd name="adj" fmla="val 2174"/>
            </a:avLst>
          </a:prstGeom>
          <a:solidFill>
            <a:srgbClr val="112038"/>
          </a:solidFill>
          <a:ln w="9525">
            <a:solidFill>
              <a:srgbClr val="243A5E"/>
            </a:solidFill>
            <a:prstDash val="solid"/>
          </a:ln>
        </p:spPr>
      </p:sp>
      <p:sp>
        <p:nvSpPr>
          <p:cNvPr id="28" name="txt_12_25"/>
          <p:cNvSpPr txBox="1"/>
          <p:nvPr/>
        </p:nvSpPr>
        <p:spPr>
          <a:xfrm>
            <a:off x="6675120" y="2011680"/>
            <a:ext cx="36576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Test-set comparison</a:t>
            </a:r>
            <a:endParaRPr lang="en-US" sz="1600" dirty="0"/>
          </a:p>
        </p:txBody>
      </p:sp>
      <p:sp>
        <p:nvSpPr>
          <p:cNvPr id="29" name="txt_12_26"/>
          <p:cNvSpPr txBox="1"/>
          <p:nvPr/>
        </p:nvSpPr>
        <p:spPr>
          <a:xfrm>
            <a:off x="9859975" y="2395728"/>
            <a:ext cx="685800" cy="228600"/>
          </a:xfrm>
          <a:prstGeom prst="rect">
            <a:avLst/>
          </a:prstGeom>
          <a:noFill/>
          <a:ln/>
        </p:spPr>
        <p:txBody>
          <a:bodyPr wrap="square" lIns="0" tIns="0" rIns="0" bIns="0" rtlCol="0" anchor="t"/>
          <a:lstStyle/>
          <a:p>
            <a:pPr algn="r" indent="0" marL="0">
              <a:buNone/>
            </a:pPr>
            <a:r>
              <a:rPr lang="en-US" sz="1050" b="1" spc="100" kern="0" dirty="0">
                <a:solidFill>
                  <a:srgbClr val="71819A"/>
                </a:solidFill>
                <a:latin typeface="Calibri" pitchFamily="34" charset="0"/>
                <a:ea typeface="Calibri" pitchFamily="34" charset="-122"/>
                <a:cs typeface="Calibri" pitchFamily="34" charset="-120"/>
              </a:rPr>
              <a:t>R²</a:t>
            </a:r>
            <a:endParaRPr lang="en-US" sz="1050" dirty="0"/>
          </a:p>
        </p:txBody>
      </p:sp>
      <p:sp>
        <p:nvSpPr>
          <p:cNvPr id="30" name="txt_12_27"/>
          <p:cNvSpPr txBox="1"/>
          <p:nvPr/>
        </p:nvSpPr>
        <p:spPr>
          <a:xfrm>
            <a:off x="10545775" y="2395728"/>
            <a:ext cx="868680" cy="228600"/>
          </a:xfrm>
          <a:prstGeom prst="rect">
            <a:avLst/>
          </a:prstGeom>
          <a:noFill/>
          <a:ln/>
        </p:spPr>
        <p:txBody>
          <a:bodyPr wrap="square" lIns="0" tIns="0" rIns="0" bIns="0" rtlCol="0" anchor="t"/>
          <a:lstStyle/>
          <a:p>
            <a:pPr algn="r" indent="0" marL="0">
              <a:buNone/>
            </a:pPr>
            <a:r>
              <a:rPr lang="en-US" sz="1050" b="1" spc="100" kern="0" dirty="0">
                <a:solidFill>
                  <a:srgbClr val="71819A"/>
                </a:solidFill>
                <a:latin typeface="Calibri" pitchFamily="34" charset="0"/>
                <a:ea typeface="Calibri" pitchFamily="34" charset="-122"/>
                <a:cs typeface="Calibri" pitchFamily="34" charset="-120"/>
              </a:rPr>
              <a:t>MAE</a:t>
            </a:r>
            <a:endParaRPr lang="en-US" sz="1050" dirty="0"/>
          </a:p>
        </p:txBody>
      </p:sp>
      <p:sp>
        <p:nvSpPr>
          <p:cNvPr id="31" name="txt_12_28"/>
          <p:cNvSpPr txBox="1"/>
          <p:nvPr/>
        </p:nvSpPr>
        <p:spPr>
          <a:xfrm>
            <a:off x="6675120" y="2743200"/>
            <a:ext cx="1600200" cy="384048"/>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OLS Linear</a:t>
            </a:r>
            <a:endParaRPr lang="en-US" sz="1300" dirty="0"/>
          </a:p>
        </p:txBody>
      </p:sp>
      <p:sp>
        <p:nvSpPr>
          <p:cNvPr id="32" name="shp_12_29"/>
          <p:cNvSpPr/>
          <p:nvPr/>
        </p:nvSpPr>
        <p:spPr>
          <a:xfrm>
            <a:off x="8275320" y="2816352"/>
            <a:ext cx="1267441" cy="237744"/>
          </a:xfrm>
          <a:prstGeom prst="rect">
            <a:avLst/>
          </a:prstGeom>
          <a:solidFill>
            <a:srgbClr val="4A6285"/>
          </a:solidFill>
          <a:ln w="12700">
            <a:solidFill>
              <a:srgbClr val="4A6285"/>
            </a:solidFill>
            <a:prstDash val="solid"/>
          </a:ln>
        </p:spPr>
      </p:sp>
      <p:sp>
        <p:nvSpPr>
          <p:cNvPr id="33" name="txt_12_30"/>
          <p:cNvSpPr txBox="1"/>
          <p:nvPr/>
        </p:nvSpPr>
        <p:spPr>
          <a:xfrm>
            <a:off x="9859975" y="2743200"/>
            <a:ext cx="685800" cy="384048"/>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0.8488</a:t>
            </a:r>
            <a:endParaRPr lang="en-US" sz="1300" dirty="0"/>
          </a:p>
        </p:txBody>
      </p:sp>
      <p:sp>
        <p:nvSpPr>
          <p:cNvPr id="34" name="txt_12_31"/>
          <p:cNvSpPr txBox="1"/>
          <p:nvPr/>
        </p:nvSpPr>
        <p:spPr>
          <a:xfrm>
            <a:off x="10545775" y="2743200"/>
            <a:ext cx="868680" cy="384048"/>
          </a:xfrm>
          <a:prstGeom prst="rect">
            <a:avLst/>
          </a:prstGeom>
          <a:noFill/>
          <a:ln/>
        </p:spPr>
        <p:txBody>
          <a:bodyPr wrap="square" lIns="0" tIns="0" rIns="0" bIns="0" rtlCol="0" anchor="ctr"/>
          <a:lstStyle/>
          <a:p>
            <a:pPr algn="r" indent="0" marL="0">
              <a:buNone/>
            </a:pPr>
            <a:r>
              <a:rPr lang="en-US" sz="1300" dirty="0">
                <a:solidFill>
                  <a:srgbClr val="AEBBCF"/>
                </a:solidFill>
                <a:latin typeface="Calibri" pitchFamily="34" charset="0"/>
                <a:ea typeface="Calibri" pitchFamily="34" charset="-122"/>
                <a:cs typeface="Calibri" pitchFamily="34" charset="-120"/>
              </a:rPr>
              <a:t>₹18,898</a:t>
            </a:r>
            <a:endParaRPr lang="en-US" sz="1300" dirty="0"/>
          </a:p>
        </p:txBody>
      </p:sp>
      <p:sp>
        <p:nvSpPr>
          <p:cNvPr id="35" name="txt_12_32"/>
          <p:cNvSpPr txBox="1"/>
          <p:nvPr/>
        </p:nvSpPr>
        <p:spPr>
          <a:xfrm>
            <a:off x="6675120" y="3310128"/>
            <a:ext cx="1600200" cy="384048"/>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Ridge</a:t>
            </a:r>
            <a:endParaRPr lang="en-US" sz="1300" dirty="0"/>
          </a:p>
        </p:txBody>
      </p:sp>
      <p:sp>
        <p:nvSpPr>
          <p:cNvPr id="36" name="shp_12_33"/>
          <p:cNvSpPr/>
          <p:nvPr/>
        </p:nvSpPr>
        <p:spPr>
          <a:xfrm>
            <a:off x="8275320" y="3383280"/>
            <a:ext cx="1267441" cy="237744"/>
          </a:xfrm>
          <a:prstGeom prst="rect">
            <a:avLst/>
          </a:prstGeom>
          <a:solidFill>
            <a:srgbClr val="4A6285"/>
          </a:solidFill>
          <a:ln w="12700">
            <a:solidFill>
              <a:srgbClr val="4A6285"/>
            </a:solidFill>
            <a:prstDash val="solid"/>
          </a:ln>
        </p:spPr>
      </p:sp>
      <p:sp>
        <p:nvSpPr>
          <p:cNvPr id="37" name="txt_12_34"/>
          <p:cNvSpPr txBox="1"/>
          <p:nvPr/>
        </p:nvSpPr>
        <p:spPr>
          <a:xfrm>
            <a:off x="9859975" y="3310128"/>
            <a:ext cx="685800" cy="384048"/>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0.8488</a:t>
            </a:r>
            <a:endParaRPr lang="en-US" sz="1300" dirty="0"/>
          </a:p>
        </p:txBody>
      </p:sp>
      <p:sp>
        <p:nvSpPr>
          <p:cNvPr id="38" name="txt_12_35"/>
          <p:cNvSpPr txBox="1"/>
          <p:nvPr/>
        </p:nvSpPr>
        <p:spPr>
          <a:xfrm>
            <a:off x="10545775" y="3310128"/>
            <a:ext cx="868680" cy="384048"/>
          </a:xfrm>
          <a:prstGeom prst="rect">
            <a:avLst/>
          </a:prstGeom>
          <a:noFill/>
          <a:ln/>
        </p:spPr>
        <p:txBody>
          <a:bodyPr wrap="square" lIns="0" tIns="0" rIns="0" bIns="0" rtlCol="0" anchor="ctr"/>
          <a:lstStyle/>
          <a:p>
            <a:pPr algn="r" indent="0" marL="0">
              <a:buNone/>
            </a:pPr>
            <a:r>
              <a:rPr lang="en-US" sz="1300" dirty="0">
                <a:solidFill>
                  <a:srgbClr val="AEBBCF"/>
                </a:solidFill>
                <a:latin typeface="Calibri" pitchFamily="34" charset="0"/>
                <a:ea typeface="Calibri" pitchFamily="34" charset="-122"/>
                <a:cs typeface="Calibri" pitchFamily="34" charset="-120"/>
              </a:rPr>
              <a:t>₹18,888</a:t>
            </a:r>
            <a:endParaRPr lang="en-US" sz="1300" dirty="0"/>
          </a:p>
        </p:txBody>
      </p:sp>
      <p:sp>
        <p:nvSpPr>
          <p:cNvPr id="39" name="txt_12_36"/>
          <p:cNvSpPr txBox="1"/>
          <p:nvPr/>
        </p:nvSpPr>
        <p:spPr>
          <a:xfrm>
            <a:off x="6675120" y="3877056"/>
            <a:ext cx="1600200" cy="384048"/>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Random Forest</a:t>
            </a:r>
            <a:endParaRPr lang="en-US" sz="1300" dirty="0"/>
          </a:p>
        </p:txBody>
      </p:sp>
      <p:sp>
        <p:nvSpPr>
          <p:cNvPr id="40" name="shp_12_37"/>
          <p:cNvSpPr/>
          <p:nvPr/>
        </p:nvSpPr>
        <p:spPr>
          <a:xfrm>
            <a:off x="8275320" y="3950208"/>
            <a:ext cx="1440803" cy="237744"/>
          </a:xfrm>
          <a:prstGeom prst="rect">
            <a:avLst/>
          </a:prstGeom>
          <a:solidFill>
            <a:srgbClr val="4A6285"/>
          </a:solidFill>
          <a:ln w="12700">
            <a:solidFill>
              <a:srgbClr val="4A6285"/>
            </a:solidFill>
            <a:prstDash val="solid"/>
          </a:ln>
        </p:spPr>
      </p:sp>
      <p:sp>
        <p:nvSpPr>
          <p:cNvPr id="41" name="txt_12_38"/>
          <p:cNvSpPr txBox="1"/>
          <p:nvPr/>
        </p:nvSpPr>
        <p:spPr>
          <a:xfrm>
            <a:off x="9859975" y="3877056"/>
            <a:ext cx="685800" cy="384048"/>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0.9649</a:t>
            </a:r>
            <a:endParaRPr lang="en-US" sz="1300" dirty="0"/>
          </a:p>
        </p:txBody>
      </p:sp>
      <p:sp>
        <p:nvSpPr>
          <p:cNvPr id="42" name="txt_12_39"/>
          <p:cNvSpPr txBox="1"/>
          <p:nvPr/>
        </p:nvSpPr>
        <p:spPr>
          <a:xfrm>
            <a:off x="10545775" y="3877056"/>
            <a:ext cx="868680" cy="384048"/>
          </a:xfrm>
          <a:prstGeom prst="rect">
            <a:avLst/>
          </a:prstGeom>
          <a:noFill/>
          <a:ln/>
        </p:spPr>
        <p:txBody>
          <a:bodyPr wrap="square" lIns="0" tIns="0" rIns="0" bIns="0" rtlCol="0" anchor="ctr"/>
          <a:lstStyle/>
          <a:p>
            <a:pPr algn="r" indent="0" marL="0">
              <a:buNone/>
            </a:pPr>
            <a:r>
              <a:rPr lang="en-US" sz="1300" dirty="0">
                <a:solidFill>
                  <a:srgbClr val="AEBBCF"/>
                </a:solidFill>
                <a:latin typeface="Calibri" pitchFamily="34" charset="0"/>
                <a:ea typeface="Calibri" pitchFamily="34" charset="-122"/>
                <a:cs typeface="Calibri" pitchFamily="34" charset="-120"/>
              </a:rPr>
              <a:t>₹7,663</a:t>
            </a:r>
            <a:endParaRPr lang="en-US" sz="1300" dirty="0"/>
          </a:p>
        </p:txBody>
      </p:sp>
      <p:sp>
        <p:nvSpPr>
          <p:cNvPr id="43" name="txt_12_40"/>
          <p:cNvSpPr txBox="1"/>
          <p:nvPr/>
        </p:nvSpPr>
        <p:spPr>
          <a:xfrm>
            <a:off x="6675120" y="4443984"/>
            <a:ext cx="1600200" cy="384048"/>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Extra Trees</a:t>
            </a:r>
            <a:endParaRPr lang="en-US" sz="1300" dirty="0"/>
          </a:p>
        </p:txBody>
      </p:sp>
      <p:sp>
        <p:nvSpPr>
          <p:cNvPr id="44" name="shp_12_41"/>
          <p:cNvSpPr/>
          <p:nvPr/>
        </p:nvSpPr>
        <p:spPr>
          <a:xfrm>
            <a:off x="8275320" y="4517136"/>
            <a:ext cx="1447373" cy="237744"/>
          </a:xfrm>
          <a:prstGeom prst="rect">
            <a:avLst/>
          </a:prstGeom>
          <a:solidFill>
            <a:srgbClr val="4A6285"/>
          </a:solidFill>
          <a:ln w="12700">
            <a:solidFill>
              <a:srgbClr val="4A6285"/>
            </a:solidFill>
            <a:prstDash val="solid"/>
          </a:ln>
        </p:spPr>
      </p:sp>
      <p:sp>
        <p:nvSpPr>
          <p:cNvPr id="45" name="txt_12_42"/>
          <p:cNvSpPr txBox="1"/>
          <p:nvPr/>
        </p:nvSpPr>
        <p:spPr>
          <a:xfrm>
            <a:off x="9859975" y="4443984"/>
            <a:ext cx="685800" cy="384048"/>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0.9693</a:t>
            </a:r>
            <a:endParaRPr lang="en-US" sz="1300" dirty="0"/>
          </a:p>
        </p:txBody>
      </p:sp>
      <p:sp>
        <p:nvSpPr>
          <p:cNvPr id="46" name="txt_12_43"/>
          <p:cNvSpPr txBox="1"/>
          <p:nvPr/>
        </p:nvSpPr>
        <p:spPr>
          <a:xfrm>
            <a:off x="10545775" y="4443984"/>
            <a:ext cx="868680" cy="384048"/>
          </a:xfrm>
          <a:prstGeom prst="rect">
            <a:avLst/>
          </a:prstGeom>
          <a:noFill/>
          <a:ln/>
        </p:spPr>
        <p:txBody>
          <a:bodyPr wrap="square" lIns="0" tIns="0" rIns="0" bIns="0" rtlCol="0" anchor="ctr"/>
          <a:lstStyle/>
          <a:p>
            <a:pPr algn="r" indent="0" marL="0">
              <a:buNone/>
            </a:pPr>
            <a:r>
              <a:rPr lang="en-US" sz="1300" dirty="0">
                <a:solidFill>
                  <a:srgbClr val="AEBBCF"/>
                </a:solidFill>
                <a:latin typeface="Calibri" pitchFamily="34" charset="0"/>
                <a:ea typeface="Calibri" pitchFamily="34" charset="-122"/>
                <a:cs typeface="Calibri" pitchFamily="34" charset="-120"/>
              </a:rPr>
              <a:t>₹7,073</a:t>
            </a:r>
            <a:endParaRPr lang="en-US" sz="1300" dirty="0"/>
          </a:p>
        </p:txBody>
      </p:sp>
      <p:sp>
        <p:nvSpPr>
          <p:cNvPr id="47" name="txt_12_44"/>
          <p:cNvSpPr txBox="1"/>
          <p:nvPr/>
        </p:nvSpPr>
        <p:spPr>
          <a:xfrm>
            <a:off x="6675120" y="5010912"/>
            <a:ext cx="1600200" cy="384048"/>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Gradient Boosting</a:t>
            </a:r>
            <a:endParaRPr lang="en-US" sz="1300" dirty="0"/>
          </a:p>
        </p:txBody>
      </p:sp>
      <p:sp>
        <p:nvSpPr>
          <p:cNvPr id="48" name="shp_12_45"/>
          <p:cNvSpPr/>
          <p:nvPr/>
        </p:nvSpPr>
        <p:spPr>
          <a:xfrm>
            <a:off x="8275320" y="5084064"/>
            <a:ext cx="1462156" cy="237744"/>
          </a:xfrm>
          <a:prstGeom prst="rect">
            <a:avLst/>
          </a:prstGeom>
          <a:solidFill>
            <a:srgbClr val="F5A524"/>
          </a:solidFill>
          <a:ln w="12700">
            <a:solidFill>
              <a:srgbClr val="F5A524"/>
            </a:solidFill>
            <a:prstDash val="solid"/>
          </a:ln>
        </p:spPr>
      </p:sp>
      <p:sp>
        <p:nvSpPr>
          <p:cNvPr id="49" name="txt_12_46"/>
          <p:cNvSpPr txBox="1"/>
          <p:nvPr/>
        </p:nvSpPr>
        <p:spPr>
          <a:xfrm>
            <a:off x="9859975" y="5010912"/>
            <a:ext cx="685800" cy="384048"/>
          </a:xfrm>
          <a:prstGeom prst="rect">
            <a:avLst/>
          </a:prstGeom>
          <a:noFill/>
          <a:ln/>
        </p:spPr>
        <p:txBody>
          <a:bodyPr wrap="square" lIns="0" tIns="0" rIns="0" bIns="0" rtlCol="0" anchor="ctr"/>
          <a:lstStyle/>
          <a:p>
            <a:pPr algn="r" indent="0" marL="0">
              <a:buNone/>
            </a:pPr>
            <a:r>
              <a:rPr lang="en-US" sz="1300" b="1" dirty="0">
                <a:solidFill>
                  <a:srgbClr val="F5A524"/>
                </a:solidFill>
                <a:latin typeface="Calibri" pitchFamily="34" charset="0"/>
                <a:ea typeface="Calibri" pitchFamily="34" charset="-122"/>
                <a:cs typeface="Calibri" pitchFamily="34" charset="-120"/>
              </a:rPr>
              <a:t>0.9792</a:t>
            </a:r>
            <a:endParaRPr lang="en-US" sz="1300" dirty="0"/>
          </a:p>
        </p:txBody>
      </p:sp>
      <p:sp>
        <p:nvSpPr>
          <p:cNvPr id="50" name="txt_12_47"/>
          <p:cNvSpPr txBox="1"/>
          <p:nvPr/>
        </p:nvSpPr>
        <p:spPr>
          <a:xfrm>
            <a:off x="10545775" y="5010912"/>
            <a:ext cx="868680" cy="384048"/>
          </a:xfrm>
          <a:prstGeom prst="rect">
            <a:avLst/>
          </a:prstGeom>
          <a:noFill/>
          <a:ln/>
        </p:spPr>
        <p:txBody>
          <a:bodyPr wrap="square" lIns="0" tIns="0" rIns="0" bIns="0" rtlCol="0" anchor="ctr"/>
          <a:lstStyle/>
          <a:p>
            <a:pPr algn="r" indent="0" marL="0">
              <a:buNone/>
            </a:pPr>
            <a:r>
              <a:rPr lang="en-US" sz="1300" b="1" dirty="0">
                <a:solidFill>
                  <a:srgbClr val="F5A524"/>
                </a:solidFill>
                <a:latin typeface="Calibri" pitchFamily="34" charset="0"/>
                <a:ea typeface="Calibri" pitchFamily="34" charset="-122"/>
                <a:cs typeface="Calibri" pitchFamily="34" charset="-120"/>
              </a:rPr>
              <a:t>₹5,307</a:t>
            </a:r>
            <a:endParaRPr lang="en-US" sz="1300" dirty="0"/>
          </a:p>
        </p:txBody>
      </p:sp>
      <p:sp>
        <p:nvSpPr>
          <p:cNvPr id="51" name="shp_12_48"/>
          <p:cNvSpPr/>
          <p:nvPr/>
        </p:nvSpPr>
        <p:spPr>
          <a:xfrm>
            <a:off x="6675120" y="5486400"/>
            <a:ext cx="4739335" cy="438912"/>
          </a:xfrm>
          <a:prstGeom prst="roundRect">
            <a:avLst>
              <a:gd name="adj" fmla="val 20833"/>
            </a:avLst>
          </a:prstGeom>
          <a:solidFill>
            <a:srgbClr val="3B2A0C"/>
          </a:solidFill>
          <a:ln w="9525">
            <a:solidFill>
              <a:srgbClr val="F5A524"/>
            </a:solidFill>
            <a:prstDash val="solid"/>
          </a:ln>
        </p:spPr>
      </p:sp>
      <p:pic>
        <p:nvPicPr>
          <p:cNvPr id="52" name="img_12_49" descr="preencoded.png">    </p:cNvPr>
          <p:cNvPicPr>
            <a:picLocks noChangeAspect="1"/>
          </p:cNvPicPr>
          <p:nvPr/>
        </p:nvPicPr>
        <p:blipFill>
          <a:blip r:embed="rId5"/>
          <a:stretch>
            <a:fillRect/>
          </a:stretch>
        </p:blipFill>
        <p:spPr>
          <a:xfrm>
            <a:off x="6812280" y="5550408"/>
            <a:ext cx="310896" cy="310896"/>
          </a:xfrm>
          <a:prstGeom prst="rect">
            <a:avLst/>
          </a:prstGeom>
        </p:spPr>
      </p:pic>
      <p:sp>
        <p:nvSpPr>
          <p:cNvPr id="53" name="txt_12_50"/>
          <p:cNvSpPr txBox="1"/>
          <p:nvPr/>
        </p:nvSpPr>
        <p:spPr>
          <a:xfrm>
            <a:off x="7223760" y="5486400"/>
            <a:ext cx="4099255" cy="438912"/>
          </a:xfrm>
          <a:prstGeom prst="rect">
            <a:avLst/>
          </a:prstGeom>
          <a:noFill/>
          <a:ln/>
        </p:spPr>
        <p:txBody>
          <a:bodyPr wrap="square" lIns="0" tIns="0" rIns="0" bIns="0" rtlCol="0" anchor="ctr"/>
          <a:lstStyle/>
          <a:p>
            <a:pPr indent="0" marL="0">
              <a:buNone/>
            </a:pPr>
            <a:r>
              <a:rPr lang="en-US" sz="1250" b="1" dirty="0">
                <a:solidFill>
                  <a:srgbClr val="F5A524"/>
                </a:solidFill>
                <a:latin typeface="Calibri" pitchFamily="34" charset="0"/>
                <a:ea typeface="Calibri" pitchFamily="34" charset="-122"/>
                <a:cs typeface="Calibri" pitchFamily="34" charset="-120"/>
              </a:rPr>
              <a:t>Gradient Boosting wins — best R² and lowest MAE.</a:t>
            </a:r>
            <a:endParaRPr lang="en-US" sz="1250" dirty="0"/>
          </a:p>
        </p:txBody>
      </p:sp>
      <p:sp>
        <p:nvSpPr>
          <p:cNvPr id="54" name="txt_12_51"/>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55" name="txt_12_52"/>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12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96" fill="hold">
                      <p:stCondLst>
                        <p:cond delay="indefinite"/>
                      </p:stCondLst>
                      <p:childTnLst>
                        <p:par>
                          <p:cTn id="97"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12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5" presetID="42" presetClass="entr" presetSubtype="0" fill="hold" grpId="0" nodeType="withEffect" decel="100000">
                                  <p:stCondLst>
                                    <p:cond delay="12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decel="100000">
                                  <p:stCondLst>
                                    <p:cond delay="12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decel="100000">
                                  <p:stCondLst>
                                    <p:cond delay="1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decel="100000">
                                  <p:stCondLst>
                                    <p:cond delay="2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decel="100000">
                                  <p:stCondLst>
                                    <p:cond delay="2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decel="100000">
                                  <p:stCondLst>
                                    <p:cond delay="2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decel="100000">
                                  <p:stCondLst>
                                    <p:cond delay="24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0.05"/>
                                          </p:val>
                                        </p:tav>
                                        <p:tav tm="100000">
                                          <p:val>
                                            <p:strVal val="#ppt_y"/>
                                          </p:val>
                                        </p:tav>
                                      </p:tavLst>
                                    </p:anim>
                                  </p:childTnLst>
                                </p:cTn>
                              </p:par>
                              <p:par>
                                <p:cTn id="80" presetID="42" presetClass="entr" presetSubtype="0" fill="hold" grpId="0" nodeType="withEffect" decel="100000">
                                  <p:stCondLst>
                                    <p:cond delay="36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decel="100000">
                                  <p:stCondLst>
                                    <p:cond delay="36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0.05"/>
                                          </p:val>
                                        </p:tav>
                                        <p:tav tm="100000">
                                          <p:val>
                                            <p:strVal val="#ppt_y"/>
                                          </p:val>
                                        </p:tav>
                                      </p:tavLst>
                                    </p:anim>
                                  </p:childTnLst>
                                </p:cTn>
                              </p:par>
                              <p:par>
                                <p:cTn id="90" presetID="42" presetClass="entr" presetSubtype="0" fill="hold" grpId="0" nodeType="withEffect" decel="100000">
                                  <p:stCondLst>
                                    <p:cond delay="36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0.05"/>
                                          </p:val>
                                        </p:tav>
                                        <p:tav tm="100000">
                                          <p:val>
                                            <p:strVal val="#ppt_y"/>
                                          </p:val>
                                        </p:tav>
                                      </p:tavLst>
                                    </p:anim>
                                  </p:childTnLst>
                                </p:cTn>
                              </p:par>
                              <p:par>
                                <p:cTn id="95" presetID="42" presetClass="entr" presetSubtype="0" fill="hold" grpId="0" nodeType="withEffect" decel="100000">
                                  <p:stCondLst>
                                    <p:cond delay="36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0.05"/>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00" presetID="10" presetClass="entr" presetSubtype="0" fill="hold" grpId="0" nodeType="clickEffect" decel="100000">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00"/>
                                        <p:tgtEl>
                                          <p:spTgt spid="22"/>
                                        </p:tgtEl>
                                      </p:cBhvr>
                                    </p:animEffect>
                                  </p:childTnLst>
                                </p:cTn>
                              </p:par>
                              <p:par>
                                <p:cTn id="103" presetID="22" presetClass="entr" presetSubtype="8" fill="hold" grpId="0" nodeType="withEffect" decel="100000">
                                  <p:stCondLst>
                                    <p:cond delay="150"/>
                                  </p:stCondLst>
                                  <p:childTnLst>
                                    <p:set>
                                      <p:cBhvr>
                                        <p:cTn id="101" dur="1" fill="hold">
                                          <p:stCondLst>
                                            <p:cond delay="0"/>
                                          </p:stCondLst>
                                        </p:cTn>
                                        <p:tgtEl>
                                          <p:spTgt spid="23"/>
                                        </p:tgtEl>
                                        <p:attrNameLst>
                                          <p:attrName>style.visibility</p:attrName>
                                        </p:attrNameLst>
                                      </p:cBhvr>
                                      <p:to>
                                        <p:strVal val="visible"/>
                                      </p:to>
                                    </p:set>
                                    <p:animEffect transition="in" filter="wipe(right)">
                                      <p:cBhvr>
                                        <p:cTn id="102" dur="700"/>
                                        <p:tgtEl>
                                          <p:spTgt spid="23"/>
                                        </p:tgtEl>
                                      </p:cBhvr>
                                    </p:animEffect>
                                  </p:childTnLst>
                                </p:cTn>
                              </p:par>
                              <p:par>
                                <p:cTn id="106" presetID="10" presetClass="entr" presetSubtype="0" fill="hold" grpId="0" nodeType="withEffect" decel="100000">
                                  <p:stCondLst>
                                    <p:cond delay="70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00"/>
                                        <p:tgtEl>
                                          <p:spTgt spid="24"/>
                                        </p:tgtEl>
                                      </p:cBhvr>
                                    </p:animEffect>
                                  </p:childTnLst>
                                </p:cTn>
                              </p:par>
                              <p:par>
                                <p:cTn id="109" presetID="22" presetClass="entr" presetSubtype="8" fill="hold" grpId="0" nodeType="withEffect" decel="100000">
                                  <p:stCondLst>
                                    <p:cond delay="850"/>
                                  </p:stCondLst>
                                  <p:childTnLst>
                                    <p:set>
                                      <p:cBhvr>
                                        <p:cTn id="107" dur="1" fill="hold">
                                          <p:stCondLst>
                                            <p:cond delay="0"/>
                                          </p:stCondLst>
                                        </p:cTn>
                                        <p:tgtEl>
                                          <p:spTgt spid="25"/>
                                        </p:tgtEl>
                                        <p:attrNameLst>
                                          <p:attrName>style.visibility</p:attrName>
                                        </p:attrNameLst>
                                      </p:cBhvr>
                                      <p:to>
                                        <p:strVal val="visible"/>
                                      </p:to>
                                    </p:set>
                                    <p:animEffect transition="in" filter="wipe(right)">
                                      <p:cBhvr>
                                        <p:cTn id="108" dur="250"/>
                                        <p:tgtEl>
                                          <p:spTgt spid="25"/>
                                        </p:tgtEl>
                                      </p:cBhvr>
                                    </p:animEffect>
                                  </p:childTnLst>
                                </p:cTn>
                              </p:par>
                              <p:par>
                                <p:cTn id="112" presetID="10" presetClass="entr" presetSubtype="0" fill="hold" grpId="0" nodeType="withEffect" decel="100000">
                                  <p:stCondLst>
                                    <p:cond delay="100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00"/>
                                        <p:tgtEl>
                                          <p:spTgt spid="26"/>
                                        </p:tgtEl>
                                      </p:cBhvr>
                                    </p:animEffect>
                                  </p:childTnLst>
                                </p:cTn>
                              </p:par>
                            </p:childTnLst>
                          </p:cTn>
                        </p:par>
                      </p:childTnLst>
                    </p:cTn>
                  </p:par>
                  <p:par>
                    <p:cTn id="187" fill="hold">
                      <p:stCondLst>
                        <p:cond delay="indefinite"/>
                      </p:stCondLst>
                      <p:childTnLst>
                        <p:par>
                          <p:cTn id="188" fill="hold">
                            <p:stCondLst>
                              <p:cond delay="0"/>
                            </p:stCondLst>
                            <p:childTnLst>
                              <p:par>
                                <p:cTn id="117" presetID="10" presetClass="entr" presetSubtype="0" fill="hold" grpId="0" nodeType="clickEffect" decel="100000">
                                  <p:stCondLst>
                                    <p:cond delay="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00"/>
                                        <p:tgtEl>
                                          <p:spTgt spid="27"/>
                                        </p:tgtEl>
                                      </p:cBhvr>
                                    </p:animEffect>
                                  </p:childTnLst>
                                </p:cTn>
                              </p:par>
                              <p:par>
                                <p:cTn id="120" presetID="10" presetClass="entr" presetSubtype="0" fill="hold" grpId="0" nodeType="withEffect" decel="100000">
                                  <p:stCondLst>
                                    <p:cond delay="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500"/>
                                        <p:tgtEl>
                                          <p:spTgt spid="28"/>
                                        </p:tgtEl>
                                      </p:cBhvr>
                                    </p:animEffect>
                                  </p:childTnLst>
                                </p:cTn>
                              </p:par>
                              <p:par>
                                <p:cTn id="123" presetID="10" presetClass="entr" presetSubtype="0" fill="hold" grpId="0" nodeType="withEffect" decel="100000">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500"/>
                                        <p:tgtEl>
                                          <p:spTgt spid="29"/>
                                        </p:tgtEl>
                                      </p:cBhvr>
                                    </p:animEffect>
                                  </p:childTnLst>
                                </p:cTn>
                              </p:par>
                              <p:par>
                                <p:cTn id="126" presetID="10" presetClass="entr" presetSubtype="0" fill="hold" grpId="0" nodeType="withEffect" decel="100000">
                                  <p:stCondLst>
                                    <p:cond delay="0"/>
                                  </p:stCondLst>
                                  <p:childTnLst>
                                    <p:set>
                                      <p:cBhvr>
                                        <p:cTn id="124" dur="1" fill="hold">
                                          <p:stCondLst>
                                            <p:cond delay="0"/>
                                          </p:stCondLst>
                                        </p:cTn>
                                        <p:tgtEl>
                                          <p:spTgt spid="30"/>
                                        </p:tgtEl>
                                        <p:attrNameLst>
                                          <p:attrName>style.visibility</p:attrName>
                                        </p:attrNameLst>
                                      </p:cBhvr>
                                      <p:to>
                                        <p:strVal val="visible"/>
                                      </p:to>
                                    </p:set>
                                    <p:animEffect transition="in" filter="fade">
                                      <p:cBhvr>
                                        <p:cTn id="125" dur="500"/>
                                        <p:tgtEl>
                                          <p:spTgt spid="30"/>
                                        </p:tgtEl>
                                      </p:cBhvr>
                                    </p:animEffect>
                                  </p:childTnLst>
                                </p:cTn>
                              </p:par>
                              <p:par>
                                <p:cTn id="129" presetID="10" presetClass="entr" presetSubtype="0" fill="hold" grpId="0" nodeType="withEffect" decel="100000">
                                  <p:stCondLst>
                                    <p:cond delay="200"/>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8" dur="500"/>
                                        <p:tgtEl>
                                          <p:spTgt spid="31"/>
                                        </p:tgtEl>
                                      </p:cBhvr>
                                    </p:animEffect>
                                  </p:childTnLst>
                                </p:cTn>
                              </p:par>
                              <p:par>
                                <p:cTn id="132" presetID="22" presetClass="entr" presetSubtype="8" fill="hold" grpId="0" nodeType="withEffect" decel="100000">
                                  <p:stCondLst>
                                    <p:cond delay="200"/>
                                  </p:stCondLst>
                                  <p:childTnLst>
                                    <p:set>
                                      <p:cBhvr>
                                        <p:cTn id="130" dur="1" fill="hold">
                                          <p:stCondLst>
                                            <p:cond delay="0"/>
                                          </p:stCondLst>
                                        </p:cTn>
                                        <p:tgtEl>
                                          <p:spTgt spid="32"/>
                                        </p:tgtEl>
                                        <p:attrNameLst>
                                          <p:attrName>style.visibility</p:attrName>
                                        </p:attrNameLst>
                                      </p:cBhvr>
                                      <p:to>
                                        <p:strVal val="visible"/>
                                      </p:to>
                                    </p:set>
                                    <p:animEffect transition="in" filter="wipe(right)">
                                      <p:cBhvr>
                                        <p:cTn id="131" dur="600"/>
                                        <p:tgtEl>
                                          <p:spTgt spid="32"/>
                                        </p:tgtEl>
                                      </p:cBhvr>
                                    </p:animEffect>
                                  </p:childTnLst>
                                </p:cTn>
                              </p:par>
                              <p:par>
                                <p:cTn id="135" presetID="10" presetClass="entr" presetSubtype="0" fill="hold" grpId="0" nodeType="withEffect" decel="100000">
                                  <p:stCondLst>
                                    <p:cond delay="60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500"/>
                                        <p:tgtEl>
                                          <p:spTgt spid="33"/>
                                        </p:tgtEl>
                                      </p:cBhvr>
                                    </p:animEffect>
                                  </p:childTnLst>
                                </p:cTn>
                              </p:par>
                              <p:par>
                                <p:cTn id="138" presetID="10" presetClass="entr" presetSubtype="0" fill="hold" grpId="0" nodeType="withEffect" decel="100000">
                                  <p:stCondLst>
                                    <p:cond delay="60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500"/>
                                        <p:tgtEl>
                                          <p:spTgt spid="34"/>
                                        </p:tgtEl>
                                      </p:cBhvr>
                                    </p:animEffect>
                                  </p:childTnLst>
                                </p:cTn>
                              </p:par>
                              <p:par>
                                <p:cTn id="141" presetID="10" presetClass="entr" presetSubtype="0" fill="hold" grpId="0" nodeType="withEffect" decel="100000">
                                  <p:stCondLst>
                                    <p:cond delay="420"/>
                                  </p:stCondLst>
                                  <p:childTnLst>
                                    <p:set>
                                      <p:cBhvr>
                                        <p:cTn id="139" dur="1" fill="hold">
                                          <p:stCondLst>
                                            <p:cond delay="0"/>
                                          </p:stCondLst>
                                        </p:cTn>
                                        <p:tgtEl>
                                          <p:spTgt spid="35"/>
                                        </p:tgtEl>
                                        <p:attrNameLst>
                                          <p:attrName>style.visibility</p:attrName>
                                        </p:attrNameLst>
                                      </p:cBhvr>
                                      <p:to>
                                        <p:strVal val="visible"/>
                                      </p:to>
                                    </p:set>
                                    <p:animEffect transition="in" filter="fade">
                                      <p:cBhvr>
                                        <p:cTn id="140" dur="500"/>
                                        <p:tgtEl>
                                          <p:spTgt spid="35"/>
                                        </p:tgtEl>
                                      </p:cBhvr>
                                    </p:animEffect>
                                  </p:childTnLst>
                                </p:cTn>
                              </p:par>
                              <p:par>
                                <p:cTn id="144" presetID="22" presetClass="entr" presetSubtype="8" fill="hold" grpId="0" nodeType="withEffect" decel="100000">
                                  <p:stCondLst>
                                    <p:cond delay="420"/>
                                  </p:stCondLst>
                                  <p:childTnLst>
                                    <p:set>
                                      <p:cBhvr>
                                        <p:cTn id="142" dur="1" fill="hold">
                                          <p:stCondLst>
                                            <p:cond delay="0"/>
                                          </p:stCondLst>
                                        </p:cTn>
                                        <p:tgtEl>
                                          <p:spTgt spid="36"/>
                                        </p:tgtEl>
                                        <p:attrNameLst>
                                          <p:attrName>style.visibility</p:attrName>
                                        </p:attrNameLst>
                                      </p:cBhvr>
                                      <p:to>
                                        <p:strVal val="visible"/>
                                      </p:to>
                                    </p:set>
                                    <p:animEffect transition="in" filter="wipe(right)">
                                      <p:cBhvr>
                                        <p:cTn id="143" dur="600"/>
                                        <p:tgtEl>
                                          <p:spTgt spid="36"/>
                                        </p:tgtEl>
                                      </p:cBhvr>
                                    </p:animEffect>
                                  </p:childTnLst>
                                </p:cTn>
                              </p:par>
                              <p:par>
                                <p:cTn id="147" presetID="10" presetClass="entr" presetSubtype="0" fill="hold" grpId="0" nodeType="withEffect" decel="100000">
                                  <p:stCondLst>
                                    <p:cond delay="82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00"/>
                                        <p:tgtEl>
                                          <p:spTgt spid="37"/>
                                        </p:tgtEl>
                                      </p:cBhvr>
                                    </p:animEffect>
                                  </p:childTnLst>
                                </p:cTn>
                              </p:par>
                              <p:par>
                                <p:cTn id="150" presetID="10" presetClass="entr" presetSubtype="0" fill="hold" grpId="0" nodeType="withEffect" decel="100000">
                                  <p:stCondLst>
                                    <p:cond delay="820"/>
                                  </p:stCondLst>
                                  <p:childTnLst>
                                    <p:set>
                                      <p:cBhvr>
                                        <p:cTn id="148" dur="1" fill="hold">
                                          <p:stCondLst>
                                            <p:cond delay="0"/>
                                          </p:stCondLst>
                                        </p:cTn>
                                        <p:tgtEl>
                                          <p:spTgt spid="38"/>
                                        </p:tgtEl>
                                        <p:attrNameLst>
                                          <p:attrName>style.visibility</p:attrName>
                                        </p:attrNameLst>
                                      </p:cBhvr>
                                      <p:to>
                                        <p:strVal val="visible"/>
                                      </p:to>
                                    </p:set>
                                    <p:animEffect transition="in" filter="fade">
                                      <p:cBhvr>
                                        <p:cTn id="149" dur="500"/>
                                        <p:tgtEl>
                                          <p:spTgt spid="38"/>
                                        </p:tgtEl>
                                      </p:cBhvr>
                                    </p:animEffect>
                                  </p:childTnLst>
                                </p:cTn>
                              </p:par>
                              <p:par>
                                <p:cTn id="153" presetID="10" presetClass="entr" presetSubtype="0" fill="hold" grpId="0" nodeType="withEffect" decel="100000">
                                  <p:stCondLst>
                                    <p:cond delay="640"/>
                                  </p:stCondLst>
                                  <p:childTnLst>
                                    <p:set>
                                      <p:cBhvr>
                                        <p:cTn id="151" dur="1" fill="hold">
                                          <p:stCondLst>
                                            <p:cond delay="0"/>
                                          </p:stCondLst>
                                        </p:cTn>
                                        <p:tgtEl>
                                          <p:spTgt spid="39"/>
                                        </p:tgtEl>
                                        <p:attrNameLst>
                                          <p:attrName>style.visibility</p:attrName>
                                        </p:attrNameLst>
                                      </p:cBhvr>
                                      <p:to>
                                        <p:strVal val="visible"/>
                                      </p:to>
                                    </p:set>
                                    <p:animEffect transition="in" filter="fade">
                                      <p:cBhvr>
                                        <p:cTn id="152" dur="500"/>
                                        <p:tgtEl>
                                          <p:spTgt spid="39"/>
                                        </p:tgtEl>
                                      </p:cBhvr>
                                    </p:animEffect>
                                  </p:childTnLst>
                                </p:cTn>
                              </p:par>
                              <p:par>
                                <p:cTn id="156" presetID="22" presetClass="entr" presetSubtype="8" fill="hold" grpId="0" nodeType="withEffect" decel="100000">
                                  <p:stCondLst>
                                    <p:cond delay="640"/>
                                  </p:stCondLst>
                                  <p:childTnLst>
                                    <p:set>
                                      <p:cBhvr>
                                        <p:cTn id="154" dur="1" fill="hold">
                                          <p:stCondLst>
                                            <p:cond delay="0"/>
                                          </p:stCondLst>
                                        </p:cTn>
                                        <p:tgtEl>
                                          <p:spTgt spid="40"/>
                                        </p:tgtEl>
                                        <p:attrNameLst>
                                          <p:attrName>style.visibility</p:attrName>
                                        </p:attrNameLst>
                                      </p:cBhvr>
                                      <p:to>
                                        <p:strVal val="visible"/>
                                      </p:to>
                                    </p:set>
                                    <p:animEffect transition="in" filter="wipe(right)">
                                      <p:cBhvr>
                                        <p:cTn id="155" dur="600"/>
                                        <p:tgtEl>
                                          <p:spTgt spid="40"/>
                                        </p:tgtEl>
                                      </p:cBhvr>
                                    </p:animEffect>
                                  </p:childTnLst>
                                </p:cTn>
                              </p:par>
                              <p:par>
                                <p:cTn id="159" presetID="10" presetClass="entr" presetSubtype="0" fill="hold" grpId="0" nodeType="withEffect" decel="100000">
                                  <p:stCondLst>
                                    <p:cond delay="104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00"/>
                                        <p:tgtEl>
                                          <p:spTgt spid="41"/>
                                        </p:tgtEl>
                                      </p:cBhvr>
                                    </p:animEffect>
                                  </p:childTnLst>
                                </p:cTn>
                              </p:par>
                              <p:par>
                                <p:cTn id="162" presetID="10" presetClass="entr" presetSubtype="0" fill="hold" grpId="0" nodeType="withEffect" decel="100000">
                                  <p:stCondLst>
                                    <p:cond delay="1040"/>
                                  </p:stCondLst>
                                  <p:childTnLst>
                                    <p:set>
                                      <p:cBhvr>
                                        <p:cTn id="160" dur="1" fill="hold">
                                          <p:stCondLst>
                                            <p:cond delay="0"/>
                                          </p:stCondLst>
                                        </p:cTn>
                                        <p:tgtEl>
                                          <p:spTgt spid="42"/>
                                        </p:tgtEl>
                                        <p:attrNameLst>
                                          <p:attrName>style.visibility</p:attrName>
                                        </p:attrNameLst>
                                      </p:cBhvr>
                                      <p:to>
                                        <p:strVal val="visible"/>
                                      </p:to>
                                    </p:set>
                                    <p:animEffect transition="in" filter="fade">
                                      <p:cBhvr>
                                        <p:cTn id="161" dur="500"/>
                                        <p:tgtEl>
                                          <p:spTgt spid="42"/>
                                        </p:tgtEl>
                                      </p:cBhvr>
                                    </p:animEffect>
                                  </p:childTnLst>
                                </p:cTn>
                              </p:par>
                              <p:par>
                                <p:cTn id="165" presetID="10" presetClass="entr" presetSubtype="0" fill="hold" grpId="0" nodeType="withEffect" decel="100000">
                                  <p:stCondLst>
                                    <p:cond delay="860"/>
                                  </p:stCondLst>
                                  <p:childTnLst>
                                    <p:set>
                                      <p:cBhvr>
                                        <p:cTn id="163" dur="1" fill="hold">
                                          <p:stCondLst>
                                            <p:cond delay="0"/>
                                          </p:stCondLst>
                                        </p:cTn>
                                        <p:tgtEl>
                                          <p:spTgt spid="43"/>
                                        </p:tgtEl>
                                        <p:attrNameLst>
                                          <p:attrName>style.visibility</p:attrName>
                                        </p:attrNameLst>
                                      </p:cBhvr>
                                      <p:to>
                                        <p:strVal val="visible"/>
                                      </p:to>
                                    </p:set>
                                    <p:animEffect transition="in" filter="fade">
                                      <p:cBhvr>
                                        <p:cTn id="164" dur="500"/>
                                        <p:tgtEl>
                                          <p:spTgt spid="43"/>
                                        </p:tgtEl>
                                      </p:cBhvr>
                                    </p:animEffect>
                                  </p:childTnLst>
                                </p:cTn>
                              </p:par>
                              <p:par>
                                <p:cTn id="168" presetID="22" presetClass="entr" presetSubtype="8" fill="hold" grpId="0" nodeType="withEffect" decel="100000">
                                  <p:stCondLst>
                                    <p:cond delay="860"/>
                                  </p:stCondLst>
                                  <p:childTnLst>
                                    <p:set>
                                      <p:cBhvr>
                                        <p:cTn id="166" dur="1" fill="hold">
                                          <p:stCondLst>
                                            <p:cond delay="0"/>
                                          </p:stCondLst>
                                        </p:cTn>
                                        <p:tgtEl>
                                          <p:spTgt spid="44"/>
                                        </p:tgtEl>
                                        <p:attrNameLst>
                                          <p:attrName>style.visibility</p:attrName>
                                        </p:attrNameLst>
                                      </p:cBhvr>
                                      <p:to>
                                        <p:strVal val="visible"/>
                                      </p:to>
                                    </p:set>
                                    <p:animEffect transition="in" filter="wipe(right)">
                                      <p:cBhvr>
                                        <p:cTn id="167" dur="600"/>
                                        <p:tgtEl>
                                          <p:spTgt spid="44"/>
                                        </p:tgtEl>
                                      </p:cBhvr>
                                    </p:animEffect>
                                  </p:childTnLst>
                                </p:cTn>
                              </p:par>
                              <p:par>
                                <p:cTn id="171" presetID="10" presetClass="entr" presetSubtype="0" fill="hold" grpId="0" nodeType="withEffect" decel="100000">
                                  <p:stCondLst>
                                    <p:cond delay="126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500"/>
                                        <p:tgtEl>
                                          <p:spTgt spid="45"/>
                                        </p:tgtEl>
                                      </p:cBhvr>
                                    </p:animEffect>
                                  </p:childTnLst>
                                </p:cTn>
                              </p:par>
                              <p:par>
                                <p:cTn id="174" presetID="10" presetClass="entr" presetSubtype="0" fill="hold" grpId="0" nodeType="withEffect" decel="100000">
                                  <p:stCondLst>
                                    <p:cond delay="1260"/>
                                  </p:stCondLst>
                                  <p:childTnLst>
                                    <p:set>
                                      <p:cBhvr>
                                        <p:cTn id="172" dur="1" fill="hold">
                                          <p:stCondLst>
                                            <p:cond delay="0"/>
                                          </p:stCondLst>
                                        </p:cTn>
                                        <p:tgtEl>
                                          <p:spTgt spid="46"/>
                                        </p:tgtEl>
                                        <p:attrNameLst>
                                          <p:attrName>style.visibility</p:attrName>
                                        </p:attrNameLst>
                                      </p:cBhvr>
                                      <p:to>
                                        <p:strVal val="visible"/>
                                      </p:to>
                                    </p:set>
                                    <p:animEffect transition="in" filter="fade">
                                      <p:cBhvr>
                                        <p:cTn id="173" dur="500"/>
                                        <p:tgtEl>
                                          <p:spTgt spid="46"/>
                                        </p:tgtEl>
                                      </p:cBhvr>
                                    </p:animEffect>
                                  </p:childTnLst>
                                </p:cTn>
                              </p:par>
                              <p:par>
                                <p:cTn id="177" presetID="10" presetClass="entr" presetSubtype="0" fill="hold" grpId="0" nodeType="withEffect" decel="100000">
                                  <p:stCondLst>
                                    <p:cond delay="1080"/>
                                  </p:stCondLst>
                                  <p:childTnLst>
                                    <p:set>
                                      <p:cBhvr>
                                        <p:cTn id="175" dur="1" fill="hold">
                                          <p:stCondLst>
                                            <p:cond delay="0"/>
                                          </p:stCondLst>
                                        </p:cTn>
                                        <p:tgtEl>
                                          <p:spTgt spid="47"/>
                                        </p:tgtEl>
                                        <p:attrNameLst>
                                          <p:attrName>style.visibility</p:attrName>
                                        </p:attrNameLst>
                                      </p:cBhvr>
                                      <p:to>
                                        <p:strVal val="visible"/>
                                      </p:to>
                                    </p:set>
                                    <p:animEffect transition="in" filter="fade">
                                      <p:cBhvr>
                                        <p:cTn id="176" dur="500"/>
                                        <p:tgtEl>
                                          <p:spTgt spid="47"/>
                                        </p:tgtEl>
                                      </p:cBhvr>
                                    </p:animEffect>
                                  </p:childTnLst>
                                </p:cTn>
                              </p:par>
                              <p:par>
                                <p:cTn id="180" presetID="22" presetClass="entr" presetSubtype="8" fill="hold" grpId="0" nodeType="withEffect" decel="100000">
                                  <p:stCondLst>
                                    <p:cond delay="1080"/>
                                  </p:stCondLst>
                                  <p:childTnLst>
                                    <p:set>
                                      <p:cBhvr>
                                        <p:cTn id="178" dur="1" fill="hold">
                                          <p:stCondLst>
                                            <p:cond delay="0"/>
                                          </p:stCondLst>
                                        </p:cTn>
                                        <p:tgtEl>
                                          <p:spTgt spid="48"/>
                                        </p:tgtEl>
                                        <p:attrNameLst>
                                          <p:attrName>style.visibility</p:attrName>
                                        </p:attrNameLst>
                                      </p:cBhvr>
                                      <p:to>
                                        <p:strVal val="visible"/>
                                      </p:to>
                                    </p:set>
                                    <p:animEffect transition="in" filter="wipe(right)">
                                      <p:cBhvr>
                                        <p:cTn id="179" dur="600"/>
                                        <p:tgtEl>
                                          <p:spTgt spid="48"/>
                                        </p:tgtEl>
                                      </p:cBhvr>
                                    </p:animEffect>
                                  </p:childTnLst>
                                </p:cTn>
                              </p:par>
                              <p:par>
                                <p:cTn id="183" presetID="10" presetClass="entr" presetSubtype="0" fill="hold" grpId="0" nodeType="withEffect" decel="100000">
                                  <p:stCondLst>
                                    <p:cond delay="1480"/>
                                  </p:stCondLst>
                                  <p:childTnLst>
                                    <p:set>
                                      <p:cBhvr>
                                        <p:cTn id="181" dur="1" fill="hold">
                                          <p:stCondLst>
                                            <p:cond delay="0"/>
                                          </p:stCondLst>
                                        </p:cTn>
                                        <p:tgtEl>
                                          <p:spTgt spid="49"/>
                                        </p:tgtEl>
                                        <p:attrNameLst>
                                          <p:attrName>style.visibility</p:attrName>
                                        </p:attrNameLst>
                                      </p:cBhvr>
                                      <p:to>
                                        <p:strVal val="visible"/>
                                      </p:to>
                                    </p:set>
                                    <p:animEffect transition="in" filter="fade">
                                      <p:cBhvr>
                                        <p:cTn id="182" dur="500"/>
                                        <p:tgtEl>
                                          <p:spTgt spid="49"/>
                                        </p:tgtEl>
                                      </p:cBhvr>
                                    </p:animEffect>
                                  </p:childTnLst>
                                </p:cTn>
                              </p:par>
                              <p:par>
                                <p:cTn id="186" presetID="10" presetClass="entr" presetSubtype="0" fill="hold" grpId="0" nodeType="withEffect" decel="100000">
                                  <p:stCondLst>
                                    <p:cond delay="1480"/>
                                  </p:stCondLst>
                                  <p:childTnLst>
                                    <p:set>
                                      <p:cBhvr>
                                        <p:cTn id="184" dur="1" fill="hold">
                                          <p:stCondLst>
                                            <p:cond delay="0"/>
                                          </p:stCondLst>
                                        </p:cTn>
                                        <p:tgtEl>
                                          <p:spTgt spid="50"/>
                                        </p:tgtEl>
                                        <p:attrNameLst>
                                          <p:attrName>style.visibility</p:attrName>
                                        </p:attrNameLst>
                                      </p:cBhvr>
                                      <p:to>
                                        <p:strVal val="visible"/>
                                      </p:to>
                                    </p:set>
                                    <p:animEffect transition="in" filter="fade">
                                      <p:cBhvr>
                                        <p:cTn id="185" dur="500"/>
                                        <p:tgtEl>
                                          <p:spTgt spid="50"/>
                                        </p:tgtEl>
                                      </p:cBhvr>
                                    </p:animEffect>
                                  </p:childTnLst>
                                </p:cTn>
                              </p:par>
                            </p:childTnLst>
                          </p:cTn>
                        </p:par>
                      </p:childTnLst>
                    </p:cTn>
                  </p:par>
                  <p:par>
                    <p:cTn id="204" fill="hold">
                      <p:stCondLst>
                        <p:cond delay="indefinite"/>
                      </p:stCondLst>
                      <p:childTnLst>
                        <p:par>
                          <p:cTn id="205" fill="hold">
                            <p:stCondLst>
                              <p:cond delay="0"/>
                            </p:stCondLst>
                            <p:childTnLst>
                              <p:par>
                                <p:cTn id="193" presetID="53" presetClass="entr" presetSubtype="16" fill="hold" grpId="0" nodeType="clickEffect" decel="100000">
                                  <p:stCondLst>
                                    <p:cond delay="0"/>
                                  </p:stCondLst>
                                  <p:childTnLst>
                                    <p:set>
                                      <p:cBhvr>
                                        <p:cTn id="189" dur="1" fill="hold">
                                          <p:stCondLst>
                                            <p:cond delay="0"/>
                                          </p:stCondLst>
                                        </p:cTn>
                                        <p:tgtEl>
                                          <p:spTgt spid="51"/>
                                        </p:tgtEl>
                                        <p:attrNameLst>
                                          <p:attrName>style.visibility</p:attrName>
                                        </p:attrNameLst>
                                      </p:cBhvr>
                                      <p:to>
                                        <p:strVal val="visible"/>
                                      </p:to>
                                    </p:set>
                                    <p:anim calcmode="lin" valueType="num">
                                      <p:cBhvr>
                                        <p:cTn id="190" dur="500" fill="hold"/>
                                        <p:tgtEl>
                                          <p:spTgt spid="51"/>
                                        </p:tgtEl>
                                        <p:attrNameLst>
                                          <p:attrName>ppt_w</p:attrName>
                                        </p:attrNameLst>
                                      </p:cBhvr>
                                      <p:tavLst>
                                        <p:tav tm="0">
                                          <p:val>
                                            <p:strVal val="#ppt_w*0.70"/>
                                          </p:val>
                                        </p:tav>
                                        <p:tav tm="100000">
                                          <p:val>
                                            <p:strVal val="#ppt_w"/>
                                          </p:val>
                                        </p:tav>
                                      </p:tavLst>
                                    </p:anim>
                                    <p:anim calcmode="lin" valueType="num">
                                      <p:cBhvr>
                                        <p:cTn id="191" dur="500" fill="hold"/>
                                        <p:tgtEl>
                                          <p:spTgt spid="51"/>
                                        </p:tgtEl>
                                        <p:attrNameLst>
                                          <p:attrName>ppt_h</p:attrName>
                                        </p:attrNameLst>
                                      </p:cBhvr>
                                      <p:tavLst>
                                        <p:tav tm="0">
                                          <p:val>
                                            <p:strVal val="#ppt_h*0.70"/>
                                          </p:val>
                                        </p:tav>
                                        <p:tav tm="100000">
                                          <p:val>
                                            <p:strVal val="#ppt_h"/>
                                          </p:val>
                                        </p:tav>
                                      </p:tavLst>
                                    </p:anim>
                                    <p:animEffect transition="in" filter="fade">
                                      <p:cBhvr>
                                        <p:cTn id="192" dur="500"/>
                                        <p:tgtEl>
                                          <p:spTgt spid="51"/>
                                        </p:tgtEl>
                                      </p:cBhvr>
                                    </p:animEffect>
                                  </p:childTnLst>
                                </p:cTn>
                              </p:par>
                              <p:par>
                                <p:cTn id="198" presetID="53" presetClass="entr" presetSubtype="16" fill="hold" grpId="0" nodeType="withEffect" decel="100000">
                                  <p:stCondLst>
                                    <p:cond delay="0"/>
                                  </p:stCondLst>
                                  <p:childTnLst>
                                    <p:set>
                                      <p:cBhvr>
                                        <p:cTn id="194" dur="1" fill="hold">
                                          <p:stCondLst>
                                            <p:cond delay="0"/>
                                          </p:stCondLst>
                                        </p:cTn>
                                        <p:tgtEl>
                                          <p:spTgt spid="52"/>
                                        </p:tgtEl>
                                        <p:attrNameLst>
                                          <p:attrName>style.visibility</p:attrName>
                                        </p:attrNameLst>
                                      </p:cBhvr>
                                      <p:to>
                                        <p:strVal val="visible"/>
                                      </p:to>
                                    </p:set>
                                    <p:anim calcmode="lin" valueType="num">
                                      <p:cBhvr>
                                        <p:cTn id="195" dur="500" fill="hold"/>
                                        <p:tgtEl>
                                          <p:spTgt spid="52"/>
                                        </p:tgtEl>
                                        <p:attrNameLst>
                                          <p:attrName>ppt_w</p:attrName>
                                        </p:attrNameLst>
                                      </p:cBhvr>
                                      <p:tavLst>
                                        <p:tav tm="0">
                                          <p:val>
                                            <p:strVal val="#ppt_w*0.70"/>
                                          </p:val>
                                        </p:tav>
                                        <p:tav tm="100000">
                                          <p:val>
                                            <p:strVal val="#ppt_w"/>
                                          </p:val>
                                        </p:tav>
                                      </p:tavLst>
                                    </p:anim>
                                    <p:anim calcmode="lin" valueType="num">
                                      <p:cBhvr>
                                        <p:cTn id="196" dur="500" fill="hold"/>
                                        <p:tgtEl>
                                          <p:spTgt spid="52"/>
                                        </p:tgtEl>
                                        <p:attrNameLst>
                                          <p:attrName>ppt_h</p:attrName>
                                        </p:attrNameLst>
                                      </p:cBhvr>
                                      <p:tavLst>
                                        <p:tav tm="0">
                                          <p:val>
                                            <p:strVal val="#ppt_h*0.70"/>
                                          </p:val>
                                        </p:tav>
                                        <p:tav tm="100000">
                                          <p:val>
                                            <p:strVal val="#ppt_h"/>
                                          </p:val>
                                        </p:tav>
                                      </p:tavLst>
                                    </p:anim>
                                    <p:animEffect transition="in" filter="fade">
                                      <p:cBhvr>
                                        <p:cTn id="197" dur="500"/>
                                        <p:tgtEl>
                                          <p:spTgt spid="52"/>
                                        </p:tgtEl>
                                      </p:cBhvr>
                                    </p:animEffect>
                                  </p:childTnLst>
                                </p:cTn>
                              </p:par>
                              <p:par>
                                <p:cTn id="203" presetID="53" presetClass="entr" presetSubtype="16" fill="hold" grpId="0" nodeType="withEffect" decel="100000">
                                  <p:stCondLst>
                                    <p:cond delay="0"/>
                                  </p:stCondLst>
                                  <p:childTnLst>
                                    <p:set>
                                      <p:cBhvr>
                                        <p:cTn id="199" dur="1" fill="hold">
                                          <p:stCondLst>
                                            <p:cond delay="0"/>
                                          </p:stCondLst>
                                        </p:cTn>
                                        <p:tgtEl>
                                          <p:spTgt spid="53"/>
                                        </p:tgtEl>
                                        <p:attrNameLst>
                                          <p:attrName>style.visibility</p:attrName>
                                        </p:attrNameLst>
                                      </p:cBhvr>
                                      <p:to>
                                        <p:strVal val="visible"/>
                                      </p:to>
                                    </p:set>
                                    <p:anim calcmode="lin" valueType="num">
                                      <p:cBhvr>
                                        <p:cTn id="200" dur="500" fill="hold"/>
                                        <p:tgtEl>
                                          <p:spTgt spid="53"/>
                                        </p:tgtEl>
                                        <p:attrNameLst>
                                          <p:attrName>ppt_w</p:attrName>
                                        </p:attrNameLst>
                                      </p:cBhvr>
                                      <p:tavLst>
                                        <p:tav tm="0">
                                          <p:val>
                                            <p:strVal val="#ppt_w*0.70"/>
                                          </p:val>
                                        </p:tav>
                                        <p:tav tm="100000">
                                          <p:val>
                                            <p:strVal val="#ppt_w"/>
                                          </p:val>
                                        </p:tav>
                                      </p:tavLst>
                                    </p:anim>
                                    <p:anim calcmode="lin" valueType="num">
                                      <p:cBhvr>
                                        <p:cTn id="201" dur="500" fill="hold"/>
                                        <p:tgtEl>
                                          <p:spTgt spid="53"/>
                                        </p:tgtEl>
                                        <p:attrNameLst>
                                          <p:attrName>ppt_h</p:attrName>
                                        </p:attrNameLst>
                                      </p:cBhvr>
                                      <p:tavLst>
                                        <p:tav tm="0">
                                          <p:val>
                                            <p:strVal val="#ppt_h*0.70"/>
                                          </p:val>
                                        </p:tav>
                                        <p:tav tm="100000">
                                          <p:val>
                                            <p:strVal val="#ppt_h"/>
                                          </p:val>
                                        </p:tav>
                                      </p:tavLst>
                                    </p:anim>
                                    <p:animEffect transition="in" filter="fade">
                                      <p:cBhvr>
                                        <p:cTn id="20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3" name="txt_13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1 · PRICING</a:t>
            </a:r>
            <a:endParaRPr lang="en-US" sz="1100" dirty="0"/>
          </a:p>
        </p:txBody>
      </p:sp>
      <p:sp>
        <p:nvSpPr>
          <p:cNvPr id="4" name="txt_13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How the Formula and ML Model Work Together</a:t>
            </a:r>
            <a:endParaRPr lang="en-US" sz="3200" dirty="0"/>
          </a:p>
        </p:txBody>
      </p:sp>
      <p:sp>
        <p:nvSpPr>
          <p:cNvPr id="5" name="txt_13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The champion model is accurate — and it still never overrules the rule engine silently.</a:t>
            </a:r>
            <a:endParaRPr lang="en-US" sz="1500" dirty="0"/>
          </a:p>
        </p:txBody>
      </p:sp>
      <p:sp>
        <p:nvSpPr>
          <p:cNvPr id="6" name="shp_13_3"/>
          <p:cNvSpPr/>
          <p:nvPr/>
        </p:nvSpPr>
        <p:spPr>
          <a:xfrm>
            <a:off x="548640" y="1874520"/>
            <a:ext cx="5387188" cy="2743200"/>
          </a:xfrm>
          <a:prstGeom prst="roundRect">
            <a:avLst>
              <a:gd name="adj" fmla="val 3333"/>
            </a:avLst>
          </a:prstGeom>
          <a:solidFill>
            <a:srgbClr val="112038"/>
          </a:solidFill>
          <a:ln w="9525">
            <a:solidFill>
              <a:srgbClr val="243A5E"/>
            </a:solidFill>
            <a:prstDash val="solid"/>
          </a:ln>
        </p:spPr>
      </p:sp>
      <p:sp>
        <p:nvSpPr>
          <p:cNvPr id="7" name="shp_13_4"/>
          <p:cNvSpPr/>
          <p:nvPr/>
        </p:nvSpPr>
        <p:spPr>
          <a:xfrm>
            <a:off x="822960" y="2103120"/>
            <a:ext cx="2103120" cy="329184"/>
          </a:xfrm>
          <a:prstGeom prst="roundRect">
            <a:avLst>
              <a:gd name="adj" fmla="val 27778"/>
            </a:avLst>
          </a:prstGeom>
          <a:solidFill>
            <a:srgbClr val="3B2A0C"/>
          </a:solidFill>
          <a:ln w="9525">
            <a:solidFill>
              <a:srgbClr val="3B2A0C"/>
            </a:solidFill>
            <a:prstDash val="solid"/>
          </a:ln>
        </p:spPr>
      </p:sp>
      <p:sp>
        <p:nvSpPr>
          <p:cNvPr id="8" name="txt_13_5"/>
          <p:cNvSpPr txBox="1"/>
          <p:nvPr/>
        </p:nvSpPr>
        <p:spPr>
          <a:xfrm>
            <a:off x="822960" y="2103120"/>
            <a:ext cx="2103120" cy="329184"/>
          </a:xfrm>
          <a:prstGeom prst="rect">
            <a:avLst/>
          </a:prstGeom>
          <a:noFill/>
          <a:ln/>
        </p:spPr>
        <p:txBody>
          <a:bodyPr wrap="square" lIns="0" tIns="0" rIns="0" bIns="0" rtlCol="0" anchor="ctr"/>
          <a:lstStyle/>
          <a:p>
            <a:pPr algn="ctr" indent="0" marL="0">
              <a:buNone/>
            </a:pPr>
            <a:r>
              <a:rPr lang="en-US" sz="1000" b="1" spc="150" kern="0" dirty="0">
                <a:solidFill>
                  <a:srgbClr val="F5A524"/>
                </a:solidFill>
                <a:latin typeface="Calibri" pitchFamily="34" charset="0"/>
                <a:ea typeface="Calibri" pitchFamily="34" charset="-122"/>
                <a:cs typeface="Calibri" pitchFamily="34" charset="-120"/>
              </a:rPr>
              <a:t>CHAMPION TEST RESULTS</a:t>
            </a:r>
            <a:endParaRPr lang="en-US" sz="1000" dirty="0"/>
          </a:p>
        </p:txBody>
      </p:sp>
      <p:sp>
        <p:nvSpPr>
          <p:cNvPr id="9" name="txt_13_6"/>
          <p:cNvSpPr txBox="1"/>
          <p:nvPr/>
        </p:nvSpPr>
        <p:spPr>
          <a:xfrm>
            <a:off x="822960" y="2542032"/>
            <a:ext cx="4838548" cy="64008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R² = 0.9792</a:t>
            </a:r>
            <a:endParaRPr lang="en-US" sz="3600" dirty="0"/>
          </a:p>
        </p:txBody>
      </p:sp>
      <p:sp>
        <p:nvSpPr>
          <p:cNvPr id="10" name="txt_13_7"/>
          <p:cNvSpPr txBox="1"/>
          <p:nvPr/>
        </p:nvSpPr>
        <p:spPr>
          <a:xfrm>
            <a:off x="822960" y="3154680"/>
            <a:ext cx="4838548" cy="27432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Gradient Boosting Regressor</a:t>
            </a:r>
            <a:endParaRPr lang="en-US" sz="1250" dirty="0"/>
          </a:p>
        </p:txBody>
      </p:sp>
      <p:sp>
        <p:nvSpPr>
          <p:cNvPr id="11" name="shp_13_8"/>
          <p:cNvSpPr/>
          <p:nvPr/>
        </p:nvSpPr>
        <p:spPr>
          <a:xfrm>
            <a:off x="822960" y="3547872"/>
            <a:ext cx="4838548" cy="109728"/>
          </a:xfrm>
          <a:prstGeom prst="rect">
            <a:avLst/>
          </a:prstGeom>
          <a:solidFill>
            <a:srgbClr val="243A5E"/>
          </a:solidFill>
          <a:ln w="12700">
            <a:solidFill>
              <a:srgbClr val="243A5E"/>
            </a:solidFill>
            <a:prstDash val="solid"/>
          </a:ln>
        </p:spPr>
      </p:sp>
      <p:sp>
        <p:nvSpPr>
          <p:cNvPr id="12" name="shp_13_9"/>
          <p:cNvSpPr/>
          <p:nvPr/>
        </p:nvSpPr>
        <p:spPr>
          <a:xfrm>
            <a:off x="822960" y="3547872"/>
            <a:ext cx="4737906" cy="109728"/>
          </a:xfrm>
          <a:prstGeom prst="rect">
            <a:avLst/>
          </a:prstGeom>
          <a:solidFill>
            <a:srgbClr val="F5A524"/>
          </a:solidFill>
          <a:ln w="12700">
            <a:solidFill>
              <a:srgbClr val="F5A524"/>
            </a:solidFill>
            <a:prstDash val="solid"/>
          </a:ln>
        </p:spPr>
      </p:sp>
      <p:sp>
        <p:nvSpPr>
          <p:cNvPr id="13" name="txt_13_10"/>
          <p:cNvSpPr txBox="1"/>
          <p:nvPr/>
        </p:nvSpPr>
        <p:spPr>
          <a:xfrm>
            <a:off x="822960" y="3840480"/>
            <a:ext cx="1737360" cy="411480"/>
          </a:xfrm>
          <a:prstGeom prst="rect">
            <a:avLst/>
          </a:prstGeom>
          <a:noFill/>
          <a:ln/>
        </p:spPr>
        <p:txBody>
          <a:bodyPr wrap="square" lIns="0" tIns="0" rIns="0" bIns="0" rtlCol="0" anchor="t"/>
          <a:lstStyle/>
          <a:p>
            <a:pPr indent="0" marL="0">
              <a:buNone/>
            </a:pPr>
            <a:r>
              <a:rPr lang="en-US" sz="2200" b="1" dirty="0">
                <a:solidFill>
                  <a:srgbClr val="F5A524"/>
                </a:solidFill>
                <a:latin typeface="Calibri" pitchFamily="34" charset="0"/>
                <a:ea typeface="Calibri" pitchFamily="34" charset="-122"/>
                <a:cs typeface="Calibri" pitchFamily="34" charset="-120"/>
              </a:rPr>
              <a:t>₹5,307</a:t>
            </a:r>
            <a:endParaRPr lang="en-US" sz="2200" dirty="0"/>
          </a:p>
        </p:txBody>
      </p:sp>
      <p:sp>
        <p:nvSpPr>
          <p:cNvPr id="14" name="txt_13_11"/>
          <p:cNvSpPr txBox="1"/>
          <p:nvPr/>
        </p:nvSpPr>
        <p:spPr>
          <a:xfrm>
            <a:off x="822960" y="4224528"/>
            <a:ext cx="1737360" cy="256032"/>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MAE</a:t>
            </a:r>
            <a:endParaRPr lang="en-US" sz="1100" dirty="0"/>
          </a:p>
        </p:txBody>
      </p:sp>
      <p:sp>
        <p:nvSpPr>
          <p:cNvPr id="15" name="txt_13_12"/>
          <p:cNvSpPr txBox="1"/>
          <p:nvPr/>
        </p:nvSpPr>
        <p:spPr>
          <a:xfrm>
            <a:off x="2435809" y="3840480"/>
            <a:ext cx="1737360" cy="411480"/>
          </a:xfrm>
          <a:prstGeom prst="rect">
            <a:avLst/>
          </a:prstGeom>
          <a:noFill/>
          <a:ln/>
        </p:spPr>
        <p:txBody>
          <a:bodyPr wrap="square" lIns="0" tIns="0" rIns="0" bIns="0" rtlCol="0" anchor="t"/>
          <a:lstStyle/>
          <a:p>
            <a:pPr indent="0" marL="0">
              <a:buNone/>
            </a:pPr>
            <a:r>
              <a:rPr lang="en-US" sz="2200" b="1" dirty="0">
                <a:solidFill>
                  <a:srgbClr val="F5A524"/>
                </a:solidFill>
                <a:latin typeface="Calibri" pitchFamily="34" charset="0"/>
                <a:ea typeface="Calibri" pitchFamily="34" charset="-122"/>
                <a:cs typeface="Calibri" pitchFamily="34" charset="-120"/>
              </a:rPr>
              <a:t>5.54%</a:t>
            </a:r>
            <a:endParaRPr lang="en-US" sz="2200" dirty="0"/>
          </a:p>
        </p:txBody>
      </p:sp>
      <p:sp>
        <p:nvSpPr>
          <p:cNvPr id="16" name="txt_13_13"/>
          <p:cNvSpPr txBox="1"/>
          <p:nvPr/>
        </p:nvSpPr>
        <p:spPr>
          <a:xfrm>
            <a:off x="2435809" y="4224528"/>
            <a:ext cx="1737360" cy="256032"/>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MAPE</a:t>
            </a:r>
            <a:endParaRPr lang="en-US" sz="1100" dirty="0"/>
          </a:p>
        </p:txBody>
      </p:sp>
      <p:sp>
        <p:nvSpPr>
          <p:cNvPr id="17" name="txt_13_14"/>
          <p:cNvSpPr txBox="1"/>
          <p:nvPr/>
        </p:nvSpPr>
        <p:spPr>
          <a:xfrm>
            <a:off x="4048658" y="3840480"/>
            <a:ext cx="1737360" cy="411480"/>
          </a:xfrm>
          <a:prstGeom prst="rect">
            <a:avLst/>
          </a:prstGeom>
          <a:noFill/>
          <a:ln/>
        </p:spPr>
        <p:txBody>
          <a:bodyPr wrap="square" lIns="0" tIns="0" rIns="0" bIns="0" rtlCol="0" anchor="t"/>
          <a:lstStyle/>
          <a:p>
            <a:pPr indent="0" marL="0">
              <a:buNone/>
            </a:pPr>
            <a:r>
              <a:rPr lang="en-US" sz="2200" b="1" dirty="0">
                <a:solidFill>
                  <a:srgbClr val="F5A524"/>
                </a:solidFill>
                <a:latin typeface="Calibri" pitchFamily="34" charset="0"/>
                <a:ea typeface="Calibri" pitchFamily="34" charset="-122"/>
                <a:cs typeface="Calibri" pitchFamily="34" charset="-120"/>
              </a:rPr>
              <a:t>83.7%</a:t>
            </a:r>
            <a:endParaRPr lang="en-US" sz="2200" dirty="0"/>
          </a:p>
        </p:txBody>
      </p:sp>
      <p:sp>
        <p:nvSpPr>
          <p:cNvPr id="18" name="txt_13_15"/>
          <p:cNvSpPr txBox="1"/>
          <p:nvPr/>
        </p:nvSpPr>
        <p:spPr>
          <a:xfrm>
            <a:off x="4048658" y="4224528"/>
            <a:ext cx="1737360" cy="256032"/>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Within 10% of actual</a:t>
            </a:r>
            <a:endParaRPr lang="en-US" sz="1100" dirty="0"/>
          </a:p>
        </p:txBody>
      </p:sp>
      <p:sp>
        <p:nvSpPr>
          <p:cNvPr id="19" name="shp_13_16"/>
          <p:cNvSpPr/>
          <p:nvPr/>
        </p:nvSpPr>
        <p:spPr>
          <a:xfrm>
            <a:off x="6255868" y="1874520"/>
            <a:ext cx="5387188" cy="2743200"/>
          </a:xfrm>
          <a:prstGeom prst="roundRect">
            <a:avLst>
              <a:gd name="adj" fmla="val 3333"/>
            </a:avLst>
          </a:prstGeom>
          <a:solidFill>
            <a:srgbClr val="112038"/>
          </a:solidFill>
          <a:ln w="9525">
            <a:solidFill>
              <a:srgbClr val="243A5E"/>
            </a:solidFill>
            <a:prstDash val="solid"/>
          </a:ln>
        </p:spPr>
      </p:sp>
      <p:sp>
        <p:nvSpPr>
          <p:cNvPr id="20" name="txt_13_17"/>
          <p:cNvSpPr txBox="1"/>
          <p:nvPr/>
        </p:nvSpPr>
        <p:spPr>
          <a:xfrm>
            <a:off x="6530188" y="2057400"/>
            <a:ext cx="48385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What drives the prediction</a:t>
            </a:r>
            <a:endParaRPr lang="en-US" sz="1600" dirty="0"/>
          </a:p>
        </p:txBody>
      </p:sp>
      <p:sp>
        <p:nvSpPr>
          <p:cNvPr id="21" name="txt_13_18"/>
          <p:cNvSpPr txBox="1"/>
          <p:nvPr/>
        </p:nvSpPr>
        <p:spPr>
          <a:xfrm>
            <a:off x="6530188" y="2542032"/>
            <a:ext cx="1783080" cy="292608"/>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Transport mode</a:t>
            </a:r>
            <a:endParaRPr lang="en-US" sz="1250" dirty="0"/>
          </a:p>
        </p:txBody>
      </p:sp>
      <p:sp>
        <p:nvSpPr>
          <p:cNvPr id="22" name="shp_13_19"/>
          <p:cNvSpPr/>
          <p:nvPr/>
        </p:nvSpPr>
        <p:spPr>
          <a:xfrm>
            <a:off x="8358988" y="2615184"/>
            <a:ext cx="2461108" cy="146304"/>
          </a:xfrm>
          <a:prstGeom prst="rect">
            <a:avLst/>
          </a:prstGeom>
          <a:solidFill>
            <a:srgbClr val="243A5E"/>
          </a:solidFill>
          <a:ln w="12700">
            <a:solidFill>
              <a:srgbClr val="243A5E"/>
            </a:solidFill>
            <a:prstDash val="solid"/>
          </a:ln>
        </p:spPr>
      </p:sp>
      <p:sp>
        <p:nvSpPr>
          <p:cNvPr id="23" name="shp_13_20"/>
          <p:cNvSpPr/>
          <p:nvPr/>
        </p:nvSpPr>
        <p:spPr>
          <a:xfrm>
            <a:off x="8358988" y="2615184"/>
            <a:ext cx="2461108" cy="146304"/>
          </a:xfrm>
          <a:prstGeom prst="rect">
            <a:avLst/>
          </a:prstGeom>
          <a:solidFill>
            <a:srgbClr val="F5A524"/>
          </a:solidFill>
          <a:ln w="12700">
            <a:solidFill>
              <a:srgbClr val="F5A524"/>
            </a:solidFill>
            <a:prstDash val="solid"/>
          </a:ln>
        </p:spPr>
      </p:sp>
      <p:sp>
        <p:nvSpPr>
          <p:cNvPr id="24" name="txt_13_21"/>
          <p:cNvSpPr txBox="1"/>
          <p:nvPr/>
        </p:nvSpPr>
        <p:spPr>
          <a:xfrm>
            <a:off x="10865815" y="2542032"/>
            <a:ext cx="502920" cy="292608"/>
          </a:xfrm>
          <a:prstGeom prst="rect">
            <a:avLst/>
          </a:prstGeom>
          <a:noFill/>
          <a:ln/>
        </p:spPr>
        <p:txBody>
          <a:bodyPr wrap="square" lIns="0" tIns="0" rIns="0" bIns="0" rtlCol="0" anchor="ctr"/>
          <a:lstStyle/>
          <a:p>
            <a:pPr algn="r" indent="0" marL="0">
              <a:buNone/>
            </a:pPr>
            <a:r>
              <a:rPr lang="en-US" sz="1250" b="1" dirty="0">
                <a:solidFill>
                  <a:srgbClr val="F5A524"/>
                </a:solidFill>
                <a:latin typeface="Calibri" pitchFamily="34" charset="0"/>
                <a:ea typeface="Calibri" pitchFamily="34" charset="-122"/>
                <a:cs typeface="Calibri" pitchFamily="34" charset="-120"/>
              </a:rPr>
              <a:t>62%</a:t>
            </a:r>
            <a:endParaRPr lang="en-US" sz="1250" dirty="0"/>
          </a:p>
        </p:txBody>
      </p:sp>
      <p:sp>
        <p:nvSpPr>
          <p:cNvPr id="25" name="txt_13_22"/>
          <p:cNvSpPr txBox="1"/>
          <p:nvPr/>
        </p:nvSpPr>
        <p:spPr>
          <a:xfrm>
            <a:off x="6530188" y="2944368"/>
            <a:ext cx="1783080" cy="292608"/>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Distance</a:t>
            </a:r>
            <a:endParaRPr lang="en-US" sz="1250" dirty="0"/>
          </a:p>
        </p:txBody>
      </p:sp>
      <p:sp>
        <p:nvSpPr>
          <p:cNvPr id="26" name="shp_13_23"/>
          <p:cNvSpPr/>
          <p:nvPr/>
        </p:nvSpPr>
        <p:spPr>
          <a:xfrm>
            <a:off x="8358988" y="3017520"/>
            <a:ext cx="2461108" cy="146304"/>
          </a:xfrm>
          <a:prstGeom prst="rect">
            <a:avLst/>
          </a:prstGeom>
          <a:solidFill>
            <a:srgbClr val="243A5E"/>
          </a:solidFill>
          <a:ln w="12700">
            <a:solidFill>
              <a:srgbClr val="243A5E"/>
            </a:solidFill>
            <a:prstDash val="solid"/>
          </a:ln>
        </p:spPr>
      </p:sp>
      <p:sp>
        <p:nvSpPr>
          <p:cNvPr id="27" name="shp_13_24"/>
          <p:cNvSpPr/>
          <p:nvPr/>
        </p:nvSpPr>
        <p:spPr>
          <a:xfrm>
            <a:off x="8358988" y="3017520"/>
            <a:ext cx="952687" cy="146304"/>
          </a:xfrm>
          <a:prstGeom prst="rect">
            <a:avLst/>
          </a:prstGeom>
          <a:solidFill>
            <a:srgbClr val="7B93B6"/>
          </a:solidFill>
          <a:ln w="12700">
            <a:solidFill>
              <a:srgbClr val="7B93B6"/>
            </a:solidFill>
            <a:prstDash val="solid"/>
          </a:ln>
        </p:spPr>
      </p:sp>
      <p:sp>
        <p:nvSpPr>
          <p:cNvPr id="28" name="txt_13_25"/>
          <p:cNvSpPr txBox="1"/>
          <p:nvPr/>
        </p:nvSpPr>
        <p:spPr>
          <a:xfrm>
            <a:off x="10865815" y="2944368"/>
            <a:ext cx="502920" cy="292608"/>
          </a:xfrm>
          <a:prstGeom prst="rect">
            <a:avLst/>
          </a:prstGeom>
          <a:noFill/>
          <a:ln/>
        </p:spPr>
        <p:txBody>
          <a:bodyPr wrap="square" lIns="0" tIns="0" rIns="0" bIns="0" rtlCol="0" anchor="ctr"/>
          <a:lstStyle/>
          <a:p>
            <a:pPr algn="r" indent="0" marL="0">
              <a:buNone/>
            </a:pPr>
            <a:r>
              <a:rPr lang="en-US" sz="1250" b="1" dirty="0">
                <a:solidFill>
                  <a:srgbClr val="F1F5F9"/>
                </a:solidFill>
                <a:latin typeface="Calibri" pitchFamily="34" charset="0"/>
                <a:ea typeface="Calibri" pitchFamily="34" charset="-122"/>
                <a:cs typeface="Calibri" pitchFamily="34" charset="-120"/>
              </a:rPr>
              <a:t>24%</a:t>
            </a:r>
            <a:endParaRPr lang="en-US" sz="1250" dirty="0"/>
          </a:p>
        </p:txBody>
      </p:sp>
      <p:sp>
        <p:nvSpPr>
          <p:cNvPr id="29" name="txt_13_26"/>
          <p:cNvSpPr txBox="1"/>
          <p:nvPr/>
        </p:nvSpPr>
        <p:spPr>
          <a:xfrm>
            <a:off x="6530188" y="3346704"/>
            <a:ext cx="1783080" cy="292608"/>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Fuel price</a:t>
            </a:r>
            <a:endParaRPr lang="en-US" sz="1250" dirty="0"/>
          </a:p>
        </p:txBody>
      </p:sp>
      <p:sp>
        <p:nvSpPr>
          <p:cNvPr id="30" name="shp_13_27"/>
          <p:cNvSpPr/>
          <p:nvPr/>
        </p:nvSpPr>
        <p:spPr>
          <a:xfrm>
            <a:off x="8358988" y="3419856"/>
            <a:ext cx="2461108" cy="146304"/>
          </a:xfrm>
          <a:prstGeom prst="rect">
            <a:avLst/>
          </a:prstGeom>
          <a:solidFill>
            <a:srgbClr val="243A5E"/>
          </a:solidFill>
          <a:ln w="12700">
            <a:solidFill>
              <a:srgbClr val="243A5E"/>
            </a:solidFill>
            <a:prstDash val="solid"/>
          </a:ln>
        </p:spPr>
      </p:sp>
      <p:sp>
        <p:nvSpPr>
          <p:cNvPr id="31" name="shp_13_28"/>
          <p:cNvSpPr/>
          <p:nvPr/>
        </p:nvSpPr>
        <p:spPr>
          <a:xfrm>
            <a:off x="8358988" y="3419856"/>
            <a:ext cx="357258" cy="146304"/>
          </a:xfrm>
          <a:prstGeom prst="rect">
            <a:avLst/>
          </a:prstGeom>
          <a:solidFill>
            <a:srgbClr val="7B93B6"/>
          </a:solidFill>
          <a:ln w="12700">
            <a:solidFill>
              <a:srgbClr val="7B93B6"/>
            </a:solidFill>
            <a:prstDash val="solid"/>
          </a:ln>
        </p:spPr>
      </p:sp>
      <p:sp>
        <p:nvSpPr>
          <p:cNvPr id="32" name="txt_13_29"/>
          <p:cNvSpPr txBox="1"/>
          <p:nvPr/>
        </p:nvSpPr>
        <p:spPr>
          <a:xfrm>
            <a:off x="10865815" y="3346704"/>
            <a:ext cx="502920" cy="292608"/>
          </a:xfrm>
          <a:prstGeom prst="rect">
            <a:avLst/>
          </a:prstGeom>
          <a:noFill/>
          <a:ln/>
        </p:spPr>
        <p:txBody>
          <a:bodyPr wrap="square" lIns="0" tIns="0" rIns="0" bIns="0" rtlCol="0" anchor="ctr"/>
          <a:lstStyle/>
          <a:p>
            <a:pPr algn="r" indent="0" marL="0">
              <a:buNone/>
            </a:pPr>
            <a:r>
              <a:rPr lang="en-US" sz="1250" b="1" dirty="0">
                <a:solidFill>
                  <a:srgbClr val="F1F5F9"/>
                </a:solidFill>
                <a:latin typeface="Calibri" pitchFamily="34" charset="0"/>
                <a:ea typeface="Calibri" pitchFamily="34" charset="-122"/>
                <a:cs typeface="Calibri" pitchFamily="34" charset="-120"/>
              </a:rPr>
              <a:t>9%</a:t>
            </a:r>
            <a:endParaRPr lang="en-US" sz="1250" dirty="0"/>
          </a:p>
        </p:txBody>
      </p:sp>
      <p:sp>
        <p:nvSpPr>
          <p:cNvPr id="33" name="txt_13_30"/>
          <p:cNvSpPr txBox="1"/>
          <p:nvPr/>
        </p:nvSpPr>
        <p:spPr>
          <a:xfrm>
            <a:off x="6530188" y="3749040"/>
            <a:ext cx="1783080" cy="292608"/>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Weight</a:t>
            </a:r>
            <a:endParaRPr lang="en-US" sz="1250" dirty="0"/>
          </a:p>
        </p:txBody>
      </p:sp>
      <p:sp>
        <p:nvSpPr>
          <p:cNvPr id="34" name="shp_13_31"/>
          <p:cNvSpPr/>
          <p:nvPr/>
        </p:nvSpPr>
        <p:spPr>
          <a:xfrm>
            <a:off x="8358988" y="3822192"/>
            <a:ext cx="2461108" cy="146304"/>
          </a:xfrm>
          <a:prstGeom prst="rect">
            <a:avLst/>
          </a:prstGeom>
          <a:solidFill>
            <a:srgbClr val="243A5E"/>
          </a:solidFill>
          <a:ln w="12700">
            <a:solidFill>
              <a:srgbClr val="243A5E"/>
            </a:solidFill>
            <a:prstDash val="solid"/>
          </a:ln>
        </p:spPr>
      </p:sp>
      <p:sp>
        <p:nvSpPr>
          <p:cNvPr id="35" name="shp_13_32"/>
          <p:cNvSpPr/>
          <p:nvPr/>
        </p:nvSpPr>
        <p:spPr>
          <a:xfrm>
            <a:off x="8358988" y="3822192"/>
            <a:ext cx="158781" cy="146304"/>
          </a:xfrm>
          <a:prstGeom prst="rect">
            <a:avLst/>
          </a:prstGeom>
          <a:solidFill>
            <a:srgbClr val="7B93B6"/>
          </a:solidFill>
          <a:ln w="12700">
            <a:solidFill>
              <a:srgbClr val="7B93B6"/>
            </a:solidFill>
            <a:prstDash val="solid"/>
          </a:ln>
        </p:spPr>
      </p:sp>
      <p:sp>
        <p:nvSpPr>
          <p:cNvPr id="36" name="txt_13_33"/>
          <p:cNvSpPr txBox="1"/>
          <p:nvPr/>
        </p:nvSpPr>
        <p:spPr>
          <a:xfrm>
            <a:off x="10865815" y="3749040"/>
            <a:ext cx="502920" cy="292608"/>
          </a:xfrm>
          <a:prstGeom prst="rect">
            <a:avLst/>
          </a:prstGeom>
          <a:noFill/>
          <a:ln/>
        </p:spPr>
        <p:txBody>
          <a:bodyPr wrap="square" lIns="0" tIns="0" rIns="0" bIns="0" rtlCol="0" anchor="ctr"/>
          <a:lstStyle/>
          <a:p>
            <a:pPr algn="r" indent="0" marL="0">
              <a:buNone/>
            </a:pPr>
            <a:r>
              <a:rPr lang="en-US" sz="1250" b="1" dirty="0">
                <a:solidFill>
                  <a:srgbClr val="F1F5F9"/>
                </a:solidFill>
                <a:latin typeface="Calibri" pitchFamily="34" charset="0"/>
                <a:ea typeface="Calibri" pitchFamily="34" charset="-122"/>
                <a:cs typeface="Calibri" pitchFamily="34" charset="-120"/>
              </a:rPr>
              <a:t>4%</a:t>
            </a:r>
            <a:endParaRPr lang="en-US" sz="1250" dirty="0"/>
          </a:p>
        </p:txBody>
      </p:sp>
      <p:sp>
        <p:nvSpPr>
          <p:cNvPr id="37" name="txt_13_34"/>
          <p:cNvSpPr txBox="1"/>
          <p:nvPr/>
        </p:nvSpPr>
        <p:spPr>
          <a:xfrm>
            <a:off x="6530188" y="4151376"/>
            <a:ext cx="1783080" cy="292608"/>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All other features</a:t>
            </a:r>
            <a:endParaRPr lang="en-US" sz="1250" dirty="0"/>
          </a:p>
        </p:txBody>
      </p:sp>
      <p:sp>
        <p:nvSpPr>
          <p:cNvPr id="38" name="shp_13_35"/>
          <p:cNvSpPr/>
          <p:nvPr/>
        </p:nvSpPr>
        <p:spPr>
          <a:xfrm>
            <a:off x="8358988" y="4224528"/>
            <a:ext cx="2461108" cy="146304"/>
          </a:xfrm>
          <a:prstGeom prst="rect">
            <a:avLst/>
          </a:prstGeom>
          <a:solidFill>
            <a:srgbClr val="243A5E"/>
          </a:solidFill>
          <a:ln w="12700">
            <a:solidFill>
              <a:srgbClr val="243A5E"/>
            </a:solidFill>
            <a:prstDash val="solid"/>
          </a:ln>
        </p:spPr>
      </p:sp>
      <p:sp>
        <p:nvSpPr>
          <p:cNvPr id="39" name="shp_13_36"/>
          <p:cNvSpPr/>
          <p:nvPr/>
        </p:nvSpPr>
        <p:spPr>
          <a:xfrm>
            <a:off x="8358988" y="4224528"/>
            <a:ext cx="39695" cy="146304"/>
          </a:xfrm>
          <a:prstGeom prst="rect">
            <a:avLst/>
          </a:prstGeom>
          <a:solidFill>
            <a:srgbClr val="7B93B6"/>
          </a:solidFill>
          <a:ln w="12700">
            <a:solidFill>
              <a:srgbClr val="7B93B6"/>
            </a:solidFill>
            <a:prstDash val="solid"/>
          </a:ln>
        </p:spPr>
      </p:sp>
      <p:sp>
        <p:nvSpPr>
          <p:cNvPr id="40" name="txt_13_37"/>
          <p:cNvSpPr txBox="1"/>
          <p:nvPr/>
        </p:nvSpPr>
        <p:spPr>
          <a:xfrm>
            <a:off x="10865815" y="4151376"/>
            <a:ext cx="502920" cy="292608"/>
          </a:xfrm>
          <a:prstGeom prst="rect">
            <a:avLst/>
          </a:prstGeom>
          <a:noFill/>
          <a:ln/>
        </p:spPr>
        <p:txBody>
          <a:bodyPr wrap="square" lIns="0" tIns="0" rIns="0" bIns="0" rtlCol="0" anchor="ctr"/>
          <a:lstStyle/>
          <a:p>
            <a:pPr algn="r" indent="0" marL="0">
              <a:buNone/>
            </a:pPr>
            <a:r>
              <a:rPr lang="en-US" sz="1250" b="1" dirty="0">
                <a:solidFill>
                  <a:srgbClr val="F1F5F9"/>
                </a:solidFill>
                <a:latin typeface="Calibri" pitchFamily="34" charset="0"/>
                <a:ea typeface="Calibri" pitchFamily="34" charset="-122"/>
                <a:cs typeface="Calibri" pitchFamily="34" charset="-120"/>
              </a:rPr>
              <a:t>1%</a:t>
            </a:r>
            <a:endParaRPr lang="en-US" sz="1250" dirty="0"/>
          </a:p>
        </p:txBody>
      </p:sp>
      <p:sp>
        <p:nvSpPr>
          <p:cNvPr id="41" name="shp_13_38"/>
          <p:cNvSpPr/>
          <p:nvPr/>
        </p:nvSpPr>
        <p:spPr>
          <a:xfrm>
            <a:off x="548640" y="4892040"/>
            <a:ext cx="11094415" cy="1188720"/>
          </a:xfrm>
          <a:prstGeom prst="roundRect">
            <a:avLst>
              <a:gd name="adj" fmla="val 7692"/>
            </a:avLst>
          </a:prstGeom>
          <a:solidFill>
            <a:srgbClr val="3B2A0C"/>
          </a:solidFill>
          <a:ln w="19050">
            <a:solidFill>
              <a:srgbClr val="F5A524"/>
            </a:solidFill>
            <a:prstDash val="solid"/>
          </a:ln>
        </p:spPr>
      </p:sp>
      <p:sp>
        <p:nvSpPr>
          <p:cNvPr id="42" name="txt_13_39"/>
          <p:cNvSpPr txBox="1"/>
          <p:nvPr/>
        </p:nvSpPr>
        <p:spPr>
          <a:xfrm>
            <a:off x="868680" y="5029200"/>
            <a:ext cx="3657600" cy="256032"/>
          </a:xfrm>
          <a:prstGeom prst="rect">
            <a:avLst/>
          </a:prstGeom>
          <a:noFill/>
          <a:ln/>
        </p:spPr>
        <p:txBody>
          <a:bodyPr wrap="square" lIns="0" tIns="0" rIns="0" bIns="0" rtlCol="0" anchor="t"/>
          <a:lstStyle/>
          <a:p>
            <a:pPr indent="0" marL="0">
              <a:buNone/>
            </a:pPr>
            <a:r>
              <a:rPr lang="en-US" sz="1100" b="1" spc="200" kern="0" dirty="0">
                <a:solidFill>
                  <a:srgbClr val="F5A524"/>
                </a:solidFill>
                <a:latin typeface="Calibri" pitchFamily="34" charset="0"/>
                <a:ea typeface="Calibri" pitchFamily="34" charset="-122"/>
                <a:cs typeface="Calibri" pitchFamily="34" charset="-120"/>
              </a:rPr>
              <a:t>RECOMMENDED PRICE</a:t>
            </a:r>
            <a:endParaRPr lang="en-US" sz="1100" dirty="0"/>
          </a:p>
        </p:txBody>
      </p:sp>
      <p:sp>
        <p:nvSpPr>
          <p:cNvPr id="43" name="txt_13_40"/>
          <p:cNvSpPr txBox="1"/>
          <p:nvPr/>
        </p:nvSpPr>
        <p:spPr>
          <a:xfrm>
            <a:off x="868680" y="5303520"/>
            <a:ext cx="7498080" cy="548640"/>
          </a:xfrm>
          <a:prstGeom prst="rect">
            <a:avLst/>
          </a:prstGeom>
          <a:noFill/>
          <a:ln/>
        </p:spPr>
        <p:txBody>
          <a:bodyPr wrap="square" lIns="0" tIns="0" rIns="0" bIns="0" rtlCol="0" anchor="t"/>
          <a:lstStyle/>
          <a:p>
            <a:pPr indent="0" marL="0">
              <a:buNone/>
            </a:pPr>
            <a:r>
              <a:rPr lang="en-US" sz="2400" dirty="0">
                <a:solidFill>
                  <a:srgbClr val="FFFFFF"/>
                </a:solidFill>
                <a:latin typeface="Cambria Math" pitchFamily="34" charset="0"/>
                <a:ea typeface="Cambria Math" pitchFamily="34" charset="-122"/>
                <a:cs typeface="Cambria Math" pitchFamily="34" charset="-120"/>
              </a:rPr>
              <a:t>(2 × Rule Price + ML Price) ÷ 2  ×  (1 + Risk Premium)</a:t>
            </a:r>
            <a:endParaRPr lang="en-US" sz="2400" dirty="0"/>
          </a:p>
        </p:txBody>
      </p:sp>
      <p:sp>
        <p:nvSpPr>
          <p:cNvPr id="44" name="txt_13_41"/>
          <p:cNvSpPr txBox="1"/>
          <p:nvPr/>
        </p:nvSpPr>
        <p:spPr>
          <a:xfrm>
            <a:off x="8412480" y="5074920"/>
            <a:ext cx="2910535" cy="822960"/>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Rule price and ML price sit side by side on every quote.</a:t>
            </a:r>
            <a:endParaRPr lang="en-US" sz="1300" dirty="0"/>
          </a:p>
        </p:txBody>
      </p:sp>
      <p:sp>
        <p:nvSpPr>
          <p:cNvPr id="45" name="txt_13_4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46" name="txt_13_4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13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77" fill="hold">
                      <p:stCondLst>
                        <p:cond delay="indefinite"/>
                      </p:stCondLst>
                      <p:childTnLst>
                        <p:par>
                          <p:cTn id="78"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3" presetID="10" presetClass="entr" presetSubtype="0" fill="hold" grpId="0" nodeType="withEffect" decel="100000">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6" presetID="22" presetClass="entr" presetSubtype="8" fill="hold" grpId="0" nodeType="withEffect" decel="100000">
                                  <p:stCondLst>
                                    <p:cond delay="300"/>
                                  </p:stCondLst>
                                  <p:childTnLst>
                                    <p:set>
                                      <p:cBhvr>
                                        <p:cTn id="44" dur="1" fill="hold">
                                          <p:stCondLst>
                                            <p:cond delay="0"/>
                                          </p:stCondLst>
                                        </p:cTn>
                                        <p:tgtEl>
                                          <p:spTgt spid="12"/>
                                        </p:tgtEl>
                                        <p:attrNameLst>
                                          <p:attrName>style.visibility</p:attrName>
                                        </p:attrNameLst>
                                      </p:cBhvr>
                                      <p:to>
                                        <p:strVal val="visible"/>
                                      </p:to>
                                    </p:set>
                                    <p:animEffect transition="in" filter="wipe(right)">
                                      <p:cBhvr>
                                        <p:cTn id="45" dur="900"/>
                                        <p:tgtEl>
                                          <p:spTgt spid="12"/>
                                        </p:tgtEl>
                                      </p:cBhvr>
                                    </p:animEffect>
                                  </p:childTnLst>
                                </p:cTn>
                              </p:par>
                              <p:par>
                                <p:cTn id="51" presetID="42" presetClass="entr" presetSubtype="0" fill="hold" grpId="0" nodeType="withEffect" decel="100000">
                                  <p:stCondLst>
                                    <p:cond delay="60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anim calcmode="lin" valueType="num">
                                      <p:cBhvr>
                                        <p:cTn id="49" dur="500" fill="hold"/>
                                        <p:tgtEl>
                                          <p:spTgt spid="13"/>
                                        </p:tgtEl>
                                        <p:attrNameLst>
                                          <p:attrName>ppt_x</p:attrName>
                                        </p:attrNameLst>
                                      </p:cBhvr>
                                      <p:tavLst>
                                        <p:tav tm="0">
                                          <p:val>
                                            <p:strVal val="#ppt_x"/>
                                          </p:val>
                                        </p:tav>
                                        <p:tav tm="100000">
                                          <p:val>
                                            <p:strVal val="#ppt_x"/>
                                          </p:val>
                                        </p:tav>
                                      </p:tavLst>
                                    </p:anim>
                                    <p:anim calcmode="lin" valueType="num">
                                      <p:cBhvr>
                                        <p:cTn id="50" dur="500" fill="hold"/>
                                        <p:tgtEl>
                                          <p:spTgt spid="13"/>
                                        </p:tgtEl>
                                        <p:attrNameLst>
                                          <p:attrName>ppt_y</p:attrName>
                                        </p:attrNameLst>
                                      </p:cBhvr>
                                      <p:tavLst>
                                        <p:tav tm="0">
                                          <p:val>
                                            <p:strVal val="#ppt_y+0.05"/>
                                          </p:val>
                                        </p:tav>
                                        <p:tav tm="100000">
                                          <p:val>
                                            <p:strVal val="#ppt_y"/>
                                          </p:val>
                                        </p:tav>
                                      </p:tavLst>
                                    </p:anim>
                                  </p:childTnLst>
                                </p:cTn>
                              </p:par>
                              <p:par>
                                <p:cTn id="56" presetID="42" presetClass="entr" presetSubtype="0" fill="hold" grpId="0" nodeType="withEffect" decel="100000">
                                  <p:stCondLst>
                                    <p:cond delay="60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0.05"/>
                                          </p:val>
                                        </p:tav>
                                        <p:tav tm="100000">
                                          <p:val>
                                            <p:strVal val="#ppt_y"/>
                                          </p:val>
                                        </p:tav>
                                      </p:tavLst>
                                    </p:anim>
                                  </p:childTnLst>
                                </p:cTn>
                              </p:par>
                              <p:par>
                                <p:cTn id="61" presetID="42" presetClass="entr" presetSubtype="0" fill="hold" grpId="0" nodeType="withEffect" decel="100000">
                                  <p:stCondLst>
                                    <p:cond delay="72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strVal val="#ppt_x"/>
                                          </p:val>
                                        </p:tav>
                                        <p:tav tm="100000">
                                          <p:val>
                                            <p:strVal val="#ppt_x"/>
                                          </p:val>
                                        </p:tav>
                                      </p:tavLst>
                                    </p:anim>
                                    <p:anim calcmode="lin" valueType="num">
                                      <p:cBhvr>
                                        <p:cTn id="60" dur="500" fill="hold"/>
                                        <p:tgtEl>
                                          <p:spTgt spid="15"/>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decel="100000">
                                  <p:stCondLst>
                                    <p:cond delay="7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anim calcmode="lin" valueType="num">
                                      <p:cBhvr>
                                        <p:cTn id="64" dur="500" fill="hold"/>
                                        <p:tgtEl>
                                          <p:spTgt spid="16"/>
                                        </p:tgtEl>
                                        <p:attrNameLst>
                                          <p:attrName>ppt_x</p:attrName>
                                        </p:attrNameLst>
                                      </p:cBhvr>
                                      <p:tavLst>
                                        <p:tav tm="0">
                                          <p:val>
                                            <p:strVal val="#ppt_x"/>
                                          </p:val>
                                        </p:tav>
                                        <p:tav tm="100000">
                                          <p:val>
                                            <p:strVal val="#ppt_x"/>
                                          </p:val>
                                        </p:tav>
                                      </p:tavLst>
                                    </p:anim>
                                    <p:anim calcmode="lin" valueType="num">
                                      <p:cBhvr>
                                        <p:cTn id="65" dur="500" fill="hold"/>
                                        <p:tgtEl>
                                          <p:spTgt spid="16"/>
                                        </p:tgtEl>
                                        <p:attrNameLst>
                                          <p:attrName>ppt_y</p:attrName>
                                        </p:attrNameLst>
                                      </p:cBhvr>
                                      <p:tavLst>
                                        <p:tav tm="0">
                                          <p:val>
                                            <p:strVal val="#ppt_y+0.05"/>
                                          </p:val>
                                        </p:tav>
                                        <p:tav tm="100000">
                                          <p:val>
                                            <p:strVal val="#ppt_y"/>
                                          </p:val>
                                        </p:tav>
                                      </p:tavLst>
                                    </p:anim>
                                  </p:childTnLst>
                                </p:cTn>
                              </p:par>
                              <p:par>
                                <p:cTn id="71" presetID="42" presetClass="entr" presetSubtype="0" fill="hold" grpId="0" nodeType="withEffect" decel="100000">
                                  <p:stCondLst>
                                    <p:cond delay="84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p:cTn id="69" dur="500" fill="hold"/>
                                        <p:tgtEl>
                                          <p:spTgt spid="17"/>
                                        </p:tgtEl>
                                        <p:attrNameLst>
                                          <p:attrName>ppt_x</p:attrName>
                                        </p:attrNameLst>
                                      </p:cBhvr>
                                      <p:tavLst>
                                        <p:tav tm="0">
                                          <p:val>
                                            <p:strVal val="#ppt_x"/>
                                          </p:val>
                                        </p:tav>
                                        <p:tav tm="100000">
                                          <p:val>
                                            <p:strVal val="#ppt_x"/>
                                          </p:val>
                                        </p:tav>
                                      </p:tavLst>
                                    </p:anim>
                                    <p:anim calcmode="lin" valueType="num">
                                      <p:cBhvr>
                                        <p:cTn id="70" dur="500" fill="hold"/>
                                        <p:tgtEl>
                                          <p:spTgt spid="17"/>
                                        </p:tgtEl>
                                        <p:attrNameLst>
                                          <p:attrName>ppt_y</p:attrName>
                                        </p:attrNameLst>
                                      </p:cBhvr>
                                      <p:tavLst>
                                        <p:tav tm="0">
                                          <p:val>
                                            <p:strVal val="#ppt_y+0.05"/>
                                          </p:val>
                                        </p:tav>
                                        <p:tav tm="100000">
                                          <p:val>
                                            <p:strVal val="#ppt_y"/>
                                          </p:val>
                                        </p:tav>
                                      </p:tavLst>
                                    </p:anim>
                                  </p:childTnLst>
                                </p:cTn>
                              </p:par>
                              <p:par>
                                <p:cTn id="76" presetID="42" presetClass="entr" presetSubtype="0" fill="hold" grpId="0" nodeType="withEffect" decel="100000">
                                  <p:stCondLst>
                                    <p:cond delay="84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anim calcmode="lin" valueType="num">
                                      <p:cBhvr>
                                        <p:cTn id="74" dur="500" fill="hold"/>
                                        <p:tgtEl>
                                          <p:spTgt spid="18"/>
                                        </p:tgtEl>
                                        <p:attrNameLst>
                                          <p:attrName>ppt_x</p:attrName>
                                        </p:attrNameLst>
                                      </p:cBhvr>
                                      <p:tavLst>
                                        <p:tav tm="0">
                                          <p:val>
                                            <p:strVal val="#ppt_x"/>
                                          </p:val>
                                        </p:tav>
                                        <p:tav tm="100000">
                                          <p:val>
                                            <p:strVal val="#ppt_x"/>
                                          </p:val>
                                        </p:tav>
                                      </p:tavLst>
                                    </p:anim>
                                    <p:anim calcmode="lin" valueType="num">
                                      <p:cBhvr>
                                        <p:cTn id="75" dur="500" fill="hold"/>
                                        <p:tgtEl>
                                          <p:spTgt spid="18"/>
                                        </p:tgtEl>
                                        <p:attrNameLst>
                                          <p:attrName>ppt_y</p:attrName>
                                        </p:attrNameLst>
                                      </p:cBhvr>
                                      <p:tavLst>
                                        <p:tav tm="0">
                                          <p:val>
                                            <p:strVal val="#ppt_y+0.05"/>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83" presetID="42" presetClass="entr" presetSubtype="0" fill="hold" grpId="0" nodeType="clickEffect" decel="100000">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500" fill="hold"/>
                                        <p:tgtEl>
                                          <p:spTgt spid="19"/>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p:cTn id="86" dur="500" fill="hold"/>
                                        <p:tgtEl>
                                          <p:spTgt spid="20"/>
                                        </p:tgtEl>
                                        <p:attrNameLst>
                                          <p:attrName>ppt_x</p:attrName>
                                        </p:attrNameLst>
                                      </p:cBhvr>
                                      <p:tavLst>
                                        <p:tav tm="0">
                                          <p:val>
                                            <p:strVal val="#ppt_x"/>
                                          </p:val>
                                        </p:tav>
                                        <p:tav tm="100000">
                                          <p:val>
                                            <p:strVal val="#ppt_x"/>
                                          </p:val>
                                        </p:tav>
                                      </p:tavLst>
                                    </p:anim>
                                    <p:anim calcmode="lin" valueType="num">
                                      <p:cBhvr>
                                        <p:cTn id="87" dur="500" fill="hold"/>
                                        <p:tgtEl>
                                          <p:spTgt spid="20"/>
                                        </p:tgtEl>
                                        <p:attrNameLst>
                                          <p:attrName>ppt_y</p:attrName>
                                        </p:attrNameLst>
                                      </p:cBhvr>
                                      <p:tavLst>
                                        <p:tav tm="0">
                                          <p:val>
                                            <p:strVal val="#ppt_y+0.05"/>
                                          </p:val>
                                        </p:tav>
                                        <p:tav tm="100000">
                                          <p:val>
                                            <p:strVal val="#ppt_y"/>
                                          </p:val>
                                        </p:tav>
                                      </p:tavLst>
                                    </p:anim>
                                  </p:childTnLst>
                                </p:cTn>
                              </p:par>
                              <p:par>
                                <p:cTn id="91" presetID="10" presetClass="entr" presetSubtype="0" fill="hold" grpId="0" nodeType="withEffect" decel="100000">
                                  <p:stCondLst>
                                    <p:cond delay="2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childTnLst>
                                </p:cTn>
                              </p:par>
                              <p:par>
                                <p:cTn id="94" presetID="10" presetClass="entr" presetSubtype="0" fill="hold" grpId="0" nodeType="withEffect" decel="100000">
                                  <p:stCondLst>
                                    <p:cond delay="20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par>
                                <p:cTn id="97" presetID="22" presetClass="entr" presetSubtype="8" fill="hold" grpId="0" nodeType="withEffect" decel="100000">
                                  <p:stCondLst>
                                    <p:cond delay="200"/>
                                  </p:stCondLst>
                                  <p:childTnLst>
                                    <p:set>
                                      <p:cBhvr>
                                        <p:cTn id="95" dur="1" fill="hold">
                                          <p:stCondLst>
                                            <p:cond delay="0"/>
                                          </p:stCondLst>
                                        </p:cTn>
                                        <p:tgtEl>
                                          <p:spTgt spid="23"/>
                                        </p:tgtEl>
                                        <p:attrNameLst>
                                          <p:attrName>style.visibility</p:attrName>
                                        </p:attrNameLst>
                                      </p:cBhvr>
                                      <p:to>
                                        <p:strVal val="visible"/>
                                      </p:to>
                                    </p:set>
                                    <p:animEffect transition="in" filter="wipe(right)">
                                      <p:cBhvr>
                                        <p:cTn id="96" dur="600"/>
                                        <p:tgtEl>
                                          <p:spTgt spid="23"/>
                                        </p:tgtEl>
                                      </p:cBhvr>
                                    </p:animEffect>
                                  </p:childTnLst>
                                </p:cTn>
                              </p:par>
                              <p:par>
                                <p:cTn id="100" presetID="10" presetClass="entr" presetSubtype="0" fill="hold" grpId="0" nodeType="withEffect" decel="100000">
                                  <p:stCondLst>
                                    <p:cond delay="50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500"/>
                                        <p:tgtEl>
                                          <p:spTgt spid="24"/>
                                        </p:tgtEl>
                                      </p:cBhvr>
                                    </p:animEffect>
                                  </p:childTnLst>
                                </p:cTn>
                              </p:par>
                              <p:par>
                                <p:cTn id="103" presetID="10" presetClass="entr" presetSubtype="0" fill="hold" grpId="0" nodeType="withEffect" decel="100000">
                                  <p:stCondLst>
                                    <p:cond delay="35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00"/>
                                        <p:tgtEl>
                                          <p:spTgt spid="25"/>
                                        </p:tgtEl>
                                      </p:cBhvr>
                                    </p:animEffect>
                                  </p:childTnLst>
                                </p:cTn>
                              </p:par>
                              <p:par>
                                <p:cTn id="106" presetID="10" presetClass="entr" presetSubtype="0" fill="hold" grpId="0" nodeType="withEffect" decel="100000">
                                  <p:stCondLst>
                                    <p:cond delay="35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childTnLst>
                                </p:cTn>
                              </p:par>
                              <p:par>
                                <p:cTn id="109" presetID="22" presetClass="entr" presetSubtype="8" fill="hold" grpId="0" nodeType="withEffect" decel="100000">
                                  <p:stCondLst>
                                    <p:cond delay="350"/>
                                  </p:stCondLst>
                                  <p:childTnLst>
                                    <p:set>
                                      <p:cBhvr>
                                        <p:cTn id="107" dur="1" fill="hold">
                                          <p:stCondLst>
                                            <p:cond delay="0"/>
                                          </p:stCondLst>
                                        </p:cTn>
                                        <p:tgtEl>
                                          <p:spTgt spid="27"/>
                                        </p:tgtEl>
                                        <p:attrNameLst>
                                          <p:attrName>style.visibility</p:attrName>
                                        </p:attrNameLst>
                                      </p:cBhvr>
                                      <p:to>
                                        <p:strVal val="visible"/>
                                      </p:to>
                                    </p:set>
                                    <p:animEffect transition="in" filter="wipe(right)">
                                      <p:cBhvr>
                                        <p:cTn id="108" dur="600"/>
                                        <p:tgtEl>
                                          <p:spTgt spid="27"/>
                                        </p:tgtEl>
                                      </p:cBhvr>
                                    </p:animEffect>
                                  </p:childTnLst>
                                </p:cTn>
                              </p:par>
                              <p:par>
                                <p:cTn id="112" presetID="10" presetClass="entr" presetSubtype="0" fill="hold" grpId="0" nodeType="withEffect" decel="100000">
                                  <p:stCondLst>
                                    <p:cond delay="65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500"/>
                                        <p:tgtEl>
                                          <p:spTgt spid="28"/>
                                        </p:tgtEl>
                                      </p:cBhvr>
                                    </p:animEffect>
                                  </p:childTnLst>
                                </p:cTn>
                              </p:par>
                              <p:par>
                                <p:cTn id="115" presetID="10" presetClass="entr" presetSubtype="0" fill="hold" grpId="0" nodeType="withEffect" decel="100000">
                                  <p:stCondLst>
                                    <p:cond delay="50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childTnLst>
                                </p:cTn>
                              </p:par>
                              <p:par>
                                <p:cTn id="118" presetID="10" presetClass="entr" presetSubtype="0" fill="hold" grpId="0" nodeType="withEffect" decel="100000">
                                  <p:stCondLst>
                                    <p:cond delay="50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childTnLst>
                                </p:cTn>
                              </p:par>
                              <p:par>
                                <p:cTn id="121" presetID="22" presetClass="entr" presetSubtype="8" fill="hold" grpId="0" nodeType="withEffect" decel="100000">
                                  <p:stCondLst>
                                    <p:cond delay="500"/>
                                  </p:stCondLst>
                                  <p:childTnLst>
                                    <p:set>
                                      <p:cBhvr>
                                        <p:cTn id="119" dur="1" fill="hold">
                                          <p:stCondLst>
                                            <p:cond delay="0"/>
                                          </p:stCondLst>
                                        </p:cTn>
                                        <p:tgtEl>
                                          <p:spTgt spid="31"/>
                                        </p:tgtEl>
                                        <p:attrNameLst>
                                          <p:attrName>style.visibility</p:attrName>
                                        </p:attrNameLst>
                                      </p:cBhvr>
                                      <p:to>
                                        <p:strVal val="visible"/>
                                      </p:to>
                                    </p:set>
                                    <p:animEffect transition="in" filter="wipe(right)">
                                      <p:cBhvr>
                                        <p:cTn id="120" dur="600"/>
                                        <p:tgtEl>
                                          <p:spTgt spid="31"/>
                                        </p:tgtEl>
                                      </p:cBhvr>
                                    </p:animEffect>
                                  </p:childTnLst>
                                </p:cTn>
                              </p:par>
                              <p:par>
                                <p:cTn id="124" presetID="10" presetClass="entr" presetSubtype="0" fill="hold" grpId="0" nodeType="withEffect" decel="100000">
                                  <p:stCondLst>
                                    <p:cond delay="800"/>
                                  </p:stCondLst>
                                  <p:childTnLst>
                                    <p:set>
                                      <p:cBhvr>
                                        <p:cTn id="122" dur="1" fill="hold">
                                          <p:stCondLst>
                                            <p:cond delay="0"/>
                                          </p:stCondLst>
                                        </p:cTn>
                                        <p:tgtEl>
                                          <p:spTgt spid="32"/>
                                        </p:tgtEl>
                                        <p:attrNameLst>
                                          <p:attrName>style.visibility</p:attrName>
                                        </p:attrNameLst>
                                      </p:cBhvr>
                                      <p:to>
                                        <p:strVal val="visible"/>
                                      </p:to>
                                    </p:set>
                                    <p:animEffect transition="in" filter="fade">
                                      <p:cBhvr>
                                        <p:cTn id="123" dur="500"/>
                                        <p:tgtEl>
                                          <p:spTgt spid="32"/>
                                        </p:tgtEl>
                                      </p:cBhvr>
                                    </p:animEffect>
                                  </p:childTnLst>
                                </p:cTn>
                              </p:par>
                              <p:par>
                                <p:cTn id="127" presetID="10" presetClass="entr" presetSubtype="0" fill="hold" grpId="0" nodeType="withEffect" decel="100000">
                                  <p:stCondLst>
                                    <p:cond delay="65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00"/>
                                        <p:tgtEl>
                                          <p:spTgt spid="33"/>
                                        </p:tgtEl>
                                      </p:cBhvr>
                                    </p:animEffect>
                                  </p:childTnLst>
                                </p:cTn>
                              </p:par>
                              <p:par>
                                <p:cTn id="130" presetID="10" presetClass="entr" presetSubtype="0" fill="hold" grpId="0" nodeType="withEffect" decel="100000">
                                  <p:stCondLst>
                                    <p:cond delay="650"/>
                                  </p:stCondLst>
                                  <p:childTnLst>
                                    <p:set>
                                      <p:cBhvr>
                                        <p:cTn id="128" dur="1" fill="hold">
                                          <p:stCondLst>
                                            <p:cond delay="0"/>
                                          </p:stCondLst>
                                        </p:cTn>
                                        <p:tgtEl>
                                          <p:spTgt spid="34"/>
                                        </p:tgtEl>
                                        <p:attrNameLst>
                                          <p:attrName>style.visibility</p:attrName>
                                        </p:attrNameLst>
                                      </p:cBhvr>
                                      <p:to>
                                        <p:strVal val="visible"/>
                                      </p:to>
                                    </p:set>
                                    <p:animEffect transition="in" filter="fade">
                                      <p:cBhvr>
                                        <p:cTn id="129" dur="500"/>
                                        <p:tgtEl>
                                          <p:spTgt spid="34"/>
                                        </p:tgtEl>
                                      </p:cBhvr>
                                    </p:animEffect>
                                  </p:childTnLst>
                                </p:cTn>
                              </p:par>
                              <p:par>
                                <p:cTn id="133" presetID="22" presetClass="entr" presetSubtype="8" fill="hold" grpId="0" nodeType="withEffect" decel="100000">
                                  <p:stCondLst>
                                    <p:cond delay="650"/>
                                  </p:stCondLst>
                                  <p:childTnLst>
                                    <p:set>
                                      <p:cBhvr>
                                        <p:cTn id="131" dur="1" fill="hold">
                                          <p:stCondLst>
                                            <p:cond delay="0"/>
                                          </p:stCondLst>
                                        </p:cTn>
                                        <p:tgtEl>
                                          <p:spTgt spid="35"/>
                                        </p:tgtEl>
                                        <p:attrNameLst>
                                          <p:attrName>style.visibility</p:attrName>
                                        </p:attrNameLst>
                                      </p:cBhvr>
                                      <p:to>
                                        <p:strVal val="visible"/>
                                      </p:to>
                                    </p:set>
                                    <p:animEffect transition="in" filter="wipe(right)">
                                      <p:cBhvr>
                                        <p:cTn id="132" dur="600"/>
                                        <p:tgtEl>
                                          <p:spTgt spid="35"/>
                                        </p:tgtEl>
                                      </p:cBhvr>
                                    </p:animEffect>
                                  </p:childTnLst>
                                </p:cTn>
                              </p:par>
                              <p:par>
                                <p:cTn id="136" presetID="10" presetClass="entr" presetSubtype="0" fill="hold" grpId="0" nodeType="withEffect" decel="100000">
                                  <p:stCondLst>
                                    <p:cond delay="950"/>
                                  </p:stCondLst>
                                  <p:childTnLst>
                                    <p:set>
                                      <p:cBhvr>
                                        <p:cTn id="134" dur="1" fill="hold">
                                          <p:stCondLst>
                                            <p:cond delay="0"/>
                                          </p:stCondLst>
                                        </p:cTn>
                                        <p:tgtEl>
                                          <p:spTgt spid="36"/>
                                        </p:tgtEl>
                                        <p:attrNameLst>
                                          <p:attrName>style.visibility</p:attrName>
                                        </p:attrNameLst>
                                      </p:cBhvr>
                                      <p:to>
                                        <p:strVal val="visible"/>
                                      </p:to>
                                    </p:set>
                                    <p:animEffect transition="in" filter="fade">
                                      <p:cBhvr>
                                        <p:cTn id="135" dur="500"/>
                                        <p:tgtEl>
                                          <p:spTgt spid="36"/>
                                        </p:tgtEl>
                                      </p:cBhvr>
                                    </p:animEffect>
                                  </p:childTnLst>
                                </p:cTn>
                              </p:par>
                              <p:par>
                                <p:cTn id="139" presetID="10" presetClass="entr" presetSubtype="0" fill="hold" grpId="0" nodeType="withEffect" decel="100000">
                                  <p:stCondLst>
                                    <p:cond delay="800"/>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500"/>
                                        <p:tgtEl>
                                          <p:spTgt spid="37"/>
                                        </p:tgtEl>
                                      </p:cBhvr>
                                    </p:animEffect>
                                  </p:childTnLst>
                                </p:cTn>
                              </p:par>
                              <p:par>
                                <p:cTn id="142" presetID="10" presetClass="entr" presetSubtype="0" fill="hold" grpId="0" nodeType="withEffect" decel="100000">
                                  <p:stCondLst>
                                    <p:cond delay="800"/>
                                  </p:stCondLst>
                                  <p:childTnLst>
                                    <p:set>
                                      <p:cBhvr>
                                        <p:cTn id="140" dur="1" fill="hold">
                                          <p:stCondLst>
                                            <p:cond delay="0"/>
                                          </p:stCondLst>
                                        </p:cTn>
                                        <p:tgtEl>
                                          <p:spTgt spid="38"/>
                                        </p:tgtEl>
                                        <p:attrNameLst>
                                          <p:attrName>style.visibility</p:attrName>
                                        </p:attrNameLst>
                                      </p:cBhvr>
                                      <p:to>
                                        <p:strVal val="visible"/>
                                      </p:to>
                                    </p:set>
                                    <p:animEffect transition="in" filter="fade">
                                      <p:cBhvr>
                                        <p:cTn id="141" dur="500"/>
                                        <p:tgtEl>
                                          <p:spTgt spid="38"/>
                                        </p:tgtEl>
                                      </p:cBhvr>
                                    </p:animEffect>
                                  </p:childTnLst>
                                </p:cTn>
                              </p:par>
                              <p:par>
                                <p:cTn id="145" presetID="22" presetClass="entr" presetSubtype="8" fill="hold" grpId="0" nodeType="withEffect" decel="100000">
                                  <p:stCondLst>
                                    <p:cond delay="800"/>
                                  </p:stCondLst>
                                  <p:childTnLst>
                                    <p:set>
                                      <p:cBhvr>
                                        <p:cTn id="143" dur="1" fill="hold">
                                          <p:stCondLst>
                                            <p:cond delay="0"/>
                                          </p:stCondLst>
                                        </p:cTn>
                                        <p:tgtEl>
                                          <p:spTgt spid="39"/>
                                        </p:tgtEl>
                                        <p:attrNameLst>
                                          <p:attrName>style.visibility</p:attrName>
                                        </p:attrNameLst>
                                      </p:cBhvr>
                                      <p:to>
                                        <p:strVal val="visible"/>
                                      </p:to>
                                    </p:set>
                                    <p:animEffect transition="in" filter="wipe(right)">
                                      <p:cBhvr>
                                        <p:cTn id="144" dur="600"/>
                                        <p:tgtEl>
                                          <p:spTgt spid="39"/>
                                        </p:tgtEl>
                                      </p:cBhvr>
                                    </p:animEffect>
                                  </p:childTnLst>
                                </p:cTn>
                              </p:par>
                              <p:par>
                                <p:cTn id="148" presetID="10" presetClass="entr" presetSubtype="0" fill="hold" grpId="0" nodeType="withEffect" decel="100000">
                                  <p:stCondLst>
                                    <p:cond delay="110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500"/>
                                        <p:tgtEl>
                                          <p:spTgt spid="40"/>
                                        </p:tgtEl>
                                      </p:cBhvr>
                                    </p:animEffect>
                                  </p:childTnLst>
                                </p:cTn>
                              </p:par>
                            </p:childTnLst>
                          </p:cTn>
                        </p:par>
                      </p:childTnLst>
                    </p:cTn>
                  </p:par>
                  <p:par>
                    <p:cTn id="169" fill="hold">
                      <p:stCondLst>
                        <p:cond delay="indefinite"/>
                      </p:stCondLst>
                      <p:childTnLst>
                        <p:par>
                          <p:cTn id="170" fill="hold">
                            <p:stCondLst>
                              <p:cond delay="0"/>
                            </p:stCondLst>
                            <p:childTnLst>
                              <p:par>
                                <p:cTn id="155" presetID="53" presetClass="entr" presetSubtype="16" fill="hold" grpId="0" nodeType="clickEffect" decel="100000">
                                  <p:stCondLst>
                                    <p:cond delay="0"/>
                                  </p:stCondLst>
                                  <p:childTnLst>
                                    <p:set>
                                      <p:cBhvr>
                                        <p:cTn id="151" dur="1" fill="hold">
                                          <p:stCondLst>
                                            <p:cond delay="0"/>
                                          </p:stCondLst>
                                        </p:cTn>
                                        <p:tgtEl>
                                          <p:spTgt spid="41"/>
                                        </p:tgtEl>
                                        <p:attrNameLst>
                                          <p:attrName>style.visibility</p:attrName>
                                        </p:attrNameLst>
                                      </p:cBhvr>
                                      <p:to>
                                        <p:strVal val="visible"/>
                                      </p:to>
                                    </p:set>
                                    <p:anim calcmode="lin" valueType="num">
                                      <p:cBhvr>
                                        <p:cTn id="152" dur="500" fill="hold"/>
                                        <p:tgtEl>
                                          <p:spTgt spid="41"/>
                                        </p:tgtEl>
                                        <p:attrNameLst>
                                          <p:attrName>ppt_w</p:attrName>
                                        </p:attrNameLst>
                                      </p:cBhvr>
                                      <p:tavLst>
                                        <p:tav tm="0">
                                          <p:val>
                                            <p:strVal val="#ppt_w*0.70"/>
                                          </p:val>
                                        </p:tav>
                                        <p:tav tm="100000">
                                          <p:val>
                                            <p:strVal val="#ppt_w"/>
                                          </p:val>
                                        </p:tav>
                                      </p:tavLst>
                                    </p:anim>
                                    <p:anim calcmode="lin" valueType="num">
                                      <p:cBhvr>
                                        <p:cTn id="153" dur="500" fill="hold"/>
                                        <p:tgtEl>
                                          <p:spTgt spid="41"/>
                                        </p:tgtEl>
                                        <p:attrNameLst>
                                          <p:attrName>ppt_h</p:attrName>
                                        </p:attrNameLst>
                                      </p:cBhvr>
                                      <p:tavLst>
                                        <p:tav tm="0">
                                          <p:val>
                                            <p:strVal val="#ppt_h*0.70"/>
                                          </p:val>
                                        </p:tav>
                                        <p:tav tm="100000">
                                          <p:val>
                                            <p:strVal val="#ppt_h"/>
                                          </p:val>
                                        </p:tav>
                                      </p:tavLst>
                                    </p:anim>
                                    <p:animEffect transition="in" filter="fade">
                                      <p:cBhvr>
                                        <p:cTn id="154" dur="500"/>
                                        <p:tgtEl>
                                          <p:spTgt spid="41"/>
                                        </p:tgtEl>
                                      </p:cBhvr>
                                    </p:animEffect>
                                  </p:childTnLst>
                                </p:cTn>
                              </p:par>
                              <p:par>
                                <p:cTn id="160" presetID="53" presetClass="entr" presetSubtype="16" fill="hold" grpId="0" nodeType="withEffect" decel="100000">
                                  <p:stCondLst>
                                    <p:cond delay="0"/>
                                  </p:stCondLst>
                                  <p:childTnLst>
                                    <p:set>
                                      <p:cBhvr>
                                        <p:cTn id="156" dur="1" fill="hold">
                                          <p:stCondLst>
                                            <p:cond delay="0"/>
                                          </p:stCondLst>
                                        </p:cTn>
                                        <p:tgtEl>
                                          <p:spTgt spid="42"/>
                                        </p:tgtEl>
                                        <p:attrNameLst>
                                          <p:attrName>style.visibility</p:attrName>
                                        </p:attrNameLst>
                                      </p:cBhvr>
                                      <p:to>
                                        <p:strVal val="visible"/>
                                      </p:to>
                                    </p:set>
                                    <p:anim calcmode="lin" valueType="num">
                                      <p:cBhvr>
                                        <p:cTn id="157" dur="500" fill="hold"/>
                                        <p:tgtEl>
                                          <p:spTgt spid="42"/>
                                        </p:tgtEl>
                                        <p:attrNameLst>
                                          <p:attrName>ppt_w</p:attrName>
                                        </p:attrNameLst>
                                      </p:cBhvr>
                                      <p:tavLst>
                                        <p:tav tm="0">
                                          <p:val>
                                            <p:strVal val="#ppt_w*0.70"/>
                                          </p:val>
                                        </p:tav>
                                        <p:tav tm="100000">
                                          <p:val>
                                            <p:strVal val="#ppt_w"/>
                                          </p:val>
                                        </p:tav>
                                      </p:tavLst>
                                    </p:anim>
                                    <p:anim calcmode="lin" valueType="num">
                                      <p:cBhvr>
                                        <p:cTn id="158" dur="500" fill="hold"/>
                                        <p:tgtEl>
                                          <p:spTgt spid="42"/>
                                        </p:tgtEl>
                                        <p:attrNameLst>
                                          <p:attrName>ppt_h</p:attrName>
                                        </p:attrNameLst>
                                      </p:cBhvr>
                                      <p:tavLst>
                                        <p:tav tm="0">
                                          <p:val>
                                            <p:strVal val="#ppt_h*0.70"/>
                                          </p:val>
                                        </p:tav>
                                        <p:tav tm="100000">
                                          <p:val>
                                            <p:strVal val="#ppt_h"/>
                                          </p:val>
                                        </p:tav>
                                      </p:tavLst>
                                    </p:anim>
                                    <p:animEffect transition="in" filter="fade">
                                      <p:cBhvr>
                                        <p:cTn id="159" dur="500"/>
                                        <p:tgtEl>
                                          <p:spTgt spid="42"/>
                                        </p:tgtEl>
                                      </p:cBhvr>
                                    </p:animEffect>
                                  </p:childTnLst>
                                </p:cTn>
                              </p:par>
                              <p:par>
                                <p:cTn id="165" presetID="53" presetClass="entr" presetSubtype="16" fill="hold" grpId="0" nodeType="withEffect" decel="100000">
                                  <p:stCondLst>
                                    <p:cond delay="0"/>
                                  </p:stCondLst>
                                  <p:childTnLst>
                                    <p:set>
                                      <p:cBhvr>
                                        <p:cTn id="161" dur="1" fill="hold">
                                          <p:stCondLst>
                                            <p:cond delay="0"/>
                                          </p:stCondLst>
                                        </p:cTn>
                                        <p:tgtEl>
                                          <p:spTgt spid="43"/>
                                        </p:tgtEl>
                                        <p:attrNameLst>
                                          <p:attrName>style.visibility</p:attrName>
                                        </p:attrNameLst>
                                      </p:cBhvr>
                                      <p:to>
                                        <p:strVal val="visible"/>
                                      </p:to>
                                    </p:set>
                                    <p:anim calcmode="lin" valueType="num">
                                      <p:cBhvr>
                                        <p:cTn id="162" dur="500" fill="hold"/>
                                        <p:tgtEl>
                                          <p:spTgt spid="43"/>
                                        </p:tgtEl>
                                        <p:attrNameLst>
                                          <p:attrName>ppt_w</p:attrName>
                                        </p:attrNameLst>
                                      </p:cBhvr>
                                      <p:tavLst>
                                        <p:tav tm="0">
                                          <p:val>
                                            <p:strVal val="#ppt_w*0.70"/>
                                          </p:val>
                                        </p:tav>
                                        <p:tav tm="100000">
                                          <p:val>
                                            <p:strVal val="#ppt_w"/>
                                          </p:val>
                                        </p:tav>
                                      </p:tavLst>
                                    </p:anim>
                                    <p:anim calcmode="lin" valueType="num">
                                      <p:cBhvr>
                                        <p:cTn id="163" dur="500" fill="hold"/>
                                        <p:tgtEl>
                                          <p:spTgt spid="43"/>
                                        </p:tgtEl>
                                        <p:attrNameLst>
                                          <p:attrName>ppt_h</p:attrName>
                                        </p:attrNameLst>
                                      </p:cBhvr>
                                      <p:tavLst>
                                        <p:tav tm="0">
                                          <p:val>
                                            <p:strVal val="#ppt_h*0.70"/>
                                          </p:val>
                                        </p:tav>
                                        <p:tav tm="100000">
                                          <p:val>
                                            <p:strVal val="#ppt_h"/>
                                          </p:val>
                                        </p:tav>
                                      </p:tavLst>
                                    </p:anim>
                                    <p:animEffect transition="in" filter="fade">
                                      <p:cBhvr>
                                        <p:cTn id="164" dur="500"/>
                                        <p:tgtEl>
                                          <p:spTgt spid="43"/>
                                        </p:tgtEl>
                                      </p:cBhvr>
                                    </p:animEffect>
                                  </p:childTnLst>
                                </p:cTn>
                              </p:par>
                              <p:par>
                                <p:cTn id="168" presetID="10" presetClass="entr" presetSubtype="0" fill="hold" grpId="0" nodeType="withEffect" decel="100000">
                                  <p:stCondLst>
                                    <p:cond delay="300"/>
                                  </p:stCondLst>
                                  <p:childTnLst>
                                    <p:set>
                                      <p:cBhvr>
                                        <p:cTn id="166" dur="1" fill="hold">
                                          <p:stCondLst>
                                            <p:cond delay="0"/>
                                          </p:stCondLst>
                                        </p:cTn>
                                        <p:tgtEl>
                                          <p:spTgt spid="44"/>
                                        </p:tgtEl>
                                        <p:attrNameLst>
                                          <p:attrName>style.visibility</p:attrName>
                                        </p:attrNameLst>
                                      </p:cBhvr>
                                      <p:to>
                                        <p:strVal val="visible"/>
                                      </p:to>
                                    </p:set>
                                    <p:animEffect transition="in" filter="fade">
                                      <p:cBhvr>
                                        <p:cTn id="16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3" name="txt_14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2 · LIVE DATA</a:t>
            </a:r>
            <a:endParaRPr lang="en-US" sz="1100" dirty="0"/>
          </a:p>
        </p:txBody>
      </p:sp>
      <p:sp>
        <p:nvSpPr>
          <p:cNvPr id="4" name="txt_14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Live Weather Check</a:t>
            </a:r>
            <a:endParaRPr lang="en-US" sz="3200" dirty="0"/>
          </a:p>
        </p:txBody>
      </p:sp>
      <p:sp>
        <p:nvSpPr>
          <p:cNvPr id="5" name="txt_14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The quote knows the ocean before the ship does — sampled at the waypoints a vessel actually sails.</a:t>
            </a:r>
            <a:endParaRPr lang="en-US" sz="1500" dirty="0"/>
          </a:p>
        </p:txBody>
      </p:sp>
      <p:sp>
        <p:nvSpPr>
          <p:cNvPr id="6" name="shp_14_3"/>
          <p:cNvSpPr/>
          <p:nvPr/>
        </p:nvSpPr>
        <p:spPr>
          <a:xfrm>
            <a:off x="548640" y="1828800"/>
            <a:ext cx="11094415" cy="3017520"/>
          </a:xfrm>
          <a:prstGeom prst="roundRect">
            <a:avLst>
              <a:gd name="adj" fmla="val 3030"/>
            </a:avLst>
          </a:prstGeom>
          <a:solidFill>
            <a:srgbClr val="0B1A30"/>
          </a:solidFill>
          <a:ln w="9525">
            <a:solidFill>
              <a:srgbClr val="243A5E"/>
            </a:solidFill>
            <a:prstDash val="solid"/>
          </a:ln>
        </p:spPr>
      </p:sp>
      <p:pic>
        <p:nvPicPr>
          <p:cNvPr id="7" name="img_14_4" descr="/private/tmp/claude-501/-Users-nareshramavath-Downloads/8e612fae-240f-42aa-9685-f77b61758c75/scratchpad/orig/ppt/media/image11.png">    </p:cNvPr>
          <p:cNvPicPr>
            <a:picLocks noChangeAspect="1"/>
          </p:cNvPicPr>
          <p:nvPr/>
        </p:nvPicPr>
        <p:blipFill>
          <a:blip r:embed="rId1"/>
          <a:stretch>
            <a:fillRect/>
          </a:stretch>
        </p:blipFill>
        <p:spPr>
          <a:xfrm>
            <a:off x="1005840" y="1874520"/>
            <a:ext cx="10149840" cy="3008376"/>
          </a:xfrm>
          <a:prstGeom prst="rect">
            <a:avLst/>
          </a:prstGeom>
        </p:spPr>
      </p:pic>
      <p:sp>
        <p:nvSpPr>
          <p:cNvPr id="8" name="shp_14_5"/>
          <p:cNvSpPr/>
          <p:nvPr/>
        </p:nvSpPr>
        <p:spPr>
          <a:xfrm>
            <a:off x="548640" y="5029200"/>
            <a:ext cx="2567864" cy="1097280"/>
          </a:xfrm>
          <a:prstGeom prst="roundRect">
            <a:avLst>
              <a:gd name="adj" fmla="val 8333"/>
            </a:avLst>
          </a:prstGeom>
          <a:solidFill>
            <a:srgbClr val="112038"/>
          </a:solidFill>
          <a:ln w="9525">
            <a:solidFill>
              <a:srgbClr val="243A5E"/>
            </a:solidFill>
            <a:prstDash val="solid"/>
          </a:ln>
        </p:spPr>
      </p:sp>
      <p:pic>
        <p:nvPicPr>
          <p:cNvPr id="9" name="img_14_6" descr="preencoded.png">    </p:cNvPr>
          <p:cNvPicPr>
            <a:picLocks noChangeAspect="1"/>
          </p:cNvPicPr>
          <p:nvPr/>
        </p:nvPicPr>
        <p:blipFill>
          <a:blip r:embed="rId2"/>
          <a:stretch>
            <a:fillRect/>
          </a:stretch>
        </p:blipFill>
        <p:spPr>
          <a:xfrm>
            <a:off x="777240" y="5175504"/>
            <a:ext cx="274320" cy="274320"/>
          </a:xfrm>
          <a:prstGeom prst="rect">
            <a:avLst/>
          </a:prstGeom>
        </p:spPr>
      </p:pic>
      <p:sp>
        <p:nvSpPr>
          <p:cNvPr id="10" name="txt_14_7"/>
          <p:cNvSpPr txBox="1"/>
          <p:nvPr/>
        </p:nvSpPr>
        <p:spPr>
          <a:xfrm>
            <a:off x="1143000" y="5193792"/>
            <a:ext cx="183634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SAMPLE</a:t>
            </a:r>
            <a:endParaRPr lang="en-US" sz="1050" dirty="0"/>
          </a:p>
        </p:txBody>
      </p:sp>
      <p:sp>
        <p:nvSpPr>
          <p:cNvPr id="11" name="txt_14_8"/>
          <p:cNvSpPr txBox="1"/>
          <p:nvPr/>
        </p:nvSpPr>
        <p:spPr>
          <a:xfrm>
            <a:off x="777240" y="5513832"/>
            <a:ext cx="2156384" cy="548640"/>
          </a:xfrm>
          <a:prstGeom prst="rect">
            <a:avLst/>
          </a:prstGeom>
          <a:noFill/>
          <a:ln/>
        </p:spPr>
        <p:txBody>
          <a:bodyPr wrap="square" lIns="0" tIns="0" rIns="0" bIns="0" rtlCol="0" anchor="t"/>
          <a:lstStyle/>
          <a:p>
            <a:pPr indent="0" marL="0">
              <a:buNone/>
            </a:pPr>
            <a:r>
              <a:rPr lang="en-US" sz="1200" dirty="0">
                <a:solidFill>
                  <a:srgbClr val="AEBBCF"/>
                </a:solidFill>
                <a:latin typeface="Calibri" pitchFamily="34" charset="0"/>
                <a:ea typeface="Calibri" pitchFamily="34" charset="-122"/>
                <a:cs typeface="Calibri" pitchFamily="34" charset="-120"/>
              </a:rPr>
              <a:t>2–10 great-circle sea waypoints, each queried on its own.</a:t>
            </a:r>
            <a:endParaRPr lang="en-US" sz="1200" dirty="0"/>
          </a:p>
        </p:txBody>
      </p:sp>
      <p:sp>
        <p:nvSpPr>
          <p:cNvPr id="12" name="shp_14_9"/>
          <p:cNvSpPr/>
          <p:nvPr/>
        </p:nvSpPr>
        <p:spPr>
          <a:xfrm>
            <a:off x="3390824" y="5029200"/>
            <a:ext cx="2567864" cy="1097280"/>
          </a:xfrm>
          <a:prstGeom prst="roundRect">
            <a:avLst>
              <a:gd name="adj" fmla="val 8333"/>
            </a:avLst>
          </a:prstGeom>
          <a:solidFill>
            <a:srgbClr val="112038"/>
          </a:solidFill>
          <a:ln w="9525">
            <a:solidFill>
              <a:srgbClr val="243A5E"/>
            </a:solidFill>
            <a:prstDash val="solid"/>
          </a:ln>
        </p:spPr>
      </p:sp>
      <p:pic>
        <p:nvPicPr>
          <p:cNvPr id="13" name="img_14_10" descr="preencoded.png">    </p:cNvPr>
          <p:cNvPicPr>
            <a:picLocks noChangeAspect="1"/>
          </p:cNvPicPr>
          <p:nvPr/>
        </p:nvPicPr>
        <p:blipFill>
          <a:blip r:embed="rId3"/>
          <a:stretch>
            <a:fillRect/>
          </a:stretch>
        </p:blipFill>
        <p:spPr>
          <a:xfrm>
            <a:off x="3619424" y="5175504"/>
            <a:ext cx="274320" cy="274320"/>
          </a:xfrm>
          <a:prstGeom prst="rect">
            <a:avLst/>
          </a:prstGeom>
        </p:spPr>
      </p:pic>
      <p:sp>
        <p:nvSpPr>
          <p:cNvPr id="14" name="txt_14_11"/>
          <p:cNvSpPr txBox="1"/>
          <p:nvPr/>
        </p:nvSpPr>
        <p:spPr>
          <a:xfrm>
            <a:off x="3985184" y="5193792"/>
            <a:ext cx="183634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TELEMETRY</a:t>
            </a:r>
            <a:endParaRPr lang="en-US" sz="1050" dirty="0"/>
          </a:p>
        </p:txBody>
      </p:sp>
      <p:sp>
        <p:nvSpPr>
          <p:cNvPr id="15" name="txt_14_12"/>
          <p:cNvSpPr txBox="1"/>
          <p:nvPr/>
        </p:nvSpPr>
        <p:spPr>
          <a:xfrm>
            <a:off x="3619424" y="5513832"/>
            <a:ext cx="2156384" cy="548640"/>
          </a:xfrm>
          <a:prstGeom prst="rect">
            <a:avLst/>
          </a:prstGeom>
          <a:noFill/>
          <a:ln/>
        </p:spPr>
        <p:txBody>
          <a:bodyPr wrap="square" lIns="0" tIns="0" rIns="0" bIns="0" rtlCol="0" anchor="t"/>
          <a:lstStyle/>
          <a:p>
            <a:pPr indent="0" marL="0">
              <a:buNone/>
            </a:pPr>
            <a:r>
              <a:rPr lang="en-US" sz="1200" dirty="0">
                <a:solidFill>
                  <a:srgbClr val="AEBBCF"/>
                </a:solidFill>
                <a:latin typeface="Calibri" pitchFamily="34" charset="0"/>
                <a:ea typeface="Calibri" pitchFamily="34" charset="-122"/>
                <a:cs typeface="Calibri" pitchFamily="34" charset="-120"/>
              </a:rPr>
              <a:t>Open-Meteo marine + forecast: wave height, swell, wind, storm.</a:t>
            </a:r>
            <a:endParaRPr lang="en-US" sz="1200" dirty="0"/>
          </a:p>
        </p:txBody>
      </p:sp>
      <p:sp>
        <p:nvSpPr>
          <p:cNvPr id="16" name="shp_14_13"/>
          <p:cNvSpPr/>
          <p:nvPr/>
        </p:nvSpPr>
        <p:spPr>
          <a:xfrm>
            <a:off x="6233008" y="5029200"/>
            <a:ext cx="2567864" cy="1097280"/>
          </a:xfrm>
          <a:prstGeom prst="roundRect">
            <a:avLst>
              <a:gd name="adj" fmla="val 8333"/>
            </a:avLst>
          </a:prstGeom>
          <a:solidFill>
            <a:srgbClr val="112038"/>
          </a:solidFill>
          <a:ln w="9525">
            <a:solidFill>
              <a:srgbClr val="243A5E"/>
            </a:solidFill>
            <a:prstDash val="solid"/>
          </a:ln>
        </p:spPr>
      </p:sp>
      <p:pic>
        <p:nvPicPr>
          <p:cNvPr id="17" name="img_14_14" descr="preencoded.png">    </p:cNvPr>
          <p:cNvPicPr>
            <a:picLocks noChangeAspect="1"/>
          </p:cNvPicPr>
          <p:nvPr/>
        </p:nvPicPr>
        <p:blipFill>
          <a:blip r:embed="rId4"/>
          <a:stretch>
            <a:fillRect/>
          </a:stretch>
        </p:blipFill>
        <p:spPr>
          <a:xfrm>
            <a:off x="6461608" y="5175504"/>
            <a:ext cx="274320" cy="274320"/>
          </a:xfrm>
          <a:prstGeom prst="rect">
            <a:avLst/>
          </a:prstGeom>
        </p:spPr>
      </p:pic>
      <p:sp>
        <p:nvSpPr>
          <p:cNvPr id="18" name="txt_14_15"/>
          <p:cNvSpPr txBox="1"/>
          <p:nvPr/>
        </p:nvSpPr>
        <p:spPr>
          <a:xfrm>
            <a:off x="6827368" y="5193792"/>
            <a:ext cx="183634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VERDICT</a:t>
            </a:r>
            <a:endParaRPr lang="en-US" sz="1050" dirty="0"/>
          </a:p>
        </p:txBody>
      </p:sp>
      <p:sp>
        <p:nvSpPr>
          <p:cNvPr id="19" name="txt_14_16"/>
          <p:cNvSpPr txBox="1"/>
          <p:nvPr/>
        </p:nvSpPr>
        <p:spPr>
          <a:xfrm>
            <a:off x="6461608" y="5513832"/>
            <a:ext cx="2156384" cy="548640"/>
          </a:xfrm>
          <a:prstGeom prst="rect">
            <a:avLst/>
          </a:prstGeom>
          <a:noFill/>
          <a:ln/>
        </p:spPr>
        <p:txBody>
          <a:bodyPr wrap="square" lIns="0" tIns="0" rIns="0" bIns="0" rtlCol="0" anchor="t"/>
          <a:lstStyle/>
          <a:p>
            <a:pPr indent="0" marL="0">
              <a:buNone/>
            </a:pPr>
            <a:r>
              <a:rPr lang="en-US" sz="1200" dirty="0">
                <a:solidFill>
                  <a:srgbClr val="AEBBCF"/>
                </a:solidFill>
                <a:latin typeface="Calibri" pitchFamily="34" charset="0"/>
                <a:ea typeface="Calibri" pitchFamily="34" charset="-122"/>
                <a:cs typeface="Calibri" pitchFamily="34" charset="-120"/>
              </a:rPr>
              <a:t>Caution above 3.0 m, severe above 4.0 m — delay hours on the quote.</a:t>
            </a:r>
            <a:endParaRPr lang="en-US" sz="1200" dirty="0"/>
          </a:p>
        </p:txBody>
      </p:sp>
      <p:sp>
        <p:nvSpPr>
          <p:cNvPr id="20" name="shp_14_17"/>
          <p:cNvSpPr/>
          <p:nvPr/>
        </p:nvSpPr>
        <p:spPr>
          <a:xfrm>
            <a:off x="9075191" y="5029200"/>
            <a:ext cx="2567864" cy="1097280"/>
          </a:xfrm>
          <a:prstGeom prst="roundRect">
            <a:avLst>
              <a:gd name="adj" fmla="val 8333"/>
            </a:avLst>
          </a:prstGeom>
          <a:solidFill>
            <a:srgbClr val="112038"/>
          </a:solidFill>
          <a:ln w="9525">
            <a:solidFill>
              <a:srgbClr val="243A5E"/>
            </a:solidFill>
            <a:prstDash val="solid"/>
          </a:ln>
        </p:spPr>
      </p:sp>
      <p:pic>
        <p:nvPicPr>
          <p:cNvPr id="21" name="img_14_18" descr="preencoded.png">    </p:cNvPr>
          <p:cNvPicPr>
            <a:picLocks noChangeAspect="1"/>
          </p:cNvPicPr>
          <p:nvPr/>
        </p:nvPicPr>
        <p:blipFill>
          <a:blip r:embed="rId5"/>
          <a:stretch>
            <a:fillRect/>
          </a:stretch>
        </p:blipFill>
        <p:spPr>
          <a:xfrm>
            <a:off x="9303791" y="5175504"/>
            <a:ext cx="274320" cy="274320"/>
          </a:xfrm>
          <a:prstGeom prst="rect">
            <a:avLst/>
          </a:prstGeom>
        </p:spPr>
      </p:pic>
      <p:sp>
        <p:nvSpPr>
          <p:cNvPr id="22" name="txt_14_19"/>
          <p:cNvSpPr txBox="1"/>
          <p:nvPr/>
        </p:nvSpPr>
        <p:spPr>
          <a:xfrm>
            <a:off x="9669551" y="5193792"/>
            <a:ext cx="183634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THE FALLBACK</a:t>
            </a:r>
            <a:endParaRPr lang="en-US" sz="1050" dirty="0"/>
          </a:p>
        </p:txBody>
      </p:sp>
      <p:sp>
        <p:nvSpPr>
          <p:cNvPr id="23" name="txt_14_20"/>
          <p:cNvSpPr txBox="1"/>
          <p:nvPr/>
        </p:nvSpPr>
        <p:spPr>
          <a:xfrm>
            <a:off x="9303791" y="5513832"/>
            <a:ext cx="2156384" cy="548640"/>
          </a:xfrm>
          <a:prstGeom prst="rect">
            <a:avLst/>
          </a:prstGeom>
          <a:noFill/>
          <a:ln/>
        </p:spPr>
        <p:txBody>
          <a:bodyPr wrap="square" lIns="0" tIns="0" rIns="0" bIns="0" rtlCol="0" anchor="t"/>
          <a:lstStyle/>
          <a:p>
            <a:pPr indent="0" marL="0">
              <a:buNone/>
            </a:pPr>
            <a:r>
              <a:rPr lang="en-US" sz="1200" dirty="0">
                <a:solidFill>
                  <a:srgbClr val="AEBBCF"/>
                </a:solidFill>
                <a:latin typeface="Calibri" pitchFamily="34" charset="0"/>
                <a:ea typeface="Calibri" pitchFamily="34" charset="-122"/>
                <a:cs typeface="Calibri" pitchFamily="34" charset="-120"/>
              </a:rPr>
              <a:t>6-hour cache; if the API is down a seasonal model takes over — tested offline.</a:t>
            </a:r>
            <a:endParaRPr lang="en-US" sz="1200" dirty="0"/>
          </a:p>
        </p:txBody>
      </p:sp>
      <p:sp>
        <p:nvSpPr>
          <p:cNvPr id="24" name="txt_14_21"/>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25" name="txt_14_22"/>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14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18" presetID="10"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21" presetID="22" presetClass="entr" presetSubtype="8" fill="hold" grpId="0" nodeType="withEffect" decel="100000">
                                  <p:stCondLst>
                                    <p:cond delay="150"/>
                                  </p:stCondLst>
                                  <p:childTnLst>
                                    <p:set>
                                      <p:cBhvr>
                                        <p:cTn id="19" dur="1" fill="hold">
                                          <p:stCondLst>
                                            <p:cond delay="0"/>
                                          </p:stCondLst>
                                        </p:cTn>
                                        <p:tgtEl>
                                          <p:spTgt spid="7"/>
                                        </p:tgtEl>
                                        <p:attrNameLst>
                                          <p:attrName>style.visibility</p:attrName>
                                        </p:attrNameLst>
                                      </p:cBhvr>
                                      <p:to>
                                        <p:strVal val="visible"/>
                                      </p:to>
                                    </p:set>
                                    <p:animEffect transition="in" filter="wipe(right)">
                                      <p:cBhvr>
                                        <p:cTn id="20" dur="1800"/>
                                        <p:tgtEl>
                                          <p:spTgt spid="7"/>
                                        </p:tgtEl>
                                      </p:cBhvr>
                                    </p:animEffect>
                                  </p:childTnLst>
                                </p:cTn>
                              </p:par>
                            </p:childTnLst>
                          </p:cTn>
                        </p:par>
                      </p:childTnLst>
                    </p:cTn>
                  </p:par>
                  <p:par>
                    <p:cTn id="104" fill="hold">
                      <p:stCondLst>
                        <p:cond delay="indefinite"/>
                      </p:stCondLst>
                      <p:childTnLst>
                        <p:par>
                          <p:cTn id="105" fill="hold">
                            <p:stCondLst>
                              <p:cond delay="0"/>
                            </p:stCondLst>
                            <p:childTnLst>
                              <p:par>
                                <p:cTn id="28" presetID="42" presetClass="entr" presetSubtype="0" fill="hold" grpId="0" nodeType="clickEffect" decel="100000">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0.05"/>
                                          </p:val>
                                        </p:tav>
                                        <p:tav tm="100000">
                                          <p:val>
                                            <p:strVal val="#ppt_y"/>
                                          </p:val>
                                        </p:tav>
                                      </p:tavLst>
                                    </p:anim>
                                  </p:childTnLst>
                                </p:cTn>
                              </p:par>
                              <p:par>
                                <p:cTn id="33" presetID="42" presetClass="entr" presetSubtype="0" fill="hold" grpId="0" nodeType="withEffect" decel="100000">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0.05"/>
                                          </p:val>
                                        </p:tav>
                                        <p:tav tm="100000">
                                          <p:val>
                                            <p:strVal val="#ppt_y"/>
                                          </p:val>
                                        </p:tav>
                                      </p:tavLst>
                                    </p:anim>
                                  </p:childTnLst>
                                </p:cTn>
                              </p:par>
                              <p:par>
                                <p:cTn id="38" presetID="42" presetClass="entr" presetSubtype="0" fill="hold" grpId="0" nodeType="withEffect" decel="100000">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
                                          </p:val>
                                        </p:tav>
                                        <p:tav tm="100000">
                                          <p:val>
                                            <p:strVal val="#ppt_x"/>
                                          </p:val>
                                        </p:tav>
                                      </p:tavLst>
                                    </p:anim>
                                    <p:anim calcmode="lin" valueType="num">
                                      <p:cBhvr>
                                        <p:cTn id="37" dur="500" fill="hold"/>
                                        <p:tgtEl>
                                          <p:spTgt spid="10"/>
                                        </p:tgtEl>
                                        <p:attrNameLst>
                                          <p:attrName>ppt_y</p:attrName>
                                        </p:attrNameLst>
                                      </p:cBhvr>
                                      <p:tavLst>
                                        <p:tav tm="0">
                                          <p:val>
                                            <p:strVal val="#ppt_y+0.05"/>
                                          </p:val>
                                        </p:tav>
                                        <p:tav tm="100000">
                                          <p:val>
                                            <p:strVal val="#ppt_y"/>
                                          </p:val>
                                        </p:tav>
                                      </p:tavLst>
                                    </p:anim>
                                  </p:childTnLst>
                                </p:cTn>
                              </p:par>
                              <p:par>
                                <p:cTn id="43" presetID="42" presetClass="entr" presetSubtype="0" fill="hold" grpId="0" nodeType="withEffect" decel="100000">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fill="hold"/>
                                        <p:tgtEl>
                                          <p:spTgt spid="11"/>
                                        </p:tgtEl>
                                        <p:attrNameLst>
                                          <p:attrName>ppt_x</p:attrName>
                                        </p:attrNameLst>
                                      </p:cBhvr>
                                      <p:tavLst>
                                        <p:tav tm="0">
                                          <p:val>
                                            <p:strVal val="#ppt_x"/>
                                          </p:val>
                                        </p:tav>
                                        <p:tav tm="100000">
                                          <p:val>
                                            <p:strVal val="#ppt_x"/>
                                          </p:val>
                                        </p:tav>
                                      </p:tavLst>
                                    </p:anim>
                                    <p:anim calcmode="lin" valueType="num">
                                      <p:cBhvr>
                                        <p:cTn id="42" dur="500" fill="hold"/>
                                        <p:tgtEl>
                                          <p:spTgt spid="11"/>
                                        </p:tgtEl>
                                        <p:attrNameLst>
                                          <p:attrName>ppt_y</p:attrName>
                                        </p:attrNameLst>
                                      </p:cBhvr>
                                      <p:tavLst>
                                        <p:tav tm="0">
                                          <p:val>
                                            <p:strVal val="#ppt_y+0.05"/>
                                          </p:val>
                                        </p:tav>
                                        <p:tav tm="100000">
                                          <p:val>
                                            <p:strVal val="#ppt_y"/>
                                          </p:val>
                                        </p:tav>
                                      </p:tavLst>
                                    </p:anim>
                                  </p:childTnLst>
                                </p:cTn>
                              </p:par>
                              <p:par>
                                <p:cTn id="48" presetID="42" presetClass="entr" presetSubtype="0" fill="hold" grpId="0" nodeType="withEffect" decel="100000">
                                  <p:stCondLst>
                                    <p:cond delay="2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ppt_x</p:attrName>
                                        </p:attrNameLst>
                                      </p:cBhvr>
                                      <p:tavLst>
                                        <p:tav tm="0">
                                          <p:val>
                                            <p:strVal val="#ppt_x"/>
                                          </p:val>
                                        </p:tav>
                                        <p:tav tm="100000">
                                          <p:val>
                                            <p:strVal val="#ppt_x"/>
                                          </p:val>
                                        </p:tav>
                                      </p:tavLst>
                                    </p:anim>
                                    <p:anim calcmode="lin" valueType="num">
                                      <p:cBhvr>
                                        <p:cTn id="47" dur="500" fill="hold"/>
                                        <p:tgtEl>
                                          <p:spTgt spid="12"/>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decel="100000">
                                  <p:stCondLst>
                                    <p:cond delay="2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p:cTn id="51" dur="500" fill="hold"/>
                                        <p:tgtEl>
                                          <p:spTgt spid="13"/>
                                        </p:tgtEl>
                                        <p:attrNameLst>
                                          <p:attrName>ppt_x</p:attrName>
                                        </p:attrNameLst>
                                      </p:cBhvr>
                                      <p:tavLst>
                                        <p:tav tm="0">
                                          <p:val>
                                            <p:strVal val="#ppt_x"/>
                                          </p:val>
                                        </p:tav>
                                        <p:tav tm="100000">
                                          <p:val>
                                            <p:strVal val="#ppt_x"/>
                                          </p:val>
                                        </p:tav>
                                      </p:tavLst>
                                    </p:anim>
                                    <p:anim calcmode="lin" valueType="num">
                                      <p:cBhvr>
                                        <p:cTn id="52" dur="500" fill="hold"/>
                                        <p:tgtEl>
                                          <p:spTgt spid="13"/>
                                        </p:tgtEl>
                                        <p:attrNameLst>
                                          <p:attrName>ppt_y</p:attrName>
                                        </p:attrNameLst>
                                      </p:cBhvr>
                                      <p:tavLst>
                                        <p:tav tm="0">
                                          <p:val>
                                            <p:strVal val="#ppt_y+0.05"/>
                                          </p:val>
                                        </p:tav>
                                        <p:tav tm="100000">
                                          <p:val>
                                            <p:strVal val="#ppt_y"/>
                                          </p:val>
                                        </p:tav>
                                      </p:tavLst>
                                    </p:anim>
                                  </p:childTnLst>
                                </p:cTn>
                              </p:par>
                              <p:par>
                                <p:cTn id="58" presetID="42" presetClass="entr" presetSubtype="0" fill="hold" grpId="0" nodeType="withEffect" decel="100000">
                                  <p:stCondLst>
                                    <p:cond delay="2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p:cTn id="56" dur="500" fill="hold"/>
                                        <p:tgtEl>
                                          <p:spTgt spid="14"/>
                                        </p:tgtEl>
                                        <p:attrNameLst>
                                          <p:attrName>ppt_x</p:attrName>
                                        </p:attrNameLst>
                                      </p:cBhvr>
                                      <p:tavLst>
                                        <p:tav tm="0">
                                          <p:val>
                                            <p:strVal val="#ppt_x"/>
                                          </p:val>
                                        </p:tav>
                                        <p:tav tm="100000">
                                          <p:val>
                                            <p:strVal val="#ppt_x"/>
                                          </p:val>
                                        </p:tav>
                                      </p:tavLst>
                                    </p:anim>
                                    <p:anim calcmode="lin" valueType="num">
                                      <p:cBhvr>
                                        <p:cTn id="57" dur="500" fill="hold"/>
                                        <p:tgtEl>
                                          <p:spTgt spid="14"/>
                                        </p:tgtEl>
                                        <p:attrNameLst>
                                          <p:attrName>ppt_y</p:attrName>
                                        </p:attrNameLst>
                                      </p:cBhvr>
                                      <p:tavLst>
                                        <p:tav tm="0">
                                          <p:val>
                                            <p:strVal val="#ppt_y+0.05"/>
                                          </p:val>
                                        </p:tav>
                                        <p:tav tm="100000">
                                          <p:val>
                                            <p:strVal val="#ppt_y"/>
                                          </p:val>
                                        </p:tav>
                                      </p:tavLst>
                                    </p:anim>
                                  </p:childTnLst>
                                </p:cTn>
                              </p:par>
                              <p:par>
                                <p:cTn id="63" presetID="42" presetClass="entr" presetSubtype="0" fill="hold" grpId="0" nodeType="withEffect" decel="100000">
                                  <p:stCondLst>
                                    <p:cond delay="2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ppt_x</p:attrName>
                                        </p:attrNameLst>
                                      </p:cBhvr>
                                      <p:tavLst>
                                        <p:tav tm="0">
                                          <p:val>
                                            <p:strVal val="#ppt_x"/>
                                          </p:val>
                                        </p:tav>
                                        <p:tav tm="100000">
                                          <p:val>
                                            <p:strVal val="#ppt_x"/>
                                          </p:val>
                                        </p:tav>
                                      </p:tavLst>
                                    </p:anim>
                                    <p:anim calcmode="lin" valueType="num">
                                      <p:cBhvr>
                                        <p:cTn id="62" dur="500" fill="hold"/>
                                        <p:tgtEl>
                                          <p:spTgt spid="15"/>
                                        </p:tgtEl>
                                        <p:attrNameLst>
                                          <p:attrName>ppt_y</p:attrName>
                                        </p:attrNameLst>
                                      </p:cBhvr>
                                      <p:tavLst>
                                        <p:tav tm="0">
                                          <p:val>
                                            <p:strVal val="#ppt_y+0.05"/>
                                          </p:val>
                                        </p:tav>
                                        <p:tav tm="100000">
                                          <p:val>
                                            <p:strVal val="#ppt_y"/>
                                          </p:val>
                                        </p:tav>
                                      </p:tavLst>
                                    </p:anim>
                                  </p:childTnLst>
                                </p:cTn>
                              </p:par>
                              <p:par>
                                <p:cTn id="68" presetID="42" presetClass="entr" presetSubtype="0" fill="hold" grpId="0" nodeType="withEffect" decel="100000">
                                  <p:stCondLst>
                                    <p:cond delay="40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strVal val="#ppt_x"/>
                                          </p:val>
                                        </p:tav>
                                        <p:tav tm="100000">
                                          <p:val>
                                            <p:strVal val="#ppt_x"/>
                                          </p:val>
                                        </p:tav>
                                      </p:tavLst>
                                    </p:anim>
                                    <p:anim calcmode="lin" valueType="num">
                                      <p:cBhvr>
                                        <p:cTn id="67" dur="500" fill="hold"/>
                                        <p:tgtEl>
                                          <p:spTgt spid="16"/>
                                        </p:tgtEl>
                                        <p:attrNameLst>
                                          <p:attrName>ppt_y</p:attrName>
                                        </p:attrNameLst>
                                      </p:cBhvr>
                                      <p:tavLst>
                                        <p:tav tm="0">
                                          <p:val>
                                            <p:strVal val="#ppt_y+0.05"/>
                                          </p:val>
                                        </p:tav>
                                        <p:tav tm="100000">
                                          <p:val>
                                            <p:strVal val="#ppt_y"/>
                                          </p:val>
                                        </p:tav>
                                      </p:tavLst>
                                    </p:anim>
                                  </p:childTnLst>
                                </p:cTn>
                              </p:par>
                              <p:par>
                                <p:cTn id="73" presetID="42" presetClass="entr" presetSubtype="0" fill="hold" grpId="0" nodeType="withEffect" decel="100000">
                                  <p:stCondLst>
                                    <p:cond delay="40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p:cTn id="71" dur="500" fill="hold"/>
                                        <p:tgtEl>
                                          <p:spTgt spid="17"/>
                                        </p:tgtEl>
                                        <p:attrNameLst>
                                          <p:attrName>ppt_x</p:attrName>
                                        </p:attrNameLst>
                                      </p:cBhvr>
                                      <p:tavLst>
                                        <p:tav tm="0">
                                          <p:val>
                                            <p:strVal val="#ppt_x"/>
                                          </p:val>
                                        </p:tav>
                                        <p:tav tm="100000">
                                          <p:val>
                                            <p:strVal val="#ppt_x"/>
                                          </p:val>
                                        </p:tav>
                                      </p:tavLst>
                                    </p:anim>
                                    <p:anim calcmode="lin" valueType="num">
                                      <p:cBhvr>
                                        <p:cTn id="72" dur="500" fill="hold"/>
                                        <p:tgtEl>
                                          <p:spTgt spid="17"/>
                                        </p:tgtEl>
                                        <p:attrNameLst>
                                          <p:attrName>ppt_y</p:attrName>
                                        </p:attrNameLst>
                                      </p:cBhvr>
                                      <p:tavLst>
                                        <p:tav tm="0">
                                          <p:val>
                                            <p:strVal val="#ppt_y+0.05"/>
                                          </p:val>
                                        </p:tav>
                                        <p:tav tm="100000">
                                          <p:val>
                                            <p:strVal val="#ppt_y"/>
                                          </p:val>
                                        </p:tav>
                                      </p:tavLst>
                                    </p:anim>
                                  </p:childTnLst>
                                </p:cTn>
                              </p:par>
                              <p:par>
                                <p:cTn id="78" presetID="42" presetClass="entr" presetSubtype="0" fill="hold" grpId="0" nodeType="withEffect" decel="100000">
                                  <p:stCondLst>
                                    <p:cond delay="40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p:cTn id="76" dur="500" fill="hold"/>
                                        <p:tgtEl>
                                          <p:spTgt spid="18"/>
                                        </p:tgtEl>
                                        <p:attrNameLst>
                                          <p:attrName>ppt_x</p:attrName>
                                        </p:attrNameLst>
                                      </p:cBhvr>
                                      <p:tavLst>
                                        <p:tav tm="0">
                                          <p:val>
                                            <p:strVal val="#ppt_x"/>
                                          </p:val>
                                        </p:tav>
                                        <p:tav tm="100000">
                                          <p:val>
                                            <p:strVal val="#ppt_x"/>
                                          </p:val>
                                        </p:tav>
                                      </p:tavLst>
                                    </p:anim>
                                    <p:anim calcmode="lin" valueType="num">
                                      <p:cBhvr>
                                        <p:cTn id="77" dur="500" fill="hold"/>
                                        <p:tgtEl>
                                          <p:spTgt spid="18"/>
                                        </p:tgtEl>
                                        <p:attrNameLst>
                                          <p:attrName>ppt_y</p:attrName>
                                        </p:attrNameLst>
                                      </p:cBhvr>
                                      <p:tavLst>
                                        <p:tav tm="0">
                                          <p:val>
                                            <p:strVal val="#ppt_y+0.05"/>
                                          </p:val>
                                        </p:tav>
                                        <p:tav tm="100000">
                                          <p:val>
                                            <p:strVal val="#ppt_y"/>
                                          </p:val>
                                        </p:tav>
                                      </p:tavLst>
                                    </p:anim>
                                  </p:childTnLst>
                                </p:cTn>
                              </p:par>
                              <p:par>
                                <p:cTn id="83" presetID="42" presetClass="entr" presetSubtype="0" fill="hold" grpId="0" nodeType="withEffect" decel="100000">
                                  <p:stCondLst>
                                    <p:cond delay="40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500" fill="hold"/>
                                        <p:tgtEl>
                                          <p:spTgt spid="19"/>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60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p:cTn id="86" dur="500" fill="hold"/>
                                        <p:tgtEl>
                                          <p:spTgt spid="20"/>
                                        </p:tgtEl>
                                        <p:attrNameLst>
                                          <p:attrName>ppt_x</p:attrName>
                                        </p:attrNameLst>
                                      </p:cBhvr>
                                      <p:tavLst>
                                        <p:tav tm="0">
                                          <p:val>
                                            <p:strVal val="#ppt_x"/>
                                          </p:val>
                                        </p:tav>
                                        <p:tav tm="100000">
                                          <p:val>
                                            <p:strVal val="#ppt_x"/>
                                          </p:val>
                                        </p:tav>
                                      </p:tavLst>
                                    </p:anim>
                                    <p:anim calcmode="lin" valueType="num">
                                      <p:cBhvr>
                                        <p:cTn id="87" dur="500" fill="hold"/>
                                        <p:tgtEl>
                                          <p:spTgt spid="20"/>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decel="100000">
                                  <p:stCondLst>
                                    <p:cond delay="6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p:cTn id="91" dur="500" fill="hold"/>
                                        <p:tgtEl>
                                          <p:spTgt spid="21"/>
                                        </p:tgtEl>
                                        <p:attrNameLst>
                                          <p:attrName>ppt_x</p:attrName>
                                        </p:attrNameLst>
                                      </p:cBhvr>
                                      <p:tavLst>
                                        <p:tav tm="0">
                                          <p:val>
                                            <p:strVal val="#ppt_x"/>
                                          </p:val>
                                        </p:tav>
                                        <p:tav tm="100000">
                                          <p:val>
                                            <p:strVal val="#ppt_x"/>
                                          </p:val>
                                        </p:tav>
                                      </p:tavLst>
                                    </p:anim>
                                    <p:anim calcmode="lin" valueType="num">
                                      <p:cBhvr>
                                        <p:cTn id="92" dur="500" fill="hold"/>
                                        <p:tgtEl>
                                          <p:spTgt spid="21"/>
                                        </p:tgtEl>
                                        <p:attrNameLst>
                                          <p:attrName>ppt_y</p:attrName>
                                        </p:attrNameLst>
                                      </p:cBhvr>
                                      <p:tavLst>
                                        <p:tav tm="0">
                                          <p:val>
                                            <p:strVal val="#ppt_y+0.05"/>
                                          </p:val>
                                        </p:tav>
                                        <p:tav tm="100000">
                                          <p:val>
                                            <p:strVal val="#ppt_y"/>
                                          </p:val>
                                        </p:tav>
                                      </p:tavLst>
                                    </p:anim>
                                  </p:childTnLst>
                                </p:cTn>
                              </p:par>
                              <p:par>
                                <p:cTn id="98" presetID="42" presetClass="entr" presetSubtype="0" fill="hold" grpId="0" nodeType="withEffect" decel="100000">
                                  <p:stCondLst>
                                    <p:cond delay="60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00"/>
                                        <p:tgtEl>
                                          <p:spTgt spid="22"/>
                                        </p:tgtEl>
                                      </p:cBhvr>
                                    </p:animEffect>
                                    <p:anim calcmode="lin" valueType="num">
                                      <p:cBhvr>
                                        <p:cTn id="96" dur="500" fill="hold"/>
                                        <p:tgtEl>
                                          <p:spTgt spid="22"/>
                                        </p:tgtEl>
                                        <p:attrNameLst>
                                          <p:attrName>ppt_x</p:attrName>
                                        </p:attrNameLst>
                                      </p:cBhvr>
                                      <p:tavLst>
                                        <p:tav tm="0">
                                          <p:val>
                                            <p:strVal val="#ppt_x"/>
                                          </p:val>
                                        </p:tav>
                                        <p:tav tm="100000">
                                          <p:val>
                                            <p:strVal val="#ppt_x"/>
                                          </p:val>
                                        </p:tav>
                                      </p:tavLst>
                                    </p:anim>
                                    <p:anim calcmode="lin" valueType="num">
                                      <p:cBhvr>
                                        <p:cTn id="97" dur="500" fill="hold"/>
                                        <p:tgtEl>
                                          <p:spTgt spid="22"/>
                                        </p:tgtEl>
                                        <p:attrNameLst>
                                          <p:attrName>ppt_y</p:attrName>
                                        </p:attrNameLst>
                                      </p:cBhvr>
                                      <p:tavLst>
                                        <p:tav tm="0">
                                          <p:val>
                                            <p:strVal val="#ppt_y+0.05"/>
                                          </p:val>
                                        </p:tav>
                                        <p:tav tm="100000">
                                          <p:val>
                                            <p:strVal val="#ppt_y"/>
                                          </p:val>
                                        </p:tav>
                                      </p:tavLst>
                                    </p:anim>
                                  </p:childTnLst>
                                </p:cTn>
                              </p:par>
                              <p:par>
                                <p:cTn id="103" presetID="42" presetClass="entr" presetSubtype="0" fill="hold" grpId="0" nodeType="withEffect" decel="100000">
                                  <p:stCondLst>
                                    <p:cond delay="6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anim calcmode="lin" valueType="num">
                                      <p:cBhvr>
                                        <p:cTn id="101" dur="500" fill="hold"/>
                                        <p:tgtEl>
                                          <p:spTgt spid="23"/>
                                        </p:tgtEl>
                                        <p:attrNameLst>
                                          <p:attrName>ppt_x</p:attrName>
                                        </p:attrNameLst>
                                      </p:cBhvr>
                                      <p:tavLst>
                                        <p:tav tm="0">
                                          <p:val>
                                            <p:strVal val="#ppt_x"/>
                                          </p:val>
                                        </p:tav>
                                        <p:tav tm="100000">
                                          <p:val>
                                            <p:strVal val="#ppt_x"/>
                                          </p:val>
                                        </p:tav>
                                      </p:tavLst>
                                    </p:anim>
                                    <p:anim calcmode="lin" valueType="num">
                                      <p:cBhvr>
                                        <p:cTn id="102" dur="500" fill="hold"/>
                                        <p:tgtEl>
                                          <p:spTgt spid="23"/>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3" name="txt_15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3 · COMPLIANCE</a:t>
            </a:r>
            <a:endParaRPr lang="en-US" sz="1100" dirty="0"/>
          </a:p>
        </p:txBody>
      </p:sp>
      <p:sp>
        <p:nvSpPr>
          <p:cNvPr id="4" name="txt_15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Customs Rules Assistant</a:t>
            </a:r>
            <a:endParaRPr lang="en-US" sz="3200" dirty="0"/>
          </a:p>
        </p:txBody>
      </p:sp>
      <p:sp>
        <p:nvSpPr>
          <p:cNvPr id="5" name="txt_15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Retrieval-augmented checks — BM25 keywords + vector search, and every answer is cited.</a:t>
            </a:r>
            <a:endParaRPr lang="en-US" sz="1500" dirty="0"/>
          </a:p>
        </p:txBody>
      </p:sp>
      <p:sp>
        <p:nvSpPr>
          <p:cNvPr id="6" name="shp_15_3"/>
          <p:cNvSpPr/>
          <p:nvPr/>
        </p:nvSpPr>
        <p:spPr>
          <a:xfrm>
            <a:off x="548640" y="1828800"/>
            <a:ext cx="2499284" cy="1600200"/>
          </a:xfrm>
          <a:prstGeom prst="roundRect">
            <a:avLst>
              <a:gd name="adj" fmla="val 5714"/>
            </a:avLst>
          </a:prstGeom>
          <a:solidFill>
            <a:srgbClr val="112038"/>
          </a:solidFill>
          <a:ln w="9525">
            <a:solidFill>
              <a:srgbClr val="243A5E"/>
            </a:solidFill>
            <a:prstDash val="solid"/>
          </a:ln>
        </p:spPr>
      </p:sp>
      <p:sp>
        <p:nvSpPr>
          <p:cNvPr id="7" name="shp_15_4"/>
          <p:cNvSpPr/>
          <p:nvPr/>
        </p:nvSpPr>
        <p:spPr>
          <a:xfrm>
            <a:off x="777240" y="2057400"/>
            <a:ext cx="502920" cy="502920"/>
          </a:xfrm>
          <a:prstGeom prst="ellipse">
            <a:avLst/>
          </a:prstGeom>
          <a:solidFill>
            <a:srgbClr val="3B2A0C"/>
          </a:solidFill>
          <a:ln w="9525">
            <a:solidFill>
              <a:srgbClr val="F5A524"/>
            </a:solidFill>
            <a:prstDash val="solid"/>
          </a:ln>
        </p:spPr>
      </p:sp>
      <p:pic>
        <p:nvPicPr>
          <p:cNvPr id="8" name="img_15_5" descr="preencoded.png">    </p:cNvPr>
          <p:cNvPicPr>
            <a:picLocks noChangeAspect="1"/>
          </p:cNvPicPr>
          <p:nvPr/>
        </p:nvPicPr>
        <p:blipFill>
          <a:blip r:embed="rId1"/>
          <a:stretch>
            <a:fillRect/>
          </a:stretch>
        </p:blipFill>
        <p:spPr>
          <a:xfrm>
            <a:off x="897941" y="2178101"/>
            <a:ext cx="261518" cy="261518"/>
          </a:xfrm>
          <a:prstGeom prst="rect">
            <a:avLst/>
          </a:prstGeom>
        </p:spPr>
      </p:pic>
      <p:sp>
        <p:nvSpPr>
          <p:cNvPr id="9" name="txt_15_6"/>
          <p:cNvSpPr txBox="1"/>
          <p:nvPr/>
        </p:nvSpPr>
        <p:spPr>
          <a:xfrm>
            <a:off x="1417320" y="2057400"/>
            <a:ext cx="1493444"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Shipment query</a:t>
            </a:r>
            <a:endParaRPr lang="en-US" sz="1550" dirty="0"/>
          </a:p>
        </p:txBody>
      </p:sp>
      <p:sp>
        <p:nvSpPr>
          <p:cNvPr id="10" name="txt_15_7"/>
          <p:cNvSpPr txBox="1"/>
          <p:nvPr/>
        </p:nvSpPr>
        <p:spPr>
          <a:xfrm>
            <a:off x="777240" y="2697480"/>
            <a:ext cx="2087804"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6-digit HS code, commodity, origin, destination</a:t>
            </a:r>
            <a:endParaRPr lang="en-US" sz="1250" dirty="0"/>
          </a:p>
        </p:txBody>
      </p:sp>
      <p:sp>
        <p:nvSpPr>
          <p:cNvPr id="11" name="shp_15_8"/>
          <p:cNvSpPr/>
          <p:nvPr/>
        </p:nvSpPr>
        <p:spPr>
          <a:xfrm>
            <a:off x="3111932" y="2628900"/>
            <a:ext cx="237744" cy="0"/>
          </a:xfrm>
          <a:prstGeom prst="line">
            <a:avLst/>
          </a:prstGeom>
          <a:noFill/>
          <a:ln w="19050">
            <a:solidFill>
              <a:srgbClr val="F5A524"/>
            </a:solidFill>
            <a:prstDash val="solid"/>
            <a:tailEnd type="triangle"/>
          </a:ln>
        </p:spPr>
      </p:sp>
      <p:sp>
        <p:nvSpPr>
          <p:cNvPr id="12" name="shp_15_9"/>
          <p:cNvSpPr/>
          <p:nvPr/>
        </p:nvSpPr>
        <p:spPr>
          <a:xfrm>
            <a:off x="3413684" y="1828800"/>
            <a:ext cx="2499284" cy="1600200"/>
          </a:xfrm>
          <a:prstGeom prst="roundRect">
            <a:avLst>
              <a:gd name="adj" fmla="val 5714"/>
            </a:avLst>
          </a:prstGeom>
          <a:solidFill>
            <a:srgbClr val="112038"/>
          </a:solidFill>
          <a:ln w="9525">
            <a:solidFill>
              <a:srgbClr val="243A5E"/>
            </a:solidFill>
            <a:prstDash val="solid"/>
          </a:ln>
        </p:spPr>
      </p:sp>
      <p:sp>
        <p:nvSpPr>
          <p:cNvPr id="13" name="shp_15_10"/>
          <p:cNvSpPr/>
          <p:nvPr/>
        </p:nvSpPr>
        <p:spPr>
          <a:xfrm>
            <a:off x="3642284" y="2057400"/>
            <a:ext cx="502920" cy="502920"/>
          </a:xfrm>
          <a:prstGeom prst="ellipse">
            <a:avLst/>
          </a:prstGeom>
          <a:solidFill>
            <a:srgbClr val="3B2A0C"/>
          </a:solidFill>
          <a:ln w="9525">
            <a:solidFill>
              <a:srgbClr val="F5A524"/>
            </a:solidFill>
            <a:prstDash val="solid"/>
          </a:ln>
        </p:spPr>
      </p:sp>
      <p:pic>
        <p:nvPicPr>
          <p:cNvPr id="14" name="img_15_11" descr="preencoded.png">    </p:cNvPr>
          <p:cNvPicPr>
            <a:picLocks noChangeAspect="1"/>
          </p:cNvPicPr>
          <p:nvPr/>
        </p:nvPicPr>
        <p:blipFill>
          <a:blip r:embed="rId2"/>
          <a:stretch>
            <a:fillRect/>
          </a:stretch>
        </p:blipFill>
        <p:spPr>
          <a:xfrm>
            <a:off x="3762985" y="2178101"/>
            <a:ext cx="261518" cy="261518"/>
          </a:xfrm>
          <a:prstGeom prst="rect">
            <a:avLst/>
          </a:prstGeom>
        </p:spPr>
      </p:pic>
      <p:sp>
        <p:nvSpPr>
          <p:cNvPr id="15" name="txt_15_12"/>
          <p:cNvSpPr txBox="1"/>
          <p:nvPr/>
        </p:nvSpPr>
        <p:spPr>
          <a:xfrm>
            <a:off x="4282364" y="2057400"/>
            <a:ext cx="1493444"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Hybrid retrieval</a:t>
            </a:r>
            <a:endParaRPr lang="en-US" sz="1550" dirty="0"/>
          </a:p>
        </p:txBody>
      </p:sp>
      <p:sp>
        <p:nvSpPr>
          <p:cNvPr id="16" name="txt_15_13"/>
          <p:cNvSpPr txBox="1"/>
          <p:nvPr/>
        </p:nvSpPr>
        <p:spPr>
          <a:xfrm>
            <a:off x="3642284" y="2697480"/>
            <a:ext cx="2087804"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BM25 lexical + TF-IDF vector, fused by RRF</a:t>
            </a:r>
            <a:endParaRPr lang="en-US" sz="1250" dirty="0"/>
          </a:p>
        </p:txBody>
      </p:sp>
      <p:sp>
        <p:nvSpPr>
          <p:cNvPr id="17" name="shp_15_14"/>
          <p:cNvSpPr/>
          <p:nvPr/>
        </p:nvSpPr>
        <p:spPr>
          <a:xfrm>
            <a:off x="5976976" y="2628900"/>
            <a:ext cx="237744" cy="0"/>
          </a:xfrm>
          <a:prstGeom prst="line">
            <a:avLst/>
          </a:prstGeom>
          <a:noFill/>
          <a:ln w="19050">
            <a:solidFill>
              <a:srgbClr val="F5A524"/>
            </a:solidFill>
            <a:prstDash val="solid"/>
            <a:tailEnd type="triangle"/>
          </a:ln>
        </p:spPr>
      </p:sp>
      <p:sp>
        <p:nvSpPr>
          <p:cNvPr id="18" name="shp_15_15"/>
          <p:cNvSpPr/>
          <p:nvPr/>
        </p:nvSpPr>
        <p:spPr>
          <a:xfrm>
            <a:off x="6278728" y="1828800"/>
            <a:ext cx="2499284" cy="1600200"/>
          </a:xfrm>
          <a:prstGeom prst="roundRect">
            <a:avLst>
              <a:gd name="adj" fmla="val 5714"/>
            </a:avLst>
          </a:prstGeom>
          <a:solidFill>
            <a:srgbClr val="112038"/>
          </a:solidFill>
          <a:ln w="9525">
            <a:solidFill>
              <a:srgbClr val="243A5E"/>
            </a:solidFill>
            <a:prstDash val="solid"/>
          </a:ln>
        </p:spPr>
      </p:sp>
      <p:sp>
        <p:nvSpPr>
          <p:cNvPr id="19" name="shp_15_16"/>
          <p:cNvSpPr/>
          <p:nvPr/>
        </p:nvSpPr>
        <p:spPr>
          <a:xfrm>
            <a:off x="6507328" y="2057400"/>
            <a:ext cx="502920" cy="502920"/>
          </a:xfrm>
          <a:prstGeom prst="ellipse">
            <a:avLst/>
          </a:prstGeom>
          <a:solidFill>
            <a:srgbClr val="3B2A0C"/>
          </a:solidFill>
          <a:ln w="9525">
            <a:solidFill>
              <a:srgbClr val="F5A524"/>
            </a:solidFill>
            <a:prstDash val="solid"/>
          </a:ln>
        </p:spPr>
      </p:sp>
      <p:pic>
        <p:nvPicPr>
          <p:cNvPr id="20" name="img_15_17" descr="preencoded.png">    </p:cNvPr>
          <p:cNvPicPr>
            <a:picLocks noChangeAspect="1"/>
          </p:cNvPicPr>
          <p:nvPr/>
        </p:nvPicPr>
        <p:blipFill>
          <a:blip r:embed="rId3"/>
          <a:stretch>
            <a:fillRect/>
          </a:stretch>
        </p:blipFill>
        <p:spPr>
          <a:xfrm>
            <a:off x="6628028" y="2178101"/>
            <a:ext cx="261518" cy="261518"/>
          </a:xfrm>
          <a:prstGeom prst="rect">
            <a:avLst/>
          </a:prstGeom>
        </p:spPr>
      </p:pic>
      <p:sp>
        <p:nvSpPr>
          <p:cNvPr id="21" name="txt_15_18"/>
          <p:cNvSpPr txBox="1"/>
          <p:nvPr/>
        </p:nvSpPr>
        <p:spPr>
          <a:xfrm>
            <a:off x="7147408" y="2057400"/>
            <a:ext cx="1493444"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Re-rank &amp; filter</a:t>
            </a:r>
            <a:endParaRPr lang="en-US" sz="1550" dirty="0"/>
          </a:p>
        </p:txBody>
      </p:sp>
      <p:sp>
        <p:nvSpPr>
          <p:cNvPr id="22" name="txt_15_19"/>
          <p:cNvSpPr txBox="1"/>
          <p:nvPr/>
        </p:nvSpPr>
        <p:spPr>
          <a:xfrm>
            <a:off x="6507328" y="2697480"/>
            <a:ext cx="2087804"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Country match + HS-prefix boost</a:t>
            </a:r>
            <a:endParaRPr lang="en-US" sz="1250" dirty="0"/>
          </a:p>
        </p:txBody>
      </p:sp>
      <p:sp>
        <p:nvSpPr>
          <p:cNvPr id="23" name="shp_15_20"/>
          <p:cNvSpPr/>
          <p:nvPr/>
        </p:nvSpPr>
        <p:spPr>
          <a:xfrm>
            <a:off x="8842019" y="2628900"/>
            <a:ext cx="237744" cy="0"/>
          </a:xfrm>
          <a:prstGeom prst="line">
            <a:avLst/>
          </a:prstGeom>
          <a:noFill/>
          <a:ln w="19050">
            <a:solidFill>
              <a:srgbClr val="F5A524"/>
            </a:solidFill>
            <a:prstDash val="solid"/>
            <a:tailEnd type="triangle"/>
          </a:ln>
        </p:spPr>
      </p:sp>
      <p:sp>
        <p:nvSpPr>
          <p:cNvPr id="24" name="shp_15_21"/>
          <p:cNvSpPr/>
          <p:nvPr/>
        </p:nvSpPr>
        <p:spPr>
          <a:xfrm>
            <a:off x="9143771" y="1828800"/>
            <a:ext cx="2499284" cy="1600200"/>
          </a:xfrm>
          <a:prstGeom prst="roundRect">
            <a:avLst>
              <a:gd name="adj" fmla="val 5714"/>
            </a:avLst>
          </a:prstGeom>
          <a:solidFill>
            <a:srgbClr val="15294A"/>
          </a:solidFill>
          <a:ln w="9525">
            <a:solidFill>
              <a:srgbClr val="F5A524"/>
            </a:solidFill>
            <a:prstDash val="solid"/>
          </a:ln>
        </p:spPr>
      </p:sp>
      <p:sp>
        <p:nvSpPr>
          <p:cNvPr id="25" name="shp_15_22"/>
          <p:cNvSpPr/>
          <p:nvPr/>
        </p:nvSpPr>
        <p:spPr>
          <a:xfrm>
            <a:off x="9372371" y="2057400"/>
            <a:ext cx="502920" cy="502920"/>
          </a:xfrm>
          <a:prstGeom prst="ellipse">
            <a:avLst/>
          </a:prstGeom>
          <a:solidFill>
            <a:srgbClr val="3B2A0C"/>
          </a:solidFill>
          <a:ln w="9525">
            <a:solidFill>
              <a:srgbClr val="F5A524"/>
            </a:solidFill>
            <a:prstDash val="solid"/>
          </a:ln>
        </p:spPr>
      </p:sp>
      <p:pic>
        <p:nvPicPr>
          <p:cNvPr id="26" name="img_15_23" descr="preencoded.png">    </p:cNvPr>
          <p:cNvPicPr>
            <a:picLocks noChangeAspect="1"/>
          </p:cNvPicPr>
          <p:nvPr/>
        </p:nvPicPr>
        <p:blipFill>
          <a:blip r:embed="rId4"/>
          <a:stretch>
            <a:fillRect/>
          </a:stretch>
        </p:blipFill>
        <p:spPr>
          <a:xfrm>
            <a:off x="9493072" y="2178101"/>
            <a:ext cx="261518" cy="261518"/>
          </a:xfrm>
          <a:prstGeom prst="rect">
            <a:avLst/>
          </a:prstGeom>
        </p:spPr>
      </p:pic>
      <p:sp>
        <p:nvSpPr>
          <p:cNvPr id="27" name="txt_15_24"/>
          <p:cNvSpPr txBox="1"/>
          <p:nvPr/>
        </p:nvSpPr>
        <p:spPr>
          <a:xfrm>
            <a:off x="10012451" y="2057400"/>
            <a:ext cx="1493444"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Checklist + citations</a:t>
            </a:r>
            <a:endParaRPr lang="en-US" sz="1550" dirty="0"/>
          </a:p>
        </p:txBody>
      </p:sp>
      <p:sp>
        <p:nvSpPr>
          <p:cNvPr id="28" name="txt_15_25"/>
          <p:cNvSpPr txBox="1"/>
          <p:nvPr/>
        </p:nvSpPr>
        <p:spPr>
          <a:xfrm>
            <a:off x="9372371" y="2697480"/>
            <a:ext cx="2087804" cy="64008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Mandatory docs, tariff flags, hold risk — each cited</a:t>
            </a:r>
            <a:endParaRPr lang="en-US" sz="1250" dirty="0"/>
          </a:p>
        </p:txBody>
      </p:sp>
      <p:sp>
        <p:nvSpPr>
          <p:cNvPr id="29" name="shp_15_26"/>
          <p:cNvSpPr/>
          <p:nvPr/>
        </p:nvSpPr>
        <p:spPr>
          <a:xfrm>
            <a:off x="548640" y="3703320"/>
            <a:ext cx="7589520" cy="2377440"/>
          </a:xfrm>
          <a:prstGeom prst="roundRect">
            <a:avLst>
              <a:gd name="adj" fmla="val 3846"/>
            </a:avLst>
          </a:prstGeom>
          <a:solidFill>
            <a:srgbClr val="112038"/>
          </a:solidFill>
          <a:ln w="9525">
            <a:solidFill>
              <a:srgbClr val="243A5E"/>
            </a:solidFill>
            <a:prstDash val="solid"/>
          </a:ln>
        </p:spPr>
      </p:sp>
      <p:sp>
        <p:nvSpPr>
          <p:cNvPr id="30" name="txt_15_27"/>
          <p:cNvSpPr txBox="1"/>
          <p:nvPr/>
        </p:nvSpPr>
        <p:spPr>
          <a:xfrm>
            <a:off x="822960" y="3840480"/>
            <a:ext cx="704088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Regulatory corpus — 10 jurisdictions</a:t>
            </a:r>
            <a:endParaRPr lang="en-US" sz="1600" dirty="0"/>
          </a:p>
        </p:txBody>
      </p:sp>
      <p:sp>
        <p:nvSpPr>
          <p:cNvPr id="31" name="txt_15_28"/>
          <p:cNvSpPr txBox="1"/>
          <p:nvPr/>
        </p:nvSpPr>
        <p:spPr>
          <a:xfrm>
            <a:off x="822960" y="4133088"/>
            <a:ext cx="7040880" cy="274320"/>
          </a:xfrm>
          <a:prstGeom prst="rect">
            <a:avLst/>
          </a:prstGeom>
          <a:noFill/>
          <a:ln/>
        </p:spPr>
        <p:txBody>
          <a:bodyPr wrap="square" lIns="0" tIns="0" rIns="0" bIns="0" rtlCol="0" anchor="t"/>
          <a:lstStyle/>
          <a:p>
            <a:pPr indent="0" marL="0">
              <a:buNone/>
            </a:pPr>
            <a:r>
              <a:rPr lang="en-US" sz="1150" dirty="0">
                <a:solidFill>
                  <a:srgbClr val="71819A"/>
                </a:solidFill>
                <a:latin typeface="Calibri" pitchFamily="34" charset="0"/>
                <a:ea typeface="Calibri" pitchFamily="34" charset="-122"/>
                <a:cs typeface="Calibri" pitchFamily="34" charset="-120"/>
              </a:rPr>
              <a:t>Chunked to 200–400 characters · validates B/L, invoice, packing list and certificate of origin against the HS code.</a:t>
            </a:r>
            <a:endParaRPr lang="en-US" sz="1150" dirty="0"/>
          </a:p>
        </p:txBody>
      </p:sp>
      <p:sp>
        <p:nvSpPr>
          <p:cNvPr id="32" name="shp_15_29"/>
          <p:cNvSpPr/>
          <p:nvPr/>
        </p:nvSpPr>
        <p:spPr>
          <a:xfrm>
            <a:off x="822960" y="4526280"/>
            <a:ext cx="1320394" cy="530352"/>
          </a:xfrm>
          <a:prstGeom prst="roundRect">
            <a:avLst>
              <a:gd name="adj" fmla="val 17241"/>
            </a:avLst>
          </a:prstGeom>
          <a:solidFill>
            <a:srgbClr val="15294A"/>
          </a:solidFill>
          <a:ln w="9525">
            <a:solidFill>
              <a:srgbClr val="243A5E"/>
            </a:solidFill>
            <a:prstDash val="solid"/>
          </a:ln>
        </p:spPr>
      </p:sp>
      <p:sp>
        <p:nvSpPr>
          <p:cNvPr id="33" name="txt_15_30"/>
          <p:cNvSpPr txBox="1"/>
          <p:nvPr/>
        </p:nvSpPr>
        <p:spPr>
          <a:xfrm>
            <a:off x="822960" y="4572000"/>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EU</a:t>
            </a:r>
            <a:endParaRPr lang="en-US" sz="1200" dirty="0"/>
          </a:p>
        </p:txBody>
      </p:sp>
      <p:sp>
        <p:nvSpPr>
          <p:cNvPr id="34" name="txt_15_31"/>
          <p:cNvSpPr txBox="1"/>
          <p:nvPr/>
        </p:nvSpPr>
        <p:spPr>
          <a:xfrm>
            <a:off x="822960" y="4800600"/>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UCC / EORI</a:t>
            </a:r>
            <a:endParaRPr lang="en-US" sz="950" dirty="0"/>
          </a:p>
        </p:txBody>
      </p:sp>
      <p:sp>
        <p:nvSpPr>
          <p:cNvPr id="35" name="shp_15_32"/>
          <p:cNvSpPr/>
          <p:nvPr/>
        </p:nvSpPr>
        <p:spPr>
          <a:xfrm>
            <a:off x="2253082" y="4526280"/>
            <a:ext cx="1320394" cy="530352"/>
          </a:xfrm>
          <a:prstGeom prst="roundRect">
            <a:avLst>
              <a:gd name="adj" fmla="val 17241"/>
            </a:avLst>
          </a:prstGeom>
          <a:solidFill>
            <a:srgbClr val="15294A"/>
          </a:solidFill>
          <a:ln w="9525">
            <a:solidFill>
              <a:srgbClr val="243A5E"/>
            </a:solidFill>
            <a:prstDash val="solid"/>
          </a:ln>
        </p:spPr>
      </p:sp>
      <p:sp>
        <p:nvSpPr>
          <p:cNvPr id="36" name="txt_15_33"/>
          <p:cNvSpPr txBox="1"/>
          <p:nvPr/>
        </p:nvSpPr>
        <p:spPr>
          <a:xfrm>
            <a:off x="2253082" y="4572000"/>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US</a:t>
            </a:r>
            <a:endParaRPr lang="en-US" sz="1200" dirty="0"/>
          </a:p>
        </p:txBody>
      </p:sp>
      <p:sp>
        <p:nvSpPr>
          <p:cNvPr id="37" name="txt_15_34"/>
          <p:cNvSpPr txBox="1"/>
          <p:nvPr/>
        </p:nvSpPr>
        <p:spPr>
          <a:xfrm>
            <a:off x="2253082" y="4800600"/>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CBP / FMC / EAR</a:t>
            </a:r>
            <a:endParaRPr lang="en-US" sz="950" dirty="0"/>
          </a:p>
        </p:txBody>
      </p:sp>
      <p:sp>
        <p:nvSpPr>
          <p:cNvPr id="38" name="shp_15_35"/>
          <p:cNvSpPr/>
          <p:nvPr/>
        </p:nvSpPr>
        <p:spPr>
          <a:xfrm>
            <a:off x="3683203" y="4526280"/>
            <a:ext cx="1320394" cy="530352"/>
          </a:xfrm>
          <a:prstGeom prst="roundRect">
            <a:avLst>
              <a:gd name="adj" fmla="val 17241"/>
            </a:avLst>
          </a:prstGeom>
          <a:solidFill>
            <a:srgbClr val="15294A"/>
          </a:solidFill>
          <a:ln w="9525">
            <a:solidFill>
              <a:srgbClr val="243A5E"/>
            </a:solidFill>
            <a:prstDash val="solid"/>
          </a:ln>
        </p:spPr>
      </p:sp>
      <p:sp>
        <p:nvSpPr>
          <p:cNvPr id="39" name="txt_15_36"/>
          <p:cNvSpPr txBox="1"/>
          <p:nvPr/>
        </p:nvSpPr>
        <p:spPr>
          <a:xfrm>
            <a:off x="3683203" y="4526280"/>
            <a:ext cx="1320394"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China</a:t>
            </a:r>
            <a:endParaRPr lang="en-US" sz="1200" dirty="0"/>
          </a:p>
        </p:txBody>
      </p:sp>
      <p:sp>
        <p:nvSpPr>
          <p:cNvPr id="40" name="shp_15_37"/>
          <p:cNvSpPr/>
          <p:nvPr/>
        </p:nvSpPr>
        <p:spPr>
          <a:xfrm>
            <a:off x="5113325" y="4526280"/>
            <a:ext cx="1320394" cy="530352"/>
          </a:xfrm>
          <a:prstGeom prst="roundRect">
            <a:avLst>
              <a:gd name="adj" fmla="val 17241"/>
            </a:avLst>
          </a:prstGeom>
          <a:solidFill>
            <a:srgbClr val="15294A"/>
          </a:solidFill>
          <a:ln w="9525">
            <a:solidFill>
              <a:srgbClr val="243A5E"/>
            </a:solidFill>
            <a:prstDash val="solid"/>
          </a:ln>
        </p:spPr>
      </p:sp>
      <p:sp>
        <p:nvSpPr>
          <p:cNvPr id="41" name="txt_15_38"/>
          <p:cNvSpPr txBox="1"/>
          <p:nvPr/>
        </p:nvSpPr>
        <p:spPr>
          <a:xfrm>
            <a:off x="5113325" y="4572000"/>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India</a:t>
            </a:r>
            <a:endParaRPr lang="en-US" sz="1200" dirty="0"/>
          </a:p>
        </p:txBody>
      </p:sp>
      <p:sp>
        <p:nvSpPr>
          <p:cNvPr id="42" name="txt_15_39"/>
          <p:cNvSpPr txBox="1"/>
          <p:nvPr/>
        </p:nvSpPr>
        <p:spPr>
          <a:xfrm>
            <a:off x="5113325" y="4800600"/>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CBIC / ICEGATE</a:t>
            </a:r>
            <a:endParaRPr lang="en-US" sz="950" dirty="0"/>
          </a:p>
        </p:txBody>
      </p:sp>
      <p:sp>
        <p:nvSpPr>
          <p:cNvPr id="43" name="shp_15_40"/>
          <p:cNvSpPr/>
          <p:nvPr/>
        </p:nvSpPr>
        <p:spPr>
          <a:xfrm>
            <a:off x="6543446" y="4526280"/>
            <a:ext cx="1320394" cy="530352"/>
          </a:xfrm>
          <a:prstGeom prst="roundRect">
            <a:avLst>
              <a:gd name="adj" fmla="val 17241"/>
            </a:avLst>
          </a:prstGeom>
          <a:solidFill>
            <a:srgbClr val="15294A"/>
          </a:solidFill>
          <a:ln w="9525">
            <a:solidFill>
              <a:srgbClr val="243A5E"/>
            </a:solidFill>
            <a:prstDash val="solid"/>
          </a:ln>
        </p:spPr>
      </p:sp>
      <p:sp>
        <p:nvSpPr>
          <p:cNvPr id="44" name="txt_15_41"/>
          <p:cNvSpPr txBox="1"/>
          <p:nvPr/>
        </p:nvSpPr>
        <p:spPr>
          <a:xfrm>
            <a:off x="6543446" y="4572000"/>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Singapore</a:t>
            </a:r>
            <a:endParaRPr lang="en-US" sz="1200" dirty="0"/>
          </a:p>
        </p:txBody>
      </p:sp>
      <p:sp>
        <p:nvSpPr>
          <p:cNvPr id="45" name="txt_15_42"/>
          <p:cNvSpPr txBox="1"/>
          <p:nvPr/>
        </p:nvSpPr>
        <p:spPr>
          <a:xfrm>
            <a:off x="6543446" y="4800600"/>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TradeNet</a:t>
            </a:r>
            <a:endParaRPr lang="en-US" sz="950" dirty="0"/>
          </a:p>
        </p:txBody>
      </p:sp>
      <p:sp>
        <p:nvSpPr>
          <p:cNvPr id="46" name="shp_15_43"/>
          <p:cNvSpPr/>
          <p:nvPr/>
        </p:nvSpPr>
        <p:spPr>
          <a:xfrm>
            <a:off x="822960" y="5148072"/>
            <a:ext cx="1320394" cy="530352"/>
          </a:xfrm>
          <a:prstGeom prst="roundRect">
            <a:avLst>
              <a:gd name="adj" fmla="val 17241"/>
            </a:avLst>
          </a:prstGeom>
          <a:solidFill>
            <a:srgbClr val="15294A"/>
          </a:solidFill>
          <a:ln w="9525">
            <a:solidFill>
              <a:srgbClr val="243A5E"/>
            </a:solidFill>
            <a:prstDash val="solid"/>
          </a:ln>
        </p:spPr>
      </p:sp>
      <p:sp>
        <p:nvSpPr>
          <p:cNvPr id="47" name="txt_15_44"/>
          <p:cNvSpPr txBox="1"/>
          <p:nvPr/>
        </p:nvSpPr>
        <p:spPr>
          <a:xfrm>
            <a:off x="822960" y="5193792"/>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UK</a:t>
            </a:r>
            <a:endParaRPr lang="en-US" sz="1200" dirty="0"/>
          </a:p>
        </p:txBody>
      </p:sp>
      <p:sp>
        <p:nvSpPr>
          <p:cNvPr id="48" name="txt_15_45"/>
          <p:cNvSpPr txBox="1"/>
          <p:nvPr/>
        </p:nvSpPr>
        <p:spPr>
          <a:xfrm>
            <a:off x="822960" y="5422392"/>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HMRC / CDS</a:t>
            </a:r>
            <a:endParaRPr lang="en-US" sz="950" dirty="0"/>
          </a:p>
        </p:txBody>
      </p:sp>
      <p:sp>
        <p:nvSpPr>
          <p:cNvPr id="49" name="shp_15_46"/>
          <p:cNvSpPr/>
          <p:nvPr/>
        </p:nvSpPr>
        <p:spPr>
          <a:xfrm>
            <a:off x="2253082" y="5148072"/>
            <a:ext cx="1320394" cy="530352"/>
          </a:xfrm>
          <a:prstGeom prst="roundRect">
            <a:avLst>
              <a:gd name="adj" fmla="val 17241"/>
            </a:avLst>
          </a:prstGeom>
          <a:solidFill>
            <a:srgbClr val="15294A"/>
          </a:solidFill>
          <a:ln w="9525">
            <a:solidFill>
              <a:srgbClr val="243A5E"/>
            </a:solidFill>
            <a:prstDash val="solid"/>
          </a:ln>
        </p:spPr>
      </p:sp>
      <p:sp>
        <p:nvSpPr>
          <p:cNvPr id="50" name="txt_15_47"/>
          <p:cNvSpPr txBox="1"/>
          <p:nvPr/>
        </p:nvSpPr>
        <p:spPr>
          <a:xfrm>
            <a:off x="2253082" y="5148072"/>
            <a:ext cx="1320394"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Japan</a:t>
            </a:r>
            <a:endParaRPr lang="en-US" sz="1200" dirty="0"/>
          </a:p>
        </p:txBody>
      </p:sp>
      <p:sp>
        <p:nvSpPr>
          <p:cNvPr id="51" name="shp_15_48"/>
          <p:cNvSpPr/>
          <p:nvPr/>
        </p:nvSpPr>
        <p:spPr>
          <a:xfrm>
            <a:off x="3683203" y="5148072"/>
            <a:ext cx="1320394" cy="530352"/>
          </a:xfrm>
          <a:prstGeom prst="roundRect">
            <a:avLst>
              <a:gd name="adj" fmla="val 17241"/>
            </a:avLst>
          </a:prstGeom>
          <a:solidFill>
            <a:srgbClr val="15294A"/>
          </a:solidFill>
          <a:ln w="9525">
            <a:solidFill>
              <a:srgbClr val="243A5E"/>
            </a:solidFill>
            <a:prstDash val="solid"/>
          </a:ln>
        </p:spPr>
      </p:sp>
      <p:sp>
        <p:nvSpPr>
          <p:cNvPr id="52" name="txt_15_49"/>
          <p:cNvSpPr txBox="1"/>
          <p:nvPr/>
        </p:nvSpPr>
        <p:spPr>
          <a:xfrm>
            <a:off x="3683203" y="5193792"/>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Australia</a:t>
            </a:r>
            <a:endParaRPr lang="en-US" sz="1200" dirty="0"/>
          </a:p>
        </p:txBody>
      </p:sp>
      <p:sp>
        <p:nvSpPr>
          <p:cNvPr id="53" name="txt_15_50"/>
          <p:cNvSpPr txBox="1"/>
          <p:nvPr/>
        </p:nvSpPr>
        <p:spPr>
          <a:xfrm>
            <a:off x="3683203" y="5422392"/>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ABF</a:t>
            </a:r>
            <a:endParaRPr lang="en-US" sz="950" dirty="0"/>
          </a:p>
        </p:txBody>
      </p:sp>
      <p:sp>
        <p:nvSpPr>
          <p:cNvPr id="54" name="shp_15_51"/>
          <p:cNvSpPr/>
          <p:nvPr/>
        </p:nvSpPr>
        <p:spPr>
          <a:xfrm>
            <a:off x="5113325" y="5148072"/>
            <a:ext cx="1320394" cy="530352"/>
          </a:xfrm>
          <a:prstGeom prst="roundRect">
            <a:avLst>
              <a:gd name="adj" fmla="val 17241"/>
            </a:avLst>
          </a:prstGeom>
          <a:solidFill>
            <a:srgbClr val="15294A"/>
          </a:solidFill>
          <a:ln w="9525">
            <a:solidFill>
              <a:srgbClr val="243A5E"/>
            </a:solidFill>
            <a:prstDash val="solid"/>
          </a:ln>
        </p:spPr>
      </p:sp>
      <p:sp>
        <p:nvSpPr>
          <p:cNvPr id="55" name="txt_15_52"/>
          <p:cNvSpPr txBox="1"/>
          <p:nvPr/>
        </p:nvSpPr>
        <p:spPr>
          <a:xfrm>
            <a:off x="5113325" y="5148072"/>
            <a:ext cx="1320394"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UAE</a:t>
            </a:r>
            <a:endParaRPr lang="en-US" sz="1200" dirty="0"/>
          </a:p>
        </p:txBody>
      </p:sp>
      <p:sp>
        <p:nvSpPr>
          <p:cNvPr id="56" name="shp_15_53"/>
          <p:cNvSpPr/>
          <p:nvPr/>
        </p:nvSpPr>
        <p:spPr>
          <a:xfrm>
            <a:off x="6543446" y="5148072"/>
            <a:ext cx="1320394" cy="530352"/>
          </a:xfrm>
          <a:prstGeom prst="roundRect">
            <a:avLst>
              <a:gd name="adj" fmla="val 17241"/>
            </a:avLst>
          </a:prstGeom>
          <a:solidFill>
            <a:srgbClr val="15294A"/>
          </a:solidFill>
          <a:ln w="9525">
            <a:solidFill>
              <a:srgbClr val="243A5E"/>
            </a:solidFill>
            <a:prstDash val="solid"/>
          </a:ln>
        </p:spPr>
      </p:sp>
      <p:sp>
        <p:nvSpPr>
          <p:cNvPr id="57" name="txt_15_54"/>
          <p:cNvSpPr txBox="1"/>
          <p:nvPr/>
        </p:nvSpPr>
        <p:spPr>
          <a:xfrm>
            <a:off x="6543446" y="5193792"/>
            <a:ext cx="132039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Brazil</a:t>
            </a:r>
            <a:endParaRPr lang="en-US" sz="1200" dirty="0"/>
          </a:p>
        </p:txBody>
      </p:sp>
      <p:sp>
        <p:nvSpPr>
          <p:cNvPr id="58" name="txt_15_55"/>
          <p:cNvSpPr txBox="1"/>
          <p:nvPr/>
        </p:nvSpPr>
        <p:spPr>
          <a:xfrm>
            <a:off x="6543446" y="5422392"/>
            <a:ext cx="1320394" cy="201168"/>
          </a:xfrm>
          <a:prstGeom prst="rect">
            <a:avLst/>
          </a:prstGeom>
          <a:noFill/>
          <a:ln/>
        </p:spPr>
        <p:txBody>
          <a:bodyPr wrap="square" lIns="0" tIns="0" rIns="0" bIns="0" rtlCol="0" anchor="t"/>
          <a:lstStyle/>
          <a:p>
            <a:pPr algn="ctr" indent="0" marL="0">
              <a:buNone/>
            </a:pPr>
            <a:r>
              <a:rPr lang="en-US" sz="950" dirty="0">
                <a:solidFill>
                  <a:srgbClr val="AEBBCF"/>
                </a:solidFill>
                <a:latin typeface="Calibri" pitchFamily="34" charset="0"/>
                <a:ea typeface="Calibri" pitchFamily="34" charset="-122"/>
                <a:cs typeface="Calibri" pitchFamily="34" charset="-120"/>
              </a:rPr>
              <a:t>Siscomex</a:t>
            </a:r>
            <a:endParaRPr lang="en-US" sz="950" dirty="0"/>
          </a:p>
        </p:txBody>
      </p:sp>
      <p:sp>
        <p:nvSpPr>
          <p:cNvPr id="59" name="txt_15_56"/>
          <p:cNvSpPr txBox="1"/>
          <p:nvPr/>
        </p:nvSpPr>
        <p:spPr>
          <a:xfrm>
            <a:off x="822960" y="5760720"/>
            <a:ext cx="7040880" cy="256032"/>
          </a:xfrm>
          <a:prstGeom prst="rect">
            <a:avLst/>
          </a:prstGeom>
          <a:noFill/>
          <a:ln/>
        </p:spPr>
        <p:txBody>
          <a:bodyPr wrap="square" lIns="0" tIns="0" rIns="0" bIns="0" rtlCol="0" anchor="t"/>
          <a:lstStyle/>
          <a:p>
            <a:pPr indent="0" marL="0">
              <a:buNone/>
            </a:pPr>
            <a:r>
              <a:rPr lang="en-US" sz="1250" b="1" i="1" dirty="0">
                <a:solidFill>
                  <a:srgbClr val="F5A524"/>
                </a:solidFill>
                <a:latin typeface="Calibri" pitchFamily="34" charset="0"/>
                <a:ea typeface="Calibri" pitchFamily="34" charset="-122"/>
                <a:cs typeface="Calibri" pitchFamily="34" charset="-120"/>
              </a:rPr>
              <a:t>No citation, no rule — the anti-hallucination contract.</a:t>
            </a:r>
            <a:endParaRPr lang="en-US" sz="1250" dirty="0"/>
          </a:p>
        </p:txBody>
      </p:sp>
      <p:sp>
        <p:nvSpPr>
          <p:cNvPr id="60" name="shp_15_57"/>
          <p:cNvSpPr/>
          <p:nvPr/>
        </p:nvSpPr>
        <p:spPr>
          <a:xfrm>
            <a:off x="8412480" y="3703320"/>
            <a:ext cx="3230575" cy="2377440"/>
          </a:xfrm>
          <a:prstGeom prst="roundRect">
            <a:avLst>
              <a:gd name="adj" fmla="val 3846"/>
            </a:avLst>
          </a:prstGeom>
          <a:solidFill>
            <a:srgbClr val="3B2A0C"/>
          </a:solidFill>
          <a:ln w="19050">
            <a:solidFill>
              <a:srgbClr val="F5A524"/>
            </a:solidFill>
            <a:prstDash val="solid"/>
          </a:ln>
        </p:spPr>
      </p:sp>
      <p:sp>
        <p:nvSpPr>
          <p:cNvPr id="61" name="txt_15_58"/>
          <p:cNvSpPr txBox="1"/>
          <p:nvPr/>
        </p:nvSpPr>
        <p:spPr>
          <a:xfrm>
            <a:off x="8412480" y="3931920"/>
            <a:ext cx="3230575" cy="822960"/>
          </a:xfrm>
          <a:prstGeom prst="rect">
            <a:avLst/>
          </a:prstGeom>
          <a:noFill/>
          <a:ln/>
        </p:spPr>
        <p:txBody>
          <a:bodyPr wrap="square" lIns="0" tIns="0" rIns="0" bIns="0" rtlCol="0" anchor="t"/>
          <a:lstStyle/>
          <a:p>
            <a:pPr algn="ctr" indent="0" marL="0">
              <a:buNone/>
            </a:pPr>
            <a:r>
              <a:rPr lang="en-US" sz="5000" b="1" dirty="0">
                <a:solidFill>
                  <a:srgbClr val="F5A524"/>
                </a:solidFill>
                <a:latin typeface="Calibri" pitchFamily="34" charset="0"/>
                <a:ea typeface="Calibri" pitchFamily="34" charset="-122"/>
                <a:cs typeface="Calibri" pitchFamily="34" charset="-120"/>
              </a:rPr>
              <a:t>50 / 50</a:t>
            </a:r>
            <a:endParaRPr lang="en-US" sz="5000" dirty="0"/>
          </a:p>
        </p:txBody>
      </p:sp>
      <p:sp>
        <p:nvSpPr>
          <p:cNvPr id="62" name="txt_15_59"/>
          <p:cNvSpPr txBox="1"/>
          <p:nvPr/>
        </p:nvSpPr>
        <p:spPr>
          <a:xfrm>
            <a:off x="8412480" y="4800600"/>
            <a:ext cx="3230575" cy="274320"/>
          </a:xfrm>
          <a:prstGeom prst="rect">
            <a:avLst/>
          </a:prstGeom>
          <a:noFill/>
          <a:ln/>
        </p:spPr>
        <p:txBody>
          <a:bodyPr wrap="square" lIns="0" tIns="0" rIns="0" bIns="0" rtlCol="0" anchor="t"/>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CUSTOMS SCENARIOS PASSED</a:t>
            </a:r>
            <a:endParaRPr lang="en-US" sz="1100" dirty="0"/>
          </a:p>
        </p:txBody>
      </p:sp>
      <p:sp>
        <p:nvSpPr>
          <p:cNvPr id="63" name="txt_15_60"/>
          <p:cNvSpPr txBox="1"/>
          <p:nvPr/>
        </p:nvSpPr>
        <p:spPr>
          <a:xfrm>
            <a:off x="8686800" y="5138928"/>
            <a:ext cx="2681935" cy="502920"/>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Five statutory scenarios per jurisdiction, run on every build.</a:t>
            </a:r>
            <a:endParaRPr lang="en-US" sz="1200" dirty="0"/>
          </a:p>
        </p:txBody>
      </p:sp>
      <p:sp>
        <p:nvSpPr>
          <p:cNvPr id="64" name="txt_15_61"/>
          <p:cNvSpPr txBox="1"/>
          <p:nvPr/>
        </p:nvSpPr>
        <p:spPr>
          <a:xfrm>
            <a:off x="8412480" y="5669280"/>
            <a:ext cx="3230575" cy="228600"/>
          </a:xfrm>
          <a:prstGeom prst="rect">
            <a:avLst/>
          </a:prstGeom>
          <a:noFill/>
          <a:ln/>
        </p:spPr>
        <p:txBody>
          <a:bodyPr wrap="square" lIns="0" tIns="0" rIns="0" bIns="0" rtlCol="0" anchor="t"/>
          <a:lstStyle/>
          <a:p>
            <a:pPr algn="ctr" indent="0" marL="0">
              <a:buNone/>
            </a:pPr>
            <a:r>
              <a:rPr lang="en-US" sz="950" dirty="0">
                <a:solidFill>
                  <a:srgbClr val="71819A"/>
                </a:solidFill>
                <a:latin typeface="Courier New" pitchFamily="34" charset="0"/>
                <a:ea typeface="Courier New" pitchFamily="34" charset="-122"/>
                <a:cs typeface="Courier New" pitchFamily="34" charset="-120"/>
              </a:rPr>
              <a:t>test_50_customs_scenarios.py</a:t>
            </a:r>
            <a:endParaRPr lang="en-US" sz="950" dirty="0"/>
          </a:p>
        </p:txBody>
      </p:sp>
      <p:sp>
        <p:nvSpPr>
          <p:cNvPr id="65" name="txt_15_6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66" name="txt_15_6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15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25" fill="hold">
                      <p:stCondLst>
                        <p:cond delay="indefinite"/>
                      </p:stCondLst>
                      <p:childTnLst>
                        <p:par>
                          <p:cTn id="126"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3" presetID="22" presetClass="entr" presetSubtype="8" fill="hold" grpId="0" nodeType="withEffect" decel="100000">
                                  <p:stCondLst>
                                    <p:cond delay="220"/>
                                  </p:stCondLst>
                                  <p:childTnLst>
                                    <p:set>
                                      <p:cBhvr>
                                        <p:cTn id="41" dur="1" fill="hold">
                                          <p:stCondLst>
                                            <p:cond delay="0"/>
                                          </p:stCondLst>
                                        </p:cTn>
                                        <p:tgtEl>
                                          <p:spTgt spid="11"/>
                                        </p:tgtEl>
                                        <p:attrNameLst>
                                          <p:attrName>style.visibility</p:attrName>
                                        </p:attrNameLst>
                                      </p:cBhvr>
                                      <p:to>
                                        <p:strVal val="visible"/>
                                      </p:to>
                                    </p:set>
                                    <p:animEffect transition="in" filter="wipe(right)">
                                      <p:cBhvr>
                                        <p:cTn id="42" dur="200"/>
                                        <p:tgtEl>
                                          <p:spTgt spid="11"/>
                                        </p:tgtEl>
                                      </p:cBhvr>
                                    </p:animEffect>
                                  </p:childTnLst>
                                </p:cTn>
                              </p:par>
                              <p:par>
                                <p:cTn id="48" presetID="42" presetClass="entr" presetSubtype="0" fill="hold" grpId="0" nodeType="withEffect" decel="100000">
                                  <p:stCondLst>
                                    <p:cond delay="3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ppt_x</p:attrName>
                                        </p:attrNameLst>
                                      </p:cBhvr>
                                      <p:tavLst>
                                        <p:tav tm="0">
                                          <p:val>
                                            <p:strVal val="#ppt_x"/>
                                          </p:val>
                                        </p:tav>
                                        <p:tav tm="100000">
                                          <p:val>
                                            <p:strVal val="#ppt_x"/>
                                          </p:val>
                                        </p:tav>
                                      </p:tavLst>
                                    </p:anim>
                                    <p:anim calcmode="lin" valueType="num">
                                      <p:cBhvr>
                                        <p:cTn id="47" dur="500" fill="hold"/>
                                        <p:tgtEl>
                                          <p:spTgt spid="12"/>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decel="100000">
                                  <p:stCondLst>
                                    <p:cond delay="3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p:cTn id="51" dur="500" fill="hold"/>
                                        <p:tgtEl>
                                          <p:spTgt spid="13"/>
                                        </p:tgtEl>
                                        <p:attrNameLst>
                                          <p:attrName>ppt_x</p:attrName>
                                        </p:attrNameLst>
                                      </p:cBhvr>
                                      <p:tavLst>
                                        <p:tav tm="0">
                                          <p:val>
                                            <p:strVal val="#ppt_x"/>
                                          </p:val>
                                        </p:tav>
                                        <p:tav tm="100000">
                                          <p:val>
                                            <p:strVal val="#ppt_x"/>
                                          </p:val>
                                        </p:tav>
                                      </p:tavLst>
                                    </p:anim>
                                    <p:anim calcmode="lin" valueType="num">
                                      <p:cBhvr>
                                        <p:cTn id="52" dur="500" fill="hold"/>
                                        <p:tgtEl>
                                          <p:spTgt spid="13"/>
                                        </p:tgtEl>
                                        <p:attrNameLst>
                                          <p:attrName>ppt_y</p:attrName>
                                        </p:attrNameLst>
                                      </p:cBhvr>
                                      <p:tavLst>
                                        <p:tav tm="0">
                                          <p:val>
                                            <p:strVal val="#ppt_y+0.05"/>
                                          </p:val>
                                        </p:tav>
                                        <p:tav tm="100000">
                                          <p:val>
                                            <p:strVal val="#ppt_y"/>
                                          </p:val>
                                        </p:tav>
                                      </p:tavLst>
                                    </p:anim>
                                  </p:childTnLst>
                                </p:cTn>
                              </p:par>
                              <p:par>
                                <p:cTn id="58" presetID="42" presetClass="entr" presetSubtype="0" fill="hold" grpId="0" nodeType="withEffect" decel="100000">
                                  <p:stCondLst>
                                    <p:cond delay="3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p:cTn id="56" dur="500" fill="hold"/>
                                        <p:tgtEl>
                                          <p:spTgt spid="14"/>
                                        </p:tgtEl>
                                        <p:attrNameLst>
                                          <p:attrName>ppt_x</p:attrName>
                                        </p:attrNameLst>
                                      </p:cBhvr>
                                      <p:tavLst>
                                        <p:tav tm="0">
                                          <p:val>
                                            <p:strVal val="#ppt_x"/>
                                          </p:val>
                                        </p:tav>
                                        <p:tav tm="100000">
                                          <p:val>
                                            <p:strVal val="#ppt_x"/>
                                          </p:val>
                                        </p:tav>
                                      </p:tavLst>
                                    </p:anim>
                                    <p:anim calcmode="lin" valueType="num">
                                      <p:cBhvr>
                                        <p:cTn id="57" dur="500" fill="hold"/>
                                        <p:tgtEl>
                                          <p:spTgt spid="14"/>
                                        </p:tgtEl>
                                        <p:attrNameLst>
                                          <p:attrName>ppt_y</p:attrName>
                                        </p:attrNameLst>
                                      </p:cBhvr>
                                      <p:tavLst>
                                        <p:tav tm="0">
                                          <p:val>
                                            <p:strVal val="#ppt_y+0.05"/>
                                          </p:val>
                                        </p:tav>
                                        <p:tav tm="100000">
                                          <p:val>
                                            <p:strVal val="#ppt_y"/>
                                          </p:val>
                                        </p:tav>
                                      </p:tavLst>
                                    </p:anim>
                                  </p:childTnLst>
                                </p:cTn>
                              </p:par>
                              <p:par>
                                <p:cTn id="63" presetID="42" presetClass="entr" presetSubtype="0" fill="hold" grpId="0" nodeType="withEffect" decel="100000">
                                  <p:stCondLst>
                                    <p:cond delay="3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ppt_x</p:attrName>
                                        </p:attrNameLst>
                                      </p:cBhvr>
                                      <p:tavLst>
                                        <p:tav tm="0">
                                          <p:val>
                                            <p:strVal val="#ppt_x"/>
                                          </p:val>
                                        </p:tav>
                                        <p:tav tm="100000">
                                          <p:val>
                                            <p:strVal val="#ppt_x"/>
                                          </p:val>
                                        </p:tav>
                                      </p:tavLst>
                                    </p:anim>
                                    <p:anim calcmode="lin" valueType="num">
                                      <p:cBhvr>
                                        <p:cTn id="62" dur="500" fill="hold"/>
                                        <p:tgtEl>
                                          <p:spTgt spid="15"/>
                                        </p:tgtEl>
                                        <p:attrNameLst>
                                          <p:attrName>ppt_y</p:attrName>
                                        </p:attrNameLst>
                                      </p:cBhvr>
                                      <p:tavLst>
                                        <p:tav tm="0">
                                          <p:val>
                                            <p:strVal val="#ppt_y+0.05"/>
                                          </p:val>
                                        </p:tav>
                                        <p:tav tm="100000">
                                          <p:val>
                                            <p:strVal val="#ppt_y"/>
                                          </p:val>
                                        </p:tav>
                                      </p:tavLst>
                                    </p:anim>
                                  </p:childTnLst>
                                </p:cTn>
                              </p:par>
                              <p:par>
                                <p:cTn id="68" presetID="42" presetClass="entr" presetSubtype="0" fill="hold" grpId="0" nodeType="withEffect" decel="100000">
                                  <p:stCondLst>
                                    <p:cond delay="30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strVal val="#ppt_x"/>
                                          </p:val>
                                        </p:tav>
                                        <p:tav tm="100000">
                                          <p:val>
                                            <p:strVal val="#ppt_x"/>
                                          </p:val>
                                        </p:tav>
                                      </p:tavLst>
                                    </p:anim>
                                    <p:anim calcmode="lin" valueType="num">
                                      <p:cBhvr>
                                        <p:cTn id="67" dur="500" fill="hold"/>
                                        <p:tgtEl>
                                          <p:spTgt spid="16"/>
                                        </p:tgtEl>
                                        <p:attrNameLst>
                                          <p:attrName>ppt_y</p:attrName>
                                        </p:attrNameLst>
                                      </p:cBhvr>
                                      <p:tavLst>
                                        <p:tav tm="0">
                                          <p:val>
                                            <p:strVal val="#ppt_y+0.05"/>
                                          </p:val>
                                        </p:tav>
                                        <p:tav tm="100000">
                                          <p:val>
                                            <p:strVal val="#ppt_y"/>
                                          </p:val>
                                        </p:tav>
                                      </p:tavLst>
                                    </p:anim>
                                  </p:childTnLst>
                                </p:cTn>
                              </p:par>
                              <p:par>
                                <p:cTn id="71" presetID="22" presetClass="entr" presetSubtype="8" fill="hold" grpId="0" nodeType="withEffect" decel="100000">
                                  <p:stCondLst>
                                    <p:cond delay="520"/>
                                  </p:stCondLst>
                                  <p:childTnLst>
                                    <p:set>
                                      <p:cBhvr>
                                        <p:cTn id="69" dur="1" fill="hold">
                                          <p:stCondLst>
                                            <p:cond delay="0"/>
                                          </p:stCondLst>
                                        </p:cTn>
                                        <p:tgtEl>
                                          <p:spTgt spid="17"/>
                                        </p:tgtEl>
                                        <p:attrNameLst>
                                          <p:attrName>style.visibility</p:attrName>
                                        </p:attrNameLst>
                                      </p:cBhvr>
                                      <p:to>
                                        <p:strVal val="visible"/>
                                      </p:to>
                                    </p:set>
                                    <p:animEffect transition="in" filter="wipe(right)">
                                      <p:cBhvr>
                                        <p:cTn id="70" dur="200"/>
                                        <p:tgtEl>
                                          <p:spTgt spid="17"/>
                                        </p:tgtEl>
                                      </p:cBhvr>
                                    </p:animEffect>
                                  </p:childTnLst>
                                </p:cTn>
                              </p:par>
                              <p:par>
                                <p:cTn id="76" presetID="42" presetClass="entr" presetSubtype="0" fill="hold" grpId="0" nodeType="withEffect" decel="100000">
                                  <p:stCondLst>
                                    <p:cond delay="60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anim calcmode="lin" valueType="num">
                                      <p:cBhvr>
                                        <p:cTn id="74" dur="500" fill="hold"/>
                                        <p:tgtEl>
                                          <p:spTgt spid="18"/>
                                        </p:tgtEl>
                                        <p:attrNameLst>
                                          <p:attrName>ppt_x</p:attrName>
                                        </p:attrNameLst>
                                      </p:cBhvr>
                                      <p:tavLst>
                                        <p:tav tm="0">
                                          <p:val>
                                            <p:strVal val="#ppt_x"/>
                                          </p:val>
                                        </p:tav>
                                        <p:tav tm="100000">
                                          <p:val>
                                            <p:strVal val="#ppt_x"/>
                                          </p:val>
                                        </p:tav>
                                      </p:tavLst>
                                    </p:anim>
                                    <p:anim calcmode="lin" valueType="num">
                                      <p:cBhvr>
                                        <p:cTn id="75" dur="500" fill="hold"/>
                                        <p:tgtEl>
                                          <p:spTgt spid="18"/>
                                        </p:tgtEl>
                                        <p:attrNameLst>
                                          <p:attrName>ppt_y</p:attrName>
                                        </p:attrNameLst>
                                      </p:cBhvr>
                                      <p:tavLst>
                                        <p:tav tm="0">
                                          <p:val>
                                            <p:strVal val="#ppt_y+0.05"/>
                                          </p:val>
                                        </p:tav>
                                        <p:tav tm="100000">
                                          <p:val>
                                            <p:strVal val="#ppt_y"/>
                                          </p:val>
                                        </p:tav>
                                      </p:tavLst>
                                    </p:anim>
                                  </p:childTnLst>
                                </p:cTn>
                              </p:par>
                              <p:par>
                                <p:cTn id="81" presetID="42" presetClass="entr" presetSubtype="0" fill="hold" grpId="0" nodeType="withEffect" decel="100000">
                                  <p:stCondLst>
                                    <p:cond delay="60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anim calcmode="lin" valueType="num">
                                      <p:cBhvr>
                                        <p:cTn id="79" dur="500" fill="hold"/>
                                        <p:tgtEl>
                                          <p:spTgt spid="19"/>
                                        </p:tgtEl>
                                        <p:attrNameLst>
                                          <p:attrName>ppt_x</p:attrName>
                                        </p:attrNameLst>
                                      </p:cBhvr>
                                      <p:tavLst>
                                        <p:tav tm="0">
                                          <p:val>
                                            <p:strVal val="#ppt_x"/>
                                          </p:val>
                                        </p:tav>
                                        <p:tav tm="100000">
                                          <p:val>
                                            <p:strVal val="#ppt_x"/>
                                          </p:val>
                                        </p:tav>
                                      </p:tavLst>
                                    </p:anim>
                                    <p:anim calcmode="lin" valueType="num">
                                      <p:cBhvr>
                                        <p:cTn id="80" dur="500" fill="hold"/>
                                        <p:tgtEl>
                                          <p:spTgt spid="19"/>
                                        </p:tgtEl>
                                        <p:attrNameLst>
                                          <p:attrName>ppt_y</p:attrName>
                                        </p:attrNameLst>
                                      </p:cBhvr>
                                      <p:tavLst>
                                        <p:tav tm="0">
                                          <p:val>
                                            <p:strVal val="#ppt_y+0.05"/>
                                          </p:val>
                                        </p:tav>
                                        <p:tav tm="100000">
                                          <p:val>
                                            <p:strVal val="#ppt_y"/>
                                          </p:val>
                                        </p:tav>
                                      </p:tavLst>
                                    </p:anim>
                                  </p:childTnLst>
                                </p:cTn>
                              </p:par>
                              <p:par>
                                <p:cTn id="86" presetID="42" presetClass="entr" presetSubtype="0" fill="hold" grpId="0" nodeType="withEffect" decel="100000">
                                  <p:stCondLst>
                                    <p:cond delay="60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anim calcmode="lin" valueType="num">
                                      <p:cBhvr>
                                        <p:cTn id="84" dur="500" fill="hold"/>
                                        <p:tgtEl>
                                          <p:spTgt spid="20"/>
                                        </p:tgtEl>
                                        <p:attrNameLst>
                                          <p:attrName>ppt_x</p:attrName>
                                        </p:attrNameLst>
                                      </p:cBhvr>
                                      <p:tavLst>
                                        <p:tav tm="0">
                                          <p:val>
                                            <p:strVal val="#ppt_x"/>
                                          </p:val>
                                        </p:tav>
                                        <p:tav tm="100000">
                                          <p:val>
                                            <p:strVal val="#ppt_x"/>
                                          </p:val>
                                        </p:tav>
                                      </p:tavLst>
                                    </p:anim>
                                    <p:anim calcmode="lin" valueType="num">
                                      <p:cBhvr>
                                        <p:cTn id="85" dur="500" fill="hold"/>
                                        <p:tgtEl>
                                          <p:spTgt spid="20"/>
                                        </p:tgtEl>
                                        <p:attrNameLst>
                                          <p:attrName>ppt_y</p:attrName>
                                        </p:attrNameLst>
                                      </p:cBhvr>
                                      <p:tavLst>
                                        <p:tav tm="0">
                                          <p:val>
                                            <p:strVal val="#ppt_y+0.05"/>
                                          </p:val>
                                        </p:tav>
                                        <p:tav tm="100000">
                                          <p:val>
                                            <p:strVal val="#ppt_y"/>
                                          </p:val>
                                        </p:tav>
                                      </p:tavLst>
                                    </p:anim>
                                  </p:childTnLst>
                                </p:cTn>
                              </p:par>
                              <p:par>
                                <p:cTn id="91" presetID="42" presetClass="entr" presetSubtype="0" fill="hold" grpId="0" nodeType="withEffect" decel="100000">
                                  <p:stCondLst>
                                    <p:cond delay="60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anim calcmode="lin" valueType="num">
                                      <p:cBhvr>
                                        <p:cTn id="89" dur="500" fill="hold"/>
                                        <p:tgtEl>
                                          <p:spTgt spid="21"/>
                                        </p:tgtEl>
                                        <p:attrNameLst>
                                          <p:attrName>ppt_x</p:attrName>
                                        </p:attrNameLst>
                                      </p:cBhvr>
                                      <p:tavLst>
                                        <p:tav tm="0">
                                          <p:val>
                                            <p:strVal val="#ppt_x"/>
                                          </p:val>
                                        </p:tav>
                                        <p:tav tm="100000">
                                          <p:val>
                                            <p:strVal val="#ppt_x"/>
                                          </p:val>
                                        </p:tav>
                                      </p:tavLst>
                                    </p:anim>
                                    <p:anim calcmode="lin" valueType="num">
                                      <p:cBhvr>
                                        <p:cTn id="90" dur="500" fill="hold"/>
                                        <p:tgtEl>
                                          <p:spTgt spid="21"/>
                                        </p:tgtEl>
                                        <p:attrNameLst>
                                          <p:attrName>ppt_y</p:attrName>
                                        </p:attrNameLst>
                                      </p:cBhvr>
                                      <p:tavLst>
                                        <p:tav tm="0">
                                          <p:val>
                                            <p:strVal val="#ppt_y+0.05"/>
                                          </p:val>
                                        </p:tav>
                                        <p:tav tm="100000">
                                          <p:val>
                                            <p:strVal val="#ppt_y"/>
                                          </p:val>
                                        </p:tav>
                                      </p:tavLst>
                                    </p:anim>
                                  </p:childTnLst>
                                </p:cTn>
                              </p:par>
                              <p:par>
                                <p:cTn id="96" presetID="42" presetClass="entr" presetSubtype="0" fill="hold" grpId="0" nodeType="withEffect" decel="100000">
                                  <p:stCondLst>
                                    <p:cond delay="60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anim calcmode="lin" valueType="num">
                                      <p:cBhvr>
                                        <p:cTn id="94" dur="500" fill="hold"/>
                                        <p:tgtEl>
                                          <p:spTgt spid="22"/>
                                        </p:tgtEl>
                                        <p:attrNameLst>
                                          <p:attrName>ppt_x</p:attrName>
                                        </p:attrNameLst>
                                      </p:cBhvr>
                                      <p:tavLst>
                                        <p:tav tm="0">
                                          <p:val>
                                            <p:strVal val="#ppt_x"/>
                                          </p:val>
                                        </p:tav>
                                        <p:tav tm="100000">
                                          <p:val>
                                            <p:strVal val="#ppt_x"/>
                                          </p:val>
                                        </p:tav>
                                      </p:tavLst>
                                    </p:anim>
                                    <p:anim calcmode="lin" valueType="num">
                                      <p:cBhvr>
                                        <p:cTn id="95" dur="500" fill="hold"/>
                                        <p:tgtEl>
                                          <p:spTgt spid="22"/>
                                        </p:tgtEl>
                                        <p:attrNameLst>
                                          <p:attrName>ppt_y</p:attrName>
                                        </p:attrNameLst>
                                      </p:cBhvr>
                                      <p:tavLst>
                                        <p:tav tm="0">
                                          <p:val>
                                            <p:strVal val="#ppt_y+0.05"/>
                                          </p:val>
                                        </p:tav>
                                        <p:tav tm="100000">
                                          <p:val>
                                            <p:strVal val="#ppt_y"/>
                                          </p:val>
                                        </p:tav>
                                      </p:tavLst>
                                    </p:anim>
                                  </p:childTnLst>
                                </p:cTn>
                              </p:par>
                              <p:par>
                                <p:cTn id="99" presetID="22" presetClass="entr" presetSubtype="8" fill="hold" grpId="0" nodeType="withEffect" decel="100000">
                                  <p:stCondLst>
                                    <p:cond delay="820"/>
                                  </p:stCondLst>
                                  <p:childTnLst>
                                    <p:set>
                                      <p:cBhvr>
                                        <p:cTn id="97" dur="1" fill="hold">
                                          <p:stCondLst>
                                            <p:cond delay="0"/>
                                          </p:stCondLst>
                                        </p:cTn>
                                        <p:tgtEl>
                                          <p:spTgt spid="23"/>
                                        </p:tgtEl>
                                        <p:attrNameLst>
                                          <p:attrName>style.visibility</p:attrName>
                                        </p:attrNameLst>
                                      </p:cBhvr>
                                      <p:to>
                                        <p:strVal val="visible"/>
                                      </p:to>
                                    </p:set>
                                    <p:animEffect transition="in" filter="wipe(right)">
                                      <p:cBhvr>
                                        <p:cTn id="98" dur="200"/>
                                        <p:tgtEl>
                                          <p:spTgt spid="23"/>
                                        </p:tgtEl>
                                      </p:cBhvr>
                                    </p:animEffect>
                                  </p:childTnLst>
                                </p:cTn>
                              </p:par>
                              <p:par>
                                <p:cTn id="104" presetID="42" presetClass="entr" presetSubtype="0" fill="hold" grpId="0" nodeType="withEffect" decel="100000">
                                  <p:stCondLst>
                                    <p:cond delay="90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00"/>
                                        <p:tgtEl>
                                          <p:spTgt spid="24"/>
                                        </p:tgtEl>
                                      </p:cBhvr>
                                    </p:animEffect>
                                    <p:anim calcmode="lin" valueType="num">
                                      <p:cBhvr>
                                        <p:cTn id="102" dur="500" fill="hold"/>
                                        <p:tgtEl>
                                          <p:spTgt spid="24"/>
                                        </p:tgtEl>
                                        <p:attrNameLst>
                                          <p:attrName>ppt_x</p:attrName>
                                        </p:attrNameLst>
                                      </p:cBhvr>
                                      <p:tavLst>
                                        <p:tav tm="0">
                                          <p:val>
                                            <p:strVal val="#ppt_x"/>
                                          </p:val>
                                        </p:tav>
                                        <p:tav tm="100000">
                                          <p:val>
                                            <p:strVal val="#ppt_x"/>
                                          </p:val>
                                        </p:tav>
                                      </p:tavLst>
                                    </p:anim>
                                    <p:anim calcmode="lin" valueType="num">
                                      <p:cBhvr>
                                        <p:cTn id="103" dur="500" fill="hold"/>
                                        <p:tgtEl>
                                          <p:spTgt spid="24"/>
                                        </p:tgtEl>
                                        <p:attrNameLst>
                                          <p:attrName>ppt_y</p:attrName>
                                        </p:attrNameLst>
                                      </p:cBhvr>
                                      <p:tavLst>
                                        <p:tav tm="0">
                                          <p:val>
                                            <p:strVal val="#ppt_y+0.05"/>
                                          </p:val>
                                        </p:tav>
                                        <p:tav tm="100000">
                                          <p:val>
                                            <p:strVal val="#ppt_y"/>
                                          </p:val>
                                        </p:tav>
                                      </p:tavLst>
                                    </p:anim>
                                  </p:childTnLst>
                                </p:cTn>
                              </p:par>
                              <p:par>
                                <p:cTn id="109" presetID="42" presetClass="entr" presetSubtype="0" fill="hold" grpId="0" nodeType="withEffect" decel="100000">
                                  <p:stCondLst>
                                    <p:cond delay="90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00"/>
                                        <p:tgtEl>
                                          <p:spTgt spid="25"/>
                                        </p:tgtEl>
                                      </p:cBhvr>
                                    </p:animEffect>
                                    <p:anim calcmode="lin" valueType="num">
                                      <p:cBhvr>
                                        <p:cTn id="107" dur="500" fill="hold"/>
                                        <p:tgtEl>
                                          <p:spTgt spid="25"/>
                                        </p:tgtEl>
                                        <p:attrNameLst>
                                          <p:attrName>ppt_x</p:attrName>
                                        </p:attrNameLst>
                                      </p:cBhvr>
                                      <p:tavLst>
                                        <p:tav tm="0">
                                          <p:val>
                                            <p:strVal val="#ppt_x"/>
                                          </p:val>
                                        </p:tav>
                                        <p:tav tm="100000">
                                          <p:val>
                                            <p:strVal val="#ppt_x"/>
                                          </p:val>
                                        </p:tav>
                                      </p:tavLst>
                                    </p:anim>
                                    <p:anim calcmode="lin" valueType="num">
                                      <p:cBhvr>
                                        <p:cTn id="108" dur="500" fill="hold"/>
                                        <p:tgtEl>
                                          <p:spTgt spid="25"/>
                                        </p:tgtEl>
                                        <p:attrNameLst>
                                          <p:attrName>ppt_y</p:attrName>
                                        </p:attrNameLst>
                                      </p:cBhvr>
                                      <p:tavLst>
                                        <p:tav tm="0">
                                          <p:val>
                                            <p:strVal val="#ppt_y+0.05"/>
                                          </p:val>
                                        </p:tav>
                                        <p:tav tm="100000">
                                          <p:val>
                                            <p:strVal val="#ppt_y"/>
                                          </p:val>
                                        </p:tav>
                                      </p:tavLst>
                                    </p:anim>
                                  </p:childTnLst>
                                </p:cTn>
                              </p:par>
                              <p:par>
                                <p:cTn id="114" presetID="42" presetClass="entr" presetSubtype="0" fill="hold" grpId="0" nodeType="withEffect" decel="100000">
                                  <p:stCondLst>
                                    <p:cond delay="90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00"/>
                                        <p:tgtEl>
                                          <p:spTgt spid="26"/>
                                        </p:tgtEl>
                                      </p:cBhvr>
                                    </p:animEffect>
                                    <p:anim calcmode="lin" valueType="num">
                                      <p:cBhvr>
                                        <p:cTn id="112" dur="500" fill="hold"/>
                                        <p:tgtEl>
                                          <p:spTgt spid="26"/>
                                        </p:tgtEl>
                                        <p:attrNameLst>
                                          <p:attrName>ppt_x</p:attrName>
                                        </p:attrNameLst>
                                      </p:cBhvr>
                                      <p:tavLst>
                                        <p:tav tm="0">
                                          <p:val>
                                            <p:strVal val="#ppt_x"/>
                                          </p:val>
                                        </p:tav>
                                        <p:tav tm="100000">
                                          <p:val>
                                            <p:strVal val="#ppt_x"/>
                                          </p:val>
                                        </p:tav>
                                      </p:tavLst>
                                    </p:anim>
                                    <p:anim calcmode="lin" valueType="num">
                                      <p:cBhvr>
                                        <p:cTn id="113" dur="500" fill="hold"/>
                                        <p:tgtEl>
                                          <p:spTgt spid="26"/>
                                        </p:tgtEl>
                                        <p:attrNameLst>
                                          <p:attrName>ppt_y</p:attrName>
                                        </p:attrNameLst>
                                      </p:cBhvr>
                                      <p:tavLst>
                                        <p:tav tm="0">
                                          <p:val>
                                            <p:strVal val="#ppt_y+0.05"/>
                                          </p:val>
                                        </p:tav>
                                        <p:tav tm="100000">
                                          <p:val>
                                            <p:strVal val="#ppt_y"/>
                                          </p:val>
                                        </p:tav>
                                      </p:tavLst>
                                    </p:anim>
                                  </p:childTnLst>
                                </p:cTn>
                              </p:par>
                              <p:par>
                                <p:cTn id="119" presetID="42" presetClass="entr" presetSubtype="0" fill="hold" grpId="0" nodeType="withEffect" decel="100000">
                                  <p:stCondLst>
                                    <p:cond delay="90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00"/>
                                        <p:tgtEl>
                                          <p:spTgt spid="27"/>
                                        </p:tgtEl>
                                      </p:cBhvr>
                                    </p:animEffect>
                                    <p:anim calcmode="lin" valueType="num">
                                      <p:cBhvr>
                                        <p:cTn id="117" dur="500" fill="hold"/>
                                        <p:tgtEl>
                                          <p:spTgt spid="27"/>
                                        </p:tgtEl>
                                        <p:attrNameLst>
                                          <p:attrName>ppt_x</p:attrName>
                                        </p:attrNameLst>
                                      </p:cBhvr>
                                      <p:tavLst>
                                        <p:tav tm="0">
                                          <p:val>
                                            <p:strVal val="#ppt_x"/>
                                          </p:val>
                                        </p:tav>
                                        <p:tav tm="100000">
                                          <p:val>
                                            <p:strVal val="#ppt_x"/>
                                          </p:val>
                                        </p:tav>
                                      </p:tavLst>
                                    </p:anim>
                                    <p:anim calcmode="lin" valueType="num">
                                      <p:cBhvr>
                                        <p:cTn id="118" dur="500" fill="hold"/>
                                        <p:tgtEl>
                                          <p:spTgt spid="27"/>
                                        </p:tgtEl>
                                        <p:attrNameLst>
                                          <p:attrName>ppt_y</p:attrName>
                                        </p:attrNameLst>
                                      </p:cBhvr>
                                      <p:tavLst>
                                        <p:tav tm="0">
                                          <p:val>
                                            <p:strVal val="#ppt_y+0.05"/>
                                          </p:val>
                                        </p:tav>
                                        <p:tav tm="100000">
                                          <p:val>
                                            <p:strVal val="#ppt_y"/>
                                          </p:val>
                                        </p:tav>
                                      </p:tavLst>
                                    </p:anim>
                                  </p:childTnLst>
                                </p:cTn>
                              </p:par>
                              <p:par>
                                <p:cTn id="124" presetID="42" presetClass="entr" presetSubtype="0" fill="hold" grpId="0" nodeType="withEffect" decel="100000">
                                  <p:stCondLst>
                                    <p:cond delay="90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00"/>
                                        <p:tgtEl>
                                          <p:spTgt spid="28"/>
                                        </p:tgtEl>
                                      </p:cBhvr>
                                    </p:animEffect>
                                    <p:anim calcmode="lin" valueType="num">
                                      <p:cBhvr>
                                        <p:cTn id="122" dur="500" fill="hold"/>
                                        <p:tgtEl>
                                          <p:spTgt spid="28"/>
                                        </p:tgtEl>
                                        <p:attrNameLst>
                                          <p:attrName>ppt_x</p:attrName>
                                        </p:attrNameLst>
                                      </p:cBhvr>
                                      <p:tavLst>
                                        <p:tav tm="0">
                                          <p:val>
                                            <p:strVal val="#ppt_x"/>
                                          </p:val>
                                        </p:tav>
                                        <p:tav tm="100000">
                                          <p:val>
                                            <p:strVal val="#ppt_x"/>
                                          </p:val>
                                        </p:tav>
                                      </p:tavLst>
                                    </p:anim>
                                    <p:anim calcmode="lin" valueType="num">
                                      <p:cBhvr>
                                        <p:cTn id="123" dur="500" fill="hold"/>
                                        <p:tgtEl>
                                          <p:spTgt spid="28"/>
                                        </p:tgtEl>
                                        <p:attrNameLst>
                                          <p:attrName>ppt_y</p:attrName>
                                        </p:attrNameLst>
                                      </p:cBhvr>
                                      <p:tavLst>
                                        <p:tav tm="0">
                                          <p:val>
                                            <p:strVal val="#ppt_y+0.05"/>
                                          </p:val>
                                        </p:tav>
                                        <p:tav tm="100000">
                                          <p:val>
                                            <p:strVal val="#ppt_y"/>
                                          </p:val>
                                        </p:tav>
                                      </p:tavLst>
                                    </p:anim>
                                  </p:childTnLst>
                                </p:cTn>
                              </p:par>
                            </p:childTnLst>
                          </p:cTn>
                        </p:par>
                      </p:childTnLst>
                    </p:cTn>
                  </p:par>
                  <p:par>
                    <p:cTn id="274" fill="hold">
                      <p:stCondLst>
                        <p:cond delay="indefinite"/>
                      </p:stCondLst>
                      <p:childTnLst>
                        <p:par>
                          <p:cTn id="275" fill="hold">
                            <p:stCondLst>
                              <p:cond delay="0"/>
                            </p:stCondLst>
                            <p:childTnLst>
                              <p:par>
                                <p:cTn id="129" presetID="10" presetClass="entr" presetSubtype="0" fill="hold" grpId="0" nodeType="clickEffect" decel="100000">
                                  <p:stCondLst>
                                    <p:cond delay="0"/>
                                  </p:stCondLst>
                                  <p:childTnLst>
                                    <p:set>
                                      <p:cBhvr>
                                        <p:cTn id="127" dur="1" fill="hold">
                                          <p:stCondLst>
                                            <p:cond delay="0"/>
                                          </p:stCondLst>
                                        </p:cTn>
                                        <p:tgtEl>
                                          <p:spTgt spid="29"/>
                                        </p:tgtEl>
                                        <p:attrNameLst>
                                          <p:attrName>style.visibility</p:attrName>
                                        </p:attrNameLst>
                                      </p:cBhvr>
                                      <p:to>
                                        <p:strVal val="visible"/>
                                      </p:to>
                                    </p:set>
                                    <p:animEffect transition="in" filter="fade">
                                      <p:cBhvr>
                                        <p:cTn id="128" dur="500"/>
                                        <p:tgtEl>
                                          <p:spTgt spid="29"/>
                                        </p:tgtEl>
                                      </p:cBhvr>
                                    </p:animEffect>
                                  </p:childTnLst>
                                </p:cTn>
                              </p:par>
                              <p:par>
                                <p:cTn id="132" presetID="10" presetClass="entr" presetSubtype="0" fill="hold" grpId="0" nodeType="withEffect" decel="100000">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500"/>
                                        <p:tgtEl>
                                          <p:spTgt spid="30"/>
                                        </p:tgtEl>
                                      </p:cBhvr>
                                    </p:animEffect>
                                  </p:childTnLst>
                                </p:cTn>
                              </p:par>
                              <p:par>
                                <p:cTn id="135" presetID="10" presetClass="entr" presetSubtype="0" fill="hold" grpId="0" nodeType="withEffect" decel="100000">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500"/>
                                        <p:tgtEl>
                                          <p:spTgt spid="31"/>
                                        </p:tgtEl>
                                      </p:cBhvr>
                                    </p:animEffect>
                                  </p:childTnLst>
                                </p:cTn>
                              </p:par>
                              <p:par>
                                <p:cTn id="140" presetID="53" presetClass="entr" presetSubtype="16" fill="hold" grpId="0" nodeType="withEffect" decel="100000">
                                  <p:stCondLst>
                                    <p:cond delay="150"/>
                                  </p:stCondLst>
                                  <p:childTnLst>
                                    <p:set>
                                      <p:cBhvr>
                                        <p:cTn id="136" dur="1" fill="hold">
                                          <p:stCondLst>
                                            <p:cond delay="0"/>
                                          </p:stCondLst>
                                        </p:cTn>
                                        <p:tgtEl>
                                          <p:spTgt spid="32"/>
                                        </p:tgtEl>
                                        <p:attrNameLst>
                                          <p:attrName>style.visibility</p:attrName>
                                        </p:attrNameLst>
                                      </p:cBhvr>
                                      <p:to>
                                        <p:strVal val="visible"/>
                                      </p:to>
                                    </p:set>
                                    <p:anim calcmode="lin" valueType="num">
                                      <p:cBhvr>
                                        <p:cTn id="137" dur="300" fill="hold"/>
                                        <p:tgtEl>
                                          <p:spTgt spid="32"/>
                                        </p:tgtEl>
                                        <p:attrNameLst>
                                          <p:attrName>ppt_w</p:attrName>
                                        </p:attrNameLst>
                                      </p:cBhvr>
                                      <p:tavLst>
                                        <p:tav tm="0">
                                          <p:val>
                                            <p:strVal val="#ppt_w*0.70"/>
                                          </p:val>
                                        </p:tav>
                                        <p:tav tm="100000">
                                          <p:val>
                                            <p:strVal val="#ppt_w"/>
                                          </p:val>
                                        </p:tav>
                                      </p:tavLst>
                                    </p:anim>
                                    <p:anim calcmode="lin" valueType="num">
                                      <p:cBhvr>
                                        <p:cTn id="138" dur="300" fill="hold"/>
                                        <p:tgtEl>
                                          <p:spTgt spid="32"/>
                                        </p:tgtEl>
                                        <p:attrNameLst>
                                          <p:attrName>ppt_h</p:attrName>
                                        </p:attrNameLst>
                                      </p:cBhvr>
                                      <p:tavLst>
                                        <p:tav tm="0">
                                          <p:val>
                                            <p:strVal val="#ppt_h*0.70"/>
                                          </p:val>
                                        </p:tav>
                                        <p:tav tm="100000">
                                          <p:val>
                                            <p:strVal val="#ppt_h"/>
                                          </p:val>
                                        </p:tav>
                                      </p:tavLst>
                                    </p:anim>
                                    <p:animEffect transition="in" filter="fade">
                                      <p:cBhvr>
                                        <p:cTn id="139" dur="300"/>
                                        <p:tgtEl>
                                          <p:spTgt spid="32"/>
                                        </p:tgtEl>
                                      </p:cBhvr>
                                    </p:animEffect>
                                  </p:childTnLst>
                                </p:cTn>
                              </p:par>
                              <p:par>
                                <p:cTn id="145" presetID="53" presetClass="entr" presetSubtype="16" fill="hold" grpId="0" nodeType="withEffect" decel="100000">
                                  <p:stCondLst>
                                    <p:cond delay="150"/>
                                  </p:stCondLst>
                                  <p:childTnLst>
                                    <p:set>
                                      <p:cBhvr>
                                        <p:cTn id="141" dur="1" fill="hold">
                                          <p:stCondLst>
                                            <p:cond delay="0"/>
                                          </p:stCondLst>
                                        </p:cTn>
                                        <p:tgtEl>
                                          <p:spTgt spid="33"/>
                                        </p:tgtEl>
                                        <p:attrNameLst>
                                          <p:attrName>style.visibility</p:attrName>
                                        </p:attrNameLst>
                                      </p:cBhvr>
                                      <p:to>
                                        <p:strVal val="visible"/>
                                      </p:to>
                                    </p:set>
                                    <p:anim calcmode="lin" valueType="num">
                                      <p:cBhvr>
                                        <p:cTn id="142" dur="300" fill="hold"/>
                                        <p:tgtEl>
                                          <p:spTgt spid="33"/>
                                        </p:tgtEl>
                                        <p:attrNameLst>
                                          <p:attrName>ppt_w</p:attrName>
                                        </p:attrNameLst>
                                      </p:cBhvr>
                                      <p:tavLst>
                                        <p:tav tm="0">
                                          <p:val>
                                            <p:strVal val="#ppt_w*0.70"/>
                                          </p:val>
                                        </p:tav>
                                        <p:tav tm="100000">
                                          <p:val>
                                            <p:strVal val="#ppt_w"/>
                                          </p:val>
                                        </p:tav>
                                      </p:tavLst>
                                    </p:anim>
                                    <p:anim calcmode="lin" valueType="num">
                                      <p:cBhvr>
                                        <p:cTn id="143" dur="300" fill="hold"/>
                                        <p:tgtEl>
                                          <p:spTgt spid="33"/>
                                        </p:tgtEl>
                                        <p:attrNameLst>
                                          <p:attrName>ppt_h</p:attrName>
                                        </p:attrNameLst>
                                      </p:cBhvr>
                                      <p:tavLst>
                                        <p:tav tm="0">
                                          <p:val>
                                            <p:strVal val="#ppt_h*0.70"/>
                                          </p:val>
                                        </p:tav>
                                        <p:tav tm="100000">
                                          <p:val>
                                            <p:strVal val="#ppt_h"/>
                                          </p:val>
                                        </p:tav>
                                      </p:tavLst>
                                    </p:anim>
                                    <p:animEffect transition="in" filter="fade">
                                      <p:cBhvr>
                                        <p:cTn id="144" dur="300"/>
                                        <p:tgtEl>
                                          <p:spTgt spid="33"/>
                                        </p:tgtEl>
                                      </p:cBhvr>
                                    </p:animEffect>
                                  </p:childTnLst>
                                </p:cTn>
                              </p:par>
                              <p:par>
                                <p:cTn id="150" presetID="53" presetClass="entr" presetSubtype="16" fill="hold" grpId="0" nodeType="withEffect" decel="100000">
                                  <p:stCondLst>
                                    <p:cond delay="150"/>
                                  </p:stCondLst>
                                  <p:childTnLst>
                                    <p:set>
                                      <p:cBhvr>
                                        <p:cTn id="146" dur="1" fill="hold">
                                          <p:stCondLst>
                                            <p:cond delay="0"/>
                                          </p:stCondLst>
                                        </p:cTn>
                                        <p:tgtEl>
                                          <p:spTgt spid="34"/>
                                        </p:tgtEl>
                                        <p:attrNameLst>
                                          <p:attrName>style.visibility</p:attrName>
                                        </p:attrNameLst>
                                      </p:cBhvr>
                                      <p:to>
                                        <p:strVal val="visible"/>
                                      </p:to>
                                    </p:set>
                                    <p:anim calcmode="lin" valueType="num">
                                      <p:cBhvr>
                                        <p:cTn id="147" dur="300" fill="hold"/>
                                        <p:tgtEl>
                                          <p:spTgt spid="34"/>
                                        </p:tgtEl>
                                        <p:attrNameLst>
                                          <p:attrName>ppt_w</p:attrName>
                                        </p:attrNameLst>
                                      </p:cBhvr>
                                      <p:tavLst>
                                        <p:tav tm="0">
                                          <p:val>
                                            <p:strVal val="#ppt_w*0.70"/>
                                          </p:val>
                                        </p:tav>
                                        <p:tav tm="100000">
                                          <p:val>
                                            <p:strVal val="#ppt_w"/>
                                          </p:val>
                                        </p:tav>
                                      </p:tavLst>
                                    </p:anim>
                                    <p:anim calcmode="lin" valueType="num">
                                      <p:cBhvr>
                                        <p:cTn id="148" dur="300" fill="hold"/>
                                        <p:tgtEl>
                                          <p:spTgt spid="34"/>
                                        </p:tgtEl>
                                        <p:attrNameLst>
                                          <p:attrName>ppt_h</p:attrName>
                                        </p:attrNameLst>
                                      </p:cBhvr>
                                      <p:tavLst>
                                        <p:tav tm="0">
                                          <p:val>
                                            <p:strVal val="#ppt_h*0.70"/>
                                          </p:val>
                                        </p:tav>
                                        <p:tav tm="100000">
                                          <p:val>
                                            <p:strVal val="#ppt_h"/>
                                          </p:val>
                                        </p:tav>
                                      </p:tavLst>
                                    </p:anim>
                                    <p:animEffect transition="in" filter="fade">
                                      <p:cBhvr>
                                        <p:cTn id="149" dur="300"/>
                                        <p:tgtEl>
                                          <p:spTgt spid="34"/>
                                        </p:tgtEl>
                                      </p:cBhvr>
                                    </p:animEffect>
                                  </p:childTnLst>
                                </p:cTn>
                              </p:par>
                              <p:par>
                                <p:cTn id="155" presetID="53" presetClass="entr" presetSubtype="16" fill="hold" grpId="0" nodeType="withEffect" decel="100000">
                                  <p:stCondLst>
                                    <p:cond delay="220"/>
                                  </p:stCondLst>
                                  <p:childTnLst>
                                    <p:set>
                                      <p:cBhvr>
                                        <p:cTn id="151" dur="1" fill="hold">
                                          <p:stCondLst>
                                            <p:cond delay="0"/>
                                          </p:stCondLst>
                                        </p:cTn>
                                        <p:tgtEl>
                                          <p:spTgt spid="35"/>
                                        </p:tgtEl>
                                        <p:attrNameLst>
                                          <p:attrName>style.visibility</p:attrName>
                                        </p:attrNameLst>
                                      </p:cBhvr>
                                      <p:to>
                                        <p:strVal val="visible"/>
                                      </p:to>
                                    </p:set>
                                    <p:anim calcmode="lin" valueType="num">
                                      <p:cBhvr>
                                        <p:cTn id="152" dur="300" fill="hold"/>
                                        <p:tgtEl>
                                          <p:spTgt spid="35"/>
                                        </p:tgtEl>
                                        <p:attrNameLst>
                                          <p:attrName>ppt_w</p:attrName>
                                        </p:attrNameLst>
                                      </p:cBhvr>
                                      <p:tavLst>
                                        <p:tav tm="0">
                                          <p:val>
                                            <p:strVal val="#ppt_w*0.70"/>
                                          </p:val>
                                        </p:tav>
                                        <p:tav tm="100000">
                                          <p:val>
                                            <p:strVal val="#ppt_w"/>
                                          </p:val>
                                        </p:tav>
                                      </p:tavLst>
                                    </p:anim>
                                    <p:anim calcmode="lin" valueType="num">
                                      <p:cBhvr>
                                        <p:cTn id="153" dur="300" fill="hold"/>
                                        <p:tgtEl>
                                          <p:spTgt spid="35"/>
                                        </p:tgtEl>
                                        <p:attrNameLst>
                                          <p:attrName>ppt_h</p:attrName>
                                        </p:attrNameLst>
                                      </p:cBhvr>
                                      <p:tavLst>
                                        <p:tav tm="0">
                                          <p:val>
                                            <p:strVal val="#ppt_h*0.70"/>
                                          </p:val>
                                        </p:tav>
                                        <p:tav tm="100000">
                                          <p:val>
                                            <p:strVal val="#ppt_h"/>
                                          </p:val>
                                        </p:tav>
                                      </p:tavLst>
                                    </p:anim>
                                    <p:animEffect transition="in" filter="fade">
                                      <p:cBhvr>
                                        <p:cTn id="154" dur="300"/>
                                        <p:tgtEl>
                                          <p:spTgt spid="35"/>
                                        </p:tgtEl>
                                      </p:cBhvr>
                                    </p:animEffect>
                                  </p:childTnLst>
                                </p:cTn>
                              </p:par>
                              <p:par>
                                <p:cTn id="160" presetID="53" presetClass="entr" presetSubtype="16" fill="hold" grpId="0" nodeType="withEffect" decel="100000">
                                  <p:stCondLst>
                                    <p:cond delay="220"/>
                                  </p:stCondLst>
                                  <p:childTnLst>
                                    <p:set>
                                      <p:cBhvr>
                                        <p:cTn id="156" dur="1" fill="hold">
                                          <p:stCondLst>
                                            <p:cond delay="0"/>
                                          </p:stCondLst>
                                        </p:cTn>
                                        <p:tgtEl>
                                          <p:spTgt spid="36"/>
                                        </p:tgtEl>
                                        <p:attrNameLst>
                                          <p:attrName>style.visibility</p:attrName>
                                        </p:attrNameLst>
                                      </p:cBhvr>
                                      <p:to>
                                        <p:strVal val="visible"/>
                                      </p:to>
                                    </p:set>
                                    <p:anim calcmode="lin" valueType="num">
                                      <p:cBhvr>
                                        <p:cTn id="157" dur="300" fill="hold"/>
                                        <p:tgtEl>
                                          <p:spTgt spid="36"/>
                                        </p:tgtEl>
                                        <p:attrNameLst>
                                          <p:attrName>ppt_w</p:attrName>
                                        </p:attrNameLst>
                                      </p:cBhvr>
                                      <p:tavLst>
                                        <p:tav tm="0">
                                          <p:val>
                                            <p:strVal val="#ppt_w*0.70"/>
                                          </p:val>
                                        </p:tav>
                                        <p:tav tm="100000">
                                          <p:val>
                                            <p:strVal val="#ppt_w"/>
                                          </p:val>
                                        </p:tav>
                                      </p:tavLst>
                                    </p:anim>
                                    <p:anim calcmode="lin" valueType="num">
                                      <p:cBhvr>
                                        <p:cTn id="158" dur="300" fill="hold"/>
                                        <p:tgtEl>
                                          <p:spTgt spid="36"/>
                                        </p:tgtEl>
                                        <p:attrNameLst>
                                          <p:attrName>ppt_h</p:attrName>
                                        </p:attrNameLst>
                                      </p:cBhvr>
                                      <p:tavLst>
                                        <p:tav tm="0">
                                          <p:val>
                                            <p:strVal val="#ppt_h*0.70"/>
                                          </p:val>
                                        </p:tav>
                                        <p:tav tm="100000">
                                          <p:val>
                                            <p:strVal val="#ppt_h"/>
                                          </p:val>
                                        </p:tav>
                                      </p:tavLst>
                                    </p:anim>
                                    <p:animEffect transition="in" filter="fade">
                                      <p:cBhvr>
                                        <p:cTn id="159" dur="300"/>
                                        <p:tgtEl>
                                          <p:spTgt spid="36"/>
                                        </p:tgtEl>
                                      </p:cBhvr>
                                    </p:animEffect>
                                  </p:childTnLst>
                                </p:cTn>
                              </p:par>
                              <p:par>
                                <p:cTn id="165" presetID="53" presetClass="entr" presetSubtype="16" fill="hold" grpId="0" nodeType="withEffect" decel="100000">
                                  <p:stCondLst>
                                    <p:cond delay="220"/>
                                  </p:stCondLst>
                                  <p:childTnLst>
                                    <p:set>
                                      <p:cBhvr>
                                        <p:cTn id="161" dur="1" fill="hold">
                                          <p:stCondLst>
                                            <p:cond delay="0"/>
                                          </p:stCondLst>
                                        </p:cTn>
                                        <p:tgtEl>
                                          <p:spTgt spid="37"/>
                                        </p:tgtEl>
                                        <p:attrNameLst>
                                          <p:attrName>style.visibility</p:attrName>
                                        </p:attrNameLst>
                                      </p:cBhvr>
                                      <p:to>
                                        <p:strVal val="visible"/>
                                      </p:to>
                                    </p:set>
                                    <p:anim calcmode="lin" valueType="num">
                                      <p:cBhvr>
                                        <p:cTn id="162" dur="300" fill="hold"/>
                                        <p:tgtEl>
                                          <p:spTgt spid="37"/>
                                        </p:tgtEl>
                                        <p:attrNameLst>
                                          <p:attrName>ppt_w</p:attrName>
                                        </p:attrNameLst>
                                      </p:cBhvr>
                                      <p:tavLst>
                                        <p:tav tm="0">
                                          <p:val>
                                            <p:strVal val="#ppt_w*0.70"/>
                                          </p:val>
                                        </p:tav>
                                        <p:tav tm="100000">
                                          <p:val>
                                            <p:strVal val="#ppt_w"/>
                                          </p:val>
                                        </p:tav>
                                      </p:tavLst>
                                    </p:anim>
                                    <p:anim calcmode="lin" valueType="num">
                                      <p:cBhvr>
                                        <p:cTn id="163" dur="300" fill="hold"/>
                                        <p:tgtEl>
                                          <p:spTgt spid="37"/>
                                        </p:tgtEl>
                                        <p:attrNameLst>
                                          <p:attrName>ppt_h</p:attrName>
                                        </p:attrNameLst>
                                      </p:cBhvr>
                                      <p:tavLst>
                                        <p:tav tm="0">
                                          <p:val>
                                            <p:strVal val="#ppt_h*0.70"/>
                                          </p:val>
                                        </p:tav>
                                        <p:tav tm="100000">
                                          <p:val>
                                            <p:strVal val="#ppt_h"/>
                                          </p:val>
                                        </p:tav>
                                      </p:tavLst>
                                    </p:anim>
                                    <p:animEffect transition="in" filter="fade">
                                      <p:cBhvr>
                                        <p:cTn id="164" dur="300"/>
                                        <p:tgtEl>
                                          <p:spTgt spid="37"/>
                                        </p:tgtEl>
                                      </p:cBhvr>
                                    </p:animEffect>
                                  </p:childTnLst>
                                </p:cTn>
                              </p:par>
                              <p:par>
                                <p:cTn id="170" presetID="53" presetClass="entr" presetSubtype="16" fill="hold" grpId="0" nodeType="withEffect" decel="100000">
                                  <p:stCondLst>
                                    <p:cond delay="290"/>
                                  </p:stCondLst>
                                  <p:childTnLst>
                                    <p:set>
                                      <p:cBhvr>
                                        <p:cTn id="166" dur="1" fill="hold">
                                          <p:stCondLst>
                                            <p:cond delay="0"/>
                                          </p:stCondLst>
                                        </p:cTn>
                                        <p:tgtEl>
                                          <p:spTgt spid="38"/>
                                        </p:tgtEl>
                                        <p:attrNameLst>
                                          <p:attrName>style.visibility</p:attrName>
                                        </p:attrNameLst>
                                      </p:cBhvr>
                                      <p:to>
                                        <p:strVal val="visible"/>
                                      </p:to>
                                    </p:set>
                                    <p:anim calcmode="lin" valueType="num">
                                      <p:cBhvr>
                                        <p:cTn id="167" dur="300" fill="hold"/>
                                        <p:tgtEl>
                                          <p:spTgt spid="38"/>
                                        </p:tgtEl>
                                        <p:attrNameLst>
                                          <p:attrName>ppt_w</p:attrName>
                                        </p:attrNameLst>
                                      </p:cBhvr>
                                      <p:tavLst>
                                        <p:tav tm="0">
                                          <p:val>
                                            <p:strVal val="#ppt_w*0.70"/>
                                          </p:val>
                                        </p:tav>
                                        <p:tav tm="100000">
                                          <p:val>
                                            <p:strVal val="#ppt_w"/>
                                          </p:val>
                                        </p:tav>
                                      </p:tavLst>
                                    </p:anim>
                                    <p:anim calcmode="lin" valueType="num">
                                      <p:cBhvr>
                                        <p:cTn id="168" dur="300" fill="hold"/>
                                        <p:tgtEl>
                                          <p:spTgt spid="38"/>
                                        </p:tgtEl>
                                        <p:attrNameLst>
                                          <p:attrName>ppt_h</p:attrName>
                                        </p:attrNameLst>
                                      </p:cBhvr>
                                      <p:tavLst>
                                        <p:tav tm="0">
                                          <p:val>
                                            <p:strVal val="#ppt_h*0.70"/>
                                          </p:val>
                                        </p:tav>
                                        <p:tav tm="100000">
                                          <p:val>
                                            <p:strVal val="#ppt_h"/>
                                          </p:val>
                                        </p:tav>
                                      </p:tavLst>
                                    </p:anim>
                                    <p:animEffect transition="in" filter="fade">
                                      <p:cBhvr>
                                        <p:cTn id="169" dur="300"/>
                                        <p:tgtEl>
                                          <p:spTgt spid="38"/>
                                        </p:tgtEl>
                                      </p:cBhvr>
                                    </p:animEffect>
                                  </p:childTnLst>
                                </p:cTn>
                              </p:par>
                              <p:par>
                                <p:cTn id="175" presetID="53" presetClass="entr" presetSubtype="16" fill="hold" grpId="0" nodeType="withEffect" decel="100000">
                                  <p:stCondLst>
                                    <p:cond delay="290"/>
                                  </p:stCondLst>
                                  <p:childTnLst>
                                    <p:set>
                                      <p:cBhvr>
                                        <p:cTn id="171" dur="1" fill="hold">
                                          <p:stCondLst>
                                            <p:cond delay="0"/>
                                          </p:stCondLst>
                                        </p:cTn>
                                        <p:tgtEl>
                                          <p:spTgt spid="39"/>
                                        </p:tgtEl>
                                        <p:attrNameLst>
                                          <p:attrName>style.visibility</p:attrName>
                                        </p:attrNameLst>
                                      </p:cBhvr>
                                      <p:to>
                                        <p:strVal val="visible"/>
                                      </p:to>
                                    </p:set>
                                    <p:anim calcmode="lin" valueType="num">
                                      <p:cBhvr>
                                        <p:cTn id="172" dur="300" fill="hold"/>
                                        <p:tgtEl>
                                          <p:spTgt spid="39"/>
                                        </p:tgtEl>
                                        <p:attrNameLst>
                                          <p:attrName>ppt_w</p:attrName>
                                        </p:attrNameLst>
                                      </p:cBhvr>
                                      <p:tavLst>
                                        <p:tav tm="0">
                                          <p:val>
                                            <p:strVal val="#ppt_w*0.70"/>
                                          </p:val>
                                        </p:tav>
                                        <p:tav tm="100000">
                                          <p:val>
                                            <p:strVal val="#ppt_w"/>
                                          </p:val>
                                        </p:tav>
                                      </p:tavLst>
                                    </p:anim>
                                    <p:anim calcmode="lin" valueType="num">
                                      <p:cBhvr>
                                        <p:cTn id="173" dur="300" fill="hold"/>
                                        <p:tgtEl>
                                          <p:spTgt spid="39"/>
                                        </p:tgtEl>
                                        <p:attrNameLst>
                                          <p:attrName>ppt_h</p:attrName>
                                        </p:attrNameLst>
                                      </p:cBhvr>
                                      <p:tavLst>
                                        <p:tav tm="0">
                                          <p:val>
                                            <p:strVal val="#ppt_h*0.70"/>
                                          </p:val>
                                        </p:tav>
                                        <p:tav tm="100000">
                                          <p:val>
                                            <p:strVal val="#ppt_h"/>
                                          </p:val>
                                        </p:tav>
                                      </p:tavLst>
                                    </p:anim>
                                    <p:animEffect transition="in" filter="fade">
                                      <p:cBhvr>
                                        <p:cTn id="174" dur="300"/>
                                        <p:tgtEl>
                                          <p:spTgt spid="39"/>
                                        </p:tgtEl>
                                      </p:cBhvr>
                                    </p:animEffect>
                                  </p:childTnLst>
                                </p:cTn>
                              </p:par>
                              <p:par>
                                <p:cTn id="180" presetID="53" presetClass="entr" presetSubtype="16" fill="hold" grpId="0" nodeType="withEffect" decel="100000">
                                  <p:stCondLst>
                                    <p:cond delay="360"/>
                                  </p:stCondLst>
                                  <p:childTnLst>
                                    <p:set>
                                      <p:cBhvr>
                                        <p:cTn id="176" dur="1" fill="hold">
                                          <p:stCondLst>
                                            <p:cond delay="0"/>
                                          </p:stCondLst>
                                        </p:cTn>
                                        <p:tgtEl>
                                          <p:spTgt spid="40"/>
                                        </p:tgtEl>
                                        <p:attrNameLst>
                                          <p:attrName>style.visibility</p:attrName>
                                        </p:attrNameLst>
                                      </p:cBhvr>
                                      <p:to>
                                        <p:strVal val="visible"/>
                                      </p:to>
                                    </p:set>
                                    <p:anim calcmode="lin" valueType="num">
                                      <p:cBhvr>
                                        <p:cTn id="177" dur="300" fill="hold"/>
                                        <p:tgtEl>
                                          <p:spTgt spid="40"/>
                                        </p:tgtEl>
                                        <p:attrNameLst>
                                          <p:attrName>ppt_w</p:attrName>
                                        </p:attrNameLst>
                                      </p:cBhvr>
                                      <p:tavLst>
                                        <p:tav tm="0">
                                          <p:val>
                                            <p:strVal val="#ppt_w*0.70"/>
                                          </p:val>
                                        </p:tav>
                                        <p:tav tm="100000">
                                          <p:val>
                                            <p:strVal val="#ppt_w"/>
                                          </p:val>
                                        </p:tav>
                                      </p:tavLst>
                                    </p:anim>
                                    <p:anim calcmode="lin" valueType="num">
                                      <p:cBhvr>
                                        <p:cTn id="178" dur="300" fill="hold"/>
                                        <p:tgtEl>
                                          <p:spTgt spid="40"/>
                                        </p:tgtEl>
                                        <p:attrNameLst>
                                          <p:attrName>ppt_h</p:attrName>
                                        </p:attrNameLst>
                                      </p:cBhvr>
                                      <p:tavLst>
                                        <p:tav tm="0">
                                          <p:val>
                                            <p:strVal val="#ppt_h*0.70"/>
                                          </p:val>
                                        </p:tav>
                                        <p:tav tm="100000">
                                          <p:val>
                                            <p:strVal val="#ppt_h"/>
                                          </p:val>
                                        </p:tav>
                                      </p:tavLst>
                                    </p:anim>
                                    <p:animEffect transition="in" filter="fade">
                                      <p:cBhvr>
                                        <p:cTn id="179" dur="300"/>
                                        <p:tgtEl>
                                          <p:spTgt spid="40"/>
                                        </p:tgtEl>
                                      </p:cBhvr>
                                    </p:animEffect>
                                  </p:childTnLst>
                                </p:cTn>
                              </p:par>
                              <p:par>
                                <p:cTn id="185" presetID="53" presetClass="entr" presetSubtype="16" fill="hold" grpId="0" nodeType="withEffect" decel="100000">
                                  <p:stCondLst>
                                    <p:cond delay="360"/>
                                  </p:stCondLst>
                                  <p:childTnLst>
                                    <p:set>
                                      <p:cBhvr>
                                        <p:cTn id="181" dur="1" fill="hold">
                                          <p:stCondLst>
                                            <p:cond delay="0"/>
                                          </p:stCondLst>
                                        </p:cTn>
                                        <p:tgtEl>
                                          <p:spTgt spid="41"/>
                                        </p:tgtEl>
                                        <p:attrNameLst>
                                          <p:attrName>style.visibility</p:attrName>
                                        </p:attrNameLst>
                                      </p:cBhvr>
                                      <p:to>
                                        <p:strVal val="visible"/>
                                      </p:to>
                                    </p:set>
                                    <p:anim calcmode="lin" valueType="num">
                                      <p:cBhvr>
                                        <p:cTn id="182" dur="300" fill="hold"/>
                                        <p:tgtEl>
                                          <p:spTgt spid="41"/>
                                        </p:tgtEl>
                                        <p:attrNameLst>
                                          <p:attrName>ppt_w</p:attrName>
                                        </p:attrNameLst>
                                      </p:cBhvr>
                                      <p:tavLst>
                                        <p:tav tm="0">
                                          <p:val>
                                            <p:strVal val="#ppt_w*0.70"/>
                                          </p:val>
                                        </p:tav>
                                        <p:tav tm="100000">
                                          <p:val>
                                            <p:strVal val="#ppt_w"/>
                                          </p:val>
                                        </p:tav>
                                      </p:tavLst>
                                    </p:anim>
                                    <p:anim calcmode="lin" valueType="num">
                                      <p:cBhvr>
                                        <p:cTn id="183" dur="300" fill="hold"/>
                                        <p:tgtEl>
                                          <p:spTgt spid="41"/>
                                        </p:tgtEl>
                                        <p:attrNameLst>
                                          <p:attrName>ppt_h</p:attrName>
                                        </p:attrNameLst>
                                      </p:cBhvr>
                                      <p:tavLst>
                                        <p:tav tm="0">
                                          <p:val>
                                            <p:strVal val="#ppt_h*0.70"/>
                                          </p:val>
                                        </p:tav>
                                        <p:tav tm="100000">
                                          <p:val>
                                            <p:strVal val="#ppt_h"/>
                                          </p:val>
                                        </p:tav>
                                      </p:tavLst>
                                    </p:anim>
                                    <p:animEffect transition="in" filter="fade">
                                      <p:cBhvr>
                                        <p:cTn id="184" dur="300"/>
                                        <p:tgtEl>
                                          <p:spTgt spid="41"/>
                                        </p:tgtEl>
                                      </p:cBhvr>
                                    </p:animEffect>
                                  </p:childTnLst>
                                </p:cTn>
                              </p:par>
                              <p:par>
                                <p:cTn id="190" presetID="53" presetClass="entr" presetSubtype="16" fill="hold" grpId="0" nodeType="withEffect" decel="100000">
                                  <p:stCondLst>
                                    <p:cond delay="360"/>
                                  </p:stCondLst>
                                  <p:childTnLst>
                                    <p:set>
                                      <p:cBhvr>
                                        <p:cTn id="186" dur="1" fill="hold">
                                          <p:stCondLst>
                                            <p:cond delay="0"/>
                                          </p:stCondLst>
                                        </p:cTn>
                                        <p:tgtEl>
                                          <p:spTgt spid="42"/>
                                        </p:tgtEl>
                                        <p:attrNameLst>
                                          <p:attrName>style.visibility</p:attrName>
                                        </p:attrNameLst>
                                      </p:cBhvr>
                                      <p:to>
                                        <p:strVal val="visible"/>
                                      </p:to>
                                    </p:set>
                                    <p:anim calcmode="lin" valueType="num">
                                      <p:cBhvr>
                                        <p:cTn id="187" dur="300" fill="hold"/>
                                        <p:tgtEl>
                                          <p:spTgt spid="42"/>
                                        </p:tgtEl>
                                        <p:attrNameLst>
                                          <p:attrName>ppt_w</p:attrName>
                                        </p:attrNameLst>
                                      </p:cBhvr>
                                      <p:tavLst>
                                        <p:tav tm="0">
                                          <p:val>
                                            <p:strVal val="#ppt_w*0.70"/>
                                          </p:val>
                                        </p:tav>
                                        <p:tav tm="100000">
                                          <p:val>
                                            <p:strVal val="#ppt_w"/>
                                          </p:val>
                                        </p:tav>
                                      </p:tavLst>
                                    </p:anim>
                                    <p:anim calcmode="lin" valueType="num">
                                      <p:cBhvr>
                                        <p:cTn id="188" dur="300" fill="hold"/>
                                        <p:tgtEl>
                                          <p:spTgt spid="42"/>
                                        </p:tgtEl>
                                        <p:attrNameLst>
                                          <p:attrName>ppt_h</p:attrName>
                                        </p:attrNameLst>
                                      </p:cBhvr>
                                      <p:tavLst>
                                        <p:tav tm="0">
                                          <p:val>
                                            <p:strVal val="#ppt_h*0.70"/>
                                          </p:val>
                                        </p:tav>
                                        <p:tav tm="100000">
                                          <p:val>
                                            <p:strVal val="#ppt_h"/>
                                          </p:val>
                                        </p:tav>
                                      </p:tavLst>
                                    </p:anim>
                                    <p:animEffect transition="in" filter="fade">
                                      <p:cBhvr>
                                        <p:cTn id="189" dur="300"/>
                                        <p:tgtEl>
                                          <p:spTgt spid="42"/>
                                        </p:tgtEl>
                                      </p:cBhvr>
                                    </p:animEffect>
                                  </p:childTnLst>
                                </p:cTn>
                              </p:par>
                              <p:par>
                                <p:cTn id="195" presetID="53" presetClass="entr" presetSubtype="16" fill="hold" grpId="0" nodeType="withEffect" decel="100000">
                                  <p:stCondLst>
                                    <p:cond delay="430"/>
                                  </p:stCondLst>
                                  <p:childTnLst>
                                    <p:set>
                                      <p:cBhvr>
                                        <p:cTn id="191" dur="1" fill="hold">
                                          <p:stCondLst>
                                            <p:cond delay="0"/>
                                          </p:stCondLst>
                                        </p:cTn>
                                        <p:tgtEl>
                                          <p:spTgt spid="43"/>
                                        </p:tgtEl>
                                        <p:attrNameLst>
                                          <p:attrName>style.visibility</p:attrName>
                                        </p:attrNameLst>
                                      </p:cBhvr>
                                      <p:to>
                                        <p:strVal val="visible"/>
                                      </p:to>
                                    </p:set>
                                    <p:anim calcmode="lin" valueType="num">
                                      <p:cBhvr>
                                        <p:cTn id="192" dur="300" fill="hold"/>
                                        <p:tgtEl>
                                          <p:spTgt spid="43"/>
                                        </p:tgtEl>
                                        <p:attrNameLst>
                                          <p:attrName>ppt_w</p:attrName>
                                        </p:attrNameLst>
                                      </p:cBhvr>
                                      <p:tavLst>
                                        <p:tav tm="0">
                                          <p:val>
                                            <p:strVal val="#ppt_w*0.70"/>
                                          </p:val>
                                        </p:tav>
                                        <p:tav tm="100000">
                                          <p:val>
                                            <p:strVal val="#ppt_w"/>
                                          </p:val>
                                        </p:tav>
                                      </p:tavLst>
                                    </p:anim>
                                    <p:anim calcmode="lin" valueType="num">
                                      <p:cBhvr>
                                        <p:cTn id="193" dur="300" fill="hold"/>
                                        <p:tgtEl>
                                          <p:spTgt spid="43"/>
                                        </p:tgtEl>
                                        <p:attrNameLst>
                                          <p:attrName>ppt_h</p:attrName>
                                        </p:attrNameLst>
                                      </p:cBhvr>
                                      <p:tavLst>
                                        <p:tav tm="0">
                                          <p:val>
                                            <p:strVal val="#ppt_h*0.70"/>
                                          </p:val>
                                        </p:tav>
                                        <p:tav tm="100000">
                                          <p:val>
                                            <p:strVal val="#ppt_h"/>
                                          </p:val>
                                        </p:tav>
                                      </p:tavLst>
                                    </p:anim>
                                    <p:animEffect transition="in" filter="fade">
                                      <p:cBhvr>
                                        <p:cTn id="194" dur="300"/>
                                        <p:tgtEl>
                                          <p:spTgt spid="43"/>
                                        </p:tgtEl>
                                      </p:cBhvr>
                                    </p:animEffect>
                                  </p:childTnLst>
                                </p:cTn>
                              </p:par>
                              <p:par>
                                <p:cTn id="200" presetID="53" presetClass="entr" presetSubtype="16" fill="hold" grpId="0" nodeType="withEffect" decel="100000">
                                  <p:stCondLst>
                                    <p:cond delay="430"/>
                                  </p:stCondLst>
                                  <p:childTnLst>
                                    <p:set>
                                      <p:cBhvr>
                                        <p:cTn id="196" dur="1" fill="hold">
                                          <p:stCondLst>
                                            <p:cond delay="0"/>
                                          </p:stCondLst>
                                        </p:cTn>
                                        <p:tgtEl>
                                          <p:spTgt spid="44"/>
                                        </p:tgtEl>
                                        <p:attrNameLst>
                                          <p:attrName>style.visibility</p:attrName>
                                        </p:attrNameLst>
                                      </p:cBhvr>
                                      <p:to>
                                        <p:strVal val="visible"/>
                                      </p:to>
                                    </p:set>
                                    <p:anim calcmode="lin" valueType="num">
                                      <p:cBhvr>
                                        <p:cTn id="197" dur="300" fill="hold"/>
                                        <p:tgtEl>
                                          <p:spTgt spid="44"/>
                                        </p:tgtEl>
                                        <p:attrNameLst>
                                          <p:attrName>ppt_w</p:attrName>
                                        </p:attrNameLst>
                                      </p:cBhvr>
                                      <p:tavLst>
                                        <p:tav tm="0">
                                          <p:val>
                                            <p:strVal val="#ppt_w*0.70"/>
                                          </p:val>
                                        </p:tav>
                                        <p:tav tm="100000">
                                          <p:val>
                                            <p:strVal val="#ppt_w"/>
                                          </p:val>
                                        </p:tav>
                                      </p:tavLst>
                                    </p:anim>
                                    <p:anim calcmode="lin" valueType="num">
                                      <p:cBhvr>
                                        <p:cTn id="198" dur="300" fill="hold"/>
                                        <p:tgtEl>
                                          <p:spTgt spid="44"/>
                                        </p:tgtEl>
                                        <p:attrNameLst>
                                          <p:attrName>ppt_h</p:attrName>
                                        </p:attrNameLst>
                                      </p:cBhvr>
                                      <p:tavLst>
                                        <p:tav tm="0">
                                          <p:val>
                                            <p:strVal val="#ppt_h*0.70"/>
                                          </p:val>
                                        </p:tav>
                                        <p:tav tm="100000">
                                          <p:val>
                                            <p:strVal val="#ppt_h"/>
                                          </p:val>
                                        </p:tav>
                                      </p:tavLst>
                                    </p:anim>
                                    <p:animEffect transition="in" filter="fade">
                                      <p:cBhvr>
                                        <p:cTn id="199" dur="300"/>
                                        <p:tgtEl>
                                          <p:spTgt spid="44"/>
                                        </p:tgtEl>
                                      </p:cBhvr>
                                    </p:animEffect>
                                  </p:childTnLst>
                                </p:cTn>
                              </p:par>
                              <p:par>
                                <p:cTn id="205" presetID="53" presetClass="entr" presetSubtype="16" fill="hold" grpId="0" nodeType="withEffect" decel="100000">
                                  <p:stCondLst>
                                    <p:cond delay="430"/>
                                  </p:stCondLst>
                                  <p:childTnLst>
                                    <p:set>
                                      <p:cBhvr>
                                        <p:cTn id="201" dur="1" fill="hold">
                                          <p:stCondLst>
                                            <p:cond delay="0"/>
                                          </p:stCondLst>
                                        </p:cTn>
                                        <p:tgtEl>
                                          <p:spTgt spid="45"/>
                                        </p:tgtEl>
                                        <p:attrNameLst>
                                          <p:attrName>style.visibility</p:attrName>
                                        </p:attrNameLst>
                                      </p:cBhvr>
                                      <p:to>
                                        <p:strVal val="visible"/>
                                      </p:to>
                                    </p:set>
                                    <p:anim calcmode="lin" valueType="num">
                                      <p:cBhvr>
                                        <p:cTn id="202" dur="300" fill="hold"/>
                                        <p:tgtEl>
                                          <p:spTgt spid="45"/>
                                        </p:tgtEl>
                                        <p:attrNameLst>
                                          <p:attrName>ppt_w</p:attrName>
                                        </p:attrNameLst>
                                      </p:cBhvr>
                                      <p:tavLst>
                                        <p:tav tm="0">
                                          <p:val>
                                            <p:strVal val="#ppt_w*0.70"/>
                                          </p:val>
                                        </p:tav>
                                        <p:tav tm="100000">
                                          <p:val>
                                            <p:strVal val="#ppt_w"/>
                                          </p:val>
                                        </p:tav>
                                      </p:tavLst>
                                    </p:anim>
                                    <p:anim calcmode="lin" valueType="num">
                                      <p:cBhvr>
                                        <p:cTn id="203" dur="300" fill="hold"/>
                                        <p:tgtEl>
                                          <p:spTgt spid="45"/>
                                        </p:tgtEl>
                                        <p:attrNameLst>
                                          <p:attrName>ppt_h</p:attrName>
                                        </p:attrNameLst>
                                      </p:cBhvr>
                                      <p:tavLst>
                                        <p:tav tm="0">
                                          <p:val>
                                            <p:strVal val="#ppt_h*0.70"/>
                                          </p:val>
                                        </p:tav>
                                        <p:tav tm="100000">
                                          <p:val>
                                            <p:strVal val="#ppt_h"/>
                                          </p:val>
                                        </p:tav>
                                      </p:tavLst>
                                    </p:anim>
                                    <p:animEffect transition="in" filter="fade">
                                      <p:cBhvr>
                                        <p:cTn id="204" dur="300"/>
                                        <p:tgtEl>
                                          <p:spTgt spid="45"/>
                                        </p:tgtEl>
                                      </p:cBhvr>
                                    </p:animEffect>
                                  </p:childTnLst>
                                </p:cTn>
                              </p:par>
                              <p:par>
                                <p:cTn id="210" presetID="53" presetClass="entr" presetSubtype="16" fill="hold" grpId="0" nodeType="withEffect" decel="100000">
                                  <p:stCondLst>
                                    <p:cond delay="500"/>
                                  </p:stCondLst>
                                  <p:childTnLst>
                                    <p:set>
                                      <p:cBhvr>
                                        <p:cTn id="206" dur="1" fill="hold">
                                          <p:stCondLst>
                                            <p:cond delay="0"/>
                                          </p:stCondLst>
                                        </p:cTn>
                                        <p:tgtEl>
                                          <p:spTgt spid="46"/>
                                        </p:tgtEl>
                                        <p:attrNameLst>
                                          <p:attrName>style.visibility</p:attrName>
                                        </p:attrNameLst>
                                      </p:cBhvr>
                                      <p:to>
                                        <p:strVal val="visible"/>
                                      </p:to>
                                    </p:set>
                                    <p:anim calcmode="lin" valueType="num">
                                      <p:cBhvr>
                                        <p:cTn id="207" dur="300" fill="hold"/>
                                        <p:tgtEl>
                                          <p:spTgt spid="46"/>
                                        </p:tgtEl>
                                        <p:attrNameLst>
                                          <p:attrName>ppt_w</p:attrName>
                                        </p:attrNameLst>
                                      </p:cBhvr>
                                      <p:tavLst>
                                        <p:tav tm="0">
                                          <p:val>
                                            <p:strVal val="#ppt_w*0.70"/>
                                          </p:val>
                                        </p:tav>
                                        <p:tav tm="100000">
                                          <p:val>
                                            <p:strVal val="#ppt_w"/>
                                          </p:val>
                                        </p:tav>
                                      </p:tavLst>
                                    </p:anim>
                                    <p:anim calcmode="lin" valueType="num">
                                      <p:cBhvr>
                                        <p:cTn id="208" dur="300" fill="hold"/>
                                        <p:tgtEl>
                                          <p:spTgt spid="46"/>
                                        </p:tgtEl>
                                        <p:attrNameLst>
                                          <p:attrName>ppt_h</p:attrName>
                                        </p:attrNameLst>
                                      </p:cBhvr>
                                      <p:tavLst>
                                        <p:tav tm="0">
                                          <p:val>
                                            <p:strVal val="#ppt_h*0.70"/>
                                          </p:val>
                                        </p:tav>
                                        <p:tav tm="100000">
                                          <p:val>
                                            <p:strVal val="#ppt_h"/>
                                          </p:val>
                                        </p:tav>
                                      </p:tavLst>
                                    </p:anim>
                                    <p:animEffect transition="in" filter="fade">
                                      <p:cBhvr>
                                        <p:cTn id="209" dur="300"/>
                                        <p:tgtEl>
                                          <p:spTgt spid="46"/>
                                        </p:tgtEl>
                                      </p:cBhvr>
                                    </p:animEffect>
                                  </p:childTnLst>
                                </p:cTn>
                              </p:par>
                              <p:par>
                                <p:cTn id="215" presetID="53" presetClass="entr" presetSubtype="16" fill="hold" grpId="0" nodeType="withEffect" decel="100000">
                                  <p:stCondLst>
                                    <p:cond delay="500"/>
                                  </p:stCondLst>
                                  <p:childTnLst>
                                    <p:set>
                                      <p:cBhvr>
                                        <p:cTn id="211" dur="1" fill="hold">
                                          <p:stCondLst>
                                            <p:cond delay="0"/>
                                          </p:stCondLst>
                                        </p:cTn>
                                        <p:tgtEl>
                                          <p:spTgt spid="47"/>
                                        </p:tgtEl>
                                        <p:attrNameLst>
                                          <p:attrName>style.visibility</p:attrName>
                                        </p:attrNameLst>
                                      </p:cBhvr>
                                      <p:to>
                                        <p:strVal val="visible"/>
                                      </p:to>
                                    </p:set>
                                    <p:anim calcmode="lin" valueType="num">
                                      <p:cBhvr>
                                        <p:cTn id="212" dur="300" fill="hold"/>
                                        <p:tgtEl>
                                          <p:spTgt spid="47"/>
                                        </p:tgtEl>
                                        <p:attrNameLst>
                                          <p:attrName>ppt_w</p:attrName>
                                        </p:attrNameLst>
                                      </p:cBhvr>
                                      <p:tavLst>
                                        <p:tav tm="0">
                                          <p:val>
                                            <p:strVal val="#ppt_w*0.70"/>
                                          </p:val>
                                        </p:tav>
                                        <p:tav tm="100000">
                                          <p:val>
                                            <p:strVal val="#ppt_w"/>
                                          </p:val>
                                        </p:tav>
                                      </p:tavLst>
                                    </p:anim>
                                    <p:anim calcmode="lin" valueType="num">
                                      <p:cBhvr>
                                        <p:cTn id="213" dur="300" fill="hold"/>
                                        <p:tgtEl>
                                          <p:spTgt spid="47"/>
                                        </p:tgtEl>
                                        <p:attrNameLst>
                                          <p:attrName>ppt_h</p:attrName>
                                        </p:attrNameLst>
                                      </p:cBhvr>
                                      <p:tavLst>
                                        <p:tav tm="0">
                                          <p:val>
                                            <p:strVal val="#ppt_h*0.70"/>
                                          </p:val>
                                        </p:tav>
                                        <p:tav tm="100000">
                                          <p:val>
                                            <p:strVal val="#ppt_h"/>
                                          </p:val>
                                        </p:tav>
                                      </p:tavLst>
                                    </p:anim>
                                    <p:animEffect transition="in" filter="fade">
                                      <p:cBhvr>
                                        <p:cTn id="214" dur="300"/>
                                        <p:tgtEl>
                                          <p:spTgt spid="47"/>
                                        </p:tgtEl>
                                      </p:cBhvr>
                                    </p:animEffect>
                                  </p:childTnLst>
                                </p:cTn>
                              </p:par>
                              <p:par>
                                <p:cTn id="220" presetID="53" presetClass="entr" presetSubtype="16" fill="hold" grpId="0" nodeType="withEffect" decel="100000">
                                  <p:stCondLst>
                                    <p:cond delay="500"/>
                                  </p:stCondLst>
                                  <p:childTnLst>
                                    <p:set>
                                      <p:cBhvr>
                                        <p:cTn id="216" dur="1" fill="hold">
                                          <p:stCondLst>
                                            <p:cond delay="0"/>
                                          </p:stCondLst>
                                        </p:cTn>
                                        <p:tgtEl>
                                          <p:spTgt spid="48"/>
                                        </p:tgtEl>
                                        <p:attrNameLst>
                                          <p:attrName>style.visibility</p:attrName>
                                        </p:attrNameLst>
                                      </p:cBhvr>
                                      <p:to>
                                        <p:strVal val="visible"/>
                                      </p:to>
                                    </p:set>
                                    <p:anim calcmode="lin" valueType="num">
                                      <p:cBhvr>
                                        <p:cTn id="217" dur="300" fill="hold"/>
                                        <p:tgtEl>
                                          <p:spTgt spid="48"/>
                                        </p:tgtEl>
                                        <p:attrNameLst>
                                          <p:attrName>ppt_w</p:attrName>
                                        </p:attrNameLst>
                                      </p:cBhvr>
                                      <p:tavLst>
                                        <p:tav tm="0">
                                          <p:val>
                                            <p:strVal val="#ppt_w*0.70"/>
                                          </p:val>
                                        </p:tav>
                                        <p:tav tm="100000">
                                          <p:val>
                                            <p:strVal val="#ppt_w"/>
                                          </p:val>
                                        </p:tav>
                                      </p:tavLst>
                                    </p:anim>
                                    <p:anim calcmode="lin" valueType="num">
                                      <p:cBhvr>
                                        <p:cTn id="218" dur="300" fill="hold"/>
                                        <p:tgtEl>
                                          <p:spTgt spid="48"/>
                                        </p:tgtEl>
                                        <p:attrNameLst>
                                          <p:attrName>ppt_h</p:attrName>
                                        </p:attrNameLst>
                                      </p:cBhvr>
                                      <p:tavLst>
                                        <p:tav tm="0">
                                          <p:val>
                                            <p:strVal val="#ppt_h*0.70"/>
                                          </p:val>
                                        </p:tav>
                                        <p:tav tm="100000">
                                          <p:val>
                                            <p:strVal val="#ppt_h"/>
                                          </p:val>
                                        </p:tav>
                                      </p:tavLst>
                                    </p:anim>
                                    <p:animEffect transition="in" filter="fade">
                                      <p:cBhvr>
                                        <p:cTn id="219" dur="300"/>
                                        <p:tgtEl>
                                          <p:spTgt spid="48"/>
                                        </p:tgtEl>
                                      </p:cBhvr>
                                    </p:animEffect>
                                  </p:childTnLst>
                                </p:cTn>
                              </p:par>
                              <p:par>
                                <p:cTn id="225" presetID="53" presetClass="entr" presetSubtype="16" fill="hold" grpId="0" nodeType="withEffect" decel="100000">
                                  <p:stCondLst>
                                    <p:cond delay="570"/>
                                  </p:stCondLst>
                                  <p:childTnLst>
                                    <p:set>
                                      <p:cBhvr>
                                        <p:cTn id="221" dur="1" fill="hold">
                                          <p:stCondLst>
                                            <p:cond delay="0"/>
                                          </p:stCondLst>
                                        </p:cTn>
                                        <p:tgtEl>
                                          <p:spTgt spid="49"/>
                                        </p:tgtEl>
                                        <p:attrNameLst>
                                          <p:attrName>style.visibility</p:attrName>
                                        </p:attrNameLst>
                                      </p:cBhvr>
                                      <p:to>
                                        <p:strVal val="visible"/>
                                      </p:to>
                                    </p:set>
                                    <p:anim calcmode="lin" valueType="num">
                                      <p:cBhvr>
                                        <p:cTn id="222" dur="300" fill="hold"/>
                                        <p:tgtEl>
                                          <p:spTgt spid="49"/>
                                        </p:tgtEl>
                                        <p:attrNameLst>
                                          <p:attrName>ppt_w</p:attrName>
                                        </p:attrNameLst>
                                      </p:cBhvr>
                                      <p:tavLst>
                                        <p:tav tm="0">
                                          <p:val>
                                            <p:strVal val="#ppt_w*0.70"/>
                                          </p:val>
                                        </p:tav>
                                        <p:tav tm="100000">
                                          <p:val>
                                            <p:strVal val="#ppt_w"/>
                                          </p:val>
                                        </p:tav>
                                      </p:tavLst>
                                    </p:anim>
                                    <p:anim calcmode="lin" valueType="num">
                                      <p:cBhvr>
                                        <p:cTn id="223" dur="300" fill="hold"/>
                                        <p:tgtEl>
                                          <p:spTgt spid="49"/>
                                        </p:tgtEl>
                                        <p:attrNameLst>
                                          <p:attrName>ppt_h</p:attrName>
                                        </p:attrNameLst>
                                      </p:cBhvr>
                                      <p:tavLst>
                                        <p:tav tm="0">
                                          <p:val>
                                            <p:strVal val="#ppt_h*0.70"/>
                                          </p:val>
                                        </p:tav>
                                        <p:tav tm="100000">
                                          <p:val>
                                            <p:strVal val="#ppt_h"/>
                                          </p:val>
                                        </p:tav>
                                      </p:tavLst>
                                    </p:anim>
                                    <p:animEffect transition="in" filter="fade">
                                      <p:cBhvr>
                                        <p:cTn id="224" dur="300"/>
                                        <p:tgtEl>
                                          <p:spTgt spid="49"/>
                                        </p:tgtEl>
                                      </p:cBhvr>
                                    </p:animEffect>
                                  </p:childTnLst>
                                </p:cTn>
                              </p:par>
                              <p:par>
                                <p:cTn id="230" presetID="53" presetClass="entr" presetSubtype="16" fill="hold" grpId="0" nodeType="withEffect" decel="100000">
                                  <p:stCondLst>
                                    <p:cond delay="570"/>
                                  </p:stCondLst>
                                  <p:childTnLst>
                                    <p:set>
                                      <p:cBhvr>
                                        <p:cTn id="226" dur="1" fill="hold">
                                          <p:stCondLst>
                                            <p:cond delay="0"/>
                                          </p:stCondLst>
                                        </p:cTn>
                                        <p:tgtEl>
                                          <p:spTgt spid="50"/>
                                        </p:tgtEl>
                                        <p:attrNameLst>
                                          <p:attrName>style.visibility</p:attrName>
                                        </p:attrNameLst>
                                      </p:cBhvr>
                                      <p:to>
                                        <p:strVal val="visible"/>
                                      </p:to>
                                    </p:set>
                                    <p:anim calcmode="lin" valueType="num">
                                      <p:cBhvr>
                                        <p:cTn id="227" dur="300" fill="hold"/>
                                        <p:tgtEl>
                                          <p:spTgt spid="50"/>
                                        </p:tgtEl>
                                        <p:attrNameLst>
                                          <p:attrName>ppt_w</p:attrName>
                                        </p:attrNameLst>
                                      </p:cBhvr>
                                      <p:tavLst>
                                        <p:tav tm="0">
                                          <p:val>
                                            <p:strVal val="#ppt_w*0.70"/>
                                          </p:val>
                                        </p:tav>
                                        <p:tav tm="100000">
                                          <p:val>
                                            <p:strVal val="#ppt_w"/>
                                          </p:val>
                                        </p:tav>
                                      </p:tavLst>
                                    </p:anim>
                                    <p:anim calcmode="lin" valueType="num">
                                      <p:cBhvr>
                                        <p:cTn id="228" dur="300" fill="hold"/>
                                        <p:tgtEl>
                                          <p:spTgt spid="50"/>
                                        </p:tgtEl>
                                        <p:attrNameLst>
                                          <p:attrName>ppt_h</p:attrName>
                                        </p:attrNameLst>
                                      </p:cBhvr>
                                      <p:tavLst>
                                        <p:tav tm="0">
                                          <p:val>
                                            <p:strVal val="#ppt_h*0.70"/>
                                          </p:val>
                                        </p:tav>
                                        <p:tav tm="100000">
                                          <p:val>
                                            <p:strVal val="#ppt_h"/>
                                          </p:val>
                                        </p:tav>
                                      </p:tavLst>
                                    </p:anim>
                                    <p:animEffect transition="in" filter="fade">
                                      <p:cBhvr>
                                        <p:cTn id="229" dur="300"/>
                                        <p:tgtEl>
                                          <p:spTgt spid="50"/>
                                        </p:tgtEl>
                                      </p:cBhvr>
                                    </p:animEffect>
                                  </p:childTnLst>
                                </p:cTn>
                              </p:par>
                              <p:par>
                                <p:cTn id="235" presetID="53" presetClass="entr" presetSubtype="16" fill="hold" grpId="0" nodeType="withEffect" decel="100000">
                                  <p:stCondLst>
                                    <p:cond delay="640"/>
                                  </p:stCondLst>
                                  <p:childTnLst>
                                    <p:set>
                                      <p:cBhvr>
                                        <p:cTn id="231" dur="1" fill="hold">
                                          <p:stCondLst>
                                            <p:cond delay="0"/>
                                          </p:stCondLst>
                                        </p:cTn>
                                        <p:tgtEl>
                                          <p:spTgt spid="51"/>
                                        </p:tgtEl>
                                        <p:attrNameLst>
                                          <p:attrName>style.visibility</p:attrName>
                                        </p:attrNameLst>
                                      </p:cBhvr>
                                      <p:to>
                                        <p:strVal val="visible"/>
                                      </p:to>
                                    </p:set>
                                    <p:anim calcmode="lin" valueType="num">
                                      <p:cBhvr>
                                        <p:cTn id="232" dur="300" fill="hold"/>
                                        <p:tgtEl>
                                          <p:spTgt spid="51"/>
                                        </p:tgtEl>
                                        <p:attrNameLst>
                                          <p:attrName>ppt_w</p:attrName>
                                        </p:attrNameLst>
                                      </p:cBhvr>
                                      <p:tavLst>
                                        <p:tav tm="0">
                                          <p:val>
                                            <p:strVal val="#ppt_w*0.70"/>
                                          </p:val>
                                        </p:tav>
                                        <p:tav tm="100000">
                                          <p:val>
                                            <p:strVal val="#ppt_w"/>
                                          </p:val>
                                        </p:tav>
                                      </p:tavLst>
                                    </p:anim>
                                    <p:anim calcmode="lin" valueType="num">
                                      <p:cBhvr>
                                        <p:cTn id="233" dur="300" fill="hold"/>
                                        <p:tgtEl>
                                          <p:spTgt spid="51"/>
                                        </p:tgtEl>
                                        <p:attrNameLst>
                                          <p:attrName>ppt_h</p:attrName>
                                        </p:attrNameLst>
                                      </p:cBhvr>
                                      <p:tavLst>
                                        <p:tav tm="0">
                                          <p:val>
                                            <p:strVal val="#ppt_h*0.70"/>
                                          </p:val>
                                        </p:tav>
                                        <p:tav tm="100000">
                                          <p:val>
                                            <p:strVal val="#ppt_h"/>
                                          </p:val>
                                        </p:tav>
                                      </p:tavLst>
                                    </p:anim>
                                    <p:animEffect transition="in" filter="fade">
                                      <p:cBhvr>
                                        <p:cTn id="234" dur="300"/>
                                        <p:tgtEl>
                                          <p:spTgt spid="51"/>
                                        </p:tgtEl>
                                      </p:cBhvr>
                                    </p:animEffect>
                                  </p:childTnLst>
                                </p:cTn>
                              </p:par>
                              <p:par>
                                <p:cTn id="240" presetID="53" presetClass="entr" presetSubtype="16" fill="hold" grpId="0" nodeType="withEffect" decel="100000">
                                  <p:stCondLst>
                                    <p:cond delay="640"/>
                                  </p:stCondLst>
                                  <p:childTnLst>
                                    <p:set>
                                      <p:cBhvr>
                                        <p:cTn id="236" dur="1" fill="hold">
                                          <p:stCondLst>
                                            <p:cond delay="0"/>
                                          </p:stCondLst>
                                        </p:cTn>
                                        <p:tgtEl>
                                          <p:spTgt spid="52"/>
                                        </p:tgtEl>
                                        <p:attrNameLst>
                                          <p:attrName>style.visibility</p:attrName>
                                        </p:attrNameLst>
                                      </p:cBhvr>
                                      <p:to>
                                        <p:strVal val="visible"/>
                                      </p:to>
                                    </p:set>
                                    <p:anim calcmode="lin" valueType="num">
                                      <p:cBhvr>
                                        <p:cTn id="237" dur="300" fill="hold"/>
                                        <p:tgtEl>
                                          <p:spTgt spid="52"/>
                                        </p:tgtEl>
                                        <p:attrNameLst>
                                          <p:attrName>ppt_w</p:attrName>
                                        </p:attrNameLst>
                                      </p:cBhvr>
                                      <p:tavLst>
                                        <p:tav tm="0">
                                          <p:val>
                                            <p:strVal val="#ppt_w*0.70"/>
                                          </p:val>
                                        </p:tav>
                                        <p:tav tm="100000">
                                          <p:val>
                                            <p:strVal val="#ppt_w"/>
                                          </p:val>
                                        </p:tav>
                                      </p:tavLst>
                                    </p:anim>
                                    <p:anim calcmode="lin" valueType="num">
                                      <p:cBhvr>
                                        <p:cTn id="238" dur="300" fill="hold"/>
                                        <p:tgtEl>
                                          <p:spTgt spid="52"/>
                                        </p:tgtEl>
                                        <p:attrNameLst>
                                          <p:attrName>ppt_h</p:attrName>
                                        </p:attrNameLst>
                                      </p:cBhvr>
                                      <p:tavLst>
                                        <p:tav tm="0">
                                          <p:val>
                                            <p:strVal val="#ppt_h*0.70"/>
                                          </p:val>
                                        </p:tav>
                                        <p:tav tm="100000">
                                          <p:val>
                                            <p:strVal val="#ppt_h"/>
                                          </p:val>
                                        </p:tav>
                                      </p:tavLst>
                                    </p:anim>
                                    <p:animEffect transition="in" filter="fade">
                                      <p:cBhvr>
                                        <p:cTn id="239" dur="300"/>
                                        <p:tgtEl>
                                          <p:spTgt spid="52"/>
                                        </p:tgtEl>
                                      </p:cBhvr>
                                    </p:animEffect>
                                  </p:childTnLst>
                                </p:cTn>
                              </p:par>
                              <p:par>
                                <p:cTn id="245" presetID="53" presetClass="entr" presetSubtype="16" fill="hold" grpId="0" nodeType="withEffect" decel="100000">
                                  <p:stCondLst>
                                    <p:cond delay="640"/>
                                  </p:stCondLst>
                                  <p:childTnLst>
                                    <p:set>
                                      <p:cBhvr>
                                        <p:cTn id="241" dur="1" fill="hold">
                                          <p:stCondLst>
                                            <p:cond delay="0"/>
                                          </p:stCondLst>
                                        </p:cTn>
                                        <p:tgtEl>
                                          <p:spTgt spid="53"/>
                                        </p:tgtEl>
                                        <p:attrNameLst>
                                          <p:attrName>style.visibility</p:attrName>
                                        </p:attrNameLst>
                                      </p:cBhvr>
                                      <p:to>
                                        <p:strVal val="visible"/>
                                      </p:to>
                                    </p:set>
                                    <p:anim calcmode="lin" valueType="num">
                                      <p:cBhvr>
                                        <p:cTn id="242" dur="300" fill="hold"/>
                                        <p:tgtEl>
                                          <p:spTgt spid="53"/>
                                        </p:tgtEl>
                                        <p:attrNameLst>
                                          <p:attrName>ppt_w</p:attrName>
                                        </p:attrNameLst>
                                      </p:cBhvr>
                                      <p:tavLst>
                                        <p:tav tm="0">
                                          <p:val>
                                            <p:strVal val="#ppt_w*0.70"/>
                                          </p:val>
                                        </p:tav>
                                        <p:tav tm="100000">
                                          <p:val>
                                            <p:strVal val="#ppt_w"/>
                                          </p:val>
                                        </p:tav>
                                      </p:tavLst>
                                    </p:anim>
                                    <p:anim calcmode="lin" valueType="num">
                                      <p:cBhvr>
                                        <p:cTn id="243" dur="300" fill="hold"/>
                                        <p:tgtEl>
                                          <p:spTgt spid="53"/>
                                        </p:tgtEl>
                                        <p:attrNameLst>
                                          <p:attrName>ppt_h</p:attrName>
                                        </p:attrNameLst>
                                      </p:cBhvr>
                                      <p:tavLst>
                                        <p:tav tm="0">
                                          <p:val>
                                            <p:strVal val="#ppt_h*0.70"/>
                                          </p:val>
                                        </p:tav>
                                        <p:tav tm="100000">
                                          <p:val>
                                            <p:strVal val="#ppt_h"/>
                                          </p:val>
                                        </p:tav>
                                      </p:tavLst>
                                    </p:anim>
                                    <p:animEffect transition="in" filter="fade">
                                      <p:cBhvr>
                                        <p:cTn id="244" dur="300"/>
                                        <p:tgtEl>
                                          <p:spTgt spid="53"/>
                                        </p:tgtEl>
                                      </p:cBhvr>
                                    </p:animEffect>
                                  </p:childTnLst>
                                </p:cTn>
                              </p:par>
                              <p:par>
                                <p:cTn id="250" presetID="53" presetClass="entr" presetSubtype="16" fill="hold" grpId="0" nodeType="withEffect" decel="100000">
                                  <p:stCondLst>
                                    <p:cond delay="710"/>
                                  </p:stCondLst>
                                  <p:childTnLst>
                                    <p:set>
                                      <p:cBhvr>
                                        <p:cTn id="246" dur="1" fill="hold">
                                          <p:stCondLst>
                                            <p:cond delay="0"/>
                                          </p:stCondLst>
                                        </p:cTn>
                                        <p:tgtEl>
                                          <p:spTgt spid="54"/>
                                        </p:tgtEl>
                                        <p:attrNameLst>
                                          <p:attrName>style.visibility</p:attrName>
                                        </p:attrNameLst>
                                      </p:cBhvr>
                                      <p:to>
                                        <p:strVal val="visible"/>
                                      </p:to>
                                    </p:set>
                                    <p:anim calcmode="lin" valueType="num">
                                      <p:cBhvr>
                                        <p:cTn id="247" dur="300" fill="hold"/>
                                        <p:tgtEl>
                                          <p:spTgt spid="54"/>
                                        </p:tgtEl>
                                        <p:attrNameLst>
                                          <p:attrName>ppt_w</p:attrName>
                                        </p:attrNameLst>
                                      </p:cBhvr>
                                      <p:tavLst>
                                        <p:tav tm="0">
                                          <p:val>
                                            <p:strVal val="#ppt_w*0.70"/>
                                          </p:val>
                                        </p:tav>
                                        <p:tav tm="100000">
                                          <p:val>
                                            <p:strVal val="#ppt_w"/>
                                          </p:val>
                                        </p:tav>
                                      </p:tavLst>
                                    </p:anim>
                                    <p:anim calcmode="lin" valueType="num">
                                      <p:cBhvr>
                                        <p:cTn id="248" dur="300" fill="hold"/>
                                        <p:tgtEl>
                                          <p:spTgt spid="54"/>
                                        </p:tgtEl>
                                        <p:attrNameLst>
                                          <p:attrName>ppt_h</p:attrName>
                                        </p:attrNameLst>
                                      </p:cBhvr>
                                      <p:tavLst>
                                        <p:tav tm="0">
                                          <p:val>
                                            <p:strVal val="#ppt_h*0.70"/>
                                          </p:val>
                                        </p:tav>
                                        <p:tav tm="100000">
                                          <p:val>
                                            <p:strVal val="#ppt_h"/>
                                          </p:val>
                                        </p:tav>
                                      </p:tavLst>
                                    </p:anim>
                                    <p:animEffect transition="in" filter="fade">
                                      <p:cBhvr>
                                        <p:cTn id="249" dur="300"/>
                                        <p:tgtEl>
                                          <p:spTgt spid="54"/>
                                        </p:tgtEl>
                                      </p:cBhvr>
                                    </p:animEffect>
                                  </p:childTnLst>
                                </p:cTn>
                              </p:par>
                              <p:par>
                                <p:cTn id="255" presetID="53" presetClass="entr" presetSubtype="16" fill="hold" grpId="0" nodeType="withEffect" decel="100000">
                                  <p:stCondLst>
                                    <p:cond delay="710"/>
                                  </p:stCondLst>
                                  <p:childTnLst>
                                    <p:set>
                                      <p:cBhvr>
                                        <p:cTn id="251" dur="1" fill="hold">
                                          <p:stCondLst>
                                            <p:cond delay="0"/>
                                          </p:stCondLst>
                                        </p:cTn>
                                        <p:tgtEl>
                                          <p:spTgt spid="55"/>
                                        </p:tgtEl>
                                        <p:attrNameLst>
                                          <p:attrName>style.visibility</p:attrName>
                                        </p:attrNameLst>
                                      </p:cBhvr>
                                      <p:to>
                                        <p:strVal val="visible"/>
                                      </p:to>
                                    </p:set>
                                    <p:anim calcmode="lin" valueType="num">
                                      <p:cBhvr>
                                        <p:cTn id="252" dur="300" fill="hold"/>
                                        <p:tgtEl>
                                          <p:spTgt spid="55"/>
                                        </p:tgtEl>
                                        <p:attrNameLst>
                                          <p:attrName>ppt_w</p:attrName>
                                        </p:attrNameLst>
                                      </p:cBhvr>
                                      <p:tavLst>
                                        <p:tav tm="0">
                                          <p:val>
                                            <p:strVal val="#ppt_w*0.70"/>
                                          </p:val>
                                        </p:tav>
                                        <p:tav tm="100000">
                                          <p:val>
                                            <p:strVal val="#ppt_w"/>
                                          </p:val>
                                        </p:tav>
                                      </p:tavLst>
                                    </p:anim>
                                    <p:anim calcmode="lin" valueType="num">
                                      <p:cBhvr>
                                        <p:cTn id="253" dur="300" fill="hold"/>
                                        <p:tgtEl>
                                          <p:spTgt spid="55"/>
                                        </p:tgtEl>
                                        <p:attrNameLst>
                                          <p:attrName>ppt_h</p:attrName>
                                        </p:attrNameLst>
                                      </p:cBhvr>
                                      <p:tavLst>
                                        <p:tav tm="0">
                                          <p:val>
                                            <p:strVal val="#ppt_h*0.70"/>
                                          </p:val>
                                        </p:tav>
                                        <p:tav tm="100000">
                                          <p:val>
                                            <p:strVal val="#ppt_h"/>
                                          </p:val>
                                        </p:tav>
                                      </p:tavLst>
                                    </p:anim>
                                    <p:animEffect transition="in" filter="fade">
                                      <p:cBhvr>
                                        <p:cTn id="254" dur="300"/>
                                        <p:tgtEl>
                                          <p:spTgt spid="55"/>
                                        </p:tgtEl>
                                      </p:cBhvr>
                                    </p:animEffect>
                                  </p:childTnLst>
                                </p:cTn>
                              </p:par>
                              <p:par>
                                <p:cTn id="260" presetID="53" presetClass="entr" presetSubtype="16" fill="hold" grpId="0" nodeType="withEffect" decel="100000">
                                  <p:stCondLst>
                                    <p:cond delay="780"/>
                                  </p:stCondLst>
                                  <p:childTnLst>
                                    <p:set>
                                      <p:cBhvr>
                                        <p:cTn id="256" dur="1" fill="hold">
                                          <p:stCondLst>
                                            <p:cond delay="0"/>
                                          </p:stCondLst>
                                        </p:cTn>
                                        <p:tgtEl>
                                          <p:spTgt spid="56"/>
                                        </p:tgtEl>
                                        <p:attrNameLst>
                                          <p:attrName>style.visibility</p:attrName>
                                        </p:attrNameLst>
                                      </p:cBhvr>
                                      <p:to>
                                        <p:strVal val="visible"/>
                                      </p:to>
                                    </p:set>
                                    <p:anim calcmode="lin" valueType="num">
                                      <p:cBhvr>
                                        <p:cTn id="257" dur="300" fill="hold"/>
                                        <p:tgtEl>
                                          <p:spTgt spid="56"/>
                                        </p:tgtEl>
                                        <p:attrNameLst>
                                          <p:attrName>ppt_w</p:attrName>
                                        </p:attrNameLst>
                                      </p:cBhvr>
                                      <p:tavLst>
                                        <p:tav tm="0">
                                          <p:val>
                                            <p:strVal val="#ppt_w*0.70"/>
                                          </p:val>
                                        </p:tav>
                                        <p:tav tm="100000">
                                          <p:val>
                                            <p:strVal val="#ppt_w"/>
                                          </p:val>
                                        </p:tav>
                                      </p:tavLst>
                                    </p:anim>
                                    <p:anim calcmode="lin" valueType="num">
                                      <p:cBhvr>
                                        <p:cTn id="258" dur="300" fill="hold"/>
                                        <p:tgtEl>
                                          <p:spTgt spid="56"/>
                                        </p:tgtEl>
                                        <p:attrNameLst>
                                          <p:attrName>ppt_h</p:attrName>
                                        </p:attrNameLst>
                                      </p:cBhvr>
                                      <p:tavLst>
                                        <p:tav tm="0">
                                          <p:val>
                                            <p:strVal val="#ppt_h*0.70"/>
                                          </p:val>
                                        </p:tav>
                                        <p:tav tm="100000">
                                          <p:val>
                                            <p:strVal val="#ppt_h"/>
                                          </p:val>
                                        </p:tav>
                                      </p:tavLst>
                                    </p:anim>
                                    <p:animEffect transition="in" filter="fade">
                                      <p:cBhvr>
                                        <p:cTn id="259" dur="300"/>
                                        <p:tgtEl>
                                          <p:spTgt spid="56"/>
                                        </p:tgtEl>
                                      </p:cBhvr>
                                    </p:animEffect>
                                  </p:childTnLst>
                                </p:cTn>
                              </p:par>
                              <p:par>
                                <p:cTn id="265" presetID="53" presetClass="entr" presetSubtype="16" fill="hold" grpId="0" nodeType="withEffect" decel="100000">
                                  <p:stCondLst>
                                    <p:cond delay="780"/>
                                  </p:stCondLst>
                                  <p:childTnLst>
                                    <p:set>
                                      <p:cBhvr>
                                        <p:cTn id="261" dur="1" fill="hold">
                                          <p:stCondLst>
                                            <p:cond delay="0"/>
                                          </p:stCondLst>
                                        </p:cTn>
                                        <p:tgtEl>
                                          <p:spTgt spid="57"/>
                                        </p:tgtEl>
                                        <p:attrNameLst>
                                          <p:attrName>style.visibility</p:attrName>
                                        </p:attrNameLst>
                                      </p:cBhvr>
                                      <p:to>
                                        <p:strVal val="visible"/>
                                      </p:to>
                                    </p:set>
                                    <p:anim calcmode="lin" valueType="num">
                                      <p:cBhvr>
                                        <p:cTn id="262" dur="300" fill="hold"/>
                                        <p:tgtEl>
                                          <p:spTgt spid="57"/>
                                        </p:tgtEl>
                                        <p:attrNameLst>
                                          <p:attrName>ppt_w</p:attrName>
                                        </p:attrNameLst>
                                      </p:cBhvr>
                                      <p:tavLst>
                                        <p:tav tm="0">
                                          <p:val>
                                            <p:strVal val="#ppt_w*0.70"/>
                                          </p:val>
                                        </p:tav>
                                        <p:tav tm="100000">
                                          <p:val>
                                            <p:strVal val="#ppt_w"/>
                                          </p:val>
                                        </p:tav>
                                      </p:tavLst>
                                    </p:anim>
                                    <p:anim calcmode="lin" valueType="num">
                                      <p:cBhvr>
                                        <p:cTn id="263" dur="300" fill="hold"/>
                                        <p:tgtEl>
                                          <p:spTgt spid="57"/>
                                        </p:tgtEl>
                                        <p:attrNameLst>
                                          <p:attrName>ppt_h</p:attrName>
                                        </p:attrNameLst>
                                      </p:cBhvr>
                                      <p:tavLst>
                                        <p:tav tm="0">
                                          <p:val>
                                            <p:strVal val="#ppt_h*0.70"/>
                                          </p:val>
                                        </p:tav>
                                        <p:tav tm="100000">
                                          <p:val>
                                            <p:strVal val="#ppt_h"/>
                                          </p:val>
                                        </p:tav>
                                      </p:tavLst>
                                    </p:anim>
                                    <p:animEffect transition="in" filter="fade">
                                      <p:cBhvr>
                                        <p:cTn id="264" dur="300"/>
                                        <p:tgtEl>
                                          <p:spTgt spid="57"/>
                                        </p:tgtEl>
                                      </p:cBhvr>
                                    </p:animEffect>
                                  </p:childTnLst>
                                </p:cTn>
                              </p:par>
                              <p:par>
                                <p:cTn id="270" presetID="53" presetClass="entr" presetSubtype="16" fill="hold" grpId="0" nodeType="withEffect" decel="100000">
                                  <p:stCondLst>
                                    <p:cond delay="780"/>
                                  </p:stCondLst>
                                  <p:childTnLst>
                                    <p:set>
                                      <p:cBhvr>
                                        <p:cTn id="266" dur="1" fill="hold">
                                          <p:stCondLst>
                                            <p:cond delay="0"/>
                                          </p:stCondLst>
                                        </p:cTn>
                                        <p:tgtEl>
                                          <p:spTgt spid="58"/>
                                        </p:tgtEl>
                                        <p:attrNameLst>
                                          <p:attrName>style.visibility</p:attrName>
                                        </p:attrNameLst>
                                      </p:cBhvr>
                                      <p:to>
                                        <p:strVal val="visible"/>
                                      </p:to>
                                    </p:set>
                                    <p:anim calcmode="lin" valueType="num">
                                      <p:cBhvr>
                                        <p:cTn id="267" dur="300" fill="hold"/>
                                        <p:tgtEl>
                                          <p:spTgt spid="58"/>
                                        </p:tgtEl>
                                        <p:attrNameLst>
                                          <p:attrName>ppt_w</p:attrName>
                                        </p:attrNameLst>
                                      </p:cBhvr>
                                      <p:tavLst>
                                        <p:tav tm="0">
                                          <p:val>
                                            <p:strVal val="#ppt_w*0.70"/>
                                          </p:val>
                                        </p:tav>
                                        <p:tav tm="100000">
                                          <p:val>
                                            <p:strVal val="#ppt_w"/>
                                          </p:val>
                                        </p:tav>
                                      </p:tavLst>
                                    </p:anim>
                                    <p:anim calcmode="lin" valueType="num">
                                      <p:cBhvr>
                                        <p:cTn id="268" dur="300" fill="hold"/>
                                        <p:tgtEl>
                                          <p:spTgt spid="58"/>
                                        </p:tgtEl>
                                        <p:attrNameLst>
                                          <p:attrName>ppt_h</p:attrName>
                                        </p:attrNameLst>
                                      </p:cBhvr>
                                      <p:tavLst>
                                        <p:tav tm="0">
                                          <p:val>
                                            <p:strVal val="#ppt_h*0.70"/>
                                          </p:val>
                                        </p:tav>
                                        <p:tav tm="100000">
                                          <p:val>
                                            <p:strVal val="#ppt_h"/>
                                          </p:val>
                                        </p:tav>
                                      </p:tavLst>
                                    </p:anim>
                                    <p:animEffect transition="in" filter="fade">
                                      <p:cBhvr>
                                        <p:cTn id="269" dur="300"/>
                                        <p:tgtEl>
                                          <p:spTgt spid="58"/>
                                        </p:tgtEl>
                                      </p:cBhvr>
                                    </p:animEffect>
                                  </p:childTnLst>
                                </p:cTn>
                              </p:par>
                              <p:par>
                                <p:cTn id="273" presetID="10" presetClass="entr" presetSubtype="0" fill="hold" grpId="0" nodeType="withEffect" decel="100000">
                                  <p:stCondLst>
                                    <p:cond delay="900"/>
                                  </p:stCondLst>
                                  <p:childTnLst>
                                    <p:set>
                                      <p:cBhvr>
                                        <p:cTn id="271" dur="1" fill="hold">
                                          <p:stCondLst>
                                            <p:cond delay="0"/>
                                          </p:stCondLst>
                                        </p:cTn>
                                        <p:tgtEl>
                                          <p:spTgt spid="59"/>
                                        </p:tgtEl>
                                        <p:attrNameLst>
                                          <p:attrName>style.visibility</p:attrName>
                                        </p:attrNameLst>
                                      </p:cBhvr>
                                      <p:to>
                                        <p:strVal val="visible"/>
                                      </p:to>
                                    </p:set>
                                    <p:animEffect transition="in" filter="fade">
                                      <p:cBhvr>
                                        <p:cTn id="272" dur="500"/>
                                        <p:tgtEl>
                                          <p:spTgt spid="59"/>
                                        </p:tgtEl>
                                      </p:cBhvr>
                                    </p:animEffect>
                                  </p:childTnLst>
                                </p:cTn>
                              </p:par>
                            </p:childTnLst>
                          </p:cTn>
                        </p:par>
                      </p:childTnLst>
                    </p:cTn>
                  </p:par>
                  <p:par>
                    <p:cTn id="297" fill="hold">
                      <p:stCondLst>
                        <p:cond delay="indefinite"/>
                      </p:stCondLst>
                      <p:childTnLst>
                        <p:par>
                          <p:cTn id="298" fill="hold">
                            <p:stCondLst>
                              <p:cond delay="0"/>
                            </p:stCondLst>
                            <p:childTnLst>
                              <p:par>
                                <p:cTn id="280" presetID="53" presetClass="entr" presetSubtype="16" fill="hold" grpId="0" nodeType="clickEffect" decel="100000">
                                  <p:stCondLst>
                                    <p:cond delay="0"/>
                                  </p:stCondLst>
                                  <p:childTnLst>
                                    <p:set>
                                      <p:cBhvr>
                                        <p:cTn id="276" dur="1" fill="hold">
                                          <p:stCondLst>
                                            <p:cond delay="0"/>
                                          </p:stCondLst>
                                        </p:cTn>
                                        <p:tgtEl>
                                          <p:spTgt spid="60"/>
                                        </p:tgtEl>
                                        <p:attrNameLst>
                                          <p:attrName>style.visibility</p:attrName>
                                        </p:attrNameLst>
                                      </p:cBhvr>
                                      <p:to>
                                        <p:strVal val="visible"/>
                                      </p:to>
                                    </p:set>
                                    <p:anim calcmode="lin" valueType="num">
                                      <p:cBhvr>
                                        <p:cTn id="277" dur="500" fill="hold"/>
                                        <p:tgtEl>
                                          <p:spTgt spid="60"/>
                                        </p:tgtEl>
                                        <p:attrNameLst>
                                          <p:attrName>ppt_w</p:attrName>
                                        </p:attrNameLst>
                                      </p:cBhvr>
                                      <p:tavLst>
                                        <p:tav tm="0">
                                          <p:val>
                                            <p:strVal val="#ppt_w*0.70"/>
                                          </p:val>
                                        </p:tav>
                                        <p:tav tm="100000">
                                          <p:val>
                                            <p:strVal val="#ppt_w"/>
                                          </p:val>
                                        </p:tav>
                                      </p:tavLst>
                                    </p:anim>
                                    <p:anim calcmode="lin" valueType="num">
                                      <p:cBhvr>
                                        <p:cTn id="278" dur="500" fill="hold"/>
                                        <p:tgtEl>
                                          <p:spTgt spid="60"/>
                                        </p:tgtEl>
                                        <p:attrNameLst>
                                          <p:attrName>ppt_h</p:attrName>
                                        </p:attrNameLst>
                                      </p:cBhvr>
                                      <p:tavLst>
                                        <p:tav tm="0">
                                          <p:val>
                                            <p:strVal val="#ppt_h*0.70"/>
                                          </p:val>
                                        </p:tav>
                                        <p:tav tm="100000">
                                          <p:val>
                                            <p:strVal val="#ppt_h"/>
                                          </p:val>
                                        </p:tav>
                                      </p:tavLst>
                                    </p:anim>
                                    <p:animEffect transition="in" filter="fade">
                                      <p:cBhvr>
                                        <p:cTn id="279" dur="500"/>
                                        <p:tgtEl>
                                          <p:spTgt spid="60"/>
                                        </p:tgtEl>
                                      </p:cBhvr>
                                    </p:animEffect>
                                  </p:childTnLst>
                                </p:cTn>
                              </p:par>
                              <p:par>
                                <p:cTn id="285" presetID="53" presetClass="entr" presetSubtype="16" fill="hold" grpId="0" nodeType="withEffect" decel="100000">
                                  <p:stCondLst>
                                    <p:cond delay="0"/>
                                  </p:stCondLst>
                                  <p:childTnLst>
                                    <p:set>
                                      <p:cBhvr>
                                        <p:cTn id="281" dur="1" fill="hold">
                                          <p:stCondLst>
                                            <p:cond delay="0"/>
                                          </p:stCondLst>
                                        </p:cTn>
                                        <p:tgtEl>
                                          <p:spTgt spid="61"/>
                                        </p:tgtEl>
                                        <p:attrNameLst>
                                          <p:attrName>style.visibility</p:attrName>
                                        </p:attrNameLst>
                                      </p:cBhvr>
                                      <p:to>
                                        <p:strVal val="visible"/>
                                      </p:to>
                                    </p:set>
                                    <p:anim calcmode="lin" valueType="num">
                                      <p:cBhvr>
                                        <p:cTn id="282" dur="500" fill="hold"/>
                                        <p:tgtEl>
                                          <p:spTgt spid="61"/>
                                        </p:tgtEl>
                                        <p:attrNameLst>
                                          <p:attrName>ppt_w</p:attrName>
                                        </p:attrNameLst>
                                      </p:cBhvr>
                                      <p:tavLst>
                                        <p:tav tm="0">
                                          <p:val>
                                            <p:strVal val="#ppt_w*0.70"/>
                                          </p:val>
                                        </p:tav>
                                        <p:tav tm="100000">
                                          <p:val>
                                            <p:strVal val="#ppt_w"/>
                                          </p:val>
                                        </p:tav>
                                      </p:tavLst>
                                    </p:anim>
                                    <p:anim calcmode="lin" valueType="num">
                                      <p:cBhvr>
                                        <p:cTn id="283" dur="500" fill="hold"/>
                                        <p:tgtEl>
                                          <p:spTgt spid="61"/>
                                        </p:tgtEl>
                                        <p:attrNameLst>
                                          <p:attrName>ppt_h</p:attrName>
                                        </p:attrNameLst>
                                      </p:cBhvr>
                                      <p:tavLst>
                                        <p:tav tm="0">
                                          <p:val>
                                            <p:strVal val="#ppt_h*0.70"/>
                                          </p:val>
                                        </p:tav>
                                        <p:tav tm="100000">
                                          <p:val>
                                            <p:strVal val="#ppt_h"/>
                                          </p:val>
                                        </p:tav>
                                      </p:tavLst>
                                    </p:anim>
                                    <p:animEffect transition="in" filter="fade">
                                      <p:cBhvr>
                                        <p:cTn id="284" dur="500"/>
                                        <p:tgtEl>
                                          <p:spTgt spid="61"/>
                                        </p:tgtEl>
                                      </p:cBhvr>
                                    </p:animEffect>
                                  </p:childTnLst>
                                </p:cTn>
                              </p:par>
                              <p:par>
                                <p:cTn id="290" presetID="53" presetClass="entr" presetSubtype="16" fill="hold" grpId="0" nodeType="withEffect" decel="100000">
                                  <p:stCondLst>
                                    <p:cond delay="0"/>
                                  </p:stCondLst>
                                  <p:childTnLst>
                                    <p:set>
                                      <p:cBhvr>
                                        <p:cTn id="286" dur="1" fill="hold">
                                          <p:stCondLst>
                                            <p:cond delay="0"/>
                                          </p:stCondLst>
                                        </p:cTn>
                                        <p:tgtEl>
                                          <p:spTgt spid="62"/>
                                        </p:tgtEl>
                                        <p:attrNameLst>
                                          <p:attrName>style.visibility</p:attrName>
                                        </p:attrNameLst>
                                      </p:cBhvr>
                                      <p:to>
                                        <p:strVal val="visible"/>
                                      </p:to>
                                    </p:set>
                                    <p:anim calcmode="lin" valueType="num">
                                      <p:cBhvr>
                                        <p:cTn id="287" dur="500" fill="hold"/>
                                        <p:tgtEl>
                                          <p:spTgt spid="62"/>
                                        </p:tgtEl>
                                        <p:attrNameLst>
                                          <p:attrName>ppt_w</p:attrName>
                                        </p:attrNameLst>
                                      </p:cBhvr>
                                      <p:tavLst>
                                        <p:tav tm="0">
                                          <p:val>
                                            <p:strVal val="#ppt_w*0.70"/>
                                          </p:val>
                                        </p:tav>
                                        <p:tav tm="100000">
                                          <p:val>
                                            <p:strVal val="#ppt_w"/>
                                          </p:val>
                                        </p:tav>
                                      </p:tavLst>
                                    </p:anim>
                                    <p:anim calcmode="lin" valueType="num">
                                      <p:cBhvr>
                                        <p:cTn id="288" dur="500" fill="hold"/>
                                        <p:tgtEl>
                                          <p:spTgt spid="62"/>
                                        </p:tgtEl>
                                        <p:attrNameLst>
                                          <p:attrName>ppt_h</p:attrName>
                                        </p:attrNameLst>
                                      </p:cBhvr>
                                      <p:tavLst>
                                        <p:tav tm="0">
                                          <p:val>
                                            <p:strVal val="#ppt_h*0.70"/>
                                          </p:val>
                                        </p:tav>
                                        <p:tav tm="100000">
                                          <p:val>
                                            <p:strVal val="#ppt_h"/>
                                          </p:val>
                                        </p:tav>
                                      </p:tavLst>
                                    </p:anim>
                                    <p:animEffect transition="in" filter="fade">
                                      <p:cBhvr>
                                        <p:cTn id="289" dur="500"/>
                                        <p:tgtEl>
                                          <p:spTgt spid="62"/>
                                        </p:tgtEl>
                                      </p:cBhvr>
                                    </p:animEffect>
                                  </p:childTnLst>
                                </p:cTn>
                              </p:par>
                              <p:par>
                                <p:cTn id="293" presetID="10" presetClass="entr" presetSubtype="0" fill="hold" grpId="0" nodeType="withEffect" decel="100000">
                                  <p:stCondLst>
                                    <p:cond delay="300"/>
                                  </p:stCondLst>
                                  <p:childTnLst>
                                    <p:set>
                                      <p:cBhvr>
                                        <p:cTn id="291" dur="1" fill="hold">
                                          <p:stCondLst>
                                            <p:cond delay="0"/>
                                          </p:stCondLst>
                                        </p:cTn>
                                        <p:tgtEl>
                                          <p:spTgt spid="63"/>
                                        </p:tgtEl>
                                        <p:attrNameLst>
                                          <p:attrName>style.visibility</p:attrName>
                                        </p:attrNameLst>
                                      </p:cBhvr>
                                      <p:to>
                                        <p:strVal val="visible"/>
                                      </p:to>
                                    </p:set>
                                    <p:animEffect transition="in" filter="fade">
                                      <p:cBhvr>
                                        <p:cTn id="292" dur="500"/>
                                        <p:tgtEl>
                                          <p:spTgt spid="63"/>
                                        </p:tgtEl>
                                      </p:cBhvr>
                                    </p:animEffect>
                                  </p:childTnLst>
                                </p:cTn>
                              </p:par>
                              <p:par>
                                <p:cTn id="296" presetID="10" presetClass="entr" presetSubtype="0" fill="hold" grpId="0" nodeType="withEffect" decel="100000">
                                  <p:stCondLst>
                                    <p:cond delay="300"/>
                                  </p:stCondLst>
                                  <p:childTnLst>
                                    <p:set>
                                      <p:cBhvr>
                                        <p:cTn id="294" dur="1" fill="hold">
                                          <p:stCondLst>
                                            <p:cond delay="0"/>
                                          </p:stCondLst>
                                        </p:cTn>
                                        <p:tgtEl>
                                          <p:spTgt spid="64"/>
                                        </p:tgtEl>
                                        <p:attrNameLst>
                                          <p:attrName>style.visibility</p:attrName>
                                        </p:attrNameLst>
                                      </p:cBhvr>
                                      <p:to>
                                        <p:strVal val="visible"/>
                                      </p:to>
                                    </p:set>
                                    <p:animEffect transition="in" filter="fade">
                                      <p:cBhvr>
                                        <p:cTn id="29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3" name="txt_16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MODULE 4 · GOVERNANCE</a:t>
            </a:r>
            <a:endParaRPr lang="en-US" sz="1100" dirty="0"/>
          </a:p>
        </p:txBody>
      </p:sp>
      <p:sp>
        <p:nvSpPr>
          <p:cNvPr id="4" name="txt_16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Risk Score &amp; Approval Gate</a:t>
            </a:r>
            <a:endParaRPr lang="en-US" sz="3200" dirty="0"/>
          </a:p>
        </p:txBody>
      </p:sp>
      <p:sp>
        <p:nvSpPr>
          <p:cNvPr id="5" name="txt_16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Five weighted factors, one composite score, one policy gate.</a:t>
            </a:r>
            <a:endParaRPr lang="en-US" sz="1500" dirty="0"/>
          </a:p>
        </p:txBody>
      </p:sp>
      <p:sp>
        <p:nvSpPr>
          <p:cNvPr id="6" name="txt_16_3"/>
          <p:cNvSpPr txBox="1"/>
          <p:nvPr/>
        </p:nvSpPr>
        <p:spPr>
          <a:xfrm>
            <a:off x="4663440" y="1828800"/>
            <a:ext cx="45720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RISK = WEIGHTED SUM OF</a:t>
            </a:r>
            <a:endParaRPr lang="en-US" sz="1050" dirty="0"/>
          </a:p>
        </p:txBody>
      </p:sp>
      <p:sp>
        <p:nvSpPr>
          <p:cNvPr id="7" name="shp_16_4"/>
          <p:cNvSpPr/>
          <p:nvPr/>
        </p:nvSpPr>
        <p:spPr>
          <a:xfrm>
            <a:off x="4663440" y="2121408"/>
            <a:ext cx="1286195" cy="777240"/>
          </a:xfrm>
          <a:prstGeom prst="roundRect">
            <a:avLst>
              <a:gd name="adj" fmla="val 11765"/>
            </a:avLst>
          </a:prstGeom>
          <a:solidFill>
            <a:srgbClr val="112038"/>
          </a:solidFill>
          <a:ln w="9525">
            <a:solidFill>
              <a:srgbClr val="243A5E"/>
            </a:solidFill>
            <a:prstDash val="solid"/>
          </a:ln>
        </p:spPr>
      </p:sp>
      <p:sp>
        <p:nvSpPr>
          <p:cNvPr id="8" name="txt_16_5"/>
          <p:cNvSpPr txBox="1"/>
          <p:nvPr/>
        </p:nvSpPr>
        <p:spPr>
          <a:xfrm>
            <a:off x="4663440" y="2176272"/>
            <a:ext cx="1286195" cy="384048"/>
          </a:xfrm>
          <a:prstGeom prst="rect">
            <a:avLst/>
          </a:prstGeom>
          <a:noFill/>
          <a:ln/>
        </p:spPr>
        <p:txBody>
          <a:bodyPr wrap="square" lIns="0" tIns="0" rIns="0" bIns="0" rtlCol="0" anchor="t"/>
          <a:lstStyle/>
          <a:p>
            <a:pPr algn="ctr" indent="0" marL="0">
              <a:buNone/>
            </a:pPr>
            <a:r>
              <a:rPr lang="en-US" sz="2000" b="1" dirty="0">
                <a:solidFill>
                  <a:srgbClr val="F5A524"/>
                </a:solidFill>
                <a:latin typeface="Calibri" pitchFamily="34" charset="0"/>
                <a:ea typeface="Calibri" pitchFamily="34" charset="-122"/>
                <a:cs typeface="Calibri" pitchFamily="34" charset="-120"/>
              </a:rPr>
              <a:t>30%</a:t>
            </a:r>
            <a:endParaRPr lang="en-US" sz="2000" dirty="0"/>
          </a:p>
        </p:txBody>
      </p:sp>
      <p:sp>
        <p:nvSpPr>
          <p:cNvPr id="9" name="txt_16_6"/>
          <p:cNvSpPr txBox="1"/>
          <p:nvPr/>
        </p:nvSpPr>
        <p:spPr>
          <a:xfrm>
            <a:off x="4663440" y="2560320"/>
            <a:ext cx="1286195" cy="256032"/>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Weather</a:t>
            </a:r>
            <a:endParaRPr lang="en-US" sz="1200" dirty="0"/>
          </a:p>
        </p:txBody>
      </p:sp>
      <p:sp>
        <p:nvSpPr>
          <p:cNvPr id="10" name="shp_16_7"/>
          <p:cNvSpPr/>
          <p:nvPr/>
        </p:nvSpPr>
        <p:spPr>
          <a:xfrm>
            <a:off x="6086795" y="2121408"/>
            <a:ext cx="1286195" cy="777240"/>
          </a:xfrm>
          <a:prstGeom prst="roundRect">
            <a:avLst>
              <a:gd name="adj" fmla="val 11765"/>
            </a:avLst>
          </a:prstGeom>
          <a:solidFill>
            <a:srgbClr val="112038"/>
          </a:solidFill>
          <a:ln w="9525">
            <a:solidFill>
              <a:srgbClr val="243A5E"/>
            </a:solidFill>
            <a:prstDash val="solid"/>
          </a:ln>
        </p:spPr>
      </p:sp>
      <p:sp>
        <p:nvSpPr>
          <p:cNvPr id="11" name="txt_16_8"/>
          <p:cNvSpPr txBox="1"/>
          <p:nvPr/>
        </p:nvSpPr>
        <p:spPr>
          <a:xfrm>
            <a:off x="6086795" y="2176272"/>
            <a:ext cx="1286195" cy="384048"/>
          </a:xfrm>
          <a:prstGeom prst="rect">
            <a:avLst/>
          </a:prstGeom>
          <a:noFill/>
          <a:ln/>
        </p:spPr>
        <p:txBody>
          <a:bodyPr wrap="square" lIns="0" tIns="0" rIns="0" bIns="0" rtlCol="0" anchor="t"/>
          <a:lstStyle/>
          <a:p>
            <a:pPr algn="ctr" indent="0" marL="0">
              <a:buNone/>
            </a:pPr>
            <a:r>
              <a:rPr lang="en-US" sz="2000" b="1" dirty="0">
                <a:solidFill>
                  <a:srgbClr val="F5A524"/>
                </a:solidFill>
                <a:latin typeface="Calibri" pitchFamily="34" charset="0"/>
                <a:ea typeface="Calibri" pitchFamily="34" charset="-122"/>
                <a:cs typeface="Calibri" pitchFamily="34" charset="-120"/>
              </a:rPr>
              <a:t>25%</a:t>
            </a:r>
            <a:endParaRPr lang="en-US" sz="2000" dirty="0"/>
          </a:p>
        </p:txBody>
      </p:sp>
      <p:sp>
        <p:nvSpPr>
          <p:cNvPr id="12" name="txt_16_9"/>
          <p:cNvSpPr txBox="1"/>
          <p:nvPr/>
        </p:nvSpPr>
        <p:spPr>
          <a:xfrm>
            <a:off x="6086795" y="2560320"/>
            <a:ext cx="1286195" cy="256032"/>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Customs</a:t>
            </a:r>
            <a:endParaRPr lang="en-US" sz="1200" dirty="0"/>
          </a:p>
        </p:txBody>
      </p:sp>
      <p:sp>
        <p:nvSpPr>
          <p:cNvPr id="13" name="shp_16_10"/>
          <p:cNvSpPr/>
          <p:nvPr/>
        </p:nvSpPr>
        <p:spPr>
          <a:xfrm>
            <a:off x="7510150" y="2121408"/>
            <a:ext cx="1286195" cy="777240"/>
          </a:xfrm>
          <a:prstGeom prst="roundRect">
            <a:avLst>
              <a:gd name="adj" fmla="val 11765"/>
            </a:avLst>
          </a:prstGeom>
          <a:solidFill>
            <a:srgbClr val="112038"/>
          </a:solidFill>
          <a:ln w="9525">
            <a:solidFill>
              <a:srgbClr val="243A5E"/>
            </a:solidFill>
            <a:prstDash val="solid"/>
          </a:ln>
        </p:spPr>
      </p:sp>
      <p:sp>
        <p:nvSpPr>
          <p:cNvPr id="14" name="txt_16_11"/>
          <p:cNvSpPr txBox="1"/>
          <p:nvPr/>
        </p:nvSpPr>
        <p:spPr>
          <a:xfrm>
            <a:off x="7510150" y="2176272"/>
            <a:ext cx="1286195" cy="384048"/>
          </a:xfrm>
          <a:prstGeom prst="rect">
            <a:avLst/>
          </a:prstGeom>
          <a:noFill/>
          <a:ln/>
        </p:spPr>
        <p:txBody>
          <a:bodyPr wrap="square" lIns="0" tIns="0" rIns="0" bIns="0" rtlCol="0" anchor="t"/>
          <a:lstStyle/>
          <a:p>
            <a:pPr algn="ctr" indent="0" marL="0">
              <a:buNone/>
            </a:pPr>
            <a:r>
              <a:rPr lang="en-US" sz="2000" b="1" dirty="0">
                <a:solidFill>
                  <a:srgbClr val="F5A524"/>
                </a:solidFill>
                <a:latin typeface="Calibri" pitchFamily="34" charset="0"/>
                <a:ea typeface="Calibri" pitchFamily="34" charset="-122"/>
                <a:cs typeface="Calibri" pitchFamily="34" charset="-120"/>
              </a:rPr>
              <a:t>20%</a:t>
            </a:r>
            <a:endParaRPr lang="en-US" sz="2000" dirty="0"/>
          </a:p>
        </p:txBody>
      </p:sp>
      <p:sp>
        <p:nvSpPr>
          <p:cNvPr id="15" name="txt_16_12"/>
          <p:cNvSpPr txBox="1"/>
          <p:nvPr/>
        </p:nvSpPr>
        <p:spPr>
          <a:xfrm>
            <a:off x="7510150" y="2560320"/>
            <a:ext cx="1286195" cy="256032"/>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Route</a:t>
            </a:r>
            <a:endParaRPr lang="en-US" sz="1200" dirty="0"/>
          </a:p>
        </p:txBody>
      </p:sp>
      <p:sp>
        <p:nvSpPr>
          <p:cNvPr id="16" name="shp_16_13"/>
          <p:cNvSpPr/>
          <p:nvPr/>
        </p:nvSpPr>
        <p:spPr>
          <a:xfrm>
            <a:off x="8933505" y="2121408"/>
            <a:ext cx="1286195" cy="777240"/>
          </a:xfrm>
          <a:prstGeom prst="roundRect">
            <a:avLst>
              <a:gd name="adj" fmla="val 11765"/>
            </a:avLst>
          </a:prstGeom>
          <a:solidFill>
            <a:srgbClr val="112038"/>
          </a:solidFill>
          <a:ln w="9525">
            <a:solidFill>
              <a:srgbClr val="243A5E"/>
            </a:solidFill>
            <a:prstDash val="solid"/>
          </a:ln>
        </p:spPr>
      </p:sp>
      <p:sp>
        <p:nvSpPr>
          <p:cNvPr id="17" name="txt_16_14"/>
          <p:cNvSpPr txBox="1"/>
          <p:nvPr/>
        </p:nvSpPr>
        <p:spPr>
          <a:xfrm>
            <a:off x="8933505" y="2176272"/>
            <a:ext cx="1286195" cy="384048"/>
          </a:xfrm>
          <a:prstGeom prst="rect">
            <a:avLst/>
          </a:prstGeom>
          <a:noFill/>
          <a:ln/>
        </p:spPr>
        <p:txBody>
          <a:bodyPr wrap="square" lIns="0" tIns="0" rIns="0" bIns="0" rtlCol="0" anchor="t"/>
          <a:lstStyle/>
          <a:p>
            <a:pPr algn="ctr" indent="0" marL="0">
              <a:buNone/>
            </a:pPr>
            <a:r>
              <a:rPr lang="en-US" sz="2000" b="1" dirty="0">
                <a:solidFill>
                  <a:srgbClr val="F5A524"/>
                </a:solidFill>
                <a:latin typeface="Calibri" pitchFamily="34" charset="0"/>
                <a:ea typeface="Calibri" pitchFamily="34" charset="-122"/>
                <a:cs typeface="Calibri" pitchFamily="34" charset="-120"/>
              </a:rPr>
              <a:t>15%</a:t>
            </a:r>
            <a:endParaRPr lang="en-US" sz="2000" dirty="0"/>
          </a:p>
        </p:txBody>
      </p:sp>
      <p:sp>
        <p:nvSpPr>
          <p:cNvPr id="18" name="txt_16_15"/>
          <p:cNvSpPr txBox="1"/>
          <p:nvPr/>
        </p:nvSpPr>
        <p:spPr>
          <a:xfrm>
            <a:off x="8933505" y="2560320"/>
            <a:ext cx="1286195" cy="256032"/>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Port</a:t>
            </a:r>
            <a:endParaRPr lang="en-US" sz="1200" dirty="0"/>
          </a:p>
        </p:txBody>
      </p:sp>
      <p:sp>
        <p:nvSpPr>
          <p:cNvPr id="19" name="shp_16_16"/>
          <p:cNvSpPr/>
          <p:nvPr/>
        </p:nvSpPr>
        <p:spPr>
          <a:xfrm>
            <a:off x="10356860" y="2121408"/>
            <a:ext cx="1286195" cy="777240"/>
          </a:xfrm>
          <a:prstGeom prst="roundRect">
            <a:avLst>
              <a:gd name="adj" fmla="val 11765"/>
            </a:avLst>
          </a:prstGeom>
          <a:solidFill>
            <a:srgbClr val="112038"/>
          </a:solidFill>
          <a:ln w="9525">
            <a:solidFill>
              <a:srgbClr val="243A5E"/>
            </a:solidFill>
            <a:prstDash val="solid"/>
          </a:ln>
        </p:spPr>
      </p:sp>
      <p:sp>
        <p:nvSpPr>
          <p:cNvPr id="20" name="txt_16_17"/>
          <p:cNvSpPr txBox="1"/>
          <p:nvPr/>
        </p:nvSpPr>
        <p:spPr>
          <a:xfrm>
            <a:off x="10356860" y="2176272"/>
            <a:ext cx="1286195" cy="384048"/>
          </a:xfrm>
          <a:prstGeom prst="rect">
            <a:avLst/>
          </a:prstGeom>
          <a:noFill/>
          <a:ln/>
        </p:spPr>
        <p:txBody>
          <a:bodyPr wrap="square" lIns="0" tIns="0" rIns="0" bIns="0" rtlCol="0" anchor="t"/>
          <a:lstStyle/>
          <a:p>
            <a:pPr algn="ctr" indent="0" marL="0">
              <a:buNone/>
            </a:pPr>
            <a:r>
              <a:rPr lang="en-US" sz="2000" b="1" dirty="0">
                <a:solidFill>
                  <a:srgbClr val="F5A524"/>
                </a:solidFill>
                <a:latin typeface="Calibri" pitchFamily="34" charset="0"/>
                <a:ea typeface="Calibri" pitchFamily="34" charset="-122"/>
                <a:cs typeface="Calibri" pitchFamily="34" charset="-120"/>
              </a:rPr>
              <a:t>10%</a:t>
            </a:r>
            <a:endParaRPr lang="en-US" sz="2000" dirty="0"/>
          </a:p>
        </p:txBody>
      </p:sp>
      <p:sp>
        <p:nvSpPr>
          <p:cNvPr id="21" name="txt_16_18"/>
          <p:cNvSpPr txBox="1"/>
          <p:nvPr/>
        </p:nvSpPr>
        <p:spPr>
          <a:xfrm>
            <a:off x="10356860" y="2560320"/>
            <a:ext cx="1286195" cy="256032"/>
          </a:xfrm>
          <a:prstGeom prst="rect">
            <a:avLst/>
          </a:prstGeom>
          <a:noFill/>
          <a:ln/>
        </p:spPr>
        <p:txBody>
          <a:bodyPr wrap="square" lIns="0" tIns="0" rIns="0" bIns="0" rtlCol="0" anchor="t"/>
          <a:lstStyle/>
          <a:p>
            <a:pPr algn="ctr" indent="0" marL="0">
              <a:buNone/>
            </a:pPr>
            <a:r>
              <a:rPr lang="en-US" sz="1200" dirty="0">
                <a:solidFill>
                  <a:srgbClr val="AEBBCF"/>
                </a:solidFill>
                <a:latin typeface="Calibri" pitchFamily="34" charset="0"/>
                <a:ea typeface="Calibri" pitchFamily="34" charset="-122"/>
                <a:cs typeface="Calibri" pitchFamily="34" charset="-120"/>
              </a:rPr>
              <a:t>Cargo</a:t>
            </a:r>
            <a:endParaRPr lang="en-US" sz="1200" dirty="0"/>
          </a:p>
        </p:txBody>
      </p:sp>
      <p:pic>
        <p:nvPicPr>
          <p:cNvPr id="22" name="img_16_19" descr="/private/tmp/claude-501/-Users-nareshramavath-Downloads/8e612fae-240f-42aa-9685-f77b61758c75/scratchpad/orig/ppt/media/image12.png">    </p:cNvPr>
          <p:cNvPicPr>
            <a:picLocks noChangeAspect="1"/>
          </p:cNvPicPr>
          <p:nvPr/>
        </p:nvPicPr>
        <p:blipFill>
          <a:blip r:embed="rId1"/>
          <a:stretch>
            <a:fillRect/>
          </a:stretch>
        </p:blipFill>
        <p:spPr>
          <a:xfrm>
            <a:off x="548640" y="1828800"/>
            <a:ext cx="3749040" cy="3265714"/>
          </a:xfrm>
          <a:prstGeom prst="rect">
            <a:avLst/>
          </a:prstGeom>
        </p:spPr>
      </p:pic>
      <p:sp>
        <p:nvSpPr>
          <p:cNvPr id="23" name="txt_16_20"/>
          <p:cNvSpPr txBox="1"/>
          <p:nvPr/>
        </p:nvSpPr>
        <p:spPr>
          <a:xfrm>
            <a:off x="548640" y="5167666"/>
            <a:ext cx="3749040" cy="274320"/>
          </a:xfrm>
          <a:prstGeom prst="rect">
            <a:avLst/>
          </a:prstGeom>
          <a:noFill/>
          <a:ln/>
        </p:spPr>
        <p:txBody>
          <a:bodyPr wrap="square" lIns="0" tIns="0" rIns="0" bIns="0" rtlCol="0" anchor="t"/>
          <a:lstStyle/>
          <a:p>
            <a:pPr algn="ctr" indent="0" marL="0">
              <a:buNone/>
            </a:pPr>
            <a:r>
              <a:rPr lang="en-US" sz="1150" dirty="0">
                <a:solidFill>
                  <a:srgbClr val="71819A"/>
                </a:solidFill>
                <a:latin typeface="Calibri" pitchFamily="34" charset="0"/>
                <a:ea typeface="Calibri" pitchFamily="34" charset="-122"/>
                <a:cs typeface="Calibri" pitchFamily="34" charset="-120"/>
              </a:rPr>
              <a:t>Worked example: 68 → held for review</a:t>
            </a:r>
            <a:endParaRPr lang="en-US" sz="1150" dirty="0"/>
          </a:p>
        </p:txBody>
      </p:sp>
      <p:sp>
        <p:nvSpPr>
          <p:cNvPr id="24" name="txt_16_21"/>
          <p:cNvSpPr txBox="1"/>
          <p:nvPr/>
        </p:nvSpPr>
        <p:spPr>
          <a:xfrm>
            <a:off x="4663440" y="3154680"/>
            <a:ext cx="45720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COMPOSITE SCORE BANDS</a:t>
            </a:r>
            <a:endParaRPr lang="en-US" sz="1050" dirty="0"/>
          </a:p>
        </p:txBody>
      </p:sp>
      <p:pic>
        <p:nvPicPr>
          <p:cNvPr id="25" name="img_16_22" descr="/private/tmp/claude-501/-Users-nareshramavath-Downloads/8e612fae-240f-42aa-9685-f77b61758c75/scratchpad/orig/ppt/media/image13.png">    </p:cNvPr>
          <p:cNvPicPr>
            <a:picLocks noChangeAspect="1"/>
          </p:cNvPicPr>
          <p:nvPr/>
        </p:nvPicPr>
        <p:blipFill>
          <a:blip r:embed="rId2"/>
          <a:stretch>
            <a:fillRect/>
          </a:stretch>
        </p:blipFill>
        <p:spPr>
          <a:xfrm>
            <a:off x="4663440" y="3456432"/>
            <a:ext cx="6979615" cy="601328"/>
          </a:xfrm>
          <a:prstGeom prst="rect">
            <a:avLst/>
          </a:prstGeom>
        </p:spPr>
      </p:pic>
      <p:sp>
        <p:nvSpPr>
          <p:cNvPr id="26" name="shp_16_23"/>
          <p:cNvSpPr/>
          <p:nvPr/>
        </p:nvSpPr>
        <p:spPr>
          <a:xfrm>
            <a:off x="4663440" y="4251960"/>
            <a:ext cx="3352648" cy="822960"/>
          </a:xfrm>
          <a:prstGeom prst="roundRect">
            <a:avLst>
              <a:gd name="adj" fmla="val 11111"/>
            </a:avLst>
          </a:prstGeom>
          <a:solidFill>
            <a:srgbClr val="0F2A22"/>
          </a:solidFill>
          <a:ln w="9525">
            <a:solidFill>
              <a:srgbClr val="22C55E"/>
            </a:solidFill>
            <a:prstDash val="solid"/>
          </a:ln>
        </p:spPr>
      </p:sp>
      <p:sp>
        <p:nvSpPr>
          <p:cNvPr id="27" name="txt_16_24"/>
          <p:cNvSpPr txBox="1"/>
          <p:nvPr/>
        </p:nvSpPr>
        <p:spPr>
          <a:xfrm>
            <a:off x="4892040" y="4361688"/>
            <a:ext cx="2895448" cy="320040"/>
          </a:xfrm>
          <a:prstGeom prst="rect">
            <a:avLst/>
          </a:prstGeom>
          <a:noFill/>
          <a:ln/>
        </p:spPr>
        <p:txBody>
          <a:bodyPr wrap="square" lIns="0" tIns="0" rIns="0" bIns="0" rtlCol="0" anchor="t"/>
          <a:lstStyle/>
          <a:p>
            <a:pPr indent="0" marL="0">
              <a:buNone/>
            </a:pPr>
            <a:r>
              <a:rPr lang="en-US" sz="1700" b="1" dirty="0">
                <a:solidFill>
                  <a:srgbClr val="22C55E"/>
                </a:solidFill>
                <a:latin typeface="Calibri" pitchFamily="34" charset="0"/>
                <a:ea typeface="Calibri" pitchFamily="34" charset="-122"/>
                <a:cs typeface="Calibri" pitchFamily="34" charset="-120"/>
              </a:rPr>
              <a:t>APPROVE</a:t>
            </a:r>
            <a:endParaRPr lang="en-US" sz="1700" dirty="0"/>
          </a:p>
        </p:txBody>
      </p:sp>
      <p:sp>
        <p:nvSpPr>
          <p:cNvPr id="28" name="txt_16_25"/>
          <p:cNvSpPr txBox="1"/>
          <p:nvPr/>
        </p:nvSpPr>
        <p:spPr>
          <a:xfrm>
            <a:off x="4892040" y="4690872"/>
            <a:ext cx="2895448" cy="274320"/>
          </a:xfrm>
          <a:prstGeom prst="rect">
            <a:avLst/>
          </a:prstGeom>
          <a:noFill/>
          <a:ln/>
        </p:spPr>
        <p:txBody>
          <a:bodyPr wrap="square" lIns="0" tIns="0" rIns="0" bIns="0" rtlCol="0" anchor="t"/>
          <a:lstStyle/>
          <a:p>
            <a:pPr indent="0" marL="0">
              <a:buNone/>
            </a:pPr>
            <a:r>
              <a:rPr lang="en-US" sz="1200" dirty="0">
                <a:solidFill>
                  <a:srgbClr val="F1F5F9"/>
                </a:solidFill>
                <a:latin typeface="Calibri" pitchFamily="34" charset="0"/>
                <a:ea typeface="Calibri" pitchFamily="34" charset="-122"/>
                <a:cs typeface="Calibri" pitchFamily="34" charset="-120"/>
              </a:rPr>
              <a:t>Score ≤ 60 — the quote issues automatically</a:t>
            </a:r>
            <a:endParaRPr lang="en-US" sz="1200" dirty="0"/>
          </a:p>
        </p:txBody>
      </p:sp>
      <p:sp>
        <p:nvSpPr>
          <p:cNvPr id="29" name="shp_16_26"/>
          <p:cNvSpPr/>
          <p:nvPr/>
        </p:nvSpPr>
        <p:spPr>
          <a:xfrm>
            <a:off x="8290408" y="4251960"/>
            <a:ext cx="3352648" cy="822960"/>
          </a:xfrm>
          <a:prstGeom prst="roundRect">
            <a:avLst>
              <a:gd name="adj" fmla="val 11111"/>
            </a:avLst>
          </a:prstGeom>
          <a:solidFill>
            <a:srgbClr val="33200F"/>
          </a:solidFill>
          <a:ln w="9525">
            <a:solidFill>
              <a:srgbClr val="F97316"/>
            </a:solidFill>
            <a:prstDash val="solid"/>
          </a:ln>
        </p:spPr>
      </p:sp>
      <p:sp>
        <p:nvSpPr>
          <p:cNvPr id="30" name="txt_16_27"/>
          <p:cNvSpPr txBox="1"/>
          <p:nvPr/>
        </p:nvSpPr>
        <p:spPr>
          <a:xfrm>
            <a:off x="8519008" y="4361688"/>
            <a:ext cx="2895448" cy="320040"/>
          </a:xfrm>
          <a:prstGeom prst="rect">
            <a:avLst/>
          </a:prstGeom>
          <a:noFill/>
          <a:ln/>
        </p:spPr>
        <p:txBody>
          <a:bodyPr wrap="square" lIns="0" tIns="0" rIns="0" bIns="0" rtlCol="0" anchor="t"/>
          <a:lstStyle/>
          <a:p>
            <a:pPr indent="0" marL="0">
              <a:buNone/>
            </a:pPr>
            <a:r>
              <a:rPr lang="en-US" sz="1700" b="1" dirty="0">
                <a:solidFill>
                  <a:srgbClr val="F97316"/>
                </a:solidFill>
                <a:latin typeface="Calibri" pitchFamily="34" charset="0"/>
                <a:ea typeface="Calibri" pitchFamily="34" charset="-122"/>
                <a:cs typeface="Calibri" pitchFamily="34" charset="-120"/>
              </a:rPr>
              <a:t>HOLD</a:t>
            </a:r>
            <a:endParaRPr lang="en-US" sz="1700" dirty="0"/>
          </a:p>
        </p:txBody>
      </p:sp>
      <p:sp>
        <p:nvSpPr>
          <p:cNvPr id="31" name="txt_16_28"/>
          <p:cNvSpPr txBox="1"/>
          <p:nvPr/>
        </p:nvSpPr>
        <p:spPr>
          <a:xfrm>
            <a:off x="8519008" y="4690872"/>
            <a:ext cx="2895448" cy="274320"/>
          </a:xfrm>
          <a:prstGeom prst="rect">
            <a:avLst/>
          </a:prstGeom>
          <a:noFill/>
          <a:ln/>
        </p:spPr>
        <p:txBody>
          <a:bodyPr wrap="square" lIns="0" tIns="0" rIns="0" bIns="0" rtlCol="0" anchor="t"/>
          <a:lstStyle/>
          <a:p>
            <a:pPr indent="0" marL="0">
              <a:buNone/>
            </a:pPr>
            <a:r>
              <a:rPr lang="en-US" sz="1200" dirty="0">
                <a:solidFill>
                  <a:srgbClr val="F1F5F9"/>
                </a:solidFill>
                <a:latin typeface="Calibri" pitchFamily="34" charset="0"/>
                <a:ea typeface="Calibri" pitchFamily="34" charset="-122"/>
                <a:cs typeface="Calibri" pitchFamily="34" charset="-120"/>
              </a:rPr>
              <a:t>Score &gt; 60 · hazmat · missing documents</a:t>
            </a:r>
            <a:endParaRPr lang="en-US" sz="1200" dirty="0"/>
          </a:p>
        </p:txBody>
      </p:sp>
      <p:sp>
        <p:nvSpPr>
          <p:cNvPr id="32" name="shp_16_29"/>
          <p:cNvSpPr/>
          <p:nvPr/>
        </p:nvSpPr>
        <p:spPr>
          <a:xfrm>
            <a:off x="4663440" y="5257800"/>
            <a:ext cx="6979615" cy="822960"/>
          </a:xfrm>
          <a:prstGeom prst="roundRect">
            <a:avLst>
              <a:gd name="adj" fmla="val 11111"/>
            </a:avLst>
          </a:prstGeom>
          <a:solidFill>
            <a:srgbClr val="112038"/>
          </a:solidFill>
          <a:ln w="9525">
            <a:solidFill>
              <a:srgbClr val="243A5E"/>
            </a:solidFill>
            <a:prstDash val="solid"/>
          </a:ln>
        </p:spPr>
      </p:sp>
      <p:sp>
        <p:nvSpPr>
          <p:cNvPr id="33" name="shp_16_30"/>
          <p:cNvSpPr/>
          <p:nvPr/>
        </p:nvSpPr>
        <p:spPr>
          <a:xfrm>
            <a:off x="4846320" y="5413248"/>
            <a:ext cx="512064" cy="512064"/>
          </a:xfrm>
          <a:prstGeom prst="ellipse">
            <a:avLst/>
          </a:prstGeom>
          <a:solidFill>
            <a:srgbClr val="3B2A0C"/>
          </a:solidFill>
          <a:ln w="9525">
            <a:solidFill>
              <a:srgbClr val="F5A524"/>
            </a:solidFill>
            <a:prstDash val="solid"/>
          </a:ln>
        </p:spPr>
      </p:sp>
      <p:pic>
        <p:nvPicPr>
          <p:cNvPr id="34" name="img_16_31" descr="preencoded.png">    </p:cNvPr>
          <p:cNvPicPr>
            <a:picLocks noChangeAspect="1"/>
          </p:cNvPicPr>
          <p:nvPr/>
        </p:nvPicPr>
        <p:blipFill>
          <a:blip r:embed="rId3"/>
          <a:stretch>
            <a:fillRect/>
          </a:stretch>
        </p:blipFill>
        <p:spPr>
          <a:xfrm>
            <a:off x="4969215" y="5536143"/>
            <a:ext cx="266273" cy="266273"/>
          </a:xfrm>
          <a:prstGeom prst="rect">
            <a:avLst/>
          </a:prstGeom>
        </p:spPr>
      </p:pic>
      <p:sp>
        <p:nvSpPr>
          <p:cNvPr id="35" name="txt_16_32"/>
          <p:cNvSpPr txBox="1"/>
          <p:nvPr/>
        </p:nvSpPr>
        <p:spPr>
          <a:xfrm>
            <a:off x="5532120" y="5303520"/>
            <a:ext cx="5928055"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Customs REJECTED is a hard block, </a:t>
            </a:r>
            <a:pPr indent="0" marL="0">
              <a:buNone/>
            </a:pPr>
            <a:r>
              <a:rPr lang="en-US" sz="1200" dirty="0">
                <a:solidFill>
                  <a:srgbClr val="AEBBCF"/>
                </a:solidFill>
                <a:latin typeface="Calibri" pitchFamily="34" charset="0"/>
                <a:ea typeface="Calibri" pitchFamily="34" charset="-122"/>
                <a:cs typeface="Calibri" pitchFamily="34" charset="-120"/>
              </a:rPr>
              <a:t>whatever the score says. A compliance failure is not averaged away — every held quote reaches a named human with the factor breakdown attached.</a:t>
            </a:r>
            <a:endParaRPr lang="en-US" sz="1200" dirty="0"/>
          </a:p>
        </p:txBody>
      </p:sp>
      <p:sp>
        <p:nvSpPr>
          <p:cNvPr id="36" name="txt_16_33"/>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7" name="txt_16_34"/>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16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94" fill="hold">
                      <p:stCondLst>
                        <p:cond delay="indefinite"/>
                      </p:stCondLst>
                      <p:childTnLst>
                        <p:par>
                          <p:cTn id="95" fill="hold">
                            <p:stCondLst>
                              <p:cond delay="0"/>
                            </p:stCondLst>
                            <p:childTnLst>
                              <p:par>
                                <p:cTn id="18" presetID="10"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23" presetID="42" presetClass="entr" presetSubtype="0" fill="hold" grpId="0" nodeType="withEffect" decel="100000">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0.05"/>
                                          </p:val>
                                        </p:tav>
                                        <p:tav tm="100000">
                                          <p:val>
                                            <p:strVal val="#ppt_y"/>
                                          </p:val>
                                        </p:tav>
                                      </p:tavLst>
                                    </p:anim>
                                  </p:childTnLst>
                                </p:cTn>
                              </p:par>
                              <p:par>
                                <p:cTn id="28" presetID="42" presetClass="entr" presetSubtype="0" fill="hold" grpId="0" nodeType="withEffect" decel="100000">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0.05"/>
                                          </p:val>
                                        </p:tav>
                                        <p:tav tm="100000">
                                          <p:val>
                                            <p:strVal val="#ppt_y"/>
                                          </p:val>
                                        </p:tav>
                                      </p:tavLst>
                                    </p:anim>
                                  </p:childTnLst>
                                </p:cTn>
                              </p:par>
                              <p:par>
                                <p:cTn id="33" presetID="42" presetClass="entr" presetSubtype="0" fill="hold" grpId="0" nodeType="withEffect" decel="100000">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0.05"/>
                                          </p:val>
                                        </p:tav>
                                        <p:tav tm="100000">
                                          <p:val>
                                            <p:strVal val="#ppt_y"/>
                                          </p:val>
                                        </p:tav>
                                      </p:tavLst>
                                    </p:anim>
                                  </p:childTnLst>
                                </p:cTn>
                              </p:par>
                              <p:par>
                                <p:cTn id="38" presetID="42" presetClass="entr" presetSubtype="0" fill="hold" grpId="0" nodeType="withEffect" decel="100000">
                                  <p:stCondLst>
                                    <p:cond delay="12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
                                          </p:val>
                                        </p:tav>
                                        <p:tav tm="100000">
                                          <p:val>
                                            <p:strVal val="#ppt_x"/>
                                          </p:val>
                                        </p:tav>
                                      </p:tavLst>
                                    </p:anim>
                                    <p:anim calcmode="lin" valueType="num">
                                      <p:cBhvr>
                                        <p:cTn id="37" dur="500" fill="hold"/>
                                        <p:tgtEl>
                                          <p:spTgt spid="10"/>
                                        </p:tgtEl>
                                        <p:attrNameLst>
                                          <p:attrName>ppt_y</p:attrName>
                                        </p:attrNameLst>
                                      </p:cBhvr>
                                      <p:tavLst>
                                        <p:tav tm="0">
                                          <p:val>
                                            <p:strVal val="#ppt_y+0.05"/>
                                          </p:val>
                                        </p:tav>
                                        <p:tav tm="100000">
                                          <p:val>
                                            <p:strVal val="#ppt_y"/>
                                          </p:val>
                                        </p:tav>
                                      </p:tavLst>
                                    </p:anim>
                                  </p:childTnLst>
                                </p:cTn>
                              </p:par>
                              <p:par>
                                <p:cTn id="43" presetID="42" presetClass="entr" presetSubtype="0" fill="hold" grpId="0" nodeType="withEffect" decel="100000">
                                  <p:stCondLst>
                                    <p:cond delay="12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fill="hold"/>
                                        <p:tgtEl>
                                          <p:spTgt spid="11"/>
                                        </p:tgtEl>
                                        <p:attrNameLst>
                                          <p:attrName>ppt_x</p:attrName>
                                        </p:attrNameLst>
                                      </p:cBhvr>
                                      <p:tavLst>
                                        <p:tav tm="0">
                                          <p:val>
                                            <p:strVal val="#ppt_x"/>
                                          </p:val>
                                        </p:tav>
                                        <p:tav tm="100000">
                                          <p:val>
                                            <p:strVal val="#ppt_x"/>
                                          </p:val>
                                        </p:tav>
                                      </p:tavLst>
                                    </p:anim>
                                    <p:anim calcmode="lin" valueType="num">
                                      <p:cBhvr>
                                        <p:cTn id="42" dur="500" fill="hold"/>
                                        <p:tgtEl>
                                          <p:spTgt spid="11"/>
                                        </p:tgtEl>
                                        <p:attrNameLst>
                                          <p:attrName>ppt_y</p:attrName>
                                        </p:attrNameLst>
                                      </p:cBhvr>
                                      <p:tavLst>
                                        <p:tav tm="0">
                                          <p:val>
                                            <p:strVal val="#ppt_y+0.05"/>
                                          </p:val>
                                        </p:tav>
                                        <p:tav tm="100000">
                                          <p:val>
                                            <p:strVal val="#ppt_y"/>
                                          </p:val>
                                        </p:tav>
                                      </p:tavLst>
                                    </p:anim>
                                  </p:childTnLst>
                                </p:cTn>
                              </p:par>
                              <p:par>
                                <p:cTn id="48" presetID="42" presetClass="entr" presetSubtype="0" fill="hold" grpId="0" nodeType="withEffect" decel="100000">
                                  <p:stCondLst>
                                    <p:cond delay="12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ppt_x</p:attrName>
                                        </p:attrNameLst>
                                      </p:cBhvr>
                                      <p:tavLst>
                                        <p:tav tm="0">
                                          <p:val>
                                            <p:strVal val="#ppt_x"/>
                                          </p:val>
                                        </p:tav>
                                        <p:tav tm="100000">
                                          <p:val>
                                            <p:strVal val="#ppt_x"/>
                                          </p:val>
                                        </p:tav>
                                      </p:tavLst>
                                    </p:anim>
                                    <p:anim calcmode="lin" valueType="num">
                                      <p:cBhvr>
                                        <p:cTn id="47" dur="500" fill="hold"/>
                                        <p:tgtEl>
                                          <p:spTgt spid="12"/>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decel="100000">
                                  <p:stCondLst>
                                    <p:cond delay="24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p:cTn id="51" dur="500" fill="hold"/>
                                        <p:tgtEl>
                                          <p:spTgt spid="13"/>
                                        </p:tgtEl>
                                        <p:attrNameLst>
                                          <p:attrName>ppt_x</p:attrName>
                                        </p:attrNameLst>
                                      </p:cBhvr>
                                      <p:tavLst>
                                        <p:tav tm="0">
                                          <p:val>
                                            <p:strVal val="#ppt_x"/>
                                          </p:val>
                                        </p:tav>
                                        <p:tav tm="100000">
                                          <p:val>
                                            <p:strVal val="#ppt_x"/>
                                          </p:val>
                                        </p:tav>
                                      </p:tavLst>
                                    </p:anim>
                                    <p:anim calcmode="lin" valueType="num">
                                      <p:cBhvr>
                                        <p:cTn id="52" dur="500" fill="hold"/>
                                        <p:tgtEl>
                                          <p:spTgt spid="13"/>
                                        </p:tgtEl>
                                        <p:attrNameLst>
                                          <p:attrName>ppt_y</p:attrName>
                                        </p:attrNameLst>
                                      </p:cBhvr>
                                      <p:tavLst>
                                        <p:tav tm="0">
                                          <p:val>
                                            <p:strVal val="#ppt_y+0.05"/>
                                          </p:val>
                                        </p:tav>
                                        <p:tav tm="100000">
                                          <p:val>
                                            <p:strVal val="#ppt_y"/>
                                          </p:val>
                                        </p:tav>
                                      </p:tavLst>
                                    </p:anim>
                                  </p:childTnLst>
                                </p:cTn>
                              </p:par>
                              <p:par>
                                <p:cTn id="58" presetID="42" presetClass="entr" presetSubtype="0" fill="hold" grpId="0" nodeType="withEffect" decel="100000">
                                  <p:stCondLst>
                                    <p:cond delay="24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p:cTn id="56" dur="500" fill="hold"/>
                                        <p:tgtEl>
                                          <p:spTgt spid="14"/>
                                        </p:tgtEl>
                                        <p:attrNameLst>
                                          <p:attrName>ppt_x</p:attrName>
                                        </p:attrNameLst>
                                      </p:cBhvr>
                                      <p:tavLst>
                                        <p:tav tm="0">
                                          <p:val>
                                            <p:strVal val="#ppt_x"/>
                                          </p:val>
                                        </p:tav>
                                        <p:tav tm="100000">
                                          <p:val>
                                            <p:strVal val="#ppt_x"/>
                                          </p:val>
                                        </p:tav>
                                      </p:tavLst>
                                    </p:anim>
                                    <p:anim calcmode="lin" valueType="num">
                                      <p:cBhvr>
                                        <p:cTn id="57" dur="500" fill="hold"/>
                                        <p:tgtEl>
                                          <p:spTgt spid="14"/>
                                        </p:tgtEl>
                                        <p:attrNameLst>
                                          <p:attrName>ppt_y</p:attrName>
                                        </p:attrNameLst>
                                      </p:cBhvr>
                                      <p:tavLst>
                                        <p:tav tm="0">
                                          <p:val>
                                            <p:strVal val="#ppt_y+0.05"/>
                                          </p:val>
                                        </p:tav>
                                        <p:tav tm="100000">
                                          <p:val>
                                            <p:strVal val="#ppt_y"/>
                                          </p:val>
                                        </p:tav>
                                      </p:tavLst>
                                    </p:anim>
                                  </p:childTnLst>
                                </p:cTn>
                              </p:par>
                              <p:par>
                                <p:cTn id="63" presetID="42" presetClass="entr" presetSubtype="0" fill="hold" grpId="0" nodeType="withEffect" decel="100000">
                                  <p:stCondLst>
                                    <p:cond delay="24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ppt_x</p:attrName>
                                        </p:attrNameLst>
                                      </p:cBhvr>
                                      <p:tavLst>
                                        <p:tav tm="0">
                                          <p:val>
                                            <p:strVal val="#ppt_x"/>
                                          </p:val>
                                        </p:tav>
                                        <p:tav tm="100000">
                                          <p:val>
                                            <p:strVal val="#ppt_x"/>
                                          </p:val>
                                        </p:tav>
                                      </p:tavLst>
                                    </p:anim>
                                    <p:anim calcmode="lin" valueType="num">
                                      <p:cBhvr>
                                        <p:cTn id="62" dur="500" fill="hold"/>
                                        <p:tgtEl>
                                          <p:spTgt spid="15"/>
                                        </p:tgtEl>
                                        <p:attrNameLst>
                                          <p:attrName>ppt_y</p:attrName>
                                        </p:attrNameLst>
                                      </p:cBhvr>
                                      <p:tavLst>
                                        <p:tav tm="0">
                                          <p:val>
                                            <p:strVal val="#ppt_y+0.05"/>
                                          </p:val>
                                        </p:tav>
                                        <p:tav tm="100000">
                                          <p:val>
                                            <p:strVal val="#ppt_y"/>
                                          </p:val>
                                        </p:tav>
                                      </p:tavLst>
                                    </p:anim>
                                  </p:childTnLst>
                                </p:cTn>
                              </p:par>
                              <p:par>
                                <p:cTn id="68" presetID="42" presetClass="entr" presetSubtype="0" fill="hold" grpId="0" nodeType="withEffect" decel="100000">
                                  <p:stCondLst>
                                    <p:cond delay="36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strVal val="#ppt_x"/>
                                          </p:val>
                                        </p:tav>
                                        <p:tav tm="100000">
                                          <p:val>
                                            <p:strVal val="#ppt_x"/>
                                          </p:val>
                                        </p:tav>
                                      </p:tavLst>
                                    </p:anim>
                                    <p:anim calcmode="lin" valueType="num">
                                      <p:cBhvr>
                                        <p:cTn id="67" dur="500" fill="hold"/>
                                        <p:tgtEl>
                                          <p:spTgt spid="16"/>
                                        </p:tgtEl>
                                        <p:attrNameLst>
                                          <p:attrName>ppt_y</p:attrName>
                                        </p:attrNameLst>
                                      </p:cBhvr>
                                      <p:tavLst>
                                        <p:tav tm="0">
                                          <p:val>
                                            <p:strVal val="#ppt_y+0.05"/>
                                          </p:val>
                                        </p:tav>
                                        <p:tav tm="100000">
                                          <p:val>
                                            <p:strVal val="#ppt_y"/>
                                          </p:val>
                                        </p:tav>
                                      </p:tavLst>
                                    </p:anim>
                                  </p:childTnLst>
                                </p:cTn>
                              </p:par>
                              <p:par>
                                <p:cTn id="73" presetID="42" presetClass="entr" presetSubtype="0" fill="hold" grpId="0" nodeType="withEffect" decel="100000">
                                  <p:stCondLst>
                                    <p:cond delay="36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p:cTn id="71" dur="500" fill="hold"/>
                                        <p:tgtEl>
                                          <p:spTgt spid="17"/>
                                        </p:tgtEl>
                                        <p:attrNameLst>
                                          <p:attrName>ppt_x</p:attrName>
                                        </p:attrNameLst>
                                      </p:cBhvr>
                                      <p:tavLst>
                                        <p:tav tm="0">
                                          <p:val>
                                            <p:strVal val="#ppt_x"/>
                                          </p:val>
                                        </p:tav>
                                        <p:tav tm="100000">
                                          <p:val>
                                            <p:strVal val="#ppt_x"/>
                                          </p:val>
                                        </p:tav>
                                      </p:tavLst>
                                    </p:anim>
                                    <p:anim calcmode="lin" valueType="num">
                                      <p:cBhvr>
                                        <p:cTn id="72" dur="500" fill="hold"/>
                                        <p:tgtEl>
                                          <p:spTgt spid="17"/>
                                        </p:tgtEl>
                                        <p:attrNameLst>
                                          <p:attrName>ppt_y</p:attrName>
                                        </p:attrNameLst>
                                      </p:cBhvr>
                                      <p:tavLst>
                                        <p:tav tm="0">
                                          <p:val>
                                            <p:strVal val="#ppt_y+0.05"/>
                                          </p:val>
                                        </p:tav>
                                        <p:tav tm="100000">
                                          <p:val>
                                            <p:strVal val="#ppt_y"/>
                                          </p:val>
                                        </p:tav>
                                      </p:tavLst>
                                    </p:anim>
                                  </p:childTnLst>
                                </p:cTn>
                              </p:par>
                              <p:par>
                                <p:cTn id="78" presetID="42" presetClass="entr" presetSubtype="0" fill="hold" grpId="0" nodeType="withEffect" decel="100000">
                                  <p:stCondLst>
                                    <p:cond delay="36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p:cTn id="76" dur="500" fill="hold"/>
                                        <p:tgtEl>
                                          <p:spTgt spid="18"/>
                                        </p:tgtEl>
                                        <p:attrNameLst>
                                          <p:attrName>ppt_x</p:attrName>
                                        </p:attrNameLst>
                                      </p:cBhvr>
                                      <p:tavLst>
                                        <p:tav tm="0">
                                          <p:val>
                                            <p:strVal val="#ppt_x"/>
                                          </p:val>
                                        </p:tav>
                                        <p:tav tm="100000">
                                          <p:val>
                                            <p:strVal val="#ppt_x"/>
                                          </p:val>
                                        </p:tav>
                                      </p:tavLst>
                                    </p:anim>
                                    <p:anim calcmode="lin" valueType="num">
                                      <p:cBhvr>
                                        <p:cTn id="77" dur="500" fill="hold"/>
                                        <p:tgtEl>
                                          <p:spTgt spid="18"/>
                                        </p:tgtEl>
                                        <p:attrNameLst>
                                          <p:attrName>ppt_y</p:attrName>
                                        </p:attrNameLst>
                                      </p:cBhvr>
                                      <p:tavLst>
                                        <p:tav tm="0">
                                          <p:val>
                                            <p:strVal val="#ppt_y+0.05"/>
                                          </p:val>
                                        </p:tav>
                                        <p:tav tm="100000">
                                          <p:val>
                                            <p:strVal val="#ppt_y"/>
                                          </p:val>
                                        </p:tav>
                                      </p:tavLst>
                                    </p:anim>
                                  </p:childTnLst>
                                </p:cTn>
                              </p:par>
                              <p:par>
                                <p:cTn id="83" presetID="42" presetClass="entr" presetSubtype="0" fill="hold" grpId="0" nodeType="withEffect" decel="100000">
                                  <p:stCondLst>
                                    <p:cond delay="48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500" fill="hold"/>
                                        <p:tgtEl>
                                          <p:spTgt spid="19"/>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48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p:cTn id="86" dur="500" fill="hold"/>
                                        <p:tgtEl>
                                          <p:spTgt spid="20"/>
                                        </p:tgtEl>
                                        <p:attrNameLst>
                                          <p:attrName>ppt_x</p:attrName>
                                        </p:attrNameLst>
                                      </p:cBhvr>
                                      <p:tavLst>
                                        <p:tav tm="0">
                                          <p:val>
                                            <p:strVal val="#ppt_x"/>
                                          </p:val>
                                        </p:tav>
                                        <p:tav tm="100000">
                                          <p:val>
                                            <p:strVal val="#ppt_x"/>
                                          </p:val>
                                        </p:tav>
                                      </p:tavLst>
                                    </p:anim>
                                    <p:anim calcmode="lin" valueType="num">
                                      <p:cBhvr>
                                        <p:cTn id="87" dur="500" fill="hold"/>
                                        <p:tgtEl>
                                          <p:spTgt spid="20"/>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decel="100000">
                                  <p:stCondLst>
                                    <p:cond delay="48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p:cTn id="91" dur="500" fill="hold"/>
                                        <p:tgtEl>
                                          <p:spTgt spid="21"/>
                                        </p:tgtEl>
                                        <p:attrNameLst>
                                          <p:attrName>ppt_x</p:attrName>
                                        </p:attrNameLst>
                                      </p:cBhvr>
                                      <p:tavLst>
                                        <p:tav tm="0">
                                          <p:val>
                                            <p:strVal val="#ppt_x"/>
                                          </p:val>
                                        </p:tav>
                                        <p:tav tm="100000">
                                          <p:val>
                                            <p:strVal val="#ppt_x"/>
                                          </p:val>
                                        </p:tav>
                                      </p:tavLst>
                                    </p:anim>
                                    <p:anim calcmode="lin" valueType="num">
                                      <p:cBhvr>
                                        <p:cTn id="92" dur="500" fill="hold"/>
                                        <p:tgtEl>
                                          <p:spTgt spid="21"/>
                                        </p:tgtEl>
                                        <p:attrNameLst>
                                          <p:attrName>ppt_y</p:attrName>
                                        </p:attrNameLst>
                                      </p:cBhvr>
                                      <p:tavLst>
                                        <p:tav tm="0">
                                          <p:val>
                                            <p:strVal val="#ppt_y+0.05"/>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0" presetID="53" presetClass="entr" presetSubtype="16" fill="hold" grpId="0" nodeType="clickEffect" decel="100000">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p:cTn id="97" dur="700" fill="hold"/>
                                        <p:tgtEl>
                                          <p:spTgt spid="22"/>
                                        </p:tgtEl>
                                        <p:attrNameLst>
                                          <p:attrName>ppt_w</p:attrName>
                                        </p:attrNameLst>
                                      </p:cBhvr>
                                      <p:tavLst>
                                        <p:tav tm="0">
                                          <p:val>
                                            <p:strVal val="#ppt_w*0.70"/>
                                          </p:val>
                                        </p:tav>
                                        <p:tav tm="100000">
                                          <p:val>
                                            <p:strVal val="#ppt_w"/>
                                          </p:val>
                                        </p:tav>
                                      </p:tavLst>
                                    </p:anim>
                                    <p:anim calcmode="lin" valueType="num">
                                      <p:cBhvr>
                                        <p:cTn id="98" dur="700" fill="hold"/>
                                        <p:tgtEl>
                                          <p:spTgt spid="22"/>
                                        </p:tgtEl>
                                        <p:attrNameLst>
                                          <p:attrName>ppt_h</p:attrName>
                                        </p:attrNameLst>
                                      </p:cBhvr>
                                      <p:tavLst>
                                        <p:tav tm="0">
                                          <p:val>
                                            <p:strVal val="#ppt_h*0.70"/>
                                          </p:val>
                                        </p:tav>
                                        <p:tav tm="100000">
                                          <p:val>
                                            <p:strVal val="#ppt_h"/>
                                          </p:val>
                                        </p:tav>
                                      </p:tavLst>
                                    </p:anim>
                                    <p:animEffect transition="in" filter="fade">
                                      <p:cBhvr>
                                        <p:cTn id="99" dur="700"/>
                                        <p:tgtEl>
                                          <p:spTgt spid="22"/>
                                        </p:tgtEl>
                                      </p:cBhvr>
                                    </p:animEffect>
                                  </p:childTnLst>
                                </p:cTn>
                              </p:par>
                              <p:par>
                                <p:cTn id="103" presetID="10" presetClass="entr" presetSubtype="0" fill="hold" grpId="0" nodeType="withEffect" decel="100000">
                                  <p:stCondLst>
                                    <p:cond delay="40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childTnLst>
                                </p:cTn>
                              </p:par>
                            </p:childTnLst>
                          </p:cTn>
                        </p:par>
                      </p:childTnLst>
                    </p:cTn>
                  </p:par>
                  <p:par>
                    <p:cTn id="112" fill="hold">
                      <p:stCondLst>
                        <p:cond delay="indefinite"/>
                      </p:stCondLst>
                      <p:childTnLst>
                        <p:par>
                          <p:cTn id="113" fill="hold">
                            <p:stCondLst>
                              <p:cond delay="0"/>
                            </p:stCondLst>
                            <p:childTnLst>
                              <p:par>
                                <p:cTn id="108" presetID="10" presetClass="entr" presetSubtype="0" fill="hold" grpId="0" nodeType="clickEffect" decel="100000">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childTnLst>
                                </p:cTn>
                              </p:par>
                              <p:par>
                                <p:cTn id="111" presetID="22" presetClass="entr" presetSubtype="8" fill="hold" grpId="0" nodeType="withEffect" decel="100000">
                                  <p:stCondLst>
                                    <p:cond delay="100"/>
                                  </p:stCondLst>
                                  <p:childTnLst>
                                    <p:set>
                                      <p:cBhvr>
                                        <p:cTn id="109" dur="1" fill="hold">
                                          <p:stCondLst>
                                            <p:cond delay="0"/>
                                          </p:stCondLst>
                                        </p:cTn>
                                        <p:tgtEl>
                                          <p:spTgt spid="25"/>
                                        </p:tgtEl>
                                        <p:attrNameLst>
                                          <p:attrName>style.visibility</p:attrName>
                                        </p:attrNameLst>
                                      </p:cBhvr>
                                      <p:to>
                                        <p:strVal val="visible"/>
                                      </p:to>
                                    </p:set>
                                    <p:animEffect transition="in" filter="wipe(right)">
                                      <p:cBhvr>
                                        <p:cTn id="110" dur="1000"/>
                                        <p:tgtEl>
                                          <p:spTgt spid="25"/>
                                        </p:tgtEl>
                                      </p:cBhvr>
                                    </p:animEffect>
                                  </p:childTnLst>
                                </p:cTn>
                              </p:par>
                            </p:childTnLst>
                          </p:cTn>
                        </p:par>
                      </p:childTnLst>
                    </p:cTn>
                  </p:par>
                  <p:par>
                    <p:cTn id="144" fill="hold">
                      <p:stCondLst>
                        <p:cond delay="indefinite"/>
                      </p:stCondLst>
                      <p:childTnLst>
                        <p:par>
                          <p:cTn id="145" fill="hold">
                            <p:stCondLst>
                              <p:cond delay="0"/>
                            </p:stCondLst>
                            <p:childTnLst>
                              <p:par>
                                <p:cTn id="118" presetID="42" presetClass="entr" presetSubtype="0" fill="hold" grpId="0" nodeType="clickEffect" decel="100000">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00"/>
                                        <p:tgtEl>
                                          <p:spTgt spid="26"/>
                                        </p:tgtEl>
                                      </p:cBhvr>
                                    </p:animEffect>
                                    <p:anim calcmode="lin" valueType="num">
                                      <p:cBhvr>
                                        <p:cTn id="116" dur="500" fill="hold"/>
                                        <p:tgtEl>
                                          <p:spTgt spid="26"/>
                                        </p:tgtEl>
                                        <p:attrNameLst>
                                          <p:attrName>ppt_x</p:attrName>
                                        </p:attrNameLst>
                                      </p:cBhvr>
                                      <p:tavLst>
                                        <p:tav tm="0">
                                          <p:val>
                                            <p:strVal val="#ppt_x"/>
                                          </p:val>
                                        </p:tav>
                                        <p:tav tm="100000">
                                          <p:val>
                                            <p:strVal val="#ppt_x"/>
                                          </p:val>
                                        </p:tav>
                                      </p:tavLst>
                                    </p:anim>
                                    <p:anim calcmode="lin" valueType="num">
                                      <p:cBhvr>
                                        <p:cTn id="117" dur="500" fill="hold"/>
                                        <p:tgtEl>
                                          <p:spTgt spid="26"/>
                                        </p:tgtEl>
                                        <p:attrNameLst>
                                          <p:attrName>ppt_y</p:attrName>
                                        </p:attrNameLst>
                                      </p:cBhvr>
                                      <p:tavLst>
                                        <p:tav tm="0">
                                          <p:val>
                                            <p:strVal val="#ppt_y+0.05"/>
                                          </p:val>
                                        </p:tav>
                                        <p:tav tm="100000">
                                          <p:val>
                                            <p:strVal val="#ppt_y"/>
                                          </p:val>
                                        </p:tav>
                                      </p:tavLst>
                                    </p:anim>
                                  </p:childTnLst>
                                </p:cTn>
                              </p:par>
                              <p:par>
                                <p:cTn id="123" presetID="42" presetClass="entr" presetSubtype="0" fill="hold" grpId="0" nodeType="withEffect" decel="100000">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00"/>
                                        <p:tgtEl>
                                          <p:spTgt spid="27"/>
                                        </p:tgtEl>
                                      </p:cBhvr>
                                    </p:animEffect>
                                    <p:anim calcmode="lin" valueType="num">
                                      <p:cBhvr>
                                        <p:cTn id="121" dur="500" fill="hold"/>
                                        <p:tgtEl>
                                          <p:spTgt spid="27"/>
                                        </p:tgtEl>
                                        <p:attrNameLst>
                                          <p:attrName>ppt_x</p:attrName>
                                        </p:attrNameLst>
                                      </p:cBhvr>
                                      <p:tavLst>
                                        <p:tav tm="0">
                                          <p:val>
                                            <p:strVal val="#ppt_x"/>
                                          </p:val>
                                        </p:tav>
                                        <p:tav tm="100000">
                                          <p:val>
                                            <p:strVal val="#ppt_x"/>
                                          </p:val>
                                        </p:tav>
                                      </p:tavLst>
                                    </p:anim>
                                    <p:anim calcmode="lin" valueType="num">
                                      <p:cBhvr>
                                        <p:cTn id="122" dur="500" fill="hold"/>
                                        <p:tgtEl>
                                          <p:spTgt spid="27"/>
                                        </p:tgtEl>
                                        <p:attrNameLst>
                                          <p:attrName>ppt_y</p:attrName>
                                        </p:attrNameLst>
                                      </p:cBhvr>
                                      <p:tavLst>
                                        <p:tav tm="0">
                                          <p:val>
                                            <p:strVal val="#ppt_y+0.05"/>
                                          </p:val>
                                        </p:tav>
                                        <p:tav tm="100000">
                                          <p:val>
                                            <p:strVal val="#ppt_y"/>
                                          </p:val>
                                        </p:tav>
                                      </p:tavLst>
                                    </p:anim>
                                  </p:childTnLst>
                                </p:cTn>
                              </p:par>
                              <p:par>
                                <p:cTn id="128" presetID="42" presetClass="entr" presetSubtype="0" fill="hold" grpId="0" nodeType="withEffect" decel="100000">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00"/>
                                        <p:tgtEl>
                                          <p:spTgt spid="28"/>
                                        </p:tgtEl>
                                      </p:cBhvr>
                                    </p:animEffect>
                                    <p:anim calcmode="lin" valueType="num">
                                      <p:cBhvr>
                                        <p:cTn id="126" dur="500" fill="hold"/>
                                        <p:tgtEl>
                                          <p:spTgt spid="28"/>
                                        </p:tgtEl>
                                        <p:attrNameLst>
                                          <p:attrName>ppt_x</p:attrName>
                                        </p:attrNameLst>
                                      </p:cBhvr>
                                      <p:tavLst>
                                        <p:tav tm="0">
                                          <p:val>
                                            <p:strVal val="#ppt_x"/>
                                          </p:val>
                                        </p:tav>
                                        <p:tav tm="100000">
                                          <p:val>
                                            <p:strVal val="#ppt_x"/>
                                          </p:val>
                                        </p:tav>
                                      </p:tavLst>
                                    </p:anim>
                                    <p:anim calcmode="lin" valueType="num">
                                      <p:cBhvr>
                                        <p:cTn id="127" dur="500" fill="hold"/>
                                        <p:tgtEl>
                                          <p:spTgt spid="28"/>
                                        </p:tgtEl>
                                        <p:attrNameLst>
                                          <p:attrName>ppt_y</p:attrName>
                                        </p:attrNameLst>
                                      </p:cBhvr>
                                      <p:tavLst>
                                        <p:tav tm="0">
                                          <p:val>
                                            <p:strVal val="#ppt_y+0.05"/>
                                          </p:val>
                                        </p:tav>
                                        <p:tav tm="100000">
                                          <p:val>
                                            <p:strVal val="#ppt_y"/>
                                          </p:val>
                                        </p:tav>
                                      </p:tavLst>
                                    </p:anim>
                                  </p:childTnLst>
                                </p:cTn>
                              </p:par>
                              <p:par>
                                <p:cTn id="133" presetID="42" presetClass="entr" presetSubtype="0" fill="hold" grpId="0" nodeType="withEffect" decel="100000">
                                  <p:stCondLst>
                                    <p:cond delay="20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anim calcmode="lin" valueType="num">
                                      <p:cBhvr>
                                        <p:cTn id="131" dur="500" fill="hold"/>
                                        <p:tgtEl>
                                          <p:spTgt spid="29"/>
                                        </p:tgtEl>
                                        <p:attrNameLst>
                                          <p:attrName>ppt_x</p:attrName>
                                        </p:attrNameLst>
                                      </p:cBhvr>
                                      <p:tavLst>
                                        <p:tav tm="0">
                                          <p:val>
                                            <p:strVal val="#ppt_x"/>
                                          </p:val>
                                        </p:tav>
                                        <p:tav tm="100000">
                                          <p:val>
                                            <p:strVal val="#ppt_x"/>
                                          </p:val>
                                        </p:tav>
                                      </p:tavLst>
                                    </p:anim>
                                    <p:anim calcmode="lin" valueType="num">
                                      <p:cBhvr>
                                        <p:cTn id="132" dur="500" fill="hold"/>
                                        <p:tgtEl>
                                          <p:spTgt spid="29"/>
                                        </p:tgtEl>
                                        <p:attrNameLst>
                                          <p:attrName>ppt_y</p:attrName>
                                        </p:attrNameLst>
                                      </p:cBhvr>
                                      <p:tavLst>
                                        <p:tav tm="0">
                                          <p:val>
                                            <p:strVal val="#ppt_y+0.05"/>
                                          </p:val>
                                        </p:tav>
                                        <p:tav tm="100000">
                                          <p:val>
                                            <p:strVal val="#ppt_y"/>
                                          </p:val>
                                        </p:tav>
                                      </p:tavLst>
                                    </p:anim>
                                  </p:childTnLst>
                                </p:cTn>
                              </p:par>
                              <p:par>
                                <p:cTn id="138" presetID="42" presetClass="entr" presetSubtype="0" fill="hold" grpId="0" nodeType="withEffect" decel="100000">
                                  <p:stCondLst>
                                    <p:cond delay="20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500"/>
                                        <p:tgtEl>
                                          <p:spTgt spid="30"/>
                                        </p:tgtEl>
                                      </p:cBhvr>
                                    </p:animEffect>
                                    <p:anim calcmode="lin" valueType="num">
                                      <p:cBhvr>
                                        <p:cTn id="136" dur="500" fill="hold"/>
                                        <p:tgtEl>
                                          <p:spTgt spid="30"/>
                                        </p:tgtEl>
                                        <p:attrNameLst>
                                          <p:attrName>ppt_x</p:attrName>
                                        </p:attrNameLst>
                                      </p:cBhvr>
                                      <p:tavLst>
                                        <p:tav tm="0">
                                          <p:val>
                                            <p:strVal val="#ppt_x"/>
                                          </p:val>
                                        </p:tav>
                                        <p:tav tm="100000">
                                          <p:val>
                                            <p:strVal val="#ppt_x"/>
                                          </p:val>
                                        </p:tav>
                                      </p:tavLst>
                                    </p:anim>
                                    <p:anim calcmode="lin" valueType="num">
                                      <p:cBhvr>
                                        <p:cTn id="137" dur="500" fill="hold"/>
                                        <p:tgtEl>
                                          <p:spTgt spid="30"/>
                                        </p:tgtEl>
                                        <p:attrNameLst>
                                          <p:attrName>ppt_y</p:attrName>
                                        </p:attrNameLst>
                                      </p:cBhvr>
                                      <p:tavLst>
                                        <p:tav tm="0">
                                          <p:val>
                                            <p:strVal val="#ppt_y+0.05"/>
                                          </p:val>
                                        </p:tav>
                                        <p:tav tm="100000">
                                          <p:val>
                                            <p:strVal val="#ppt_y"/>
                                          </p:val>
                                        </p:tav>
                                      </p:tavLst>
                                    </p:anim>
                                  </p:childTnLst>
                                </p:cTn>
                              </p:par>
                              <p:par>
                                <p:cTn id="143" presetID="42" presetClass="entr" presetSubtype="0" fill="hold" grpId="0" nodeType="withEffect" decel="100000">
                                  <p:stCondLst>
                                    <p:cond delay="20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500"/>
                                        <p:tgtEl>
                                          <p:spTgt spid="31"/>
                                        </p:tgtEl>
                                      </p:cBhvr>
                                    </p:animEffect>
                                    <p:anim calcmode="lin" valueType="num">
                                      <p:cBhvr>
                                        <p:cTn id="141" dur="500" fill="hold"/>
                                        <p:tgtEl>
                                          <p:spTgt spid="31"/>
                                        </p:tgtEl>
                                        <p:attrNameLst>
                                          <p:attrName>ppt_x</p:attrName>
                                        </p:attrNameLst>
                                      </p:cBhvr>
                                      <p:tavLst>
                                        <p:tav tm="0">
                                          <p:val>
                                            <p:strVal val="#ppt_x"/>
                                          </p:val>
                                        </p:tav>
                                        <p:tav tm="100000">
                                          <p:val>
                                            <p:strVal val="#ppt_x"/>
                                          </p:val>
                                        </p:tav>
                                      </p:tavLst>
                                    </p:anim>
                                    <p:anim calcmode="lin" valueType="num">
                                      <p:cBhvr>
                                        <p:cTn id="142" dur="500" fill="hold"/>
                                        <p:tgtEl>
                                          <p:spTgt spid="31"/>
                                        </p:tgtEl>
                                        <p:attrNameLst>
                                          <p:attrName>ppt_y</p:attrName>
                                        </p:attrNameLst>
                                      </p:cBhvr>
                                      <p:tavLst>
                                        <p:tav tm="0">
                                          <p:val>
                                            <p:strVal val="#ppt_y+0.05"/>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50" presetID="42" presetClass="entr" presetSubtype="0" fill="hold" grpId="0" nodeType="clickEffect" decel="100000">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0.05"/>
                                          </p:val>
                                        </p:tav>
                                        <p:tav tm="100000">
                                          <p:val>
                                            <p:strVal val="#ppt_y"/>
                                          </p:val>
                                        </p:tav>
                                      </p:tavLst>
                                    </p:anim>
                                  </p:childTnLst>
                                </p:cTn>
                              </p:par>
                              <p:par>
                                <p:cTn id="155" presetID="42" presetClass="entr" presetSubtype="0" fill="hold" grpId="0" nodeType="withEffect" decel="100000">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0.05"/>
                                          </p:val>
                                        </p:tav>
                                        <p:tav tm="100000">
                                          <p:val>
                                            <p:strVal val="#ppt_y"/>
                                          </p:val>
                                        </p:tav>
                                      </p:tavLst>
                                    </p:anim>
                                  </p:childTnLst>
                                </p:cTn>
                              </p:par>
                              <p:par>
                                <p:cTn id="160" presetID="42" presetClass="entr" presetSubtype="0" fill="hold" grpId="0" nodeType="withEffect" decel="100000">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0.05"/>
                                          </p:val>
                                        </p:tav>
                                        <p:tav tm="100000">
                                          <p:val>
                                            <p:strVal val="#ppt_y"/>
                                          </p:val>
                                        </p:tav>
                                      </p:tavLst>
                                    </p:anim>
                                  </p:childTnLst>
                                </p:cTn>
                              </p:par>
                              <p:par>
                                <p:cTn id="165" presetID="42" presetClass="entr" presetSubtype="0" fill="hold" grpId="0" nodeType="withEffect" decel="100000">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3" name="txt_17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USER JOURNEY</a:t>
            </a:r>
            <a:endParaRPr lang="en-US" sz="1100" dirty="0"/>
          </a:p>
        </p:txBody>
      </p:sp>
      <p:sp>
        <p:nvSpPr>
          <p:cNvPr id="4" name="txt_17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One Secure Login, Three Roles</a:t>
            </a:r>
            <a:endParaRPr lang="en-US" sz="3200" dirty="0"/>
          </a:p>
        </p:txBody>
      </p:sp>
      <p:sp>
        <p:nvSpPr>
          <p:cNvPr id="5" name="txt_17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Each user is authenticated, their role identified, and routed to the dashboard their permissions allow.</a:t>
            </a:r>
            <a:endParaRPr lang="en-US" sz="1500" dirty="0"/>
          </a:p>
        </p:txBody>
      </p:sp>
      <p:sp>
        <p:nvSpPr>
          <p:cNvPr id="6" name="shp_17_3"/>
          <p:cNvSpPr/>
          <p:nvPr/>
        </p:nvSpPr>
        <p:spPr>
          <a:xfrm>
            <a:off x="548640" y="1828800"/>
            <a:ext cx="3515258" cy="2880360"/>
          </a:xfrm>
          <a:prstGeom prst="roundRect">
            <a:avLst>
              <a:gd name="adj" fmla="val 3175"/>
            </a:avLst>
          </a:prstGeom>
          <a:solidFill>
            <a:srgbClr val="112038"/>
          </a:solidFill>
          <a:ln w="9525">
            <a:solidFill>
              <a:srgbClr val="243A5E"/>
            </a:solidFill>
            <a:prstDash val="solid"/>
          </a:ln>
        </p:spPr>
      </p:sp>
      <p:sp>
        <p:nvSpPr>
          <p:cNvPr id="7" name="txt_17_4"/>
          <p:cNvSpPr txBox="1"/>
          <p:nvPr/>
        </p:nvSpPr>
        <p:spPr>
          <a:xfrm>
            <a:off x="777240" y="1993392"/>
            <a:ext cx="305805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SHIPPER</a:t>
            </a:r>
            <a:endParaRPr lang="en-US" sz="1050" dirty="0"/>
          </a:p>
        </p:txBody>
      </p:sp>
      <p:pic>
        <p:nvPicPr>
          <p:cNvPr id="8" name="img_17_5" descr="/private/tmp/claude-501/-Users-nareshramavath-Downloads/8e612fae-240f-42aa-9685-f77b61758c75/scratchpad/orig/ppt/media/image14.png">    </p:cNvPr>
          <p:cNvPicPr>
            <a:picLocks noChangeAspect="1"/>
          </p:cNvPicPr>
          <p:nvPr/>
        </p:nvPicPr>
        <p:blipFill>
          <a:blip r:embed="rId1"/>
          <a:stretch>
            <a:fillRect/>
          </a:stretch>
        </p:blipFill>
        <p:spPr>
          <a:xfrm>
            <a:off x="685800" y="2331720"/>
            <a:ext cx="3240938" cy="1486669"/>
          </a:xfrm>
          <a:prstGeom prst="rect">
            <a:avLst/>
          </a:prstGeom>
        </p:spPr>
      </p:pic>
      <p:sp>
        <p:nvSpPr>
          <p:cNvPr id="9" name="txt_17_6"/>
          <p:cNvSpPr txBox="1"/>
          <p:nvPr/>
        </p:nvSpPr>
        <p:spPr>
          <a:xfrm>
            <a:off x="777240" y="4001269"/>
            <a:ext cx="3058058" cy="86868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Enters a registered email and password to securely access the platform.</a:t>
            </a:r>
            <a:endParaRPr lang="en-US" sz="1300" dirty="0"/>
          </a:p>
        </p:txBody>
      </p:sp>
      <p:sp>
        <p:nvSpPr>
          <p:cNvPr id="10" name="shp_17_7"/>
          <p:cNvSpPr/>
          <p:nvPr/>
        </p:nvSpPr>
        <p:spPr>
          <a:xfrm>
            <a:off x="4338218" y="1828800"/>
            <a:ext cx="3515258" cy="2880360"/>
          </a:xfrm>
          <a:prstGeom prst="roundRect">
            <a:avLst>
              <a:gd name="adj" fmla="val 3175"/>
            </a:avLst>
          </a:prstGeom>
          <a:solidFill>
            <a:srgbClr val="112038"/>
          </a:solidFill>
          <a:ln w="9525">
            <a:solidFill>
              <a:srgbClr val="243A5E"/>
            </a:solidFill>
            <a:prstDash val="solid"/>
          </a:ln>
        </p:spPr>
      </p:sp>
      <p:sp>
        <p:nvSpPr>
          <p:cNvPr id="11" name="txt_17_8"/>
          <p:cNvSpPr txBox="1"/>
          <p:nvPr/>
        </p:nvSpPr>
        <p:spPr>
          <a:xfrm>
            <a:off x="4566818" y="1993392"/>
            <a:ext cx="305805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COMPANY AGENT</a:t>
            </a:r>
            <a:endParaRPr lang="en-US" sz="1050" dirty="0"/>
          </a:p>
        </p:txBody>
      </p:sp>
      <p:pic>
        <p:nvPicPr>
          <p:cNvPr id="12" name="img_17_9" descr="/private/tmp/claude-501/-Users-nareshramavath-Downloads/8e612fae-240f-42aa-9685-f77b61758c75/scratchpad/orig/ppt/media/image16.png">    </p:cNvPr>
          <p:cNvPicPr>
            <a:picLocks noChangeAspect="1"/>
          </p:cNvPicPr>
          <p:nvPr/>
        </p:nvPicPr>
        <p:blipFill>
          <a:blip r:embed="rId2"/>
          <a:stretch>
            <a:fillRect/>
          </a:stretch>
        </p:blipFill>
        <p:spPr>
          <a:xfrm>
            <a:off x="4475378" y="2331720"/>
            <a:ext cx="3240938" cy="1486669"/>
          </a:xfrm>
          <a:prstGeom prst="rect">
            <a:avLst/>
          </a:prstGeom>
        </p:spPr>
      </p:pic>
      <p:sp>
        <p:nvSpPr>
          <p:cNvPr id="13" name="txt_17_10"/>
          <p:cNvSpPr txBox="1"/>
          <p:nvPr/>
        </p:nvSpPr>
        <p:spPr>
          <a:xfrm>
            <a:off x="4566818" y="4001269"/>
            <a:ext cx="3058058" cy="86868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The system authenticates the user and identifies the assigned role before granting access.</a:t>
            </a:r>
            <a:endParaRPr lang="en-US" sz="1300" dirty="0"/>
          </a:p>
        </p:txBody>
      </p:sp>
      <p:sp>
        <p:nvSpPr>
          <p:cNvPr id="14" name="shp_17_11"/>
          <p:cNvSpPr/>
          <p:nvPr/>
        </p:nvSpPr>
        <p:spPr>
          <a:xfrm>
            <a:off x="8127797" y="1828800"/>
            <a:ext cx="3515258" cy="2880360"/>
          </a:xfrm>
          <a:prstGeom prst="roundRect">
            <a:avLst>
              <a:gd name="adj" fmla="val 3175"/>
            </a:avLst>
          </a:prstGeom>
          <a:solidFill>
            <a:srgbClr val="112038"/>
          </a:solidFill>
          <a:ln w="9525">
            <a:solidFill>
              <a:srgbClr val="243A5E"/>
            </a:solidFill>
            <a:prstDash val="solid"/>
          </a:ln>
        </p:spPr>
      </p:sp>
      <p:sp>
        <p:nvSpPr>
          <p:cNvPr id="15" name="txt_17_12"/>
          <p:cNvSpPr txBox="1"/>
          <p:nvPr/>
        </p:nvSpPr>
        <p:spPr>
          <a:xfrm>
            <a:off x="8356397" y="1993392"/>
            <a:ext cx="305805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CUSTOMS OFFICER</a:t>
            </a:r>
            <a:endParaRPr lang="en-US" sz="1050" dirty="0"/>
          </a:p>
        </p:txBody>
      </p:sp>
      <p:pic>
        <p:nvPicPr>
          <p:cNvPr id="16" name="img_17_13" descr="/private/tmp/claude-501/-Users-nareshramavath-Downloads/8e612fae-240f-42aa-9685-f77b61758c75/scratchpad/orig/ppt/media/image15.png">    </p:cNvPr>
          <p:cNvPicPr>
            <a:picLocks noChangeAspect="1"/>
          </p:cNvPicPr>
          <p:nvPr/>
        </p:nvPicPr>
        <p:blipFill>
          <a:blip r:embed="rId3"/>
          <a:stretch>
            <a:fillRect/>
          </a:stretch>
        </p:blipFill>
        <p:spPr>
          <a:xfrm>
            <a:off x="8264957" y="2331720"/>
            <a:ext cx="3240938" cy="1486669"/>
          </a:xfrm>
          <a:prstGeom prst="rect">
            <a:avLst/>
          </a:prstGeom>
        </p:spPr>
      </p:pic>
      <p:sp>
        <p:nvSpPr>
          <p:cNvPr id="17" name="txt_17_14"/>
          <p:cNvSpPr txBox="1"/>
          <p:nvPr/>
        </p:nvSpPr>
        <p:spPr>
          <a:xfrm>
            <a:off x="8356397" y="4001269"/>
            <a:ext cx="3058058" cy="86868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After login, each role is directed to its own dashboard based on its permissions.</a:t>
            </a:r>
            <a:endParaRPr lang="en-US" sz="1300" dirty="0"/>
          </a:p>
        </p:txBody>
      </p:sp>
      <p:sp>
        <p:nvSpPr>
          <p:cNvPr id="18" name="shp_17_15"/>
          <p:cNvSpPr/>
          <p:nvPr/>
        </p:nvSpPr>
        <p:spPr>
          <a:xfrm>
            <a:off x="548640" y="4983480"/>
            <a:ext cx="11094415" cy="777240"/>
          </a:xfrm>
          <a:prstGeom prst="roundRect">
            <a:avLst>
              <a:gd name="adj" fmla="val 11765"/>
            </a:avLst>
          </a:prstGeom>
          <a:solidFill>
            <a:srgbClr val="15294A"/>
          </a:solidFill>
          <a:ln w="9525">
            <a:solidFill>
              <a:srgbClr val="243A5E"/>
            </a:solidFill>
            <a:prstDash val="solid"/>
          </a:ln>
        </p:spPr>
      </p:sp>
      <p:sp>
        <p:nvSpPr>
          <p:cNvPr id="19" name="shp_17_16"/>
          <p:cNvSpPr/>
          <p:nvPr/>
        </p:nvSpPr>
        <p:spPr>
          <a:xfrm>
            <a:off x="777240" y="5120640"/>
            <a:ext cx="502920" cy="502920"/>
          </a:xfrm>
          <a:prstGeom prst="ellipse">
            <a:avLst/>
          </a:prstGeom>
          <a:solidFill>
            <a:srgbClr val="3B2A0C"/>
          </a:solidFill>
          <a:ln w="9525">
            <a:solidFill>
              <a:srgbClr val="F5A524"/>
            </a:solidFill>
            <a:prstDash val="solid"/>
          </a:ln>
        </p:spPr>
      </p:sp>
      <p:pic>
        <p:nvPicPr>
          <p:cNvPr id="20" name="img_17_17" descr="preencoded.png">    </p:cNvPr>
          <p:cNvPicPr>
            <a:picLocks noChangeAspect="1"/>
          </p:cNvPicPr>
          <p:nvPr/>
        </p:nvPicPr>
        <p:blipFill>
          <a:blip r:embed="rId4"/>
          <a:stretch>
            <a:fillRect/>
          </a:stretch>
        </p:blipFill>
        <p:spPr>
          <a:xfrm>
            <a:off x="897941" y="5241341"/>
            <a:ext cx="261518" cy="261518"/>
          </a:xfrm>
          <a:prstGeom prst="rect">
            <a:avLst/>
          </a:prstGeom>
        </p:spPr>
      </p:pic>
      <p:sp>
        <p:nvSpPr>
          <p:cNvPr id="21" name="txt_17_18"/>
          <p:cNvSpPr txBox="1"/>
          <p:nvPr/>
        </p:nvSpPr>
        <p:spPr>
          <a:xfrm>
            <a:off x="1463040" y="4983480"/>
            <a:ext cx="9905695" cy="77724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Each user sees only the features and information for their role — privacy and controlled access across the platform.</a:t>
            </a:r>
            <a:endParaRPr lang="en-US" sz="1400" dirty="0"/>
          </a:p>
        </p:txBody>
      </p:sp>
      <p:sp>
        <p:nvSpPr>
          <p:cNvPr id="22" name="txt_17_19"/>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23" name="txt_17_20"/>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17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53" presetClass="entr" presetSubtype="16" fill="hold" grpId="0" nodeType="withEffect" decel="100000">
                                  <p:stCondLst>
                                    <p:cond delay="15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strVal val="#ppt_w*0.70"/>
                                          </p:val>
                                        </p:tav>
                                        <p:tav tm="100000">
                                          <p:val>
                                            <p:strVal val="#ppt_w"/>
                                          </p:val>
                                        </p:tav>
                                      </p:tavLst>
                                    </p:anim>
                                    <p:anim calcmode="lin" valueType="num">
                                      <p:cBhvr>
                                        <p:cTn id="28" dur="500" fill="hold"/>
                                        <p:tgtEl>
                                          <p:spTgt spid="8"/>
                                        </p:tgtEl>
                                        <p:attrNameLst>
                                          <p:attrName>ppt_h</p:attrName>
                                        </p:attrNameLst>
                                      </p:cBhvr>
                                      <p:tavLst>
                                        <p:tav tm="0">
                                          <p:val>
                                            <p:strVal val="#ppt_h*0.70"/>
                                          </p:val>
                                        </p:tav>
                                        <p:tav tm="100000">
                                          <p:val>
                                            <p:strVal val="#ppt_h"/>
                                          </p:val>
                                        </p:tav>
                                      </p:tavLst>
                                    </p:anim>
                                    <p:animEffect transition="in" filter="fade">
                                      <p:cBhvr>
                                        <p:cTn id="29" dur="500"/>
                                        <p:tgtEl>
                                          <p:spTgt spid="8"/>
                                        </p:tgtEl>
                                      </p:cBhvr>
                                    </p:animEffect>
                                  </p:childTnLst>
                                </p:cTn>
                              </p:par>
                              <p:par>
                                <p:cTn id="33" presetID="10" presetClass="entr" presetSubtype="0" fill="hold" grpId="0" nodeType="withEffect" decel="100000">
                                  <p:stCondLst>
                                    <p:cond delay="3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40" presetID="42" presetClass="entr" presetSubtype="0" fill="hold" grpId="0" nodeType="click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5" presetID="42" presetClass="entr" presetSubtype="0" fill="hold" grpId="0" nodeType="withEffect" decel="100000">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0.05"/>
                                          </p:val>
                                        </p:tav>
                                        <p:tav tm="100000">
                                          <p:val>
                                            <p:strVal val="#ppt_y"/>
                                          </p:val>
                                        </p:tav>
                                      </p:tavLst>
                                    </p:anim>
                                  </p:childTnLst>
                                </p:cTn>
                              </p:par>
                              <p:par>
                                <p:cTn id="50" presetID="53" presetClass="entr" presetSubtype="16" fill="hold" grpId="0" nodeType="withEffect" decel="100000">
                                  <p:stCondLst>
                                    <p:cond delay="150"/>
                                  </p:stCondLst>
                                  <p:childTnLst>
                                    <p:set>
                                      <p:cBhvr>
                                        <p:cTn id="46" dur="1" fill="hold">
                                          <p:stCondLst>
                                            <p:cond delay="0"/>
                                          </p:stCondLst>
                                        </p:cTn>
                                        <p:tgtEl>
                                          <p:spTgt spid="12"/>
                                        </p:tgtEl>
                                        <p:attrNameLst>
                                          <p:attrName>style.visibility</p:attrName>
                                        </p:attrNameLst>
                                      </p:cBhvr>
                                      <p:to>
                                        <p:strVal val="visible"/>
                                      </p:to>
                                    </p:set>
                                    <p:anim calcmode="lin" valueType="num">
                                      <p:cBhvr>
                                        <p:cTn id="47" dur="500" fill="hold"/>
                                        <p:tgtEl>
                                          <p:spTgt spid="12"/>
                                        </p:tgtEl>
                                        <p:attrNameLst>
                                          <p:attrName>ppt_w</p:attrName>
                                        </p:attrNameLst>
                                      </p:cBhvr>
                                      <p:tavLst>
                                        <p:tav tm="0">
                                          <p:val>
                                            <p:strVal val="#ppt_w*0.70"/>
                                          </p:val>
                                        </p:tav>
                                        <p:tav tm="100000">
                                          <p:val>
                                            <p:strVal val="#ppt_w"/>
                                          </p:val>
                                        </p:tav>
                                      </p:tavLst>
                                    </p:anim>
                                    <p:anim calcmode="lin" valueType="num">
                                      <p:cBhvr>
                                        <p:cTn id="48" dur="500" fill="hold"/>
                                        <p:tgtEl>
                                          <p:spTgt spid="12"/>
                                        </p:tgtEl>
                                        <p:attrNameLst>
                                          <p:attrName>ppt_h</p:attrName>
                                        </p:attrNameLst>
                                      </p:cBhvr>
                                      <p:tavLst>
                                        <p:tav tm="0">
                                          <p:val>
                                            <p:strVal val="#ppt_h*0.70"/>
                                          </p:val>
                                        </p:tav>
                                        <p:tav tm="100000">
                                          <p:val>
                                            <p:strVal val="#ppt_h"/>
                                          </p:val>
                                        </p:tav>
                                      </p:tavLst>
                                    </p:anim>
                                    <p:animEffect transition="in" filter="fade">
                                      <p:cBhvr>
                                        <p:cTn id="49" dur="500"/>
                                        <p:tgtEl>
                                          <p:spTgt spid="12"/>
                                        </p:tgtEl>
                                      </p:cBhvr>
                                    </p:animEffect>
                                  </p:childTnLst>
                                </p:cTn>
                              </p:par>
                              <p:par>
                                <p:cTn id="53" presetID="10" presetClass="entr" presetSubtype="0" fill="hold" grpId="0" nodeType="withEffect" decel="100000">
                                  <p:stCondLst>
                                    <p:cond delay="30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74" fill="hold">
                      <p:stCondLst>
                        <p:cond delay="indefinite"/>
                      </p:stCondLst>
                      <p:childTnLst>
                        <p:par>
                          <p:cTn id="75" fill="hold">
                            <p:stCondLst>
                              <p:cond delay="0"/>
                            </p:stCondLst>
                            <p:childTnLst>
                              <p:par>
                                <p:cTn id="60" presetID="42" presetClass="entr" presetSubtype="0" fill="hold" grpId="0" nodeType="clickEffect" decel="100000">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decel="100000">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0.05"/>
                                          </p:val>
                                        </p:tav>
                                        <p:tav tm="100000">
                                          <p:val>
                                            <p:strVal val="#ppt_y"/>
                                          </p:val>
                                        </p:tav>
                                      </p:tavLst>
                                    </p:anim>
                                  </p:childTnLst>
                                </p:cTn>
                              </p:par>
                              <p:par>
                                <p:cTn id="70" presetID="53" presetClass="entr" presetSubtype="16" fill="hold" grpId="0" nodeType="withEffect" decel="100000">
                                  <p:stCondLst>
                                    <p:cond delay="150"/>
                                  </p:stCondLst>
                                  <p:childTnLst>
                                    <p:set>
                                      <p:cBhvr>
                                        <p:cTn id="66" dur="1" fill="hold">
                                          <p:stCondLst>
                                            <p:cond delay="0"/>
                                          </p:stCondLst>
                                        </p:cTn>
                                        <p:tgtEl>
                                          <p:spTgt spid="16"/>
                                        </p:tgtEl>
                                        <p:attrNameLst>
                                          <p:attrName>style.visibility</p:attrName>
                                        </p:attrNameLst>
                                      </p:cBhvr>
                                      <p:to>
                                        <p:strVal val="visible"/>
                                      </p:to>
                                    </p:set>
                                    <p:anim calcmode="lin" valueType="num">
                                      <p:cBhvr>
                                        <p:cTn id="67" dur="500" fill="hold"/>
                                        <p:tgtEl>
                                          <p:spTgt spid="16"/>
                                        </p:tgtEl>
                                        <p:attrNameLst>
                                          <p:attrName>ppt_w</p:attrName>
                                        </p:attrNameLst>
                                      </p:cBhvr>
                                      <p:tavLst>
                                        <p:tav tm="0">
                                          <p:val>
                                            <p:strVal val="#ppt_w*0.70"/>
                                          </p:val>
                                        </p:tav>
                                        <p:tav tm="100000">
                                          <p:val>
                                            <p:strVal val="#ppt_w"/>
                                          </p:val>
                                        </p:tav>
                                      </p:tavLst>
                                    </p:anim>
                                    <p:anim calcmode="lin" valueType="num">
                                      <p:cBhvr>
                                        <p:cTn id="68" dur="500" fill="hold"/>
                                        <p:tgtEl>
                                          <p:spTgt spid="16"/>
                                        </p:tgtEl>
                                        <p:attrNameLst>
                                          <p:attrName>ppt_h</p:attrName>
                                        </p:attrNameLst>
                                      </p:cBhvr>
                                      <p:tavLst>
                                        <p:tav tm="0">
                                          <p:val>
                                            <p:strVal val="#ppt_h*0.70"/>
                                          </p:val>
                                        </p:tav>
                                        <p:tav tm="100000">
                                          <p:val>
                                            <p:strVal val="#ppt_h"/>
                                          </p:val>
                                        </p:tav>
                                      </p:tavLst>
                                    </p:anim>
                                    <p:animEffect transition="in" filter="fade">
                                      <p:cBhvr>
                                        <p:cTn id="69" dur="500"/>
                                        <p:tgtEl>
                                          <p:spTgt spid="16"/>
                                        </p:tgtEl>
                                      </p:cBhvr>
                                    </p:animEffect>
                                  </p:childTnLst>
                                </p:cTn>
                              </p:par>
                              <p:par>
                                <p:cTn id="73" presetID="10" presetClass="entr" presetSubtype="0" fill="hold" grpId="0" nodeType="withEffect" decel="100000">
                                  <p:stCondLst>
                                    <p:cond delay="3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childTnLst>
                          </p:cTn>
                        </p:par>
                      </p:childTnLst>
                    </p:cTn>
                  </p:par>
                  <p:par>
                    <p:cTn id="96" fill="hold">
                      <p:stCondLst>
                        <p:cond delay="indefinite"/>
                      </p:stCondLst>
                      <p:childTnLst>
                        <p:par>
                          <p:cTn id="97" fill="hold">
                            <p:stCondLst>
                              <p:cond delay="0"/>
                            </p:stCondLst>
                            <p:childTnLst>
                              <p:par>
                                <p:cTn id="80" presetID="42" presetClass="entr" presetSubtype="0" fill="hold" grpId="0" nodeType="clickEffect" decel="100000">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decel="100000">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0.05"/>
                                          </p:val>
                                        </p:tav>
                                        <p:tav tm="100000">
                                          <p:val>
                                            <p:strVal val="#ppt_y"/>
                                          </p:val>
                                        </p:tav>
                                      </p:tavLst>
                                    </p:anim>
                                  </p:childTnLst>
                                </p:cTn>
                              </p:par>
                              <p:par>
                                <p:cTn id="90" presetID="42" presetClass="entr" presetSubtype="0" fill="hold" grpId="0" nodeType="withEffect" decel="100000">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0.05"/>
                                          </p:val>
                                        </p:tav>
                                        <p:tav tm="100000">
                                          <p:val>
                                            <p:strVal val="#ppt_y"/>
                                          </p:val>
                                        </p:tav>
                                      </p:tavLst>
                                    </p:anim>
                                  </p:childTnLst>
                                </p:cTn>
                              </p:par>
                              <p:par>
                                <p:cTn id="95" presetID="42" presetClass="entr" presetSubtype="0" fill="hold" grpId="0" nodeType="withEffect" decel="100000">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3" name="txt_18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USER JOURNEY</a:t>
            </a:r>
            <a:endParaRPr lang="en-US" sz="1100" dirty="0"/>
          </a:p>
        </p:txBody>
      </p:sp>
      <p:sp>
        <p:nvSpPr>
          <p:cNvPr id="4" name="txt_18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Shipper → Agent → Customs Officer</a:t>
            </a:r>
            <a:endParaRPr lang="en-US" sz="3200" dirty="0"/>
          </a:p>
        </p:txBody>
      </p:sp>
      <p:sp>
        <p:nvSpPr>
          <p:cNvPr id="5" name="shp_18_2"/>
          <p:cNvSpPr/>
          <p:nvPr/>
        </p:nvSpPr>
        <p:spPr>
          <a:xfrm>
            <a:off x="548640" y="1481328"/>
            <a:ext cx="310896" cy="310896"/>
          </a:xfrm>
          <a:prstGeom prst="ellipse">
            <a:avLst/>
          </a:prstGeom>
          <a:solidFill>
            <a:srgbClr val="F5A524"/>
          </a:solidFill>
          <a:ln w="12700">
            <a:solidFill>
              <a:srgbClr val="F5A524"/>
            </a:solidFill>
            <a:prstDash val="solid"/>
          </a:ln>
        </p:spPr>
      </p:sp>
      <p:sp>
        <p:nvSpPr>
          <p:cNvPr id="6" name="txt_18_3"/>
          <p:cNvSpPr txBox="1"/>
          <p:nvPr/>
        </p:nvSpPr>
        <p:spPr>
          <a:xfrm>
            <a:off x="548640" y="1481328"/>
            <a:ext cx="310896" cy="310896"/>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1</a:t>
            </a:r>
            <a:endParaRPr lang="en-US" sz="1200" dirty="0"/>
          </a:p>
        </p:txBody>
      </p:sp>
      <p:sp>
        <p:nvSpPr>
          <p:cNvPr id="7" name="txt_18_4"/>
          <p:cNvSpPr txBox="1"/>
          <p:nvPr/>
        </p:nvSpPr>
        <p:spPr>
          <a:xfrm>
            <a:off x="960120" y="1527048"/>
            <a:ext cx="287517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SHIPPER</a:t>
            </a:r>
            <a:endParaRPr lang="en-US" sz="1050" dirty="0"/>
          </a:p>
        </p:txBody>
      </p:sp>
      <p:sp>
        <p:nvSpPr>
          <p:cNvPr id="8" name="shp_18_5"/>
          <p:cNvSpPr/>
          <p:nvPr/>
        </p:nvSpPr>
        <p:spPr>
          <a:xfrm>
            <a:off x="548640" y="1828800"/>
            <a:ext cx="3332378" cy="3282887"/>
          </a:xfrm>
          <a:prstGeom prst="roundRect">
            <a:avLst>
              <a:gd name="adj" fmla="val 2785"/>
            </a:avLst>
          </a:prstGeom>
          <a:solidFill>
            <a:srgbClr val="112038"/>
          </a:solidFill>
          <a:ln w="9525">
            <a:solidFill>
              <a:srgbClr val="243A5E"/>
            </a:solidFill>
            <a:prstDash val="solid"/>
          </a:ln>
        </p:spPr>
      </p:sp>
      <p:pic>
        <p:nvPicPr>
          <p:cNvPr id="9" name="img_18_6" descr="/private/tmp/claude-501/-Users-nareshramavath-Downloads/8e612fae-240f-42aa-9685-f77b61758c75/scratchpad/orig/ppt/media/image17.png">    </p:cNvPr>
          <p:cNvPicPr>
            <a:picLocks noChangeAspect="1"/>
          </p:cNvPicPr>
          <p:nvPr/>
        </p:nvPicPr>
        <p:blipFill>
          <a:blip r:embed="rId1"/>
          <a:stretch>
            <a:fillRect/>
          </a:stretch>
        </p:blipFill>
        <p:spPr>
          <a:xfrm>
            <a:off x="685800" y="1965960"/>
            <a:ext cx="3058058" cy="1911287"/>
          </a:xfrm>
          <a:prstGeom prst="rect">
            <a:avLst/>
          </a:prstGeom>
        </p:spPr>
      </p:pic>
      <p:sp>
        <p:nvSpPr>
          <p:cNvPr id="10" name="txt_18_7"/>
          <p:cNvSpPr txBox="1"/>
          <p:nvPr/>
        </p:nvSpPr>
        <p:spPr>
          <a:xfrm>
            <a:off x="731520" y="4014407"/>
            <a:ext cx="2966618" cy="10058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Enters the shipment once, compares carriers, accepts or declines a revision, confirms the booking.</a:t>
            </a:r>
            <a:endParaRPr lang="en-US" sz="1250" dirty="0"/>
          </a:p>
        </p:txBody>
      </p:sp>
      <p:sp>
        <p:nvSpPr>
          <p:cNvPr id="11" name="shp_18_8"/>
          <p:cNvSpPr/>
          <p:nvPr/>
        </p:nvSpPr>
        <p:spPr>
          <a:xfrm>
            <a:off x="3972458" y="3150203"/>
            <a:ext cx="365760" cy="0"/>
          </a:xfrm>
          <a:prstGeom prst="line">
            <a:avLst/>
          </a:prstGeom>
          <a:noFill/>
          <a:ln w="25400">
            <a:solidFill>
              <a:srgbClr val="F5A524"/>
            </a:solidFill>
            <a:prstDash val="solid"/>
            <a:tailEnd type="triangle"/>
          </a:ln>
        </p:spPr>
      </p:sp>
      <p:sp>
        <p:nvSpPr>
          <p:cNvPr id="12" name="shp_18_9"/>
          <p:cNvSpPr/>
          <p:nvPr/>
        </p:nvSpPr>
        <p:spPr>
          <a:xfrm>
            <a:off x="4429658" y="1481328"/>
            <a:ext cx="310896" cy="310896"/>
          </a:xfrm>
          <a:prstGeom prst="ellipse">
            <a:avLst/>
          </a:prstGeom>
          <a:solidFill>
            <a:srgbClr val="F5A524"/>
          </a:solidFill>
          <a:ln w="12700">
            <a:solidFill>
              <a:srgbClr val="F5A524"/>
            </a:solidFill>
            <a:prstDash val="solid"/>
          </a:ln>
        </p:spPr>
      </p:sp>
      <p:sp>
        <p:nvSpPr>
          <p:cNvPr id="13" name="txt_18_10"/>
          <p:cNvSpPr txBox="1"/>
          <p:nvPr/>
        </p:nvSpPr>
        <p:spPr>
          <a:xfrm>
            <a:off x="4429658" y="1481328"/>
            <a:ext cx="310896" cy="310896"/>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2</a:t>
            </a:r>
            <a:endParaRPr lang="en-US" sz="1200" dirty="0"/>
          </a:p>
        </p:txBody>
      </p:sp>
      <p:sp>
        <p:nvSpPr>
          <p:cNvPr id="14" name="txt_18_11"/>
          <p:cNvSpPr txBox="1"/>
          <p:nvPr/>
        </p:nvSpPr>
        <p:spPr>
          <a:xfrm>
            <a:off x="4841138" y="1527048"/>
            <a:ext cx="287517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COMPANY AGENT</a:t>
            </a:r>
            <a:endParaRPr lang="en-US" sz="1050" dirty="0"/>
          </a:p>
        </p:txBody>
      </p:sp>
      <p:sp>
        <p:nvSpPr>
          <p:cNvPr id="15" name="shp_18_12"/>
          <p:cNvSpPr/>
          <p:nvPr/>
        </p:nvSpPr>
        <p:spPr>
          <a:xfrm>
            <a:off x="4429658" y="1828800"/>
            <a:ext cx="3332378" cy="3282887"/>
          </a:xfrm>
          <a:prstGeom prst="roundRect">
            <a:avLst>
              <a:gd name="adj" fmla="val 2785"/>
            </a:avLst>
          </a:prstGeom>
          <a:solidFill>
            <a:srgbClr val="112038"/>
          </a:solidFill>
          <a:ln w="9525">
            <a:solidFill>
              <a:srgbClr val="243A5E"/>
            </a:solidFill>
            <a:prstDash val="solid"/>
          </a:ln>
        </p:spPr>
      </p:sp>
      <p:pic>
        <p:nvPicPr>
          <p:cNvPr id="16" name="img_18_13" descr="/private/tmp/claude-501/-Users-nareshramavath-Downloads/8e612fae-240f-42aa-9685-f77b61758c75/scratchpad/orig/ppt/media/image18.png">    </p:cNvPr>
          <p:cNvPicPr>
            <a:picLocks noChangeAspect="1"/>
          </p:cNvPicPr>
          <p:nvPr/>
        </p:nvPicPr>
        <p:blipFill>
          <a:blip r:embed="rId2"/>
          <a:stretch>
            <a:fillRect/>
          </a:stretch>
        </p:blipFill>
        <p:spPr>
          <a:xfrm>
            <a:off x="4566818" y="1965960"/>
            <a:ext cx="3058058" cy="1911287"/>
          </a:xfrm>
          <a:prstGeom prst="rect">
            <a:avLst/>
          </a:prstGeom>
        </p:spPr>
      </p:pic>
      <p:sp>
        <p:nvSpPr>
          <p:cNvPr id="17" name="txt_18_14"/>
          <p:cNvSpPr txBox="1"/>
          <p:nvPr/>
        </p:nvSpPr>
        <p:spPr>
          <a:xfrm>
            <a:off x="4612538" y="4014407"/>
            <a:ext cx="2966618" cy="10058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Checks vessel slot, equipment and documents. Four actions: approve, modify, reject, request info.</a:t>
            </a:r>
            <a:endParaRPr lang="en-US" sz="1250" dirty="0"/>
          </a:p>
        </p:txBody>
      </p:sp>
      <p:sp>
        <p:nvSpPr>
          <p:cNvPr id="18" name="shp_18_15"/>
          <p:cNvSpPr/>
          <p:nvPr/>
        </p:nvSpPr>
        <p:spPr>
          <a:xfrm>
            <a:off x="7853477" y="3150203"/>
            <a:ext cx="365760" cy="0"/>
          </a:xfrm>
          <a:prstGeom prst="line">
            <a:avLst/>
          </a:prstGeom>
          <a:noFill/>
          <a:ln w="25400">
            <a:solidFill>
              <a:srgbClr val="F5A524"/>
            </a:solidFill>
            <a:prstDash val="solid"/>
            <a:tailEnd type="triangle"/>
          </a:ln>
        </p:spPr>
      </p:sp>
      <p:sp>
        <p:nvSpPr>
          <p:cNvPr id="19" name="shp_18_16"/>
          <p:cNvSpPr/>
          <p:nvPr/>
        </p:nvSpPr>
        <p:spPr>
          <a:xfrm>
            <a:off x="8310677" y="1481328"/>
            <a:ext cx="310896" cy="310896"/>
          </a:xfrm>
          <a:prstGeom prst="ellipse">
            <a:avLst/>
          </a:prstGeom>
          <a:solidFill>
            <a:srgbClr val="F5A524"/>
          </a:solidFill>
          <a:ln w="12700">
            <a:solidFill>
              <a:srgbClr val="F5A524"/>
            </a:solidFill>
            <a:prstDash val="solid"/>
          </a:ln>
        </p:spPr>
      </p:sp>
      <p:sp>
        <p:nvSpPr>
          <p:cNvPr id="20" name="txt_18_17"/>
          <p:cNvSpPr txBox="1"/>
          <p:nvPr/>
        </p:nvSpPr>
        <p:spPr>
          <a:xfrm>
            <a:off x="8310677" y="1481328"/>
            <a:ext cx="310896" cy="310896"/>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3</a:t>
            </a:r>
            <a:endParaRPr lang="en-US" sz="1200" dirty="0"/>
          </a:p>
        </p:txBody>
      </p:sp>
      <p:sp>
        <p:nvSpPr>
          <p:cNvPr id="21" name="txt_18_18"/>
          <p:cNvSpPr txBox="1"/>
          <p:nvPr/>
        </p:nvSpPr>
        <p:spPr>
          <a:xfrm>
            <a:off x="8722157" y="1527048"/>
            <a:ext cx="2875178"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CUSTOMS OFFICER</a:t>
            </a:r>
            <a:endParaRPr lang="en-US" sz="1050" dirty="0"/>
          </a:p>
        </p:txBody>
      </p:sp>
      <p:sp>
        <p:nvSpPr>
          <p:cNvPr id="22" name="shp_18_19"/>
          <p:cNvSpPr/>
          <p:nvPr/>
        </p:nvSpPr>
        <p:spPr>
          <a:xfrm>
            <a:off x="8310677" y="1828800"/>
            <a:ext cx="3332378" cy="3282887"/>
          </a:xfrm>
          <a:prstGeom prst="roundRect">
            <a:avLst>
              <a:gd name="adj" fmla="val 2785"/>
            </a:avLst>
          </a:prstGeom>
          <a:solidFill>
            <a:srgbClr val="112038"/>
          </a:solidFill>
          <a:ln w="9525">
            <a:solidFill>
              <a:srgbClr val="243A5E"/>
            </a:solidFill>
            <a:prstDash val="solid"/>
          </a:ln>
        </p:spPr>
      </p:sp>
      <p:pic>
        <p:nvPicPr>
          <p:cNvPr id="23" name="img_18_20" descr="/private/tmp/claude-501/-Users-nareshramavath-Downloads/8e612fae-240f-42aa-9685-f77b61758c75/scratchpad/orig/ppt/media/image19.png">    </p:cNvPr>
          <p:cNvPicPr>
            <a:picLocks noChangeAspect="1"/>
          </p:cNvPicPr>
          <p:nvPr/>
        </p:nvPicPr>
        <p:blipFill>
          <a:blip r:embed="rId3"/>
          <a:stretch>
            <a:fillRect/>
          </a:stretch>
        </p:blipFill>
        <p:spPr>
          <a:xfrm>
            <a:off x="8447837" y="1965960"/>
            <a:ext cx="3058058" cy="1911287"/>
          </a:xfrm>
          <a:prstGeom prst="rect">
            <a:avLst/>
          </a:prstGeom>
        </p:spPr>
      </p:pic>
      <p:sp>
        <p:nvSpPr>
          <p:cNvPr id="24" name="txt_18_21"/>
          <p:cNvSpPr txBox="1"/>
          <p:nvPr/>
        </p:nvSpPr>
        <p:spPr>
          <a:xfrm>
            <a:off x="8493557" y="4014407"/>
            <a:ext cx="2966618" cy="1005840"/>
          </a:xfrm>
          <a:prstGeom prst="rect">
            <a:avLst/>
          </a:prstGeom>
          <a:noFill/>
          <a:ln/>
        </p:spPr>
        <p:txBody>
          <a:bodyPr wrap="square" lIns="0" tIns="0" rIns="0" bIns="0" rtlCol="0" anchor="t"/>
          <a:lstStyle/>
          <a:p>
            <a:pPr indent="0" marL="0">
              <a:buNone/>
            </a:pPr>
            <a:r>
              <a:rPr lang="en-US" sz="1250" dirty="0">
                <a:solidFill>
                  <a:srgbClr val="AEBBCF"/>
                </a:solidFill>
                <a:latin typeface="Calibri" pitchFamily="34" charset="0"/>
                <a:ea typeface="Calibri" pitchFamily="34" charset="-122"/>
                <a:cs typeface="Calibri" pitchFamily="34" charset="-120"/>
              </a:rPr>
              <a:t>Sees carrier-approved dossiers only; clears or issues a deficiency notice with a written reason.</a:t>
            </a:r>
            <a:endParaRPr lang="en-US" sz="1250" dirty="0"/>
          </a:p>
        </p:txBody>
      </p:sp>
      <p:sp>
        <p:nvSpPr>
          <p:cNvPr id="25" name="shp_18_22"/>
          <p:cNvSpPr/>
          <p:nvPr/>
        </p:nvSpPr>
        <p:spPr>
          <a:xfrm>
            <a:off x="548640" y="5349240"/>
            <a:ext cx="11094415" cy="731520"/>
          </a:xfrm>
          <a:prstGeom prst="roundRect">
            <a:avLst>
              <a:gd name="adj" fmla="val 12500"/>
            </a:avLst>
          </a:prstGeom>
          <a:solidFill>
            <a:srgbClr val="15294A"/>
          </a:solidFill>
          <a:ln w="9525">
            <a:solidFill>
              <a:srgbClr val="243A5E"/>
            </a:solidFill>
            <a:prstDash val="solid"/>
          </a:ln>
        </p:spPr>
      </p:sp>
      <p:sp>
        <p:nvSpPr>
          <p:cNvPr id="26" name="shp_18_23"/>
          <p:cNvSpPr/>
          <p:nvPr/>
        </p:nvSpPr>
        <p:spPr>
          <a:xfrm>
            <a:off x="777240" y="5468112"/>
            <a:ext cx="493776" cy="493776"/>
          </a:xfrm>
          <a:prstGeom prst="ellipse">
            <a:avLst/>
          </a:prstGeom>
          <a:solidFill>
            <a:srgbClr val="3B2A0C"/>
          </a:solidFill>
          <a:ln w="9525">
            <a:solidFill>
              <a:srgbClr val="F5A524"/>
            </a:solidFill>
            <a:prstDash val="solid"/>
          </a:ln>
        </p:spPr>
      </p:sp>
      <p:pic>
        <p:nvPicPr>
          <p:cNvPr id="27" name="img_18_24" descr="preencoded.png">    </p:cNvPr>
          <p:cNvPicPr>
            <a:picLocks noChangeAspect="1"/>
          </p:cNvPicPr>
          <p:nvPr/>
        </p:nvPicPr>
        <p:blipFill>
          <a:blip r:embed="rId4"/>
          <a:stretch>
            <a:fillRect/>
          </a:stretch>
        </p:blipFill>
        <p:spPr>
          <a:xfrm>
            <a:off x="895746" y="5586618"/>
            <a:ext cx="256764" cy="256764"/>
          </a:xfrm>
          <a:prstGeom prst="rect">
            <a:avLst/>
          </a:prstGeom>
        </p:spPr>
      </p:pic>
      <p:sp>
        <p:nvSpPr>
          <p:cNvPr id="28" name="txt_18_25"/>
          <p:cNvSpPr txBox="1"/>
          <p:nvPr/>
        </p:nvSpPr>
        <p:spPr>
          <a:xfrm>
            <a:off x="1463040" y="5349240"/>
            <a:ext cx="9905695"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Multi-tenant isolation, proven by tests: </a:t>
            </a:r>
            <a:pPr indent="0" marL="0">
              <a:buNone/>
            </a:pPr>
            <a:r>
              <a:rPr lang="en-US" sz="1300" dirty="0">
                <a:solidFill>
                  <a:srgbClr val="AEBBCF"/>
                </a:solidFill>
                <a:latin typeface="Calibri" pitchFamily="34" charset="0"/>
                <a:ea typeface="Calibri" pitchFamily="34" charset="-122"/>
                <a:cs typeface="Calibri" pitchFamily="34" charset="-120"/>
              </a:rPr>
              <a:t>one carrier's agent never sees another carrier's requests, bids or queue — and customs never sees a carrier's commercial desk.</a:t>
            </a:r>
            <a:endParaRPr lang="en-US" sz="1300" dirty="0"/>
          </a:p>
        </p:txBody>
      </p:sp>
      <p:sp>
        <p:nvSpPr>
          <p:cNvPr id="29" name="txt_18_26"/>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0" name="txt_18_27"/>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18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cond evt="onBegin" delay="0">
                          <p:tn val="2"/>
                        </p:cond>
                      </p:stCondLst>
                      <p:childTnLst>
                        <p:par>
                          <p:cTn id="12"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17" presetID="42" presetClass="entr" presetSubtype="0" fill="hold" grpId="0" nodeType="clickEffect" decel="100000">
                                  <p:stCondLst>
                                    <p:cond delay="2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0.05"/>
                                          </p:val>
                                        </p:tav>
                                        <p:tav tm="100000">
                                          <p:val>
                                            <p:strVal val="#ppt_y"/>
                                          </p:val>
                                        </p:tav>
                                      </p:tavLst>
                                    </p:anim>
                                  </p:childTnLst>
                                </p:cTn>
                              </p:par>
                              <p:par>
                                <p:cTn id="22" presetID="42" presetClass="entr" presetSubtype="0" fill="hold" grpId="0" nodeType="withEffect" decel="100000">
                                  <p:stCondLst>
                                    <p:cond delay="2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0.05"/>
                                          </p:val>
                                        </p:tav>
                                        <p:tav tm="100000">
                                          <p:val>
                                            <p:strVal val="#ppt_y"/>
                                          </p:val>
                                        </p:tav>
                                      </p:tavLst>
                                    </p:anim>
                                  </p:childTnLst>
                                </p:cTn>
                              </p:par>
                              <p:par>
                                <p:cTn id="27" presetID="42" presetClass="entr" presetSubtype="0" fill="hold" grpId="0" nodeType="withEffect" decel="100000">
                                  <p:stCondLst>
                                    <p:cond delay="2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fill="hold"/>
                                        <p:tgtEl>
                                          <p:spTgt spid="7"/>
                                        </p:tgtEl>
                                        <p:attrNameLst>
                                          <p:attrName>ppt_x</p:attrName>
                                        </p:attrNameLst>
                                      </p:cBhvr>
                                      <p:tavLst>
                                        <p:tav tm="0">
                                          <p:val>
                                            <p:strVal val="#ppt_x"/>
                                          </p:val>
                                        </p:tav>
                                        <p:tav tm="100000">
                                          <p:val>
                                            <p:strVal val="#ppt_x"/>
                                          </p:val>
                                        </p:tav>
                                      </p:tavLst>
                                    </p:anim>
                                    <p:anim calcmode="lin" valueType="num">
                                      <p:cBhvr>
                                        <p:cTn id="26" dur="500" fill="hold"/>
                                        <p:tgtEl>
                                          <p:spTgt spid="7"/>
                                        </p:tgtEl>
                                        <p:attrNameLst>
                                          <p:attrName>ppt_y</p:attrName>
                                        </p:attrNameLst>
                                      </p:cBhvr>
                                      <p:tavLst>
                                        <p:tav tm="0">
                                          <p:val>
                                            <p:strVal val="#ppt_y+0.05"/>
                                          </p:val>
                                        </p:tav>
                                        <p:tav tm="100000">
                                          <p:val>
                                            <p:strVal val="#ppt_y"/>
                                          </p:val>
                                        </p:tav>
                                      </p:tavLst>
                                    </p:anim>
                                  </p:childTnLst>
                                </p:cTn>
                              </p:par>
                              <p:par>
                                <p:cTn id="32" presetID="42" presetClass="entr" presetSubtype="0" fill="hold" grpId="0" nodeType="withEffect" decel="100000">
                                  <p:stCondLst>
                                    <p:cond delay="20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fill="hold"/>
                                        <p:tgtEl>
                                          <p:spTgt spid="8"/>
                                        </p:tgtEl>
                                        <p:attrNameLst>
                                          <p:attrName>ppt_x</p:attrName>
                                        </p:attrNameLst>
                                      </p:cBhvr>
                                      <p:tavLst>
                                        <p:tav tm="0">
                                          <p:val>
                                            <p:strVal val="#ppt_x"/>
                                          </p:val>
                                        </p:tav>
                                        <p:tav tm="100000">
                                          <p:val>
                                            <p:strVal val="#ppt_x"/>
                                          </p:val>
                                        </p:tav>
                                      </p:tavLst>
                                    </p:anim>
                                    <p:anim calcmode="lin" valueType="num">
                                      <p:cBhvr>
                                        <p:cTn id="31" dur="500" fill="hold"/>
                                        <p:tgtEl>
                                          <p:spTgt spid="8"/>
                                        </p:tgtEl>
                                        <p:attrNameLst>
                                          <p:attrName>ppt_y</p:attrName>
                                        </p:attrNameLst>
                                      </p:cBhvr>
                                      <p:tavLst>
                                        <p:tav tm="0">
                                          <p:val>
                                            <p:strVal val="#ppt_y+0.05"/>
                                          </p:val>
                                        </p:tav>
                                        <p:tav tm="100000">
                                          <p:val>
                                            <p:strVal val="#ppt_y"/>
                                          </p:val>
                                        </p:tav>
                                      </p:tavLst>
                                    </p:anim>
                                  </p:childTnLst>
                                </p:cTn>
                              </p:par>
                              <p:par>
                                <p:cTn id="37" presetID="53" presetClass="entr" presetSubtype="16" fill="hold" grpId="0" nodeType="withEffect" decel="100000">
                                  <p:stCondLst>
                                    <p:cond delay="35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strVal val="#ppt_w*0.70"/>
                                          </p:val>
                                        </p:tav>
                                        <p:tav tm="100000">
                                          <p:val>
                                            <p:strVal val="#ppt_w"/>
                                          </p:val>
                                        </p:tav>
                                      </p:tavLst>
                                    </p:anim>
                                    <p:anim calcmode="lin" valueType="num">
                                      <p:cBhvr>
                                        <p:cTn id="35" dur="500" fill="hold"/>
                                        <p:tgtEl>
                                          <p:spTgt spid="9"/>
                                        </p:tgtEl>
                                        <p:attrNameLst>
                                          <p:attrName>ppt_h</p:attrName>
                                        </p:attrNameLst>
                                      </p:cBhvr>
                                      <p:tavLst>
                                        <p:tav tm="0">
                                          <p:val>
                                            <p:strVal val="#ppt_h*0.70"/>
                                          </p:val>
                                        </p:tav>
                                        <p:tav tm="100000">
                                          <p:val>
                                            <p:strVal val="#ppt_h"/>
                                          </p:val>
                                        </p:tav>
                                      </p:tavLst>
                                    </p:anim>
                                    <p:animEffect transition="in" filter="fade">
                                      <p:cBhvr>
                                        <p:cTn id="36" dur="500"/>
                                        <p:tgtEl>
                                          <p:spTgt spid="9"/>
                                        </p:tgtEl>
                                      </p:cBhvr>
                                    </p:animEffect>
                                  </p:childTnLst>
                                </p:cTn>
                              </p:par>
                              <p:par>
                                <p:cTn id="40" presetID="10" presetClass="entr" presetSubtype="0" fill="hold" grpId="0" nodeType="withEffect" decel="100000">
                                  <p:stCondLst>
                                    <p:cond delay="5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74" fill="hold">
                      <p:stCondLst>
                        <p:cond delay="indefinite"/>
                      </p:stCondLst>
                      <p:childTnLst>
                        <p:par>
                          <p:cTn id="75" fill="hold">
                            <p:stCondLst>
                              <p:cond delay="0"/>
                            </p:stCondLst>
                            <p:childTnLst>
                              <p:par>
                                <p:cTn id="45" presetID="22" presetClass="entr" presetSubtype="8" fill="hold" grpId="0" nodeType="clickEffect" decel="100000">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right)">
                                      <p:cBhvr>
                                        <p:cTn id="44" dur="300"/>
                                        <p:tgtEl>
                                          <p:spTgt spid="11"/>
                                        </p:tgtEl>
                                      </p:cBhvr>
                                    </p:animEffect>
                                  </p:childTnLst>
                                </p:cTn>
                              </p:par>
                              <p:par>
                                <p:cTn id="50" presetID="42" presetClass="entr" presetSubtype="0" fill="hold" grpId="0" nodeType="withEffect" decel="100000">
                                  <p:stCondLst>
                                    <p:cond delay="2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decel="100000">
                                  <p:stCondLst>
                                    <p:cond delay="20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decel="100000">
                                  <p:stCondLst>
                                    <p:cond delay="2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decel="100000">
                                  <p:stCondLst>
                                    <p:cond delay="20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0.05"/>
                                          </p:val>
                                        </p:tav>
                                        <p:tav tm="100000">
                                          <p:val>
                                            <p:strVal val="#ppt_y"/>
                                          </p:val>
                                        </p:tav>
                                      </p:tavLst>
                                    </p:anim>
                                  </p:childTnLst>
                                </p:cTn>
                              </p:par>
                              <p:par>
                                <p:cTn id="70" presetID="53" presetClass="entr" presetSubtype="16" fill="hold" grpId="0" nodeType="withEffect" decel="100000">
                                  <p:stCondLst>
                                    <p:cond delay="350"/>
                                  </p:stCondLst>
                                  <p:childTnLst>
                                    <p:set>
                                      <p:cBhvr>
                                        <p:cTn id="66" dur="1" fill="hold">
                                          <p:stCondLst>
                                            <p:cond delay="0"/>
                                          </p:stCondLst>
                                        </p:cTn>
                                        <p:tgtEl>
                                          <p:spTgt spid="16"/>
                                        </p:tgtEl>
                                        <p:attrNameLst>
                                          <p:attrName>style.visibility</p:attrName>
                                        </p:attrNameLst>
                                      </p:cBhvr>
                                      <p:to>
                                        <p:strVal val="visible"/>
                                      </p:to>
                                    </p:set>
                                    <p:anim calcmode="lin" valueType="num">
                                      <p:cBhvr>
                                        <p:cTn id="67" dur="500" fill="hold"/>
                                        <p:tgtEl>
                                          <p:spTgt spid="16"/>
                                        </p:tgtEl>
                                        <p:attrNameLst>
                                          <p:attrName>ppt_w</p:attrName>
                                        </p:attrNameLst>
                                      </p:cBhvr>
                                      <p:tavLst>
                                        <p:tav tm="0">
                                          <p:val>
                                            <p:strVal val="#ppt_w*0.70"/>
                                          </p:val>
                                        </p:tav>
                                        <p:tav tm="100000">
                                          <p:val>
                                            <p:strVal val="#ppt_w"/>
                                          </p:val>
                                        </p:tav>
                                      </p:tavLst>
                                    </p:anim>
                                    <p:anim calcmode="lin" valueType="num">
                                      <p:cBhvr>
                                        <p:cTn id="68" dur="500" fill="hold"/>
                                        <p:tgtEl>
                                          <p:spTgt spid="16"/>
                                        </p:tgtEl>
                                        <p:attrNameLst>
                                          <p:attrName>ppt_h</p:attrName>
                                        </p:attrNameLst>
                                      </p:cBhvr>
                                      <p:tavLst>
                                        <p:tav tm="0">
                                          <p:val>
                                            <p:strVal val="#ppt_h*0.70"/>
                                          </p:val>
                                        </p:tav>
                                        <p:tav tm="100000">
                                          <p:val>
                                            <p:strVal val="#ppt_h"/>
                                          </p:val>
                                        </p:tav>
                                      </p:tavLst>
                                    </p:anim>
                                    <p:animEffect transition="in" filter="fade">
                                      <p:cBhvr>
                                        <p:cTn id="69" dur="500"/>
                                        <p:tgtEl>
                                          <p:spTgt spid="16"/>
                                        </p:tgtEl>
                                      </p:cBhvr>
                                    </p:animEffect>
                                  </p:childTnLst>
                                </p:cTn>
                              </p:par>
                              <p:par>
                                <p:cTn id="73" presetID="10" presetClass="entr" presetSubtype="0" fill="hold" grpId="0" nodeType="withEffect" decel="100000">
                                  <p:stCondLst>
                                    <p:cond delay="5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childTnLst>
                          </p:cTn>
                        </p:par>
                      </p:childTnLst>
                    </p:cTn>
                  </p:par>
                  <p:par>
                    <p:cTn id="107" fill="hold">
                      <p:stCondLst>
                        <p:cond delay="indefinite"/>
                      </p:stCondLst>
                      <p:childTnLst>
                        <p:par>
                          <p:cTn id="108" fill="hold">
                            <p:stCondLst>
                              <p:cond delay="0"/>
                            </p:stCondLst>
                            <p:childTnLst>
                              <p:par>
                                <p:cTn id="78" presetID="22" presetClass="entr" presetSubtype="8" fill="hold" grpId="0" nodeType="clickEffect" decel="100000">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right)">
                                      <p:cBhvr>
                                        <p:cTn id="77" dur="300"/>
                                        <p:tgtEl>
                                          <p:spTgt spid="18"/>
                                        </p:tgtEl>
                                      </p:cBhvr>
                                    </p:animEffect>
                                  </p:childTnLst>
                                </p:cTn>
                              </p:par>
                              <p:par>
                                <p:cTn id="83" presetID="42" presetClass="entr" presetSubtype="0" fill="hold" grpId="0" nodeType="withEffect" decel="100000">
                                  <p:stCondLst>
                                    <p:cond delay="20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500" fill="hold"/>
                                        <p:tgtEl>
                                          <p:spTgt spid="19"/>
                                        </p:tgtEl>
                                        <p:attrNameLst>
                                          <p:attrName>ppt_y</p:attrName>
                                        </p:attrNameLst>
                                      </p:cBhvr>
                                      <p:tavLst>
                                        <p:tav tm="0">
                                          <p:val>
                                            <p:strVal val="#ppt_y+0.05"/>
                                          </p:val>
                                        </p:tav>
                                        <p:tav tm="100000">
                                          <p:val>
                                            <p:strVal val="#ppt_y"/>
                                          </p:val>
                                        </p:tav>
                                      </p:tavLst>
                                    </p:anim>
                                  </p:childTnLst>
                                </p:cTn>
                              </p:par>
                              <p:par>
                                <p:cTn id="88" presetID="42" presetClass="entr" presetSubtype="0" fill="hold" grpId="0" nodeType="withEffect" decel="100000">
                                  <p:stCondLst>
                                    <p:cond delay="20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p:cTn id="86" dur="500" fill="hold"/>
                                        <p:tgtEl>
                                          <p:spTgt spid="20"/>
                                        </p:tgtEl>
                                        <p:attrNameLst>
                                          <p:attrName>ppt_x</p:attrName>
                                        </p:attrNameLst>
                                      </p:cBhvr>
                                      <p:tavLst>
                                        <p:tav tm="0">
                                          <p:val>
                                            <p:strVal val="#ppt_x"/>
                                          </p:val>
                                        </p:tav>
                                        <p:tav tm="100000">
                                          <p:val>
                                            <p:strVal val="#ppt_x"/>
                                          </p:val>
                                        </p:tav>
                                      </p:tavLst>
                                    </p:anim>
                                    <p:anim calcmode="lin" valueType="num">
                                      <p:cBhvr>
                                        <p:cTn id="87" dur="500" fill="hold"/>
                                        <p:tgtEl>
                                          <p:spTgt spid="20"/>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decel="100000">
                                  <p:stCondLst>
                                    <p:cond delay="2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p:cTn id="91" dur="500" fill="hold"/>
                                        <p:tgtEl>
                                          <p:spTgt spid="21"/>
                                        </p:tgtEl>
                                        <p:attrNameLst>
                                          <p:attrName>ppt_x</p:attrName>
                                        </p:attrNameLst>
                                      </p:cBhvr>
                                      <p:tavLst>
                                        <p:tav tm="0">
                                          <p:val>
                                            <p:strVal val="#ppt_x"/>
                                          </p:val>
                                        </p:tav>
                                        <p:tav tm="100000">
                                          <p:val>
                                            <p:strVal val="#ppt_x"/>
                                          </p:val>
                                        </p:tav>
                                      </p:tavLst>
                                    </p:anim>
                                    <p:anim calcmode="lin" valueType="num">
                                      <p:cBhvr>
                                        <p:cTn id="92" dur="500" fill="hold"/>
                                        <p:tgtEl>
                                          <p:spTgt spid="21"/>
                                        </p:tgtEl>
                                        <p:attrNameLst>
                                          <p:attrName>ppt_y</p:attrName>
                                        </p:attrNameLst>
                                      </p:cBhvr>
                                      <p:tavLst>
                                        <p:tav tm="0">
                                          <p:val>
                                            <p:strVal val="#ppt_y+0.05"/>
                                          </p:val>
                                        </p:tav>
                                        <p:tav tm="100000">
                                          <p:val>
                                            <p:strVal val="#ppt_y"/>
                                          </p:val>
                                        </p:tav>
                                      </p:tavLst>
                                    </p:anim>
                                  </p:childTnLst>
                                </p:cTn>
                              </p:par>
                              <p:par>
                                <p:cTn id="98" presetID="42" presetClass="entr" presetSubtype="0" fill="hold" grpId="0" nodeType="withEffect" decel="100000">
                                  <p:stCondLst>
                                    <p:cond delay="20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00"/>
                                        <p:tgtEl>
                                          <p:spTgt spid="22"/>
                                        </p:tgtEl>
                                      </p:cBhvr>
                                    </p:animEffect>
                                    <p:anim calcmode="lin" valueType="num">
                                      <p:cBhvr>
                                        <p:cTn id="96" dur="500" fill="hold"/>
                                        <p:tgtEl>
                                          <p:spTgt spid="22"/>
                                        </p:tgtEl>
                                        <p:attrNameLst>
                                          <p:attrName>ppt_x</p:attrName>
                                        </p:attrNameLst>
                                      </p:cBhvr>
                                      <p:tavLst>
                                        <p:tav tm="0">
                                          <p:val>
                                            <p:strVal val="#ppt_x"/>
                                          </p:val>
                                        </p:tav>
                                        <p:tav tm="100000">
                                          <p:val>
                                            <p:strVal val="#ppt_x"/>
                                          </p:val>
                                        </p:tav>
                                      </p:tavLst>
                                    </p:anim>
                                    <p:anim calcmode="lin" valueType="num">
                                      <p:cBhvr>
                                        <p:cTn id="97" dur="500" fill="hold"/>
                                        <p:tgtEl>
                                          <p:spTgt spid="22"/>
                                        </p:tgtEl>
                                        <p:attrNameLst>
                                          <p:attrName>ppt_y</p:attrName>
                                        </p:attrNameLst>
                                      </p:cBhvr>
                                      <p:tavLst>
                                        <p:tav tm="0">
                                          <p:val>
                                            <p:strVal val="#ppt_y+0.05"/>
                                          </p:val>
                                        </p:tav>
                                        <p:tav tm="100000">
                                          <p:val>
                                            <p:strVal val="#ppt_y"/>
                                          </p:val>
                                        </p:tav>
                                      </p:tavLst>
                                    </p:anim>
                                  </p:childTnLst>
                                </p:cTn>
                              </p:par>
                              <p:par>
                                <p:cTn id="103" presetID="53" presetClass="entr" presetSubtype="16" fill="hold" grpId="0" nodeType="withEffect" decel="100000">
                                  <p:stCondLst>
                                    <p:cond delay="35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strVal val="#ppt_w*0.70"/>
                                          </p:val>
                                        </p:tav>
                                        <p:tav tm="100000">
                                          <p:val>
                                            <p:strVal val="#ppt_w"/>
                                          </p:val>
                                        </p:tav>
                                      </p:tavLst>
                                    </p:anim>
                                    <p:anim calcmode="lin" valueType="num">
                                      <p:cBhvr>
                                        <p:cTn id="101" dur="500" fill="hold"/>
                                        <p:tgtEl>
                                          <p:spTgt spid="23"/>
                                        </p:tgtEl>
                                        <p:attrNameLst>
                                          <p:attrName>ppt_h</p:attrName>
                                        </p:attrNameLst>
                                      </p:cBhvr>
                                      <p:tavLst>
                                        <p:tav tm="0">
                                          <p:val>
                                            <p:strVal val="#ppt_h*0.70"/>
                                          </p:val>
                                        </p:tav>
                                        <p:tav tm="100000">
                                          <p:val>
                                            <p:strVal val="#ppt_h"/>
                                          </p:val>
                                        </p:tav>
                                      </p:tavLst>
                                    </p:anim>
                                    <p:animEffect transition="in" filter="fade">
                                      <p:cBhvr>
                                        <p:cTn id="102" dur="500"/>
                                        <p:tgtEl>
                                          <p:spTgt spid="23"/>
                                        </p:tgtEl>
                                      </p:cBhvr>
                                    </p:animEffect>
                                  </p:childTnLst>
                                </p:cTn>
                              </p:par>
                              <p:par>
                                <p:cTn id="106" presetID="10" presetClass="entr" presetSubtype="0" fill="hold" grpId="0" nodeType="withEffect" decel="100000">
                                  <p:stCondLst>
                                    <p:cond delay="50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00"/>
                                        <p:tgtEl>
                                          <p:spTgt spid="24"/>
                                        </p:tgtEl>
                                      </p:cBhvr>
                                    </p:animEffect>
                                  </p:childTnLst>
                                </p:cTn>
                              </p:par>
                            </p:childTnLst>
                          </p:cTn>
                        </p:par>
                      </p:childTnLst>
                    </p:cTn>
                  </p:par>
                  <p:par>
                    <p:cTn id="129" fill="hold">
                      <p:stCondLst>
                        <p:cond delay="indefinite"/>
                      </p:stCondLst>
                      <p:childTnLst>
                        <p:par>
                          <p:cTn id="130" fill="hold">
                            <p:stCondLst>
                              <p:cond delay="0"/>
                            </p:stCondLst>
                            <p:childTnLst>
                              <p:par>
                                <p:cTn id="113" presetID="42" presetClass="entr" presetSubtype="0" fill="hold" grpId="0" nodeType="clickEffect" decel="100000">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00"/>
                                        <p:tgtEl>
                                          <p:spTgt spid="25"/>
                                        </p:tgtEl>
                                      </p:cBhvr>
                                    </p:animEffect>
                                    <p:anim calcmode="lin" valueType="num">
                                      <p:cBhvr>
                                        <p:cTn id="111" dur="500" fill="hold"/>
                                        <p:tgtEl>
                                          <p:spTgt spid="25"/>
                                        </p:tgtEl>
                                        <p:attrNameLst>
                                          <p:attrName>ppt_x</p:attrName>
                                        </p:attrNameLst>
                                      </p:cBhvr>
                                      <p:tavLst>
                                        <p:tav tm="0">
                                          <p:val>
                                            <p:strVal val="#ppt_x"/>
                                          </p:val>
                                        </p:tav>
                                        <p:tav tm="100000">
                                          <p:val>
                                            <p:strVal val="#ppt_x"/>
                                          </p:val>
                                        </p:tav>
                                      </p:tavLst>
                                    </p:anim>
                                    <p:anim calcmode="lin" valueType="num">
                                      <p:cBhvr>
                                        <p:cTn id="112" dur="500" fill="hold"/>
                                        <p:tgtEl>
                                          <p:spTgt spid="25"/>
                                        </p:tgtEl>
                                        <p:attrNameLst>
                                          <p:attrName>ppt_y</p:attrName>
                                        </p:attrNameLst>
                                      </p:cBhvr>
                                      <p:tavLst>
                                        <p:tav tm="0">
                                          <p:val>
                                            <p:strVal val="#ppt_y+0.05"/>
                                          </p:val>
                                        </p:tav>
                                        <p:tav tm="100000">
                                          <p:val>
                                            <p:strVal val="#ppt_y"/>
                                          </p:val>
                                        </p:tav>
                                      </p:tavLst>
                                    </p:anim>
                                  </p:childTnLst>
                                </p:cTn>
                              </p:par>
                              <p:par>
                                <p:cTn id="118" presetID="42" presetClass="entr" presetSubtype="0" fill="hold" grpId="0" nodeType="withEffect" decel="100000">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00"/>
                                        <p:tgtEl>
                                          <p:spTgt spid="26"/>
                                        </p:tgtEl>
                                      </p:cBhvr>
                                    </p:animEffect>
                                    <p:anim calcmode="lin" valueType="num">
                                      <p:cBhvr>
                                        <p:cTn id="116" dur="500" fill="hold"/>
                                        <p:tgtEl>
                                          <p:spTgt spid="26"/>
                                        </p:tgtEl>
                                        <p:attrNameLst>
                                          <p:attrName>ppt_x</p:attrName>
                                        </p:attrNameLst>
                                      </p:cBhvr>
                                      <p:tavLst>
                                        <p:tav tm="0">
                                          <p:val>
                                            <p:strVal val="#ppt_x"/>
                                          </p:val>
                                        </p:tav>
                                        <p:tav tm="100000">
                                          <p:val>
                                            <p:strVal val="#ppt_x"/>
                                          </p:val>
                                        </p:tav>
                                      </p:tavLst>
                                    </p:anim>
                                    <p:anim calcmode="lin" valueType="num">
                                      <p:cBhvr>
                                        <p:cTn id="117" dur="500" fill="hold"/>
                                        <p:tgtEl>
                                          <p:spTgt spid="26"/>
                                        </p:tgtEl>
                                        <p:attrNameLst>
                                          <p:attrName>ppt_y</p:attrName>
                                        </p:attrNameLst>
                                      </p:cBhvr>
                                      <p:tavLst>
                                        <p:tav tm="0">
                                          <p:val>
                                            <p:strVal val="#ppt_y+0.05"/>
                                          </p:val>
                                        </p:tav>
                                        <p:tav tm="100000">
                                          <p:val>
                                            <p:strVal val="#ppt_y"/>
                                          </p:val>
                                        </p:tav>
                                      </p:tavLst>
                                    </p:anim>
                                  </p:childTnLst>
                                </p:cTn>
                              </p:par>
                              <p:par>
                                <p:cTn id="123" presetID="42" presetClass="entr" presetSubtype="0" fill="hold" grpId="0" nodeType="withEffect" decel="100000">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00"/>
                                        <p:tgtEl>
                                          <p:spTgt spid="27"/>
                                        </p:tgtEl>
                                      </p:cBhvr>
                                    </p:animEffect>
                                    <p:anim calcmode="lin" valueType="num">
                                      <p:cBhvr>
                                        <p:cTn id="121" dur="500" fill="hold"/>
                                        <p:tgtEl>
                                          <p:spTgt spid="27"/>
                                        </p:tgtEl>
                                        <p:attrNameLst>
                                          <p:attrName>ppt_x</p:attrName>
                                        </p:attrNameLst>
                                      </p:cBhvr>
                                      <p:tavLst>
                                        <p:tav tm="0">
                                          <p:val>
                                            <p:strVal val="#ppt_x"/>
                                          </p:val>
                                        </p:tav>
                                        <p:tav tm="100000">
                                          <p:val>
                                            <p:strVal val="#ppt_x"/>
                                          </p:val>
                                        </p:tav>
                                      </p:tavLst>
                                    </p:anim>
                                    <p:anim calcmode="lin" valueType="num">
                                      <p:cBhvr>
                                        <p:cTn id="122" dur="500" fill="hold"/>
                                        <p:tgtEl>
                                          <p:spTgt spid="27"/>
                                        </p:tgtEl>
                                        <p:attrNameLst>
                                          <p:attrName>ppt_y</p:attrName>
                                        </p:attrNameLst>
                                      </p:cBhvr>
                                      <p:tavLst>
                                        <p:tav tm="0">
                                          <p:val>
                                            <p:strVal val="#ppt_y+0.05"/>
                                          </p:val>
                                        </p:tav>
                                        <p:tav tm="100000">
                                          <p:val>
                                            <p:strVal val="#ppt_y"/>
                                          </p:val>
                                        </p:tav>
                                      </p:tavLst>
                                    </p:anim>
                                  </p:childTnLst>
                                </p:cTn>
                              </p:par>
                              <p:par>
                                <p:cTn id="128" presetID="42" presetClass="entr" presetSubtype="0" fill="hold" grpId="0" nodeType="withEffect" decel="100000">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00"/>
                                        <p:tgtEl>
                                          <p:spTgt spid="28"/>
                                        </p:tgtEl>
                                      </p:cBhvr>
                                    </p:animEffect>
                                    <p:anim calcmode="lin" valueType="num">
                                      <p:cBhvr>
                                        <p:cTn id="126" dur="500" fill="hold"/>
                                        <p:tgtEl>
                                          <p:spTgt spid="28"/>
                                        </p:tgtEl>
                                        <p:attrNameLst>
                                          <p:attrName>ppt_x</p:attrName>
                                        </p:attrNameLst>
                                      </p:cBhvr>
                                      <p:tavLst>
                                        <p:tav tm="0">
                                          <p:val>
                                            <p:strVal val="#ppt_x"/>
                                          </p:val>
                                        </p:tav>
                                        <p:tav tm="100000">
                                          <p:val>
                                            <p:strVal val="#ppt_x"/>
                                          </p:val>
                                        </p:tav>
                                      </p:tavLst>
                                    </p:anim>
                                    <p:anim calcmode="lin" valueType="num">
                                      <p:cBhvr>
                                        <p:cTn id="127" dur="500" fill="hold"/>
                                        <p:tgtEl>
                                          <p:spTgt spid="28"/>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4" grpId="0" animBg="1"/>
      <p:bldP spid="25" grpId="0" animBg="1"/>
      <p:bldP spid="26"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3" name="txt_19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TECHNOLOGY</a:t>
            </a:r>
            <a:endParaRPr lang="en-US" sz="1100" dirty="0"/>
          </a:p>
        </p:txBody>
      </p:sp>
      <p:sp>
        <p:nvSpPr>
          <p:cNvPr id="4" name="txt_19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Tools We Used</a:t>
            </a:r>
            <a:endParaRPr lang="en-US" sz="3200" dirty="0"/>
          </a:p>
        </p:txBody>
      </p:sp>
      <p:sp>
        <p:nvSpPr>
          <p:cNvPr id="5" name="txt_19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Boring choices on purpose — the time went into the AI logic, not the frameworks.</a:t>
            </a:r>
            <a:endParaRPr lang="en-US" sz="1500" dirty="0"/>
          </a:p>
        </p:txBody>
      </p:sp>
      <p:sp>
        <p:nvSpPr>
          <p:cNvPr id="6" name="shp_19_3"/>
          <p:cNvSpPr/>
          <p:nvPr/>
        </p:nvSpPr>
        <p:spPr>
          <a:xfrm>
            <a:off x="548640" y="1828800"/>
            <a:ext cx="2567864" cy="4251960"/>
          </a:xfrm>
          <a:prstGeom prst="roundRect">
            <a:avLst>
              <a:gd name="adj" fmla="val 3561"/>
            </a:avLst>
          </a:prstGeom>
          <a:solidFill>
            <a:srgbClr val="112038"/>
          </a:solidFill>
          <a:ln w="9525">
            <a:solidFill>
              <a:srgbClr val="243A5E"/>
            </a:solidFill>
            <a:prstDash val="solid"/>
          </a:ln>
        </p:spPr>
      </p:sp>
      <p:sp>
        <p:nvSpPr>
          <p:cNvPr id="7" name="shp_19_4"/>
          <p:cNvSpPr/>
          <p:nvPr/>
        </p:nvSpPr>
        <p:spPr>
          <a:xfrm>
            <a:off x="822960" y="2084832"/>
            <a:ext cx="566928" cy="566928"/>
          </a:xfrm>
          <a:prstGeom prst="ellipse">
            <a:avLst/>
          </a:prstGeom>
          <a:solidFill>
            <a:srgbClr val="3B2A0C"/>
          </a:solidFill>
          <a:ln w="9525">
            <a:solidFill>
              <a:srgbClr val="F5A524"/>
            </a:solidFill>
            <a:prstDash val="solid"/>
          </a:ln>
        </p:spPr>
      </p:sp>
      <p:pic>
        <p:nvPicPr>
          <p:cNvPr id="8" name="img_19_5" descr="preencoded.png">    </p:cNvPr>
          <p:cNvPicPr>
            <a:picLocks noChangeAspect="1"/>
          </p:cNvPicPr>
          <p:nvPr/>
        </p:nvPicPr>
        <p:blipFill>
          <a:blip r:embed="rId1"/>
          <a:stretch>
            <a:fillRect/>
          </a:stretch>
        </p:blipFill>
        <p:spPr>
          <a:xfrm>
            <a:off x="959023" y="2220895"/>
            <a:ext cx="294803" cy="294803"/>
          </a:xfrm>
          <a:prstGeom prst="rect">
            <a:avLst/>
          </a:prstGeom>
        </p:spPr>
      </p:pic>
      <p:sp>
        <p:nvSpPr>
          <p:cNvPr id="9" name="txt_19_6"/>
          <p:cNvSpPr txBox="1"/>
          <p:nvPr/>
        </p:nvSpPr>
        <p:spPr>
          <a:xfrm>
            <a:off x="822960" y="2834640"/>
            <a:ext cx="211066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FRONTEND</a:t>
            </a:r>
            <a:endParaRPr lang="en-US" sz="1050" dirty="0"/>
          </a:p>
        </p:txBody>
      </p:sp>
      <p:sp>
        <p:nvSpPr>
          <p:cNvPr id="10" name="txt_19_7"/>
          <p:cNvSpPr txBox="1"/>
          <p:nvPr/>
        </p:nvSpPr>
        <p:spPr>
          <a:xfrm>
            <a:off x="822960" y="3154680"/>
            <a:ext cx="2110664"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React 19 + Vite 6</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Four RBAC dashboards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Axios JWT interceptors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Leaflet route maps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Chart.js risk visuals</a:t>
            </a:r>
            <a:endParaRPr lang="en-US" sz="1300" dirty="0"/>
          </a:p>
        </p:txBody>
      </p:sp>
      <p:sp>
        <p:nvSpPr>
          <p:cNvPr id="11" name="shp_19_8"/>
          <p:cNvSpPr/>
          <p:nvPr/>
        </p:nvSpPr>
        <p:spPr>
          <a:xfrm>
            <a:off x="822960" y="5138928"/>
            <a:ext cx="2019224" cy="0"/>
          </a:xfrm>
          <a:prstGeom prst="line">
            <a:avLst/>
          </a:prstGeom>
          <a:noFill/>
          <a:ln w="9525">
            <a:solidFill>
              <a:srgbClr val="243A5E"/>
            </a:solidFill>
            <a:prstDash val="solid"/>
          </a:ln>
        </p:spPr>
      </p:sp>
      <p:sp>
        <p:nvSpPr>
          <p:cNvPr id="12" name="txt_19_9"/>
          <p:cNvSpPr txBox="1"/>
          <p:nvPr/>
        </p:nvSpPr>
        <p:spPr>
          <a:xfrm>
            <a:off x="822960" y="5257800"/>
            <a:ext cx="2110664" cy="201168"/>
          </a:xfrm>
          <a:prstGeom prst="rect">
            <a:avLst/>
          </a:prstGeom>
          <a:noFill/>
          <a:ln/>
        </p:spPr>
        <p:txBody>
          <a:bodyPr wrap="square" lIns="0" tIns="0" rIns="0" bIns="0" rtlCol="0" anchor="t"/>
          <a:lstStyle/>
          <a:p>
            <a:pPr indent="0" marL="0">
              <a:buNone/>
            </a:pPr>
            <a:r>
              <a:rPr lang="en-US" sz="950" b="1" spc="200" kern="0" dirty="0">
                <a:solidFill>
                  <a:srgbClr val="71819A"/>
                </a:solidFill>
                <a:latin typeface="Calibri" pitchFamily="34" charset="0"/>
                <a:ea typeface="Calibri" pitchFamily="34" charset="-122"/>
                <a:cs typeface="Calibri" pitchFamily="34" charset="-120"/>
              </a:rPr>
              <a:t>BUILT BY</a:t>
            </a:r>
            <a:endParaRPr lang="en-US" sz="950" dirty="0"/>
          </a:p>
        </p:txBody>
      </p:sp>
      <p:sp>
        <p:nvSpPr>
          <p:cNvPr id="13" name="txt_19_10"/>
          <p:cNvSpPr txBox="1"/>
          <p:nvPr/>
        </p:nvSpPr>
        <p:spPr>
          <a:xfrm>
            <a:off x="822960" y="5486400"/>
            <a:ext cx="2110664"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Nutan Jadhav · Syona Jain</a:t>
            </a:r>
            <a:endParaRPr lang="en-US" sz="1250" dirty="0"/>
          </a:p>
        </p:txBody>
      </p:sp>
      <p:sp>
        <p:nvSpPr>
          <p:cNvPr id="14" name="shp_19_11"/>
          <p:cNvSpPr/>
          <p:nvPr/>
        </p:nvSpPr>
        <p:spPr>
          <a:xfrm>
            <a:off x="3390824" y="1828800"/>
            <a:ext cx="2567864" cy="4251960"/>
          </a:xfrm>
          <a:prstGeom prst="roundRect">
            <a:avLst>
              <a:gd name="adj" fmla="val 3561"/>
            </a:avLst>
          </a:prstGeom>
          <a:solidFill>
            <a:srgbClr val="112038"/>
          </a:solidFill>
          <a:ln w="9525">
            <a:solidFill>
              <a:srgbClr val="243A5E"/>
            </a:solidFill>
            <a:prstDash val="solid"/>
          </a:ln>
        </p:spPr>
      </p:sp>
      <p:sp>
        <p:nvSpPr>
          <p:cNvPr id="15" name="shp_19_12"/>
          <p:cNvSpPr/>
          <p:nvPr/>
        </p:nvSpPr>
        <p:spPr>
          <a:xfrm>
            <a:off x="3665144" y="2084832"/>
            <a:ext cx="566928" cy="566928"/>
          </a:xfrm>
          <a:prstGeom prst="ellipse">
            <a:avLst/>
          </a:prstGeom>
          <a:solidFill>
            <a:srgbClr val="3B2A0C"/>
          </a:solidFill>
          <a:ln w="9525">
            <a:solidFill>
              <a:srgbClr val="F5A524"/>
            </a:solidFill>
            <a:prstDash val="solid"/>
          </a:ln>
        </p:spPr>
      </p:sp>
      <p:pic>
        <p:nvPicPr>
          <p:cNvPr id="16" name="img_19_13" descr="preencoded.png">    </p:cNvPr>
          <p:cNvPicPr>
            <a:picLocks noChangeAspect="1"/>
          </p:cNvPicPr>
          <p:nvPr/>
        </p:nvPicPr>
        <p:blipFill>
          <a:blip r:embed="rId2"/>
          <a:stretch>
            <a:fillRect/>
          </a:stretch>
        </p:blipFill>
        <p:spPr>
          <a:xfrm>
            <a:off x="3801207" y="2220895"/>
            <a:ext cx="294803" cy="294803"/>
          </a:xfrm>
          <a:prstGeom prst="rect">
            <a:avLst/>
          </a:prstGeom>
        </p:spPr>
      </p:pic>
      <p:sp>
        <p:nvSpPr>
          <p:cNvPr id="17" name="txt_19_14"/>
          <p:cNvSpPr txBox="1"/>
          <p:nvPr/>
        </p:nvSpPr>
        <p:spPr>
          <a:xfrm>
            <a:off x="3665144" y="2834640"/>
            <a:ext cx="211066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BACKEND &amp; RAG</a:t>
            </a:r>
            <a:endParaRPr lang="en-US" sz="1050" dirty="0"/>
          </a:p>
        </p:txBody>
      </p:sp>
      <p:sp>
        <p:nvSpPr>
          <p:cNvPr id="18" name="txt_19_15"/>
          <p:cNvSpPr txBox="1"/>
          <p:nvPr/>
        </p:nvSpPr>
        <p:spPr>
          <a:xfrm>
            <a:off x="3665144" y="3154680"/>
            <a:ext cx="2110664"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Django 5 + DRF, Python 3</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Booking state machine</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JWT role guards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Tenant-scoped querysets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Hybrid retrieval pipeline</a:t>
            </a:r>
            <a:endParaRPr lang="en-US" sz="1300" dirty="0"/>
          </a:p>
        </p:txBody>
      </p:sp>
      <p:sp>
        <p:nvSpPr>
          <p:cNvPr id="19" name="shp_19_16"/>
          <p:cNvSpPr/>
          <p:nvPr/>
        </p:nvSpPr>
        <p:spPr>
          <a:xfrm>
            <a:off x="3665144" y="5138928"/>
            <a:ext cx="2019224" cy="0"/>
          </a:xfrm>
          <a:prstGeom prst="line">
            <a:avLst/>
          </a:prstGeom>
          <a:noFill/>
          <a:ln w="9525">
            <a:solidFill>
              <a:srgbClr val="243A5E"/>
            </a:solidFill>
            <a:prstDash val="solid"/>
          </a:ln>
        </p:spPr>
      </p:sp>
      <p:sp>
        <p:nvSpPr>
          <p:cNvPr id="20" name="txt_19_17"/>
          <p:cNvSpPr txBox="1"/>
          <p:nvPr/>
        </p:nvSpPr>
        <p:spPr>
          <a:xfrm>
            <a:off x="3665144" y="5257800"/>
            <a:ext cx="2110664" cy="201168"/>
          </a:xfrm>
          <a:prstGeom prst="rect">
            <a:avLst/>
          </a:prstGeom>
          <a:noFill/>
          <a:ln/>
        </p:spPr>
        <p:txBody>
          <a:bodyPr wrap="square" lIns="0" tIns="0" rIns="0" bIns="0" rtlCol="0" anchor="t"/>
          <a:lstStyle/>
          <a:p>
            <a:pPr indent="0" marL="0">
              <a:buNone/>
            </a:pPr>
            <a:r>
              <a:rPr lang="en-US" sz="950" b="1" spc="200" kern="0" dirty="0">
                <a:solidFill>
                  <a:srgbClr val="71819A"/>
                </a:solidFill>
                <a:latin typeface="Calibri" pitchFamily="34" charset="0"/>
                <a:ea typeface="Calibri" pitchFamily="34" charset="-122"/>
                <a:cs typeface="Calibri" pitchFamily="34" charset="-120"/>
              </a:rPr>
              <a:t>BUILT BY</a:t>
            </a:r>
            <a:endParaRPr lang="en-US" sz="950" dirty="0"/>
          </a:p>
        </p:txBody>
      </p:sp>
      <p:sp>
        <p:nvSpPr>
          <p:cNvPr id="21" name="txt_19_18"/>
          <p:cNvSpPr txBox="1"/>
          <p:nvPr/>
        </p:nvSpPr>
        <p:spPr>
          <a:xfrm>
            <a:off x="3665144" y="5486400"/>
            <a:ext cx="2110664"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Naresh Ramavath</a:t>
            </a:r>
            <a:endParaRPr lang="en-US" sz="1250" dirty="0"/>
          </a:p>
        </p:txBody>
      </p:sp>
      <p:sp>
        <p:nvSpPr>
          <p:cNvPr id="22" name="shp_19_19"/>
          <p:cNvSpPr/>
          <p:nvPr/>
        </p:nvSpPr>
        <p:spPr>
          <a:xfrm>
            <a:off x="6233008" y="1828800"/>
            <a:ext cx="2567864" cy="4251960"/>
          </a:xfrm>
          <a:prstGeom prst="roundRect">
            <a:avLst>
              <a:gd name="adj" fmla="val 3561"/>
            </a:avLst>
          </a:prstGeom>
          <a:solidFill>
            <a:srgbClr val="112038"/>
          </a:solidFill>
          <a:ln w="9525">
            <a:solidFill>
              <a:srgbClr val="243A5E"/>
            </a:solidFill>
            <a:prstDash val="solid"/>
          </a:ln>
        </p:spPr>
      </p:sp>
      <p:sp>
        <p:nvSpPr>
          <p:cNvPr id="23" name="shp_19_20"/>
          <p:cNvSpPr/>
          <p:nvPr/>
        </p:nvSpPr>
        <p:spPr>
          <a:xfrm>
            <a:off x="6507328" y="2084832"/>
            <a:ext cx="566928" cy="566928"/>
          </a:xfrm>
          <a:prstGeom prst="ellipse">
            <a:avLst/>
          </a:prstGeom>
          <a:solidFill>
            <a:srgbClr val="3B2A0C"/>
          </a:solidFill>
          <a:ln w="9525">
            <a:solidFill>
              <a:srgbClr val="F5A524"/>
            </a:solidFill>
            <a:prstDash val="solid"/>
          </a:ln>
        </p:spPr>
      </p:sp>
      <p:pic>
        <p:nvPicPr>
          <p:cNvPr id="24" name="img_19_21" descr="preencoded.png">    </p:cNvPr>
          <p:cNvPicPr>
            <a:picLocks noChangeAspect="1"/>
          </p:cNvPicPr>
          <p:nvPr/>
        </p:nvPicPr>
        <p:blipFill>
          <a:blip r:embed="rId3"/>
          <a:stretch>
            <a:fillRect/>
          </a:stretch>
        </p:blipFill>
        <p:spPr>
          <a:xfrm>
            <a:off x="6643390" y="2220895"/>
            <a:ext cx="294803" cy="294803"/>
          </a:xfrm>
          <a:prstGeom prst="rect">
            <a:avLst/>
          </a:prstGeom>
        </p:spPr>
      </p:pic>
      <p:sp>
        <p:nvSpPr>
          <p:cNvPr id="25" name="txt_19_22"/>
          <p:cNvSpPr txBox="1"/>
          <p:nvPr/>
        </p:nvSpPr>
        <p:spPr>
          <a:xfrm>
            <a:off x="6507328" y="2834640"/>
            <a:ext cx="211066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AI / ML</a:t>
            </a:r>
            <a:endParaRPr lang="en-US" sz="1050" dirty="0"/>
          </a:p>
        </p:txBody>
      </p:sp>
      <p:sp>
        <p:nvSpPr>
          <p:cNvPr id="26" name="txt_19_23"/>
          <p:cNvSpPr txBox="1"/>
          <p:nvPr/>
        </p:nvSpPr>
        <p:spPr>
          <a:xfrm>
            <a:off x="6507328" y="3154680"/>
            <a:ext cx="2110664"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scikit-learn Gradient Boosting</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5,000-lane training set</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joblib model artifacts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Rule-vs-ML comparison</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Benchmark reporting</a:t>
            </a:r>
            <a:endParaRPr lang="en-US" sz="1300" dirty="0"/>
          </a:p>
        </p:txBody>
      </p:sp>
      <p:sp>
        <p:nvSpPr>
          <p:cNvPr id="27" name="shp_19_24"/>
          <p:cNvSpPr/>
          <p:nvPr/>
        </p:nvSpPr>
        <p:spPr>
          <a:xfrm>
            <a:off x="6507328" y="5138928"/>
            <a:ext cx="2019224" cy="0"/>
          </a:xfrm>
          <a:prstGeom prst="line">
            <a:avLst/>
          </a:prstGeom>
          <a:noFill/>
          <a:ln w="9525">
            <a:solidFill>
              <a:srgbClr val="243A5E"/>
            </a:solidFill>
            <a:prstDash val="solid"/>
          </a:ln>
        </p:spPr>
      </p:sp>
      <p:sp>
        <p:nvSpPr>
          <p:cNvPr id="28" name="txt_19_25"/>
          <p:cNvSpPr txBox="1"/>
          <p:nvPr/>
        </p:nvSpPr>
        <p:spPr>
          <a:xfrm>
            <a:off x="6507328" y="5257800"/>
            <a:ext cx="2110664" cy="201168"/>
          </a:xfrm>
          <a:prstGeom prst="rect">
            <a:avLst/>
          </a:prstGeom>
          <a:noFill/>
          <a:ln/>
        </p:spPr>
        <p:txBody>
          <a:bodyPr wrap="square" lIns="0" tIns="0" rIns="0" bIns="0" rtlCol="0" anchor="t"/>
          <a:lstStyle/>
          <a:p>
            <a:pPr indent="0" marL="0">
              <a:buNone/>
            </a:pPr>
            <a:r>
              <a:rPr lang="en-US" sz="950" b="1" spc="200" kern="0" dirty="0">
                <a:solidFill>
                  <a:srgbClr val="71819A"/>
                </a:solidFill>
                <a:latin typeface="Calibri" pitchFamily="34" charset="0"/>
                <a:ea typeface="Calibri" pitchFamily="34" charset="-122"/>
                <a:cs typeface="Calibri" pitchFamily="34" charset="-120"/>
              </a:rPr>
              <a:t>BUILT BY</a:t>
            </a:r>
            <a:endParaRPr lang="en-US" sz="950" dirty="0"/>
          </a:p>
        </p:txBody>
      </p:sp>
      <p:sp>
        <p:nvSpPr>
          <p:cNvPr id="29" name="txt_19_26"/>
          <p:cNvSpPr txBox="1"/>
          <p:nvPr/>
        </p:nvSpPr>
        <p:spPr>
          <a:xfrm>
            <a:off x="6507328" y="5486400"/>
            <a:ext cx="2110664"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Biswajit Pradhan</a:t>
            </a:r>
            <a:endParaRPr lang="en-US" sz="1250" dirty="0"/>
          </a:p>
        </p:txBody>
      </p:sp>
      <p:sp>
        <p:nvSpPr>
          <p:cNvPr id="30" name="shp_19_27"/>
          <p:cNvSpPr/>
          <p:nvPr/>
        </p:nvSpPr>
        <p:spPr>
          <a:xfrm>
            <a:off x="9075191" y="1828800"/>
            <a:ext cx="2567864" cy="4251960"/>
          </a:xfrm>
          <a:prstGeom prst="roundRect">
            <a:avLst>
              <a:gd name="adj" fmla="val 3561"/>
            </a:avLst>
          </a:prstGeom>
          <a:solidFill>
            <a:srgbClr val="112038"/>
          </a:solidFill>
          <a:ln w="9525">
            <a:solidFill>
              <a:srgbClr val="243A5E"/>
            </a:solidFill>
            <a:prstDash val="solid"/>
          </a:ln>
        </p:spPr>
      </p:sp>
      <p:sp>
        <p:nvSpPr>
          <p:cNvPr id="31" name="shp_19_28"/>
          <p:cNvSpPr/>
          <p:nvPr/>
        </p:nvSpPr>
        <p:spPr>
          <a:xfrm>
            <a:off x="9349511" y="2084832"/>
            <a:ext cx="566928" cy="566928"/>
          </a:xfrm>
          <a:prstGeom prst="ellipse">
            <a:avLst/>
          </a:prstGeom>
          <a:solidFill>
            <a:srgbClr val="3B2A0C"/>
          </a:solidFill>
          <a:ln w="9525">
            <a:solidFill>
              <a:srgbClr val="F5A524"/>
            </a:solidFill>
            <a:prstDash val="solid"/>
          </a:ln>
        </p:spPr>
      </p:sp>
      <p:pic>
        <p:nvPicPr>
          <p:cNvPr id="32" name="img_19_29" descr="preencoded.png">    </p:cNvPr>
          <p:cNvPicPr>
            <a:picLocks noChangeAspect="1"/>
          </p:cNvPicPr>
          <p:nvPr/>
        </p:nvPicPr>
        <p:blipFill>
          <a:blip r:embed="rId4"/>
          <a:stretch>
            <a:fillRect/>
          </a:stretch>
        </p:blipFill>
        <p:spPr>
          <a:xfrm>
            <a:off x="9485574" y="2220895"/>
            <a:ext cx="294803" cy="294803"/>
          </a:xfrm>
          <a:prstGeom prst="rect">
            <a:avLst/>
          </a:prstGeom>
        </p:spPr>
      </p:pic>
      <p:sp>
        <p:nvSpPr>
          <p:cNvPr id="33" name="txt_19_30"/>
          <p:cNvSpPr txBox="1"/>
          <p:nvPr/>
        </p:nvSpPr>
        <p:spPr>
          <a:xfrm>
            <a:off x="9349511" y="2834640"/>
            <a:ext cx="2110664"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TELEMETRY, QA &amp; DEPLOY</a:t>
            </a:r>
            <a:endParaRPr lang="en-US" sz="1050" dirty="0"/>
          </a:p>
        </p:txBody>
      </p:sp>
      <p:sp>
        <p:nvSpPr>
          <p:cNvPr id="34" name="txt_19_31"/>
          <p:cNvSpPr txBox="1"/>
          <p:nvPr/>
        </p:nvSpPr>
        <p:spPr>
          <a:xfrm>
            <a:off x="9349511" y="3154680"/>
            <a:ext cx="2110664"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Open-Meteo weather agent</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Geohash 6-hour cache</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5-factor MCDA engine</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Pytest suites (63 tests)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Vercel + Cloudflare tunnel</a:t>
            </a:r>
            <a:endParaRPr lang="en-US" sz="1300" dirty="0"/>
          </a:p>
        </p:txBody>
      </p:sp>
      <p:sp>
        <p:nvSpPr>
          <p:cNvPr id="35" name="shp_19_32"/>
          <p:cNvSpPr/>
          <p:nvPr/>
        </p:nvSpPr>
        <p:spPr>
          <a:xfrm>
            <a:off x="9349511" y="5138928"/>
            <a:ext cx="2019224" cy="0"/>
          </a:xfrm>
          <a:prstGeom prst="line">
            <a:avLst/>
          </a:prstGeom>
          <a:noFill/>
          <a:ln w="9525">
            <a:solidFill>
              <a:srgbClr val="243A5E"/>
            </a:solidFill>
            <a:prstDash val="solid"/>
          </a:ln>
        </p:spPr>
      </p:sp>
      <p:sp>
        <p:nvSpPr>
          <p:cNvPr id="36" name="txt_19_33"/>
          <p:cNvSpPr txBox="1"/>
          <p:nvPr/>
        </p:nvSpPr>
        <p:spPr>
          <a:xfrm>
            <a:off x="9349511" y="5257800"/>
            <a:ext cx="2110664" cy="201168"/>
          </a:xfrm>
          <a:prstGeom prst="rect">
            <a:avLst/>
          </a:prstGeom>
          <a:noFill/>
          <a:ln/>
        </p:spPr>
        <p:txBody>
          <a:bodyPr wrap="square" lIns="0" tIns="0" rIns="0" bIns="0" rtlCol="0" anchor="t"/>
          <a:lstStyle/>
          <a:p>
            <a:pPr indent="0" marL="0">
              <a:buNone/>
            </a:pPr>
            <a:r>
              <a:rPr lang="en-US" sz="950" b="1" spc="200" kern="0" dirty="0">
                <a:solidFill>
                  <a:srgbClr val="71819A"/>
                </a:solidFill>
                <a:latin typeface="Calibri" pitchFamily="34" charset="0"/>
                <a:ea typeface="Calibri" pitchFamily="34" charset="-122"/>
                <a:cs typeface="Calibri" pitchFamily="34" charset="-120"/>
              </a:rPr>
              <a:t>BUILT BY</a:t>
            </a:r>
            <a:endParaRPr lang="en-US" sz="950" dirty="0"/>
          </a:p>
        </p:txBody>
      </p:sp>
      <p:sp>
        <p:nvSpPr>
          <p:cNvPr id="37" name="txt_19_34"/>
          <p:cNvSpPr txBox="1"/>
          <p:nvPr/>
        </p:nvSpPr>
        <p:spPr>
          <a:xfrm>
            <a:off x="9349511" y="5486400"/>
            <a:ext cx="2110664"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Arpita Dash · Ishanvi Chavan</a:t>
            </a:r>
            <a:endParaRPr lang="en-US" sz="1250" dirty="0"/>
          </a:p>
        </p:txBody>
      </p:sp>
      <p:sp>
        <p:nvSpPr>
          <p:cNvPr id="38" name="txt_19_3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9" name="txt_19_3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19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52" fill="hold">
                      <p:stCondLst>
                        <p:cond delay="indefinite"/>
                      </p:stCondLst>
                      <p:childTnLst>
                        <p:par>
                          <p:cTn id="153"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3" presetID="10" presetClass="entr" presetSubtype="0" fill="hold" grpId="0" nodeType="withEffect" decel="100000">
                                  <p:stCondLst>
                                    <p:cond delay="2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6" presetID="10" presetClass="entr" presetSubtype="0" fill="hold" grpId="0" nodeType="withEffect" decel="100000">
                                  <p:stCondLst>
                                    <p:cond delay="2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9" presetID="10" presetClass="entr" presetSubtype="0" fill="hold" grpId="0" nodeType="withEffect" decel="100000">
                                  <p:stCondLst>
                                    <p:cond delay="20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54" presetID="42" presetClass="entr" presetSubtype="0" fill="hold" grpId="0" nodeType="withEffect" decel="100000">
                                  <p:stCondLst>
                                    <p:cond delay="22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anim calcmode="lin" valueType="num">
                                      <p:cBhvr>
                                        <p:cTn id="52" dur="500" fill="hold"/>
                                        <p:tgtEl>
                                          <p:spTgt spid="14"/>
                                        </p:tgtEl>
                                        <p:attrNameLst>
                                          <p:attrName>ppt_x</p:attrName>
                                        </p:attrNameLst>
                                      </p:cBhvr>
                                      <p:tavLst>
                                        <p:tav tm="0">
                                          <p:val>
                                            <p:strVal val="#ppt_x"/>
                                          </p:val>
                                        </p:tav>
                                        <p:tav tm="100000">
                                          <p:val>
                                            <p:strVal val="#ppt_x"/>
                                          </p:val>
                                        </p:tav>
                                      </p:tavLst>
                                    </p:anim>
                                    <p:anim calcmode="lin" valueType="num">
                                      <p:cBhvr>
                                        <p:cTn id="53" dur="500" fill="hold"/>
                                        <p:tgtEl>
                                          <p:spTgt spid="14"/>
                                        </p:tgtEl>
                                        <p:attrNameLst>
                                          <p:attrName>ppt_y</p:attrName>
                                        </p:attrNameLst>
                                      </p:cBhvr>
                                      <p:tavLst>
                                        <p:tav tm="0">
                                          <p:val>
                                            <p:strVal val="#ppt_y+0.05"/>
                                          </p:val>
                                        </p:tav>
                                        <p:tav tm="100000">
                                          <p:val>
                                            <p:strVal val="#ppt_y"/>
                                          </p:val>
                                        </p:tav>
                                      </p:tavLst>
                                    </p:anim>
                                  </p:childTnLst>
                                </p:cTn>
                              </p:par>
                              <p:par>
                                <p:cTn id="59" presetID="42" presetClass="entr" presetSubtype="0" fill="hold" grpId="0" nodeType="withEffect" decel="100000">
                                  <p:stCondLst>
                                    <p:cond delay="22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anim calcmode="lin" valueType="num">
                                      <p:cBhvr>
                                        <p:cTn id="57" dur="500" fill="hold"/>
                                        <p:tgtEl>
                                          <p:spTgt spid="15"/>
                                        </p:tgtEl>
                                        <p:attrNameLst>
                                          <p:attrName>ppt_x</p:attrName>
                                        </p:attrNameLst>
                                      </p:cBhvr>
                                      <p:tavLst>
                                        <p:tav tm="0">
                                          <p:val>
                                            <p:strVal val="#ppt_x"/>
                                          </p:val>
                                        </p:tav>
                                        <p:tav tm="100000">
                                          <p:val>
                                            <p:strVal val="#ppt_x"/>
                                          </p:val>
                                        </p:tav>
                                      </p:tavLst>
                                    </p:anim>
                                    <p:anim calcmode="lin" valueType="num">
                                      <p:cBhvr>
                                        <p:cTn id="58" dur="500" fill="hold"/>
                                        <p:tgtEl>
                                          <p:spTgt spid="15"/>
                                        </p:tgtEl>
                                        <p:attrNameLst>
                                          <p:attrName>ppt_y</p:attrName>
                                        </p:attrNameLst>
                                      </p:cBhvr>
                                      <p:tavLst>
                                        <p:tav tm="0">
                                          <p:val>
                                            <p:strVal val="#ppt_y+0.05"/>
                                          </p:val>
                                        </p:tav>
                                        <p:tav tm="100000">
                                          <p:val>
                                            <p:strVal val="#ppt_y"/>
                                          </p:val>
                                        </p:tav>
                                      </p:tavLst>
                                    </p:anim>
                                  </p:childTnLst>
                                </p:cTn>
                              </p:par>
                              <p:par>
                                <p:cTn id="64" presetID="42" presetClass="entr" presetSubtype="0" fill="hold" grpId="0" nodeType="withEffect" decel="100000">
                                  <p:stCondLst>
                                    <p:cond delay="22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anim calcmode="lin" valueType="num">
                                      <p:cBhvr>
                                        <p:cTn id="62" dur="500" fill="hold"/>
                                        <p:tgtEl>
                                          <p:spTgt spid="16"/>
                                        </p:tgtEl>
                                        <p:attrNameLst>
                                          <p:attrName>ppt_x</p:attrName>
                                        </p:attrNameLst>
                                      </p:cBhvr>
                                      <p:tavLst>
                                        <p:tav tm="0">
                                          <p:val>
                                            <p:strVal val="#ppt_x"/>
                                          </p:val>
                                        </p:tav>
                                        <p:tav tm="100000">
                                          <p:val>
                                            <p:strVal val="#ppt_x"/>
                                          </p:val>
                                        </p:tav>
                                      </p:tavLst>
                                    </p:anim>
                                    <p:anim calcmode="lin" valueType="num">
                                      <p:cBhvr>
                                        <p:cTn id="63" dur="500" fill="hold"/>
                                        <p:tgtEl>
                                          <p:spTgt spid="16"/>
                                        </p:tgtEl>
                                        <p:attrNameLst>
                                          <p:attrName>ppt_y</p:attrName>
                                        </p:attrNameLst>
                                      </p:cBhvr>
                                      <p:tavLst>
                                        <p:tav tm="0">
                                          <p:val>
                                            <p:strVal val="#ppt_y+0.05"/>
                                          </p:val>
                                        </p:tav>
                                        <p:tav tm="100000">
                                          <p:val>
                                            <p:strVal val="#ppt_y"/>
                                          </p:val>
                                        </p:tav>
                                      </p:tavLst>
                                    </p:anim>
                                  </p:childTnLst>
                                </p:cTn>
                              </p:par>
                              <p:par>
                                <p:cTn id="69" presetID="42" presetClass="entr" presetSubtype="0" fill="hold" grpId="0" nodeType="withEffect" decel="100000">
                                  <p:stCondLst>
                                    <p:cond delay="22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anim calcmode="lin" valueType="num">
                                      <p:cBhvr>
                                        <p:cTn id="67" dur="500" fill="hold"/>
                                        <p:tgtEl>
                                          <p:spTgt spid="17"/>
                                        </p:tgtEl>
                                        <p:attrNameLst>
                                          <p:attrName>ppt_x</p:attrName>
                                        </p:attrNameLst>
                                      </p:cBhvr>
                                      <p:tavLst>
                                        <p:tav tm="0">
                                          <p:val>
                                            <p:strVal val="#ppt_x"/>
                                          </p:val>
                                        </p:tav>
                                        <p:tav tm="100000">
                                          <p:val>
                                            <p:strVal val="#ppt_x"/>
                                          </p:val>
                                        </p:tav>
                                      </p:tavLst>
                                    </p:anim>
                                    <p:anim calcmode="lin" valueType="num">
                                      <p:cBhvr>
                                        <p:cTn id="68" dur="500" fill="hold"/>
                                        <p:tgtEl>
                                          <p:spTgt spid="17"/>
                                        </p:tgtEl>
                                        <p:attrNameLst>
                                          <p:attrName>ppt_y</p:attrName>
                                        </p:attrNameLst>
                                      </p:cBhvr>
                                      <p:tavLst>
                                        <p:tav tm="0">
                                          <p:val>
                                            <p:strVal val="#ppt_y+0.05"/>
                                          </p:val>
                                        </p:tav>
                                        <p:tav tm="100000">
                                          <p:val>
                                            <p:strVal val="#ppt_y"/>
                                          </p:val>
                                        </p:tav>
                                      </p:tavLst>
                                    </p:anim>
                                  </p:childTnLst>
                                </p:cTn>
                              </p:par>
                              <p:par>
                                <p:cTn id="74" presetID="42" presetClass="entr" presetSubtype="0" fill="hold" grpId="0" nodeType="withEffect" decel="100000">
                                  <p:stCondLst>
                                    <p:cond delay="22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anim calcmode="lin" valueType="num">
                                      <p:cBhvr>
                                        <p:cTn id="72" dur="500" fill="hold"/>
                                        <p:tgtEl>
                                          <p:spTgt spid="18"/>
                                        </p:tgtEl>
                                        <p:attrNameLst>
                                          <p:attrName>ppt_x</p:attrName>
                                        </p:attrNameLst>
                                      </p:cBhvr>
                                      <p:tavLst>
                                        <p:tav tm="0">
                                          <p:val>
                                            <p:strVal val="#ppt_x"/>
                                          </p:val>
                                        </p:tav>
                                        <p:tav tm="100000">
                                          <p:val>
                                            <p:strVal val="#ppt_x"/>
                                          </p:val>
                                        </p:tav>
                                      </p:tavLst>
                                    </p:anim>
                                    <p:anim calcmode="lin" valueType="num">
                                      <p:cBhvr>
                                        <p:cTn id="73" dur="500" fill="hold"/>
                                        <p:tgtEl>
                                          <p:spTgt spid="18"/>
                                        </p:tgtEl>
                                        <p:attrNameLst>
                                          <p:attrName>ppt_y</p:attrName>
                                        </p:attrNameLst>
                                      </p:cBhvr>
                                      <p:tavLst>
                                        <p:tav tm="0">
                                          <p:val>
                                            <p:strVal val="#ppt_y+0.05"/>
                                          </p:val>
                                        </p:tav>
                                        <p:tav tm="100000">
                                          <p:val>
                                            <p:strVal val="#ppt_y"/>
                                          </p:val>
                                        </p:tav>
                                      </p:tavLst>
                                    </p:anim>
                                  </p:childTnLst>
                                </p:cTn>
                              </p:par>
                              <p:par>
                                <p:cTn id="77" presetID="10" presetClass="entr" presetSubtype="0" fill="hold" grpId="0" nodeType="withEffect" decel="100000">
                                  <p:stCondLst>
                                    <p:cond delay="42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par>
                                <p:cTn id="80" presetID="10" presetClass="entr" presetSubtype="0" fill="hold" grpId="0" nodeType="withEffect" decel="100000">
                                  <p:stCondLst>
                                    <p:cond delay="42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par>
                                <p:cTn id="83" presetID="10" presetClass="entr" presetSubtype="0" fill="hold" grpId="0" nodeType="withEffect" decel="100000">
                                  <p:stCondLst>
                                    <p:cond delay="42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par>
                                <p:cTn id="88" presetID="42" presetClass="entr" presetSubtype="0" fill="hold" grpId="0" nodeType="withEffect" decel="100000">
                                  <p:stCondLst>
                                    <p:cond delay="44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anim calcmode="lin" valueType="num">
                                      <p:cBhvr>
                                        <p:cTn id="86" dur="500" fill="hold"/>
                                        <p:tgtEl>
                                          <p:spTgt spid="22"/>
                                        </p:tgtEl>
                                        <p:attrNameLst>
                                          <p:attrName>ppt_x</p:attrName>
                                        </p:attrNameLst>
                                      </p:cBhvr>
                                      <p:tavLst>
                                        <p:tav tm="0">
                                          <p:val>
                                            <p:strVal val="#ppt_x"/>
                                          </p:val>
                                        </p:tav>
                                        <p:tav tm="100000">
                                          <p:val>
                                            <p:strVal val="#ppt_x"/>
                                          </p:val>
                                        </p:tav>
                                      </p:tavLst>
                                    </p:anim>
                                    <p:anim calcmode="lin" valueType="num">
                                      <p:cBhvr>
                                        <p:cTn id="87" dur="500" fill="hold"/>
                                        <p:tgtEl>
                                          <p:spTgt spid="22"/>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decel="100000">
                                  <p:stCondLst>
                                    <p:cond delay="44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anim calcmode="lin" valueType="num">
                                      <p:cBhvr>
                                        <p:cTn id="91" dur="500" fill="hold"/>
                                        <p:tgtEl>
                                          <p:spTgt spid="23"/>
                                        </p:tgtEl>
                                        <p:attrNameLst>
                                          <p:attrName>ppt_x</p:attrName>
                                        </p:attrNameLst>
                                      </p:cBhvr>
                                      <p:tavLst>
                                        <p:tav tm="0">
                                          <p:val>
                                            <p:strVal val="#ppt_x"/>
                                          </p:val>
                                        </p:tav>
                                        <p:tav tm="100000">
                                          <p:val>
                                            <p:strVal val="#ppt_x"/>
                                          </p:val>
                                        </p:tav>
                                      </p:tavLst>
                                    </p:anim>
                                    <p:anim calcmode="lin" valueType="num">
                                      <p:cBhvr>
                                        <p:cTn id="92" dur="500" fill="hold"/>
                                        <p:tgtEl>
                                          <p:spTgt spid="23"/>
                                        </p:tgtEl>
                                        <p:attrNameLst>
                                          <p:attrName>ppt_y</p:attrName>
                                        </p:attrNameLst>
                                      </p:cBhvr>
                                      <p:tavLst>
                                        <p:tav tm="0">
                                          <p:val>
                                            <p:strVal val="#ppt_y+0.05"/>
                                          </p:val>
                                        </p:tav>
                                        <p:tav tm="100000">
                                          <p:val>
                                            <p:strVal val="#ppt_y"/>
                                          </p:val>
                                        </p:tav>
                                      </p:tavLst>
                                    </p:anim>
                                  </p:childTnLst>
                                </p:cTn>
                              </p:par>
                              <p:par>
                                <p:cTn id="98" presetID="42" presetClass="entr" presetSubtype="0" fill="hold" grpId="0" nodeType="withEffect" decel="100000">
                                  <p:stCondLst>
                                    <p:cond delay="44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anim calcmode="lin" valueType="num">
                                      <p:cBhvr>
                                        <p:cTn id="96" dur="500" fill="hold"/>
                                        <p:tgtEl>
                                          <p:spTgt spid="24"/>
                                        </p:tgtEl>
                                        <p:attrNameLst>
                                          <p:attrName>ppt_x</p:attrName>
                                        </p:attrNameLst>
                                      </p:cBhvr>
                                      <p:tavLst>
                                        <p:tav tm="0">
                                          <p:val>
                                            <p:strVal val="#ppt_x"/>
                                          </p:val>
                                        </p:tav>
                                        <p:tav tm="100000">
                                          <p:val>
                                            <p:strVal val="#ppt_x"/>
                                          </p:val>
                                        </p:tav>
                                      </p:tavLst>
                                    </p:anim>
                                    <p:anim calcmode="lin" valueType="num">
                                      <p:cBhvr>
                                        <p:cTn id="97" dur="500" fill="hold"/>
                                        <p:tgtEl>
                                          <p:spTgt spid="24"/>
                                        </p:tgtEl>
                                        <p:attrNameLst>
                                          <p:attrName>ppt_y</p:attrName>
                                        </p:attrNameLst>
                                      </p:cBhvr>
                                      <p:tavLst>
                                        <p:tav tm="0">
                                          <p:val>
                                            <p:strVal val="#ppt_y+0.05"/>
                                          </p:val>
                                        </p:tav>
                                        <p:tav tm="100000">
                                          <p:val>
                                            <p:strVal val="#ppt_y"/>
                                          </p:val>
                                        </p:tav>
                                      </p:tavLst>
                                    </p:anim>
                                  </p:childTnLst>
                                </p:cTn>
                              </p:par>
                              <p:par>
                                <p:cTn id="103" presetID="42" presetClass="entr" presetSubtype="0" fill="hold" grpId="0" nodeType="withEffect" decel="100000">
                                  <p:stCondLst>
                                    <p:cond delay="44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00"/>
                                        <p:tgtEl>
                                          <p:spTgt spid="25"/>
                                        </p:tgtEl>
                                      </p:cBhvr>
                                    </p:animEffect>
                                    <p:anim calcmode="lin" valueType="num">
                                      <p:cBhvr>
                                        <p:cTn id="101" dur="500" fill="hold"/>
                                        <p:tgtEl>
                                          <p:spTgt spid="25"/>
                                        </p:tgtEl>
                                        <p:attrNameLst>
                                          <p:attrName>ppt_x</p:attrName>
                                        </p:attrNameLst>
                                      </p:cBhvr>
                                      <p:tavLst>
                                        <p:tav tm="0">
                                          <p:val>
                                            <p:strVal val="#ppt_x"/>
                                          </p:val>
                                        </p:tav>
                                        <p:tav tm="100000">
                                          <p:val>
                                            <p:strVal val="#ppt_x"/>
                                          </p:val>
                                        </p:tav>
                                      </p:tavLst>
                                    </p:anim>
                                    <p:anim calcmode="lin" valueType="num">
                                      <p:cBhvr>
                                        <p:cTn id="102" dur="500" fill="hold"/>
                                        <p:tgtEl>
                                          <p:spTgt spid="25"/>
                                        </p:tgtEl>
                                        <p:attrNameLst>
                                          <p:attrName>ppt_y</p:attrName>
                                        </p:attrNameLst>
                                      </p:cBhvr>
                                      <p:tavLst>
                                        <p:tav tm="0">
                                          <p:val>
                                            <p:strVal val="#ppt_y+0.05"/>
                                          </p:val>
                                        </p:tav>
                                        <p:tav tm="100000">
                                          <p:val>
                                            <p:strVal val="#ppt_y"/>
                                          </p:val>
                                        </p:tav>
                                      </p:tavLst>
                                    </p:anim>
                                  </p:childTnLst>
                                </p:cTn>
                              </p:par>
                              <p:par>
                                <p:cTn id="108" presetID="42" presetClass="entr" presetSubtype="0" fill="hold" grpId="0" nodeType="withEffect" decel="100000">
                                  <p:stCondLst>
                                    <p:cond delay="44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anim calcmode="lin" valueType="num">
                                      <p:cBhvr>
                                        <p:cTn id="106" dur="500" fill="hold"/>
                                        <p:tgtEl>
                                          <p:spTgt spid="26"/>
                                        </p:tgtEl>
                                        <p:attrNameLst>
                                          <p:attrName>ppt_x</p:attrName>
                                        </p:attrNameLst>
                                      </p:cBhvr>
                                      <p:tavLst>
                                        <p:tav tm="0">
                                          <p:val>
                                            <p:strVal val="#ppt_x"/>
                                          </p:val>
                                        </p:tav>
                                        <p:tav tm="100000">
                                          <p:val>
                                            <p:strVal val="#ppt_x"/>
                                          </p:val>
                                        </p:tav>
                                      </p:tavLst>
                                    </p:anim>
                                    <p:anim calcmode="lin" valueType="num">
                                      <p:cBhvr>
                                        <p:cTn id="107" dur="500" fill="hold"/>
                                        <p:tgtEl>
                                          <p:spTgt spid="26"/>
                                        </p:tgtEl>
                                        <p:attrNameLst>
                                          <p:attrName>ppt_y</p:attrName>
                                        </p:attrNameLst>
                                      </p:cBhvr>
                                      <p:tavLst>
                                        <p:tav tm="0">
                                          <p:val>
                                            <p:strVal val="#ppt_y+0.05"/>
                                          </p:val>
                                        </p:tav>
                                        <p:tav tm="100000">
                                          <p:val>
                                            <p:strVal val="#ppt_y"/>
                                          </p:val>
                                        </p:tav>
                                      </p:tavLst>
                                    </p:anim>
                                  </p:childTnLst>
                                </p:cTn>
                              </p:par>
                              <p:par>
                                <p:cTn id="111" presetID="10" presetClass="entr" presetSubtype="0" fill="hold" grpId="0" nodeType="withEffect" decel="100000">
                                  <p:stCondLst>
                                    <p:cond delay="64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childTnLst>
                                </p:cTn>
                              </p:par>
                              <p:par>
                                <p:cTn id="114" presetID="10" presetClass="entr" presetSubtype="0" fill="hold" grpId="0" nodeType="withEffect" decel="100000">
                                  <p:stCondLst>
                                    <p:cond delay="64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00"/>
                                        <p:tgtEl>
                                          <p:spTgt spid="28"/>
                                        </p:tgtEl>
                                      </p:cBhvr>
                                    </p:animEffect>
                                  </p:childTnLst>
                                </p:cTn>
                              </p:par>
                              <p:par>
                                <p:cTn id="117" presetID="10" presetClass="entr" presetSubtype="0" fill="hold" grpId="0" nodeType="withEffect" decel="100000">
                                  <p:stCondLst>
                                    <p:cond delay="64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00"/>
                                        <p:tgtEl>
                                          <p:spTgt spid="29"/>
                                        </p:tgtEl>
                                      </p:cBhvr>
                                    </p:animEffect>
                                  </p:childTnLst>
                                </p:cTn>
                              </p:par>
                              <p:par>
                                <p:cTn id="122" presetID="42" presetClass="entr" presetSubtype="0" fill="hold" grpId="0" nodeType="withEffect" decel="100000">
                                  <p:stCondLst>
                                    <p:cond delay="66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p:cTn id="120" dur="500" fill="hold"/>
                                        <p:tgtEl>
                                          <p:spTgt spid="30"/>
                                        </p:tgtEl>
                                        <p:attrNameLst>
                                          <p:attrName>ppt_x</p:attrName>
                                        </p:attrNameLst>
                                      </p:cBhvr>
                                      <p:tavLst>
                                        <p:tav tm="0">
                                          <p:val>
                                            <p:strVal val="#ppt_x"/>
                                          </p:val>
                                        </p:tav>
                                        <p:tav tm="100000">
                                          <p:val>
                                            <p:strVal val="#ppt_x"/>
                                          </p:val>
                                        </p:tav>
                                      </p:tavLst>
                                    </p:anim>
                                    <p:anim calcmode="lin" valueType="num">
                                      <p:cBhvr>
                                        <p:cTn id="121" dur="500" fill="hold"/>
                                        <p:tgtEl>
                                          <p:spTgt spid="30"/>
                                        </p:tgtEl>
                                        <p:attrNameLst>
                                          <p:attrName>ppt_y</p:attrName>
                                        </p:attrNameLst>
                                      </p:cBhvr>
                                      <p:tavLst>
                                        <p:tav tm="0">
                                          <p:val>
                                            <p:strVal val="#ppt_y+0.05"/>
                                          </p:val>
                                        </p:tav>
                                        <p:tav tm="100000">
                                          <p:val>
                                            <p:strVal val="#ppt_y"/>
                                          </p:val>
                                        </p:tav>
                                      </p:tavLst>
                                    </p:anim>
                                  </p:childTnLst>
                                </p:cTn>
                              </p:par>
                              <p:par>
                                <p:cTn id="127" presetID="42" presetClass="entr" presetSubtype="0" fill="hold" grpId="0" nodeType="withEffect" decel="100000">
                                  <p:stCondLst>
                                    <p:cond delay="66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500"/>
                                        <p:tgtEl>
                                          <p:spTgt spid="31"/>
                                        </p:tgtEl>
                                      </p:cBhvr>
                                    </p:animEffect>
                                    <p:anim calcmode="lin" valueType="num">
                                      <p:cBhvr>
                                        <p:cTn id="125" dur="500" fill="hold"/>
                                        <p:tgtEl>
                                          <p:spTgt spid="31"/>
                                        </p:tgtEl>
                                        <p:attrNameLst>
                                          <p:attrName>ppt_x</p:attrName>
                                        </p:attrNameLst>
                                      </p:cBhvr>
                                      <p:tavLst>
                                        <p:tav tm="0">
                                          <p:val>
                                            <p:strVal val="#ppt_x"/>
                                          </p:val>
                                        </p:tav>
                                        <p:tav tm="100000">
                                          <p:val>
                                            <p:strVal val="#ppt_x"/>
                                          </p:val>
                                        </p:tav>
                                      </p:tavLst>
                                    </p:anim>
                                    <p:anim calcmode="lin" valueType="num">
                                      <p:cBhvr>
                                        <p:cTn id="126" dur="500" fill="hold"/>
                                        <p:tgtEl>
                                          <p:spTgt spid="31"/>
                                        </p:tgtEl>
                                        <p:attrNameLst>
                                          <p:attrName>ppt_y</p:attrName>
                                        </p:attrNameLst>
                                      </p:cBhvr>
                                      <p:tavLst>
                                        <p:tav tm="0">
                                          <p:val>
                                            <p:strVal val="#ppt_y+0.05"/>
                                          </p:val>
                                        </p:tav>
                                        <p:tav tm="100000">
                                          <p:val>
                                            <p:strVal val="#ppt_y"/>
                                          </p:val>
                                        </p:tav>
                                      </p:tavLst>
                                    </p:anim>
                                  </p:childTnLst>
                                </p:cTn>
                              </p:par>
                              <p:par>
                                <p:cTn id="132" presetID="42" presetClass="entr" presetSubtype="0" fill="hold" grpId="0" nodeType="withEffect" decel="100000">
                                  <p:stCondLst>
                                    <p:cond delay="66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anim calcmode="lin" valueType="num">
                                      <p:cBhvr>
                                        <p:cTn id="130" dur="500" fill="hold"/>
                                        <p:tgtEl>
                                          <p:spTgt spid="32"/>
                                        </p:tgtEl>
                                        <p:attrNameLst>
                                          <p:attrName>ppt_x</p:attrName>
                                        </p:attrNameLst>
                                      </p:cBhvr>
                                      <p:tavLst>
                                        <p:tav tm="0">
                                          <p:val>
                                            <p:strVal val="#ppt_x"/>
                                          </p:val>
                                        </p:tav>
                                        <p:tav tm="100000">
                                          <p:val>
                                            <p:strVal val="#ppt_x"/>
                                          </p:val>
                                        </p:tav>
                                      </p:tavLst>
                                    </p:anim>
                                    <p:anim calcmode="lin" valueType="num">
                                      <p:cBhvr>
                                        <p:cTn id="131" dur="500" fill="hold"/>
                                        <p:tgtEl>
                                          <p:spTgt spid="32"/>
                                        </p:tgtEl>
                                        <p:attrNameLst>
                                          <p:attrName>ppt_y</p:attrName>
                                        </p:attrNameLst>
                                      </p:cBhvr>
                                      <p:tavLst>
                                        <p:tav tm="0">
                                          <p:val>
                                            <p:strVal val="#ppt_y+0.05"/>
                                          </p:val>
                                        </p:tav>
                                        <p:tav tm="100000">
                                          <p:val>
                                            <p:strVal val="#ppt_y"/>
                                          </p:val>
                                        </p:tav>
                                      </p:tavLst>
                                    </p:anim>
                                  </p:childTnLst>
                                </p:cTn>
                              </p:par>
                              <p:par>
                                <p:cTn id="137" presetID="42" presetClass="entr" presetSubtype="0" fill="hold" grpId="0" nodeType="withEffect" decel="100000">
                                  <p:stCondLst>
                                    <p:cond delay="66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500"/>
                                        <p:tgtEl>
                                          <p:spTgt spid="33"/>
                                        </p:tgtEl>
                                      </p:cBhvr>
                                    </p:animEffect>
                                    <p:anim calcmode="lin" valueType="num">
                                      <p:cBhvr>
                                        <p:cTn id="135" dur="500" fill="hold"/>
                                        <p:tgtEl>
                                          <p:spTgt spid="33"/>
                                        </p:tgtEl>
                                        <p:attrNameLst>
                                          <p:attrName>ppt_x</p:attrName>
                                        </p:attrNameLst>
                                      </p:cBhvr>
                                      <p:tavLst>
                                        <p:tav tm="0">
                                          <p:val>
                                            <p:strVal val="#ppt_x"/>
                                          </p:val>
                                        </p:tav>
                                        <p:tav tm="100000">
                                          <p:val>
                                            <p:strVal val="#ppt_x"/>
                                          </p:val>
                                        </p:tav>
                                      </p:tavLst>
                                    </p:anim>
                                    <p:anim calcmode="lin" valueType="num">
                                      <p:cBhvr>
                                        <p:cTn id="136" dur="500" fill="hold"/>
                                        <p:tgtEl>
                                          <p:spTgt spid="33"/>
                                        </p:tgtEl>
                                        <p:attrNameLst>
                                          <p:attrName>ppt_y</p:attrName>
                                        </p:attrNameLst>
                                      </p:cBhvr>
                                      <p:tavLst>
                                        <p:tav tm="0">
                                          <p:val>
                                            <p:strVal val="#ppt_y+0.05"/>
                                          </p:val>
                                        </p:tav>
                                        <p:tav tm="100000">
                                          <p:val>
                                            <p:strVal val="#ppt_y"/>
                                          </p:val>
                                        </p:tav>
                                      </p:tavLst>
                                    </p:anim>
                                  </p:childTnLst>
                                </p:cTn>
                              </p:par>
                              <p:par>
                                <p:cTn id="142" presetID="42" presetClass="entr" presetSubtype="0" fill="hold" grpId="0" nodeType="withEffect" decel="100000">
                                  <p:stCondLst>
                                    <p:cond delay="66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500"/>
                                        <p:tgtEl>
                                          <p:spTgt spid="34"/>
                                        </p:tgtEl>
                                      </p:cBhvr>
                                    </p:animEffect>
                                    <p:anim calcmode="lin" valueType="num">
                                      <p:cBhvr>
                                        <p:cTn id="140" dur="500" fill="hold"/>
                                        <p:tgtEl>
                                          <p:spTgt spid="34"/>
                                        </p:tgtEl>
                                        <p:attrNameLst>
                                          <p:attrName>ppt_x</p:attrName>
                                        </p:attrNameLst>
                                      </p:cBhvr>
                                      <p:tavLst>
                                        <p:tav tm="0">
                                          <p:val>
                                            <p:strVal val="#ppt_x"/>
                                          </p:val>
                                        </p:tav>
                                        <p:tav tm="100000">
                                          <p:val>
                                            <p:strVal val="#ppt_x"/>
                                          </p:val>
                                        </p:tav>
                                      </p:tavLst>
                                    </p:anim>
                                    <p:anim calcmode="lin" valueType="num">
                                      <p:cBhvr>
                                        <p:cTn id="141" dur="500" fill="hold"/>
                                        <p:tgtEl>
                                          <p:spTgt spid="34"/>
                                        </p:tgtEl>
                                        <p:attrNameLst>
                                          <p:attrName>ppt_y</p:attrName>
                                        </p:attrNameLst>
                                      </p:cBhvr>
                                      <p:tavLst>
                                        <p:tav tm="0">
                                          <p:val>
                                            <p:strVal val="#ppt_y+0.05"/>
                                          </p:val>
                                        </p:tav>
                                        <p:tav tm="100000">
                                          <p:val>
                                            <p:strVal val="#ppt_y"/>
                                          </p:val>
                                        </p:tav>
                                      </p:tavLst>
                                    </p:anim>
                                  </p:childTnLst>
                                </p:cTn>
                              </p:par>
                              <p:par>
                                <p:cTn id="145" presetID="10" presetClass="entr" presetSubtype="0" fill="hold" grpId="0" nodeType="withEffect" decel="100000">
                                  <p:stCondLst>
                                    <p:cond delay="86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500"/>
                                        <p:tgtEl>
                                          <p:spTgt spid="35"/>
                                        </p:tgtEl>
                                      </p:cBhvr>
                                    </p:animEffect>
                                  </p:childTnLst>
                                </p:cTn>
                              </p:par>
                              <p:par>
                                <p:cTn id="148" presetID="10" presetClass="entr" presetSubtype="0" fill="hold" grpId="0" nodeType="withEffect" decel="100000">
                                  <p:stCondLst>
                                    <p:cond delay="86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500"/>
                                        <p:tgtEl>
                                          <p:spTgt spid="36"/>
                                        </p:tgtEl>
                                      </p:cBhvr>
                                    </p:animEffect>
                                  </p:childTnLst>
                                </p:cTn>
                              </p:par>
                              <p:par>
                                <p:cTn id="151" presetID="10" presetClass="entr" presetSubtype="0" fill="hold" grpId="0" nodeType="withEffect" decel="100000">
                                  <p:stCondLst>
                                    <p:cond delay="860"/>
                                  </p:stCondLst>
                                  <p:childTnLst>
                                    <p:set>
                                      <p:cBhvr>
                                        <p:cTn id="149" dur="1" fill="hold">
                                          <p:stCondLst>
                                            <p:cond delay="0"/>
                                          </p:stCondLst>
                                        </p:cTn>
                                        <p:tgtEl>
                                          <p:spTgt spid="37"/>
                                        </p:tgtEl>
                                        <p:attrNameLst>
                                          <p:attrName>style.visibility</p:attrName>
                                        </p:attrNameLst>
                                      </p:cBhvr>
                                      <p:to>
                                        <p:strVal val="visible"/>
                                      </p:to>
                                    </p:set>
                                    <p:animEffect transition="in" filter="fade">
                                      <p:cBhvr>
                                        <p:cTn id="15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3" name="txt_20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LIVE DEMO</a:t>
            </a:r>
            <a:endParaRPr lang="en-US" sz="1100" dirty="0"/>
          </a:p>
        </p:txBody>
      </p:sp>
      <p:sp>
        <p:nvSpPr>
          <p:cNvPr id="4" name="txt_20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See It Live</a:t>
            </a:r>
            <a:endParaRPr lang="en-US" sz="3200" dirty="0"/>
          </a:p>
        </p:txBody>
      </p:sp>
      <p:sp>
        <p:nvSpPr>
          <p:cNvPr id="5" name="txt_20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Try it now  </a:t>
            </a:r>
            <a:pPr indent="0" marL="0">
              <a:buNone/>
            </a:pPr>
            <a:r>
              <a:rPr lang="en-US" sz="1500" b="1" u="sng" dirty="0">
                <a:solidFill>
                  <a:srgbClr val="F5A52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freight-quote-generation-system-grp.vercel.app</a:t>
            </a:r>
            <a:endParaRPr lang="en-US" sz="1500" dirty="0"/>
          </a:p>
        </p:txBody>
      </p:sp>
      <p:pic>
        <p:nvPicPr>
          <p:cNvPr id="6" name="img_20_3" descr="/private/tmp/claude-501/-Users-nareshramavath-Downloads/8e612fae-240f-42aa-9685-f77b61758c75/scratchpad/orig/ppt/media/image20.png">    </p:cNvPr>
          <p:cNvPicPr>
            <a:picLocks noChangeAspect="1"/>
          </p:cNvPicPr>
          <p:nvPr/>
        </p:nvPicPr>
        <p:blipFill>
          <a:blip r:embed="rId2"/>
          <a:stretch>
            <a:fillRect/>
          </a:stretch>
        </p:blipFill>
        <p:spPr>
          <a:xfrm>
            <a:off x="548640" y="1874520"/>
            <a:ext cx="2926080" cy="1828800"/>
          </a:xfrm>
          <a:prstGeom prst="rect">
            <a:avLst/>
          </a:prstGeom>
        </p:spPr>
      </p:pic>
      <p:sp>
        <p:nvSpPr>
          <p:cNvPr id="7" name="shp_20_4"/>
          <p:cNvSpPr/>
          <p:nvPr/>
        </p:nvSpPr>
        <p:spPr>
          <a:xfrm>
            <a:off x="548640" y="1874520"/>
            <a:ext cx="2926080" cy="1828800"/>
          </a:xfrm>
          <a:prstGeom prst="rect">
            <a:avLst/>
          </a:prstGeom>
          <a:solidFill>
            <a:srgbClr val="0A1628">
              <a:alpha val="0"/>
            </a:srgbClr>
          </a:solidFill>
          <a:ln w="9525">
            <a:solidFill>
              <a:srgbClr val="243A5E"/>
            </a:solidFill>
            <a:prstDash val="solid"/>
          </a:ln>
        </p:spPr>
      </p:sp>
      <p:sp>
        <p:nvSpPr>
          <p:cNvPr id="8" name="txt_20_5"/>
          <p:cNvSpPr txBox="1"/>
          <p:nvPr/>
        </p:nvSpPr>
        <p:spPr>
          <a:xfrm>
            <a:off x="548640" y="3767328"/>
            <a:ext cx="2926080" cy="274320"/>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Shipper · Quote request</a:t>
            </a:r>
            <a:endParaRPr lang="en-US" sz="1200" dirty="0"/>
          </a:p>
        </p:txBody>
      </p:sp>
      <p:pic>
        <p:nvPicPr>
          <p:cNvPr id="9" name="img_20_6" descr="/private/tmp/claude-501/-Users-nareshramavath-Downloads/8e612fae-240f-42aa-9685-f77b61758c75/scratchpad/orig/ppt/media/image21.png">    </p:cNvPr>
          <p:cNvPicPr>
            <a:picLocks noChangeAspect="1"/>
          </p:cNvPicPr>
          <p:nvPr/>
        </p:nvPicPr>
        <p:blipFill>
          <a:blip r:embed="rId3"/>
          <a:stretch>
            <a:fillRect/>
          </a:stretch>
        </p:blipFill>
        <p:spPr>
          <a:xfrm>
            <a:off x="3749040" y="1874520"/>
            <a:ext cx="2926080" cy="1828800"/>
          </a:xfrm>
          <a:prstGeom prst="rect">
            <a:avLst/>
          </a:prstGeom>
        </p:spPr>
      </p:pic>
      <p:sp>
        <p:nvSpPr>
          <p:cNvPr id="10" name="shp_20_7"/>
          <p:cNvSpPr/>
          <p:nvPr/>
        </p:nvSpPr>
        <p:spPr>
          <a:xfrm>
            <a:off x="3749040" y="1874520"/>
            <a:ext cx="2926080" cy="1828800"/>
          </a:xfrm>
          <a:prstGeom prst="rect">
            <a:avLst/>
          </a:prstGeom>
          <a:solidFill>
            <a:srgbClr val="0A1628">
              <a:alpha val="0"/>
            </a:srgbClr>
          </a:solidFill>
          <a:ln w="9525">
            <a:solidFill>
              <a:srgbClr val="243A5E"/>
            </a:solidFill>
            <a:prstDash val="solid"/>
          </a:ln>
        </p:spPr>
      </p:sp>
      <p:sp>
        <p:nvSpPr>
          <p:cNvPr id="11" name="txt_20_8"/>
          <p:cNvSpPr txBox="1"/>
          <p:nvPr/>
        </p:nvSpPr>
        <p:spPr>
          <a:xfrm>
            <a:off x="3749040" y="3767328"/>
            <a:ext cx="2926080" cy="274320"/>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Agent · Verification desk</a:t>
            </a:r>
            <a:endParaRPr lang="en-US" sz="1200" dirty="0"/>
          </a:p>
        </p:txBody>
      </p:sp>
      <p:pic>
        <p:nvPicPr>
          <p:cNvPr id="12" name="img_20_9" descr="/private/tmp/claude-501/-Users-nareshramavath-Downloads/8e612fae-240f-42aa-9685-f77b61758c75/scratchpad/orig/ppt/media/image22.png">    </p:cNvPr>
          <p:cNvPicPr>
            <a:picLocks noChangeAspect="1"/>
          </p:cNvPicPr>
          <p:nvPr/>
        </p:nvPicPr>
        <p:blipFill>
          <a:blip r:embed="rId4"/>
          <a:stretch>
            <a:fillRect/>
          </a:stretch>
        </p:blipFill>
        <p:spPr>
          <a:xfrm>
            <a:off x="548640" y="4178808"/>
            <a:ext cx="2926080" cy="1828800"/>
          </a:xfrm>
          <a:prstGeom prst="rect">
            <a:avLst/>
          </a:prstGeom>
        </p:spPr>
      </p:pic>
      <p:sp>
        <p:nvSpPr>
          <p:cNvPr id="13" name="shp_20_10"/>
          <p:cNvSpPr/>
          <p:nvPr/>
        </p:nvSpPr>
        <p:spPr>
          <a:xfrm>
            <a:off x="548640" y="4178808"/>
            <a:ext cx="2926080" cy="1828800"/>
          </a:xfrm>
          <a:prstGeom prst="rect">
            <a:avLst/>
          </a:prstGeom>
          <a:solidFill>
            <a:srgbClr val="0A1628">
              <a:alpha val="0"/>
            </a:srgbClr>
          </a:solidFill>
          <a:ln w="9525">
            <a:solidFill>
              <a:srgbClr val="243A5E"/>
            </a:solidFill>
            <a:prstDash val="solid"/>
          </a:ln>
        </p:spPr>
      </p:sp>
      <p:sp>
        <p:nvSpPr>
          <p:cNvPr id="14" name="txt_20_11"/>
          <p:cNvSpPr txBox="1"/>
          <p:nvPr/>
        </p:nvSpPr>
        <p:spPr>
          <a:xfrm>
            <a:off x="548640" y="6071616"/>
            <a:ext cx="2926080" cy="274320"/>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Customs · Clearance portal</a:t>
            </a:r>
            <a:endParaRPr lang="en-US" sz="1200" dirty="0"/>
          </a:p>
        </p:txBody>
      </p:sp>
      <p:pic>
        <p:nvPicPr>
          <p:cNvPr id="15" name="img_20_12" descr="/private/tmp/claude-501/-Users-nareshramavath-Downloads/8e612fae-240f-42aa-9685-f77b61758c75/scratchpad/orig/ppt/media/image23.png">    </p:cNvPr>
          <p:cNvPicPr>
            <a:picLocks noChangeAspect="1"/>
          </p:cNvPicPr>
          <p:nvPr/>
        </p:nvPicPr>
        <p:blipFill>
          <a:blip r:embed="rId5"/>
          <a:stretch>
            <a:fillRect/>
          </a:stretch>
        </p:blipFill>
        <p:spPr>
          <a:xfrm>
            <a:off x="3749040" y="4178808"/>
            <a:ext cx="2926080" cy="1828800"/>
          </a:xfrm>
          <a:prstGeom prst="rect">
            <a:avLst/>
          </a:prstGeom>
        </p:spPr>
      </p:pic>
      <p:sp>
        <p:nvSpPr>
          <p:cNvPr id="16" name="shp_20_13"/>
          <p:cNvSpPr/>
          <p:nvPr/>
        </p:nvSpPr>
        <p:spPr>
          <a:xfrm>
            <a:off x="3749040" y="4178808"/>
            <a:ext cx="2926080" cy="1828800"/>
          </a:xfrm>
          <a:prstGeom prst="rect">
            <a:avLst/>
          </a:prstGeom>
          <a:solidFill>
            <a:srgbClr val="0A1628">
              <a:alpha val="0"/>
            </a:srgbClr>
          </a:solidFill>
          <a:ln w="9525">
            <a:solidFill>
              <a:srgbClr val="243A5E"/>
            </a:solidFill>
            <a:prstDash val="solid"/>
          </a:ln>
        </p:spPr>
      </p:sp>
      <p:sp>
        <p:nvSpPr>
          <p:cNvPr id="17" name="txt_20_14"/>
          <p:cNvSpPr txBox="1"/>
          <p:nvPr/>
        </p:nvSpPr>
        <p:spPr>
          <a:xfrm>
            <a:off x="3749040" y="6071616"/>
            <a:ext cx="2926080" cy="274320"/>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Admin · Platform control</a:t>
            </a:r>
            <a:endParaRPr lang="en-US" sz="1200" dirty="0"/>
          </a:p>
        </p:txBody>
      </p:sp>
      <p:sp>
        <p:nvSpPr>
          <p:cNvPr id="18" name="shp_20_15"/>
          <p:cNvSpPr/>
          <p:nvPr/>
        </p:nvSpPr>
        <p:spPr>
          <a:xfrm>
            <a:off x="6995160" y="1874520"/>
            <a:ext cx="4647895" cy="4206240"/>
          </a:xfrm>
          <a:prstGeom prst="roundRect">
            <a:avLst>
              <a:gd name="adj" fmla="val 2174"/>
            </a:avLst>
          </a:prstGeom>
          <a:solidFill>
            <a:srgbClr val="112038"/>
          </a:solidFill>
          <a:ln w="9525">
            <a:solidFill>
              <a:srgbClr val="243A5E"/>
            </a:solidFill>
            <a:prstDash val="solid"/>
          </a:ln>
        </p:spPr>
      </p:sp>
      <p:sp>
        <p:nvSpPr>
          <p:cNvPr id="19" name="shp_20_16"/>
          <p:cNvSpPr/>
          <p:nvPr/>
        </p:nvSpPr>
        <p:spPr>
          <a:xfrm>
            <a:off x="7269480" y="2103120"/>
            <a:ext cx="548640" cy="548640"/>
          </a:xfrm>
          <a:prstGeom prst="ellipse">
            <a:avLst/>
          </a:prstGeom>
          <a:solidFill>
            <a:srgbClr val="3B2A0C"/>
          </a:solidFill>
          <a:ln w="9525">
            <a:solidFill>
              <a:srgbClr val="F5A524"/>
            </a:solidFill>
            <a:prstDash val="solid"/>
          </a:ln>
        </p:spPr>
      </p:sp>
      <p:pic>
        <p:nvPicPr>
          <p:cNvPr id="20" name="img_20_17" descr="preencoded.png">    </p:cNvPr>
          <p:cNvPicPr>
            <a:picLocks noChangeAspect="1"/>
          </p:cNvPicPr>
          <p:nvPr/>
        </p:nvPicPr>
        <p:blipFill>
          <a:blip r:embed="rId6"/>
          <a:stretch>
            <a:fillRect/>
          </a:stretch>
        </p:blipFill>
        <p:spPr>
          <a:xfrm>
            <a:off x="7401154" y="2234794"/>
            <a:ext cx="285293" cy="285293"/>
          </a:xfrm>
          <a:prstGeom prst="rect">
            <a:avLst/>
          </a:prstGeom>
        </p:spPr>
      </p:pic>
      <p:sp>
        <p:nvSpPr>
          <p:cNvPr id="21" name="txt_20_18"/>
          <p:cNvSpPr txBox="1"/>
          <p:nvPr/>
        </p:nvSpPr>
        <p:spPr>
          <a:xfrm>
            <a:off x="8001000" y="2103120"/>
            <a:ext cx="3367735" cy="2743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Demo logins</a:t>
            </a:r>
            <a:endParaRPr lang="en-US" sz="1700" dirty="0"/>
          </a:p>
        </p:txBody>
      </p:sp>
      <p:sp>
        <p:nvSpPr>
          <p:cNvPr id="22" name="txt_20_19"/>
          <p:cNvSpPr txBox="1"/>
          <p:nvPr/>
        </p:nvSpPr>
        <p:spPr>
          <a:xfrm>
            <a:off x="8001000" y="2377440"/>
            <a:ext cx="3367735" cy="274320"/>
          </a:xfrm>
          <a:prstGeom prst="rect">
            <a:avLst/>
          </a:prstGeom>
          <a:noFill/>
          <a:ln/>
        </p:spPr>
        <p:txBody>
          <a:bodyPr wrap="square" lIns="0" tIns="0" rIns="0" bIns="0" rtlCol="0" anchor="t"/>
          <a:lstStyle/>
          <a:p>
            <a:pPr indent="0" marL="0">
              <a:buNone/>
            </a:pPr>
            <a:r>
              <a:rPr lang="en-US" sz="1200" dirty="0">
                <a:solidFill>
                  <a:srgbClr val="AEBBCF"/>
                </a:solidFill>
                <a:latin typeface="Calibri" pitchFamily="34" charset="0"/>
                <a:ea typeface="Calibri" pitchFamily="34" charset="-122"/>
                <a:cs typeface="Calibri" pitchFamily="34" charset="-120"/>
              </a:rPr>
              <a:t>Seeded by the server at start-up</a:t>
            </a:r>
            <a:endParaRPr lang="en-US" sz="1200" dirty="0"/>
          </a:p>
        </p:txBody>
      </p:sp>
      <p:sp>
        <p:nvSpPr>
          <p:cNvPr id="23" name="shp_20_20"/>
          <p:cNvSpPr/>
          <p:nvPr/>
        </p:nvSpPr>
        <p:spPr>
          <a:xfrm>
            <a:off x="7269480" y="2889504"/>
            <a:ext cx="4099255" cy="0"/>
          </a:xfrm>
          <a:prstGeom prst="line">
            <a:avLst/>
          </a:prstGeom>
          <a:noFill/>
          <a:ln w="6350">
            <a:solidFill>
              <a:srgbClr val="243A5E"/>
            </a:solidFill>
            <a:prstDash val="solid"/>
          </a:ln>
        </p:spPr>
      </p:sp>
      <p:sp>
        <p:nvSpPr>
          <p:cNvPr id="24" name="txt_20_21"/>
          <p:cNvSpPr txBox="1"/>
          <p:nvPr/>
        </p:nvSpPr>
        <p:spPr>
          <a:xfrm>
            <a:off x="7269480" y="2926080"/>
            <a:ext cx="1280160" cy="384048"/>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Shipper</a:t>
            </a:r>
            <a:endParaRPr lang="en-US" sz="1300" dirty="0"/>
          </a:p>
        </p:txBody>
      </p:sp>
      <p:sp>
        <p:nvSpPr>
          <p:cNvPr id="25" name="txt_20_22"/>
          <p:cNvSpPr txBox="1"/>
          <p:nvPr/>
        </p:nvSpPr>
        <p:spPr>
          <a:xfrm>
            <a:off x="8458200" y="2926080"/>
            <a:ext cx="2910535" cy="384048"/>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customer@freightai.com</a:t>
            </a:r>
            <a:endParaRPr lang="en-US" sz="1300" dirty="0"/>
          </a:p>
        </p:txBody>
      </p:sp>
      <p:sp>
        <p:nvSpPr>
          <p:cNvPr id="26" name="shp_20_23"/>
          <p:cNvSpPr/>
          <p:nvPr/>
        </p:nvSpPr>
        <p:spPr>
          <a:xfrm>
            <a:off x="7269480" y="3346704"/>
            <a:ext cx="4099255" cy="0"/>
          </a:xfrm>
          <a:prstGeom prst="line">
            <a:avLst/>
          </a:prstGeom>
          <a:noFill/>
          <a:ln w="6350">
            <a:solidFill>
              <a:srgbClr val="243A5E"/>
            </a:solidFill>
            <a:prstDash val="solid"/>
          </a:ln>
        </p:spPr>
      </p:sp>
      <p:sp>
        <p:nvSpPr>
          <p:cNvPr id="27" name="txt_20_24"/>
          <p:cNvSpPr txBox="1"/>
          <p:nvPr/>
        </p:nvSpPr>
        <p:spPr>
          <a:xfrm>
            <a:off x="7269480" y="3383280"/>
            <a:ext cx="1280160" cy="384048"/>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Agent</a:t>
            </a:r>
            <a:endParaRPr lang="en-US" sz="1300" dirty="0"/>
          </a:p>
        </p:txBody>
      </p:sp>
      <p:sp>
        <p:nvSpPr>
          <p:cNvPr id="28" name="txt_20_25"/>
          <p:cNvSpPr txBox="1"/>
          <p:nvPr/>
        </p:nvSpPr>
        <p:spPr>
          <a:xfrm>
            <a:off x="8458200" y="3383280"/>
            <a:ext cx="2910535" cy="384048"/>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agent@freightai.com</a:t>
            </a:r>
            <a:endParaRPr lang="en-US" sz="1300" dirty="0"/>
          </a:p>
        </p:txBody>
      </p:sp>
      <p:sp>
        <p:nvSpPr>
          <p:cNvPr id="29" name="shp_20_26"/>
          <p:cNvSpPr/>
          <p:nvPr/>
        </p:nvSpPr>
        <p:spPr>
          <a:xfrm>
            <a:off x="7269480" y="3803904"/>
            <a:ext cx="4099255" cy="0"/>
          </a:xfrm>
          <a:prstGeom prst="line">
            <a:avLst/>
          </a:prstGeom>
          <a:noFill/>
          <a:ln w="6350">
            <a:solidFill>
              <a:srgbClr val="243A5E"/>
            </a:solidFill>
            <a:prstDash val="solid"/>
          </a:ln>
        </p:spPr>
      </p:sp>
      <p:sp>
        <p:nvSpPr>
          <p:cNvPr id="30" name="txt_20_27"/>
          <p:cNvSpPr txBox="1"/>
          <p:nvPr/>
        </p:nvSpPr>
        <p:spPr>
          <a:xfrm>
            <a:off x="7269480" y="3840480"/>
            <a:ext cx="1280160" cy="384048"/>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Customs</a:t>
            </a:r>
            <a:endParaRPr lang="en-US" sz="1300" dirty="0"/>
          </a:p>
        </p:txBody>
      </p:sp>
      <p:sp>
        <p:nvSpPr>
          <p:cNvPr id="31" name="txt_20_28"/>
          <p:cNvSpPr txBox="1"/>
          <p:nvPr/>
        </p:nvSpPr>
        <p:spPr>
          <a:xfrm>
            <a:off x="8458200" y="3840480"/>
            <a:ext cx="2910535" cy="384048"/>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customs@freightai.com</a:t>
            </a:r>
            <a:endParaRPr lang="en-US" sz="1300" dirty="0"/>
          </a:p>
        </p:txBody>
      </p:sp>
      <p:sp>
        <p:nvSpPr>
          <p:cNvPr id="32" name="shp_20_29"/>
          <p:cNvSpPr/>
          <p:nvPr/>
        </p:nvSpPr>
        <p:spPr>
          <a:xfrm>
            <a:off x="7269480" y="4261104"/>
            <a:ext cx="4099255" cy="0"/>
          </a:xfrm>
          <a:prstGeom prst="line">
            <a:avLst/>
          </a:prstGeom>
          <a:noFill/>
          <a:ln w="6350">
            <a:solidFill>
              <a:srgbClr val="243A5E"/>
            </a:solidFill>
            <a:prstDash val="solid"/>
          </a:ln>
        </p:spPr>
      </p:sp>
      <p:sp>
        <p:nvSpPr>
          <p:cNvPr id="33" name="txt_20_30"/>
          <p:cNvSpPr txBox="1"/>
          <p:nvPr/>
        </p:nvSpPr>
        <p:spPr>
          <a:xfrm>
            <a:off x="7269480" y="4297680"/>
            <a:ext cx="1280160" cy="384048"/>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Admin</a:t>
            </a:r>
            <a:endParaRPr lang="en-US" sz="1300" dirty="0"/>
          </a:p>
        </p:txBody>
      </p:sp>
      <p:sp>
        <p:nvSpPr>
          <p:cNvPr id="34" name="txt_20_31"/>
          <p:cNvSpPr txBox="1"/>
          <p:nvPr/>
        </p:nvSpPr>
        <p:spPr>
          <a:xfrm>
            <a:off x="8458200" y="4297680"/>
            <a:ext cx="2910535" cy="384048"/>
          </a:xfrm>
          <a:prstGeom prst="rect">
            <a:avLst/>
          </a:prstGeom>
          <a:noFill/>
          <a:ln/>
        </p:spPr>
        <p:txBody>
          <a:bodyPr wrap="square" lIns="0" tIns="0" rIns="0" bIns="0" rtlCol="0" anchor="ctr"/>
          <a:lstStyle/>
          <a:p>
            <a:pPr indent="0" marL="0">
              <a:buNone/>
            </a:pPr>
            <a:r>
              <a:rPr lang="en-US" sz="1300" b="1" dirty="0">
                <a:solidFill>
                  <a:srgbClr val="F1F5F9"/>
                </a:solidFill>
                <a:latin typeface="Courier New" pitchFamily="34" charset="0"/>
                <a:ea typeface="Courier New" pitchFamily="34" charset="-122"/>
                <a:cs typeface="Courier New" pitchFamily="34" charset="-120"/>
              </a:rPr>
              <a:t>admin@freightai.com</a:t>
            </a:r>
            <a:endParaRPr lang="en-US" sz="1300" dirty="0"/>
          </a:p>
        </p:txBody>
      </p:sp>
      <p:sp>
        <p:nvSpPr>
          <p:cNvPr id="35" name="shp_20_32"/>
          <p:cNvSpPr/>
          <p:nvPr/>
        </p:nvSpPr>
        <p:spPr>
          <a:xfrm>
            <a:off x="7269480" y="4718304"/>
            <a:ext cx="4099255" cy="0"/>
          </a:xfrm>
          <a:prstGeom prst="line">
            <a:avLst/>
          </a:prstGeom>
          <a:noFill/>
          <a:ln w="6350">
            <a:solidFill>
              <a:srgbClr val="243A5E"/>
            </a:solidFill>
            <a:prstDash val="solid"/>
          </a:ln>
        </p:spPr>
      </p:sp>
      <p:sp>
        <p:nvSpPr>
          <p:cNvPr id="36" name="txt_20_33"/>
          <p:cNvSpPr txBox="1"/>
          <p:nvPr/>
        </p:nvSpPr>
        <p:spPr>
          <a:xfrm>
            <a:off x="7269480" y="4754880"/>
            <a:ext cx="1280160" cy="384048"/>
          </a:xfrm>
          <a:prstGeom prst="rect">
            <a:avLst/>
          </a:prstGeom>
          <a:noFill/>
          <a:ln/>
        </p:spPr>
        <p:txBody>
          <a:bodyPr wrap="square" lIns="0" tIns="0" rIns="0" bIns="0" rtlCol="0" anchor="ctr"/>
          <a:lstStyle/>
          <a:p>
            <a:pPr indent="0" marL="0">
              <a:buNone/>
            </a:pPr>
            <a:r>
              <a:rPr lang="en-US" sz="1300" dirty="0">
                <a:solidFill>
                  <a:srgbClr val="AEBBCF"/>
                </a:solidFill>
                <a:latin typeface="Calibri" pitchFamily="34" charset="0"/>
                <a:ea typeface="Calibri" pitchFamily="34" charset="-122"/>
                <a:cs typeface="Calibri" pitchFamily="34" charset="-120"/>
              </a:rPr>
              <a:t>Password</a:t>
            </a:r>
            <a:endParaRPr lang="en-US" sz="1300" dirty="0"/>
          </a:p>
        </p:txBody>
      </p:sp>
      <p:sp>
        <p:nvSpPr>
          <p:cNvPr id="37" name="txt_20_34"/>
          <p:cNvSpPr txBox="1"/>
          <p:nvPr/>
        </p:nvSpPr>
        <p:spPr>
          <a:xfrm>
            <a:off x="8458200" y="4754880"/>
            <a:ext cx="2910535" cy="384048"/>
          </a:xfrm>
          <a:prstGeom prst="rect">
            <a:avLst/>
          </a:prstGeom>
          <a:noFill/>
          <a:ln/>
        </p:spPr>
        <p:txBody>
          <a:bodyPr wrap="square" lIns="0" tIns="0" rIns="0" bIns="0" rtlCol="0" anchor="ctr"/>
          <a:lstStyle/>
          <a:p>
            <a:pPr indent="0" marL="0">
              <a:buNone/>
            </a:pPr>
            <a:r>
              <a:rPr lang="en-US" sz="1300" b="1" dirty="0">
                <a:solidFill>
                  <a:srgbClr val="F5A524"/>
                </a:solidFill>
                <a:latin typeface="Courier New" pitchFamily="34" charset="0"/>
                <a:ea typeface="Courier New" pitchFamily="34" charset="-122"/>
                <a:cs typeface="Courier New" pitchFamily="34" charset="-120"/>
              </a:rPr>
              <a:t>Password123!</a:t>
            </a:r>
            <a:endParaRPr lang="en-US" sz="1300" dirty="0"/>
          </a:p>
        </p:txBody>
      </p:sp>
      <p:sp>
        <p:nvSpPr>
          <p:cNvPr id="38" name="txt_20_35"/>
          <p:cNvSpPr txBox="1"/>
          <p:nvPr/>
        </p:nvSpPr>
        <p:spPr>
          <a:xfrm>
            <a:off x="7269480" y="5349240"/>
            <a:ext cx="4099255" cy="548640"/>
          </a:xfrm>
          <a:prstGeom prst="rect">
            <a:avLst/>
          </a:prstGeom>
          <a:noFill/>
          <a:ln/>
        </p:spPr>
        <p:txBody>
          <a:bodyPr wrap="square" lIns="0" tIns="0" rIns="0" bIns="0" rtlCol="0" anchor="t"/>
          <a:lstStyle/>
          <a:p>
            <a:pPr indent="0" marL="0">
              <a:buNone/>
            </a:pPr>
            <a:r>
              <a:rPr lang="en-US" sz="1250" i="1" dirty="0">
                <a:solidFill>
                  <a:srgbClr val="AEBBCF"/>
                </a:solidFill>
                <a:latin typeface="Calibri" pitchFamily="34" charset="0"/>
                <a:ea typeface="Calibri" pitchFamily="34" charset="-122"/>
                <a:cs typeface="Calibri" pitchFamily="34" charset="-120"/>
              </a:rPr>
              <a:t>Each role sees only its own data — log in and walk the full journey.</a:t>
            </a:r>
            <a:endParaRPr lang="en-US" sz="1250" dirty="0"/>
          </a:p>
        </p:txBody>
      </p:sp>
      <p:sp>
        <p:nvSpPr>
          <p:cNvPr id="39" name="txt_20_36"/>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40" name="txt_20_37"/>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20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cond evt="onBegin" delay="0">
                          <p:tn val="2"/>
                        </p:cond>
                      </p:stCondLst>
                      <p:childTnLst>
                        <p:par>
                          <p:cTn id="12"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afterEffect" decel="100000">
                                  <p:stCondLst>
                                    <p:cond delay="3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70" fill="hold">
                      <p:stCondLst>
                        <p:cond delay="indefinite"/>
                      </p:stCondLst>
                      <p:childTnLst>
                        <p:par>
                          <p:cTn id="71" fill="hold">
                            <p:stCondLst>
                              <p:cond delay="0"/>
                            </p:stCondLst>
                            <p:childTnLst>
                              <p:par>
                                <p:cTn id="22" presetID="53" presetClass="entr" presetSubtype="16" fill="hold" grpId="0" nodeType="clickEffect" decel="100000">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strVal val="#ppt_w*0.70"/>
                                          </p:val>
                                        </p:tav>
                                        <p:tav tm="100000">
                                          <p:val>
                                            <p:strVal val="#ppt_w"/>
                                          </p:val>
                                        </p:tav>
                                      </p:tavLst>
                                    </p:anim>
                                    <p:anim calcmode="lin" valueType="num">
                                      <p:cBhvr>
                                        <p:cTn id="20" dur="500" fill="hold"/>
                                        <p:tgtEl>
                                          <p:spTgt spid="6"/>
                                        </p:tgtEl>
                                        <p:attrNameLst>
                                          <p:attrName>ppt_h</p:attrName>
                                        </p:attrNameLst>
                                      </p:cBhvr>
                                      <p:tavLst>
                                        <p:tav tm="0">
                                          <p:val>
                                            <p:strVal val="#ppt_h*0.70"/>
                                          </p:val>
                                        </p:tav>
                                        <p:tav tm="100000">
                                          <p:val>
                                            <p:strVal val="#ppt_h"/>
                                          </p:val>
                                        </p:tav>
                                      </p:tavLst>
                                    </p:anim>
                                    <p:animEffect transition="in" filter="fade">
                                      <p:cBhvr>
                                        <p:cTn id="21" dur="500"/>
                                        <p:tgtEl>
                                          <p:spTgt spid="6"/>
                                        </p:tgtEl>
                                      </p:cBhvr>
                                    </p:animEffect>
                                  </p:childTnLst>
                                </p:cTn>
                              </p:par>
                              <p:par>
                                <p:cTn id="27" presetID="53" presetClass="entr" presetSubtype="16" fill="hold" grpId="0" nodeType="withEffect" decel="100000">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strVal val="#ppt_w*0.70"/>
                                          </p:val>
                                        </p:tav>
                                        <p:tav tm="100000">
                                          <p:val>
                                            <p:strVal val="#ppt_w"/>
                                          </p:val>
                                        </p:tav>
                                      </p:tavLst>
                                    </p:anim>
                                    <p:anim calcmode="lin" valueType="num">
                                      <p:cBhvr>
                                        <p:cTn id="25" dur="500" fill="hold"/>
                                        <p:tgtEl>
                                          <p:spTgt spid="7"/>
                                        </p:tgtEl>
                                        <p:attrNameLst>
                                          <p:attrName>ppt_h</p:attrName>
                                        </p:attrNameLst>
                                      </p:cBhvr>
                                      <p:tavLst>
                                        <p:tav tm="0">
                                          <p:val>
                                            <p:strVal val="#ppt_h*0.70"/>
                                          </p:val>
                                        </p:tav>
                                        <p:tav tm="100000">
                                          <p:val>
                                            <p:strVal val="#ppt_h"/>
                                          </p:val>
                                        </p:tav>
                                      </p:tavLst>
                                    </p:anim>
                                    <p:animEffect transition="in" filter="fade">
                                      <p:cBhvr>
                                        <p:cTn id="26" dur="500"/>
                                        <p:tgtEl>
                                          <p:spTgt spid="7"/>
                                        </p:tgtEl>
                                      </p:cBhvr>
                                    </p:animEffect>
                                  </p:childTnLst>
                                </p:cTn>
                              </p:par>
                              <p:par>
                                <p:cTn id="30" presetID="10" presetClass="entr" presetSubtype="0" fill="hold" grpId="0" nodeType="withEffect" decel="100000">
                                  <p:stCondLst>
                                    <p:cond delay="20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5" presetID="53" presetClass="entr" presetSubtype="16" fill="hold" grpId="0" nodeType="withEffect" decel="100000">
                                  <p:stCondLst>
                                    <p:cond delay="20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strVal val="#ppt_w*0.70"/>
                                          </p:val>
                                        </p:tav>
                                        <p:tav tm="100000">
                                          <p:val>
                                            <p:strVal val="#ppt_w"/>
                                          </p:val>
                                        </p:tav>
                                      </p:tavLst>
                                    </p:anim>
                                    <p:anim calcmode="lin" valueType="num">
                                      <p:cBhvr>
                                        <p:cTn id="33" dur="500" fill="hold"/>
                                        <p:tgtEl>
                                          <p:spTgt spid="9"/>
                                        </p:tgtEl>
                                        <p:attrNameLst>
                                          <p:attrName>ppt_h</p:attrName>
                                        </p:attrNameLst>
                                      </p:cBhvr>
                                      <p:tavLst>
                                        <p:tav tm="0">
                                          <p:val>
                                            <p:strVal val="#ppt_h*0.70"/>
                                          </p:val>
                                        </p:tav>
                                        <p:tav tm="100000">
                                          <p:val>
                                            <p:strVal val="#ppt_h"/>
                                          </p:val>
                                        </p:tav>
                                      </p:tavLst>
                                    </p:anim>
                                    <p:animEffect transition="in" filter="fade">
                                      <p:cBhvr>
                                        <p:cTn id="34" dur="500"/>
                                        <p:tgtEl>
                                          <p:spTgt spid="9"/>
                                        </p:tgtEl>
                                      </p:cBhvr>
                                    </p:animEffect>
                                  </p:childTnLst>
                                </p:cTn>
                              </p:par>
                              <p:par>
                                <p:cTn id="40" presetID="53" presetClass="entr" presetSubtype="16" fill="hold" grpId="0" nodeType="withEffect" decel="100000">
                                  <p:stCondLst>
                                    <p:cond delay="20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strVal val="#ppt_w*0.70"/>
                                          </p:val>
                                        </p:tav>
                                        <p:tav tm="100000">
                                          <p:val>
                                            <p:strVal val="#ppt_w"/>
                                          </p:val>
                                        </p:tav>
                                      </p:tavLst>
                                    </p:anim>
                                    <p:anim calcmode="lin" valueType="num">
                                      <p:cBhvr>
                                        <p:cTn id="38" dur="500" fill="hold"/>
                                        <p:tgtEl>
                                          <p:spTgt spid="10"/>
                                        </p:tgtEl>
                                        <p:attrNameLst>
                                          <p:attrName>ppt_h</p:attrName>
                                        </p:attrNameLst>
                                      </p:cBhvr>
                                      <p:tavLst>
                                        <p:tav tm="0">
                                          <p:val>
                                            <p:strVal val="#ppt_h*0.70"/>
                                          </p:val>
                                        </p:tav>
                                        <p:tav tm="100000">
                                          <p:val>
                                            <p:strVal val="#ppt_h"/>
                                          </p:val>
                                        </p:tav>
                                      </p:tavLst>
                                    </p:anim>
                                    <p:animEffect transition="in" filter="fade">
                                      <p:cBhvr>
                                        <p:cTn id="39" dur="500"/>
                                        <p:tgtEl>
                                          <p:spTgt spid="10"/>
                                        </p:tgtEl>
                                      </p:cBhvr>
                                    </p:animEffect>
                                  </p:childTnLst>
                                </p:cTn>
                              </p:par>
                              <p:par>
                                <p:cTn id="43" presetID="10" presetClass="entr" presetSubtype="0" fill="hold" grpId="0" nodeType="withEffect" decel="100000">
                                  <p:stCondLst>
                                    <p:cond delay="4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8" presetID="53" presetClass="entr" presetSubtype="16" fill="hold" grpId="0" nodeType="withEffect" decel="100000">
                                  <p:stCondLst>
                                    <p:cond delay="40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00" fill="hold"/>
                                        <p:tgtEl>
                                          <p:spTgt spid="12"/>
                                        </p:tgtEl>
                                        <p:attrNameLst>
                                          <p:attrName>ppt_w</p:attrName>
                                        </p:attrNameLst>
                                      </p:cBhvr>
                                      <p:tavLst>
                                        <p:tav tm="0">
                                          <p:val>
                                            <p:strVal val="#ppt_w*0.70"/>
                                          </p:val>
                                        </p:tav>
                                        <p:tav tm="100000">
                                          <p:val>
                                            <p:strVal val="#ppt_w"/>
                                          </p:val>
                                        </p:tav>
                                      </p:tavLst>
                                    </p:anim>
                                    <p:anim calcmode="lin" valueType="num">
                                      <p:cBhvr>
                                        <p:cTn id="46" dur="500" fill="hold"/>
                                        <p:tgtEl>
                                          <p:spTgt spid="12"/>
                                        </p:tgtEl>
                                        <p:attrNameLst>
                                          <p:attrName>ppt_h</p:attrName>
                                        </p:attrNameLst>
                                      </p:cBhvr>
                                      <p:tavLst>
                                        <p:tav tm="0">
                                          <p:val>
                                            <p:strVal val="#ppt_h*0.70"/>
                                          </p:val>
                                        </p:tav>
                                        <p:tav tm="100000">
                                          <p:val>
                                            <p:strVal val="#ppt_h"/>
                                          </p:val>
                                        </p:tav>
                                      </p:tavLst>
                                    </p:anim>
                                    <p:animEffect transition="in" filter="fade">
                                      <p:cBhvr>
                                        <p:cTn id="47" dur="500"/>
                                        <p:tgtEl>
                                          <p:spTgt spid="12"/>
                                        </p:tgtEl>
                                      </p:cBhvr>
                                    </p:animEffect>
                                  </p:childTnLst>
                                </p:cTn>
                              </p:par>
                              <p:par>
                                <p:cTn id="53" presetID="53" presetClass="entr" presetSubtype="16" fill="hold" grpId="0" nodeType="withEffect" decel="100000">
                                  <p:stCondLst>
                                    <p:cond delay="400"/>
                                  </p:stCondLst>
                                  <p:childTnLst>
                                    <p:set>
                                      <p:cBhvr>
                                        <p:cTn id="49" dur="1" fill="hold">
                                          <p:stCondLst>
                                            <p:cond delay="0"/>
                                          </p:stCondLst>
                                        </p:cTn>
                                        <p:tgtEl>
                                          <p:spTgt spid="13"/>
                                        </p:tgtEl>
                                        <p:attrNameLst>
                                          <p:attrName>style.visibility</p:attrName>
                                        </p:attrNameLst>
                                      </p:cBhvr>
                                      <p:to>
                                        <p:strVal val="visible"/>
                                      </p:to>
                                    </p:set>
                                    <p:anim calcmode="lin" valueType="num">
                                      <p:cBhvr>
                                        <p:cTn id="50" dur="500" fill="hold"/>
                                        <p:tgtEl>
                                          <p:spTgt spid="13"/>
                                        </p:tgtEl>
                                        <p:attrNameLst>
                                          <p:attrName>ppt_w</p:attrName>
                                        </p:attrNameLst>
                                      </p:cBhvr>
                                      <p:tavLst>
                                        <p:tav tm="0">
                                          <p:val>
                                            <p:strVal val="#ppt_w*0.70"/>
                                          </p:val>
                                        </p:tav>
                                        <p:tav tm="100000">
                                          <p:val>
                                            <p:strVal val="#ppt_w"/>
                                          </p:val>
                                        </p:tav>
                                      </p:tavLst>
                                    </p:anim>
                                    <p:anim calcmode="lin" valueType="num">
                                      <p:cBhvr>
                                        <p:cTn id="51" dur="500" fill="hold"/>
                                        <p:tgtEl>
                                          <p:spTgt spid="13"/>
                                        </p:tgtEl>
                                        <p:attrNameLst>
                                          <p:attrName>ppt_h</p:attrName>
                                        </p:attrNameLst>
                                      </p:cBhvr>
                                      <p:tavLst>
                                        <p:tav tm="0">
                                          <p:val>
                                            <p:strVal val="#ppt_h*0.70"/>
                                          </p:val>
                                        </p:tav>
                                        <p:tav tm="100000">
                                          <p:val>
                                            <p:strVal val="#ppt_h"/>
                                          </p:val>
                                        </p:tav>
                                      </p:tavLst>
                                    </p:anim>
                                    <p:animEffect transition="in" filter="fade">
                                      <p:cBhvr>
                                        <p:cTn id="52" dur="500"/>
                                        <p:tgtEl>
                                          <p:spTgt spid="13"/>
                                        </p:tgtEl>
                                      </p:cBhvr>
                                    </p:animEffect>
                                  </p:childTnLst>
                                </p:cTn>
                              </p:par>
                              <p:par>
                                <p:cTn id="56" presetID="10" presetClass="entr" presetSubtype="0" fill="hold" grpId="0" nodeType="withEffect" decel="100000">
                                  <p:stCondLst>
                                    <p:cond delay="6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par>
                                <p:cTn id="61" presetID="53" presetClass="entr" presetSubtype="16" fill="hold" grpId="0" nodeType="withEffect" decel="100000">
                                  <p:stCondLst>
                                    <p:cond delay="600"/>
                                  </p:stCondLst>
                                  <p:childTnLst>
                                    <p:set>
                                      <p:cBhvr>
                                        <p:cTn id="57" dur="1" fill="hold">
                                          <p:stCondLst>
                                            <p:cond delay="0"/>
                                          </p:stCondLst>
                                        </p:cTn>
                                        <p:tgtEl>
                                          <p:spTgt spid="15"/>
                                        </p:tgtEl>
                                        <p:attrNameLst>
                                          <p:attrName>style.visibility</p:attrName>
                                        </p:attrNameLst>
                                      </p:cBhvr>
                                      <p:to>
                                        <p:strVal val="visible"/>
                                      </p:to>
                                    </p:set>
                                    <p:anim calcmode="lin" valueType="num">
                                      <p:cBhvr>
                                        <p:cTn id="58" dur="500" fill="hold"/>
                                        <p:tgtEl>
                                          <p:spTgt spid="15"/>
                                        </p:tgtEl>
                                        <p:attrNameLst>
                                          <p:attrName>ppt_w</p:attrName>
                                        </p:attrNameLst>
                                      </p:cBhvr>
                                      <p:tavLst>
                                        <p:tav tm="0">
                                          <p:val>
                                            <p:strVal val="#ppt_w*0.70"/>
                                          </p:val>
                                        </p:tav>
                                        <p:tav tm="100000">
                                          <p:val>
                                            <p:strVal val="#ppt_w"/>
                                          </p:val>
                                        </p:tav>
                                      </p:tavLst>
                                    </p:anim>
                                    <p:anim calcmode="lin" valueType="num">
                                      <p:cBhvr>
                                        <p:cTn id="59" dur="500" fill="hold"/>
                                        <p:tgtEl>
                                          <p:spTgt spid="15"/>
                                        </p:tgtEl>
                                        <p:attrNameLst>
                                          <p:attrName>ppt_h</p:attrName>
                                        </p:attrNameLst>
                                      </p:cBhvr>
                                      <p:tavLst>
                                        <p:tav tm="0">
                                          <p:val>
                                            <p:strVal val="#ppt_h*0.70"/>
                                          </p:val>
                                        </p:tav>
                                        <p:tav tm="100000">
                                          <p:val>
                                            <p:strVal val="#ppt_h"/>
                                          </p:val>
                                        </p:tav>
                                      </p:tavLst>
                                    </p:anim>
                                    <p:animEffect transition="in" filter="fade">
                                      <p:cBhvr>
                                        <p:cTn id="60" dur="500"/>
                                        <p:tgtEl>
                                          <p:spTgt spid="15"/>
                                        </p:tgtEl>
                                      </p:cBhvr>
                                    </p:animEffect>
                                  </p:childTnLst>
                                </p:cTn>
                              </p:par>
                              <p:par>
                                <p:cTn id="66" presetID="53" presetClass="entr" presetSubtype="16" fill="hold" grpId="0" nodeType="withEffect" decel="100000">
                                  <p:stCondLst>
                                    <p:cond delay="60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strVal val="#ppt_w*0.70"/>
                                          </p:val>
                                        </p:tav>
                                        <p:tav tm="100000">
                                          <p:val>
                                            <p:strVal val="#ppt_w"/>
                                          </p:val>
                                        </p:tav>
                                      </p:tavLst>
                                    </p:anim>
                                    <p:anim calcmode="lin" valueType="num">
                                      <p:cBhvr>
                                        <p:cTn id="64" dur="500" fill="hold"/>
                                        <p:tgtEl>
                                          <p:spTgt spid="16"/>
                                        </p:tgtEl>
                                        <p:attrNameLst>
                                          <p:attrName>ppt_h</p:attrName>
                                        </p:attrNameLst>
                                      </p:cBhvr>
                                      <p:tavLst>
                                        <p:tav tm="0">
                                          <p:val>
                                            <p:strVal val="#ppt_h*0.70"/>
                                          </p:val>
                                        </p:tav>
                                        <p:tav tm="100000">
                                          <p:val>
                                            <p:strVal val="#ppt_h"/>
                                          </p:val>
                                        </p:tav>
                                      </p:tavLst>
                                    </p:anim>
                                    <p:animEffect transition="in" filter="fade">
                                      <p:cBhvr>
                                        <p:cTn id="65" dur="500"/>
                                        <p:tgtEl>
                                          <p:spTgt spid="16"/>
                                        </p:tgtEl>
                                      </p:cBhvr>
                                    </p:animEffect>
                                  </p:childTnLst>
                                </p:cTn>
                              </p:par>
                              <p:par>
                                <p:cTn id="69" presetID="10" presetClass="entr" presetSubtype="0" fill="hold" grpId="0" nodeType="withEffect" decel="100000">
                                  <p:stCondLst>
                                    <p:cond delay="80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childTnLst>
                          </p:cTn>
                        </p:par>
                      </p:childTnLst>
                    </p:cTn>
                  </p:par>
                  <p:par>
                    <p:cTn id="145" fill="hold">
                      <p:stCondLst>
                        <p:cond delay="indefinite"/>
                      </p:stCondLst>
                      <p:childTnLst>
                        <p:par>
                          <p:cTn id="146" fill="hold">
                            <p:stCondLst>
                              <p:cond delay="0"/>
                            </p:stCondLst>
                            <p:childTnLst>
                              <p:par>
                                <p:cTn id="76" presetID="42" presetClass="entr" presetSubtype="0" fill="hold" grpId="0" nodeType="clickEffect" decel="100000">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anim calcmode="lin" valueType="num">
                                      <p:cBhvr>
                                        <p:cTn id="74" dur="500" fill="hold"/>
                                        <p:tgtEl>
                                          <p:spTgt spid="18"/>
                                        </p:tgtEl>
                                        <p:attrNameLst>
                                          <p:attrName>ppt_x</p:attrName>
                                        </p:attrNameLst>
                                      </p:cBhvr>
                                      <p:tavLst>
                                        <p:tav tm="0">
                                          <p:val>
                                            <p:strVal val="#ppt_x"/>
                                          </p:val>
                                        </p:tav>
                                        <p:tav tm="100000">
                                          <p:val>
                                            <p:strVal val="#ppt_x"/>
                                          </p:val>
                                        </p:tav>
                                      </p:tavLst>
                                    </p:anim>
                                    <p:anim calcmode="lin" valueType="num">
                                      <p:cBhvr>
                                        <p:cTn id="75" dur="500" fill="hold"/>
                                        <p:tgtEl>
                                          <p:spTgt spid="18"/>
                                        </p:tgtEl>
                                        <p:attrNameLst>
                                          <p:attrName>ppt_y</p:attrName>
                                        </p:attrNameLst>
                                      </p:cBhvr>
                                      <p:tavLst>
                                        <p:tav tm="0">
                                          <p:val>
                                            <p:strVal val="#ppt_y+0.05"/>
                                          </p:val>
                                        </p:tav>
                                        <p:tav tm="100000">
                                          <p:val>
                                            <p:strVal val="#ppt_y"/>
                                          </p:val>
                                        </p:tav>
                                      </p:tavLst>
                                    </p:anim>
                                  </p:childTnLst>
                                </p:cTn>
                              </p:par>
                              <p:par>
                                <p:cTn id="81" presetID="42" presetClass="entr" presetSubtype="0" fill="hold" grpId="0" nodeType="withEffect" decel="100000">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anim calcmode="lin" valueType="num">
                                      <p:cBhvr>
                                        <p:cTn id="79" dur="500" fill="hold"/>
                                        <p:tgtEl>
                                          <p:spTgt spid="19"/>
                                        </p:tgtEl>
                                        <p:attrNameLst>
                                          <p:attrName>ppt_x</p:attrName>
                                        </p:attrNameLst>
                                      </p:cBhvr>
                                      <p:tavLst>
                                        <p:tav tm="0">
                                          <p:val>
                                            <p:strVal val="#ppt_x"/>
                                          </p:val>
                                        </p:tav>
                                        <p:tav tm="100000">
                                          <p:val>
                                            <p:strVal val="#ppt_x"/>
                                          </p:val>
                                        </p:tav>
                                      </p:tavLst>
                                    </p:anim>
                                    <p:anim calcmode="lin" valueType="num">
                                      <p:cBhvr>
                                        <p:cTn id="80" dur="500" fill="hold"/>
                                        <p:tgtEl>
                                          <p:spTgt spid="19"/>
                                        </p:tgtEl>
                                        <p:attrNameLst>
                                          <p:attrName>ppt_y</p:attrName>
                                        </p:attrNameLst>
                                      </p:cBhvr>
                                      <p:tavLst>
                                        <p:tav tm="0">
                                          <p:val>
                                            <p:strVal val="#ppt_y+0.05"/>
                                          </p:val>
                                        </p:tav>
                                        <p:tav tm="100000">
                                          <p:val>
                                            <p:strVal val="#ppt_y"/>
                                          </p:val>
                                        </p:tav>
                                      </p:tavLst>
                                    </p:anim>
                                  </p:childTnLst>
                                </p:cTn>
                              </p:par>
                              <p:par>
                                <p:cTn id="86" presetID="42" presetClass="entr" presetSubtype="0" fill="hold" grpId="0" nodeType="withEffect" decel="100000">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anim calcmode="lin" valueType="num">
                                      <p:cBhvr>
                                        <p:cTn id="84" dur="500" fill="hold"/>
                                        <p:tgtEl>
                                          <p:spTgt spid="20"/>
                                        </p:tgtEl>
                                        <p:attrNameLst>
                                          <p:attrName>ppt_x</p:attrName>
                                        </p:attrNameLst>
                                      </p:cBhvr>
                                      <p:tavLst>
                                        <p:tav tm="0">
                                          <p:val>
                                            <p:strVal val="#ppt_x"/>
                                          </p:val>
                                        </p:tav>
                                        <p:tav tm="100000">
                                          <p:val>
                                            <p:strVal val="#ppt_x"/>
                                          </p:val>
                                        </p:tav>
                                      </p:tavLst>
                                    </p:anim>
                                    <p:anim calcmode="lin" valueType="num">
                                      <p:cBhvr>
                                        <p:cTn id="85" dur="500" fill="hold"/>
                                        <p:tgtEl>
                                          <p:spTgt spid="20"/>
                                        </p:tgtEl>
                                        <p:attrNameLst>
                                          <p:attrName>ppt_y</p:attrName>
                                        </p:attrNameLst>
                                      </p:cBhvr>
                                      <p:tavLst>
                                        <p:tav tm="0">
                                          <p:val>
                                            <p:strVal val="#ppt_y+0.05"/>
                                          </p:val>
                                        </p:tav>
                                        <p:tav tm="100000">
                                          <p:val>
                                            <p:strVal val="#ppt_y"/>
                                          </p:val>
                                        </p:tav>
                                      </p:tavLst>
                                    </p:anim>
                                  </p:childTnLst>
                                </p:cTn>
                              </p:par>
                              <p:par>
                                <p:cTn id="91" presetID="42" presetClass="entr" presetSubtype="0" fill="hold" grpId="0" nodeType="withEffect" decel="100000">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anim calcmode="lin" valueType="num">
                                      <p:cBhvr>
                                        <p:cTn id="89" dur="500" fill="hold"/>
                                        <p:tgtEl>
                                          <p:spTgt spid="21"/>
                                        </p:tgtEl>
                                        <p:attrNameLst>
                                          <p:attrName>ppt_x</p:attrName>
                                        </p:attrNameLst>
                                      </p:cBhvr>
                                      <p:tavLst>
                                        <p:tav tm="0">
                                          <p:val>
                                            <p:strVal val="#ppt_x"/>
                                          </p:val>
                                        </p:tav>
                                        <p:tav tm="100000">
                                          <p:val>
                                            <p:strVal val="#ppt_x"/>
                                          </p:val>
                                        </p:tav>
                                      </p:tavLst>
                                    </p:anim>
                                    <p:anim calcmode="lin" valueType="num">
                                      <p:cBhvr>
                                        <p:cTn id="90" dur="500" fill="hold"/>
                                        <p:tgtEl>
                                          <p:spTgt spid="21"/>
                                        </p:tgtEl>
                                        <p:attrNameLst>
                                          <p:attrName>ppt_y</p:attrName>
                                        </p:attrNameLst>
                                      </p:cBhvr>
                                      <p:tavLst>
                                        <p:tav tm="0">
                                          <p:val>
                                            <p:strVal val="#ppt_y+0.05"/>
                                          </p:val>
                                        </p:tav>
                                        <p:tav tm="100000">
                                          <p:val>
                                            <p:strVal val="#ppt_y"/>
                                          </p:val>
                                        </p:tav>
                                      </p:tavLst>
                                    </p:anim>
                                  </p:childTnLst>
                                </p:cTn>
                              </p:par>
                              <p:par>
                                <p:cTn id="96" presetID="42" presetClass="entr" presetSubtype="0" fill="hold" grpId="0" nodeType="withEffect" decel="100000">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anim calcmode="lin" valueType="num">
                                      <p:cBhvr>
                                        <p:cTn id="94" dur="500" fill="hold"/>
                                        <p:tgtEl>
                                          <p:spTgt spid="22"/>
                                        </p:tgtEl>
                                        <p:attrNameLst>
                                          <p:attrName>ppt_x</p:attrName>
                                        </p:attrNameLst>
                                      </p:cBhvr>
                                      <p:tavLst>
                                        <p:tav tm="0">
                                          <p:val>
                                            <p:strVal val="#ppt_x"/>
                                          </p:val>
                                        </p:tav>
                                        <p:tav tm="100000">
                                          <p:val>
                                            <p:strVal val="#ppt_x"/>
                                          </p:val>
                                        </p:tav>
                                      </p:tavLst>
                                    </p:anim>
                                    <p:anim calcmode="lin" valueType="num">
                                      <p:cBhvr>
                                        <p:cTn id="95" dur="500" fill="hold"/>
                                        <p:tgtEl>
                                          <p:spTgt spid="22"/>
                                        </p:tgtEl>
                                        <p:attrNameLst>
                                          <p:attrName>ppt_y</p:attrName>
                                        </p:attrNameLst>
                                      </p:cBhvr>
                                      <p:tavLst>
                                        <p:tav tm="0">
                                          <p:val>
                                            <p:strVal val="#ppt_y+0.05"/>
                                          </p:val>
                                        </p:tav>
                                        <p:tav tm="100000">
                                          <p:val>
                                            <p:strVal val="#ppt_y"/>
                                          </p:val>
                                        </p:tav>
                                      </p:tavLst>
                                    </p:anim>
                                  </p:childTnLst>
                                </p:cTn>
                              </p:par>
                              <p:par>
                                <p:cTn id="99" presetID="10" presetClass="entr" presetSubtype="0" fill="hold" grpId="0" nodeType="withEffect" decel="100000">
                                  <p:stCondLst>
                                    <p:cond delay="20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00"/>
                                        <p:tgtEl>
                                          <p:spTgt spid="23"/>
                                        </p:tgtEl>
                                      </p:cBhvr>
                                    </p:animEffect>
                                  </p:childTnLst>
                                </p:cTn>
                              </p:par>
                              <p:par>
                                <p:cTn id="102" presetID="10" presetClass="entr" presetSubtype="0" fill="hold" grpId="0" nodeType="withEffect" decel="100000">
                                  <p:stCondLst>
                                    <p:cond delay="20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00"/>
                                        <p:tgtEl>
                                          <p:spTgt spid="24"/>
                                        </p:tgtEl>
                                      </p:cBhvr>
                                    </p:animEffect>
                                  </p:childTnLst>
                                </p:cTn>
                              </p:par>
                              <p:par>
                                <p:cTn id="105" presetID="10" presetClass="entr" presetSubtype="0" fill="hold" grpId="0" nodeType="withEffect" decel="100000">
                                  <p:stCondLst>
                                    <p:cond delay="20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500"/>
                                        <p:tgtEl>
                                          <p:spTgt spid="25"/>
                                        </p:tgtEl>
                                      </p:cBhvr>
                                    </p:animEffect>
                                  </p:childTnLst>
                                </p:cTn>
                              </p:par>
                              <p:par>
                                <p:cTn id="108" presetID="10" presetClass="entr" presetSubtype="0" fill="hold" grpId="0" nodeType="withEffect" decel="100000">
                                  <p:stCondLst>
                                    <p:cond delay="3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00"/>
                                        <p:tgtEl>
                                          <p:spTgt spid="26"/>
                                        </p:tgtEl>
                                      </p:cBhvr>
                                    </p:animEffect>
                                  </p:childTnLst>
                                </p:cTn>
                              </p:par>
                              <p:par>
                                <p:cTn id="111" presetID="10" presetClass="entr" presetSubtype="0" fill="hold" grpId="0" nodeType="withEffect" decel="100000">
                                  <p:stCondLst>
                                    <p:cond delay="30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childTnLst>
                                </p:cTn>
                              </p:par>
                              <p:par>
                                <p:cTn id="114" presetID="10" presetClass="entr" presetSubtype="0" fill="hold" grpId="0" nodeType="withEffect" decel="100000">
                                  <p:stCondLst>
                                    <p:cond delay="30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00"/>
                                        <p:tgtEl>
                                          <p:spTgt spid="28"/>
                                        </p:tgtEl>
                                      </p:cBhvr>
                                    </p:animEffect>
                                  </p:childTnLst>
                                </p:cTn>
                              </p:par>
                              <p:par>
                                <p:cTn id="117" presetID="10" presetClass="entr" presetSubtype="0" fill="hold" grpId="0" nodeType="withEffect" decel="100000">
                                  <p:stCondLst>
                                    <p:cond delay="40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00"/>
                                        <p:tgtEl>
                                          <p:spTgt spid="29"/>
                                        </p:tgtEl>
                                      </p:cBhvr>
                                    </p:animEffect>
                                  </p:childTnLst>
                                </p:cTn>
                              </p:par>
                              <p:par>
                                <p:cTn id="120" presetID="10" presetClass="entr" presetSubtype="0" fill="hold" grpId="0" nodeType="withEffect" decel="100000">
                                  <p:stCondLst>
                                    <p:cond delay="4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childTnLst>
                                </p:cTn>
                              </p:par>
                              <p:par>
                                <p:cTn id="123" presetID="10" presetClass="entr" presetSubtype="0" fill="hold" grpId="0" nodeType="withEffect" decel="100000">
                                  <p:stCondLst>
                                    <p:cond delay="4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500"/>
                                        <p:tgtEl>
                                          <p:spTgt spid="31"/>
                                        </p:tgtEl>
                                      </p:cBhvr>
                                    </p:animEffect>
                                  </p:childTnLst>
                                </p:cTn>
                              </p:par>
                              <p:par>
                                <p:cTn id="126" presetID="10" presetClass="entr" presetSubtype="0" fill="hold" grpId="0" nodeType="withEffect" decel="100000">
                                  <p:stCondLst>
                                    <p:cond delay="500"/>
                                  </p:stCondLst>
                                  <p:childTnLst>
                                    <p:set>
                                      <p:cBhvr>
                                        <p:cTn id="124" dur="1" fill="hold">
                                          <p:stCondLst>
                                            <p:cond delay="0"/>
                                          </p:stCondLst>
                                        </p:cTn>
                                        <p:tgtEl>
                                          <p:spTgt spid="32"/>
                                        </p:tgtEl>
                                        <p:attrNameLst>
                                          <p:attrName>style.visibility</p:attrName>
                                        </p:attrNameLst>
                                      </p:cBhvr>
                                      <p:to>
                                        <p:strVal val="visible"/>
                                      </p:to>
                                    </p:set>
                                    <p:animEffect transition="in" filter="fade">
                                      <p:cBhvr>
                                        <p:cTn id="125" dur="500"/>
                                        <p:tgtEl>
                                          <p:spTgt spid="32"/>
                                        </p:tgtEl>
                                      </p:cBhvr>
                                    </p:animEffect>
                                  </p:childTnLst>
                                </p:cTn>
                              </p:par>
                              <p:par>
                                <p:cTn id="129" presetID="10" presetClass="entr" presetSubtype="0" fill="hold" grpId="0" nodeType="withEffect" decel="100000">
                                  <p:stCondLst>
                                    <p:cond delay="500"/>
                                  </p:stCondLst>
                                  <p:childTnLst>
                                    <p:set>
                                      <p:cBhvr>
                                        <p:cTn id="127" dur="1" fill="hold">
                                          <p:stCondLst>
                                            <p:cond delay="0"/>
                                          </p:stCondLst>
                                        </p:cTn>
                                        <p:tgtEl>
                                          <p:spTgt spid="33"/>
                                        </p:tgtEl>
                                        <p:attrNameLst>
                                          <p:attrName>style.visibility</p:attrName>
                                        </p:attrNameLst>
                                      </p:cBhvr>
                                      <p:to>
                                        <p:strVal val="visible"/>
                                      </p:to>
                                    </p:set>
                                    <p:animEffect transition="in" filter="fade">
                                      <p:cBhvr>
                                        <p:cTn id="128" dur="500"/>
                                        <p:tgtEl>
                                          <p:spTgt spid="33"/>
                                        </p:tgtEl>
                                      </p:cBhvr>
                                    </p:animEffect>
                                  </p:childTnLst>
                                </p:cTn>
                              </p:par>
                              <p:par>
                                <p:cTn id="132" presetID="10" presetClass="entr" presetSubtype="0" fill="hold" grpId="0" nodeType="withEffect" decel="100000">
                                  <p:stCondLst>
                                    <p:cond delay="50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500"/>
                                        <p:tgtEl>
                                          <p:spTgt spid="34"/>
                                        </p:tgtEl>
                                      </p:cBhvr>
                                    </p:animEffect>
                                  </p:childTnLst>
                                </p:cTn>
                              </p:par>
                              <p:par>
                                <p:cTn id="135" presetID="10" presetClass="entr" presetSubtype="0" fill="hold" grpId="0" nodeType="withEffect" decel="100000">
                                  <p:stCondLst>
                                    <p:cond delay="60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00"/>
                                        <p:tgtEl>
                                          <p:spTgt spid="35"/>
                                        </p:tgtEl>
                                      </p:cBhvr>
                                    </p:animEffect>
                                  </p:childTnLst>
                                </p:cTn>
                              </p:par>
                              <p:par>
                                <p:cTn id="138" presetID="10" presetClass="entr" presetSubtype="0" fill="hold" grpId="0" nodeType="withEffect" decel="100000">
                                  <p:stCondLst>
                                    <p:cond delay="600"/>
                                  </p:stCondLst>
                                  <p:childTnLst>
                                    <p:set>
                                      <p:cBhvr>
                                        <p:cTn id="136" dur="1" fill="hold">
                                          <p:stCondLst>
                                            <p:cond delay="0"/>
                                          </p:stCondLst>
                                        </p:cTn>
                                        <p:tgtEl>
                                          <p:spTgt spid="36"/>
                                        </p:tgtEl>
                                        <p:attrNameLst>
                                          <p:attrName>style.visibility</p:attrName>
                                        </p:attrNameLst>
                                      </p:cBhvr>
                                      <p:to>
                                        <p:strVal val="visible"/>
                                      </p:to>
                                    </p:set>
                                    <p:animEffect transition="in" filter="fade">
                                      <p:cBhvr>
                                        <p:cTn id="137" dur="500"/>
                                        <p:tgtEl>
                                          <p:spTgt spid="36"/>
                                        </p:tgtEl>
                                      </p:cBhvr>
                                    </p:animEffect>
                                  </p:childTnLst>
                                </p:cTn>
                              </p:par>
                              <p:par>
                                <p:cTn id="141" presetID="10" presetClass="entr" presetSubtype="0" fill="hold" grpId="0" nodeType="withEffect" decel="100000">
                                  <p:stCondLst>
                                    <p:cond delay="600"/>
                                  </p:stCondLst>
                                  <p:childTnLst>
                                    <p:set>
                                      <p:cBhvr>
                                        <p:cTn id="139" dur="1" fill="hold">
                                          <p:stCondLst>
                                            <p:cond delay="0"/>
                                          </p:stCondLst>
                                        </p:cTn>
                                        <p:tgtEl>
                                          <p:spTgt spid="37"/>
                                        </p:tgtEl>
                                        <p:attrNameLst>
                                          <p:attrName>style.visibility</p:attrName>
                                        </p:attrNameLst>
                                      </p:cBhvr>
                                      <p:to>
                                        <p:strVal val="visible"/>
                                      </p:to>
                                    </p:set>
                                    <p:animEffect transition="in" filter="fade">
                                      <p:cBhvr>
                                        <p:cTn id="140" dur="500"/>
                                        <p:tgtEl>
                                          <p:spTgt spid="37"/>
                                        </p:tgtEl>
                                      </p:cBhvr>
                                    </p:animEffect>
                                  </p:childTnLst>
                                </p:cTn>
                              </p:par>
                              <p:par>
                                <p:cTn id="144" presetID="10" presetClass="entr" presetSubtype="0" fill="hold" grpId="0" nodeType="withEffect" decel="100000">
                                  <p:stCondLst>
                                    <p:cond delay="800"/>
                                  </p:stCondLst>
                                  <p:childTnLst>
                                    <p:set>
                                      <p:cBhvr>
                                        <p:cTn id="142" dur="1" fill="hold">
                                          <p:stCondLst>
                                            <p:cond delay="0"/>
                                          </p:stCondLst>
                                        </p:cTn>
                                        <p:tgtEl>
                                          <p:spTgt spid="38"/>
                                        </p:tgtEl>
                                        <p:attrNameLst>
                                          <p:attrName>style.visibility</p:attrName>
                                        </p:attrNameLst>
                                      </p:cBhvr>
                                      <p:to>
                                        <p:strVal val="visible"/>
                                      </p:to>
                                    </p:set>
                                    <p:animEffect transition="in" filter="fade">
                                      <p:cBhvr>
                                        <p:cTn id="14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3" name="txt_21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IMPACT</a:t>
            </a:r>
            <a:endParaRPr lang="en-US" sz="1100" dirty="0"/>
          </a:p>
        </p:txBody>
      </p:sp>
      <p:sp>
        <p:nvSpPr>
          <p:cNvPr id="4" name="txt_21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What Our Project Changes</a:t>
            </a:r>
            <a:endParaRPr lang="en-US" sz="3200" dirty="0"/>
          </a:p>
        </p:txBody>
      </p:sp>
      <p:sp>
        <p:nvSpPr>
          <p:cNvPr id="5" name="txt_21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Freight quoting moves from an opinion to a verified, auditable decision.</a:t>
            </a:r>
            <a:endParaRPr lang="en-US" sz="1500" dirty="0"/>
          </a:p>
        </p:txBody>
      </p:sp>
      <p:sp>
        <p:nvSpPr>
          <p:cNvPr id="6" name="shp_21_3"/>
          <p:cNvSpPr/>
          <p:nvPr/>
        </p:nvSpPr>
        <p:spPr>
          <a:xfrm>
            <a:off x="548640" y="1828800"/>
            <a:ext cx="2567864" cy="1325880"/>
          </a:xfrm>
          <a:prstGeom prst="roundRect">
            <a:avLst>
              <a:gd name="adj" fmla="val 6897"/>
            </a:avLst>
          </a:prstGeom>
          <a:solidFill>
            <a:srgbClr val="112038"/>
          </a:solidFill>
          <a:ln w="9525">
            <a:solidFill>
              <a:srgbClr val="243A5E"/>
            </a:solidFill>
            <a:prstDash val="solid"/>
          </a:ln>
        </p:spPr>
      </p:sp>
      <p:sp>
        <p:nvSpPr>
          <p:cNvPr id="7" name="txt_21_4"/>
          <p:cNvSpPr txBox="1"/>
          <p:nvPr/>
        </p:nvSpPr>
        <p:spPr>
          <a:xfrm>
            <a:off x="777240" y="1993392"/>
            <a:ext cx="2110664" cy="59436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48 hrs → sec</a:t>
            </a:r>
            <a:endParaRPr lang="en-US" sz="3000" dirty="0"/>
          </a:p>
        </p:txBody>
      </p:sp>
      <p:sp>
        <p:nvSpPr>
          <p:cNvPr id="8" name="txt_21_5"/>
          <p:cNvSpPr txBox="1"/>
          <p:nvPr/>
        </p:nvSpPr>
        <p:spPr>
          <a:xfrm>
            <a:off x="777240" y="2651760"/>
            <a:ext cx="2110664" cy="411480"/>
          </a:xfrm>
          <a:prstGeom prst="rect">
            <a:avLst/>
          </a:prstGeom>
          <a:noFill/>
          <a:ln/>
        </p:spPr>
        <p:txBody>
          <a:bodyPr wrap="square" lIns="0" tIns="0" rIns="0" bIns="0" rtlCol="0" anchor="t"/>
          <a:lstStyle/>
          <a:p>
            <a:pPr indent="0" marL="0">
              <a:buNone/>
            </a:pPr>
            <a:r>
              <a:rPr lang="en-US" sz="1000" b="1" spc="100" kern="0" dirty="0">
                <a:solidFill>
                  <a:srgbClr val="AEBBCF"/>
                </a:solidFill>
                <a:latin typeface="Calibri" pitchFamily="34" charset="0"/>
                <a:ea typeface="Calibri" pitchFamily="34" charset="-122"/>
                <a:cs typeface="Calibri" pitchFamily="34" charset="-120"/>
              </a:rPr>
              <a:t>QUOTE TURNAROUND</a:t>
            </a:r>
            <a:endParaRPr lang="en-US" sz="1000" dirty="0"/>
          </a:p>
        </p:txBody>
      </p:sp>
      <p:sp>
        <p:nvSpPr>
          <p:cNvPr id="9" name="shp_21_6"/>
          <p:cNvSpPr/>
          <p:nvPr/>
        </p:nvSpPr>
        <p:spPr>
          <a:xfrm>
            <a:off x="3390824" y="1828800"/>
            <a:ext cx="2567864" cy="1325880"/>
          </a:xfrm>
          <a:prstGeom prst="roundRect">
            <a:avLst>
              <a:gd name="adj" fmla="val 6897"/>
            </a:avLst>
          </a:prstGeom>
          <a:solidFill>
            <a:srgbClr val="112038"/>
          </a:solidFill>
          <a:ln w="9525">
            <a:solidFill>
              <a:srgbClr val="243A5E"/>
            </a:solidFill>
            <a:prstDash val="solid"/>
          </a:ln>
        </p:spPr>
      </p:sp>
      <p:sp>
        <p:nvSpPr>
          <p:cNvPr id="10" name="txt_21_7"/>
          <p:cNvSpPr txBox="1"/>
          <p:nvPr/>
        </p:nvSpPr>
        <p:spPr>
          <a:xfrm>
            <a:off x="3619424" y="1993392"/>
            <a:ext cx="2110664" cy="59436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R² 0.9792</a:t>
            </a:r>
            <a:endParaRPr lang="en-US" sz="3000" dirty="0"/>
          </a:p>
        </p:txBody>
      </p:sp>
      <p:sp>
        <p:nvSpPr>
          <p:cNvPr id="11" name="txt_21_8"/>
          <p:cNvSpPr txBox="1"/>
          <p:nvPr/>
        </p:nvSpPr>
        <p:spPr>
          <a:xfrm>
            <a:off x="3619424" y="2651760"/>
            <a:ext cx="2110664" cy="411480"/>
          </a:xfrm>
          <a:prstGeom prst="rect">
            <a:avLst/>
          </a:prstGeom>
          <a:noFill/>
          <a:ln/>
        </p:spPr>
        <p:txBody>
          <a:bodyPr wrap="square" lIns="0" tIns="0" rIns="0" bIns="0" rtlCol="0" anchor="t"/>
          <a:lstStyle/>
          <a:p>
            <a:pPr indent="0" marL="0">
              <a:buNone/>
            </a:pPr>
            <a:r>
              <a:rPr lang="en-US" sz="1000" b="1" spc="100" kern="0" dirty="0">
                <a:solidFill>
                  <a:srgbClr val="AEBBCF"/>
                </a:solidFill>
                <a:latin typeface="Calibri" pitchFamily="34" charset="0"/>
                <a:ea typeface="Calibri" pitchFamily="34" charset="-122"/>
                <a:cs typeface="Calibri" pitchFamily="34" charset="-120"/>
              </a:rPr>
              <a:t>ML ACCURACY · MAPE 5.54%</a:t>
            </a:r>
            <a:endParaRPr lang="en-US" sz="1000" dirty="0"/>
          </a:p>
        </p:txBody>
      </p:sp>
      <p:sp>
        <p:nvSpPr>
          <p:cNvPr id="12" name="shp_21_9"/>
          <p:cNvSpPr/>
          <p:nvPr/>
        </p:nvSpPr>
        <p:spPr>
          <a:xfrm>
            <a:off x="6233008" y="1828800"/>
            <a:ext cx="2567864" cy="1325880"/>
          </a:xfrm>
          <a:prstGeom prst="roundRect">
            <a:avLst>
              <a:gd name="adj" fmla="val 6897"/>
            </a:avLst>
          </a:prstGeom>
          <a:solidFill>
            <a:srgbClr val="112038"/>
          </a:solidFill>
          <a:ln w="9525">
            <a:solidFill>
              <a:srgbClr val="243A5E"/>
            </a:solidFill>
            <a:prstDash val="solid"/>
          </a:ln>
        </p:spPr>
      </p:sp>
      <p:sp>
        <p:nvSpPr>
          <p:cNvPr id="13" name="txt_21_10"/>
          <p:cNvSpPr txBox="1"/>
          <p:nvPr/>
        </p:nvSpPr>
        <p:spPr>
          <a:xfrm>
            <a:off x="6461608" y="1993392"/>
            <a:ext cx="2110664" cy="59436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50 / 50</a:t>
            </a:r>
            <a:endParaRPr lang="en-US" sz="3000" dirty="0"/>
          </a:p>
        </p:txBody>
      </p:sp>
      <p:sp>
        <p:nvSpPr>
          <p:cNvPr id="14" name="txt_21_11"/>
          <p:cNvSpPr txBox="1"/>
          <p:nvPr/>
        </p:nvSpPr>
        <p:spPr>
          <a:xfrm>
            <a:off x="6461608" y="2651760"/>
            <a:ext cx="2110664" cy="411480"/>
          </a:xfrm>
          <a:prstGeom prst="rect">
            <a:avLst/>
          </a:prstGeom>
          <a:noFill/>
          <a:ln/>
        </p:spPr>
        <p:txBody>
          <a:bodyPr wrap="square" lIns="0" tIns="0" rIns="0" bIns="0" rtlCol="0" anchor="t"/>
          <a:lstStyle/>
          <a:p>
            <a:pPr indent="0" marL="0">
              <a:buNone/>
            </a:pPr>
            <a:r>
              <a:rPr lang="en-US" sz="1000" b="1" spc="100" kern="0" dirty="0">
                <a:solidFill>
                  <a:srgbClr val="AEBBCF"/>
                </a:solidFill>
                <a:latin typeface="Calibri" pitchFamily="34" charset="0"/>
                <a:ea typeface="Calibri" pitchFamily="34" charset="-122"/>
                <a:cs typeface="Calibri" pitchFamily="34" charset="-120"/>
              </a:rPr>
              <a:t>CUSTOMS SCENARIOS · 10 JURISDICTIONS</a:t>
            </a:r>
            <a:endParaRPr lang="en-US" sz="1000" dirty="0"/>
          </a:p>
        </p:txBody>
      </p:sp>
      <p:sp>
        <p:nvSpPr>
          <p:cNvPr id="15" name="shp_21_12"/>
          <p:cNvSpPr/>
          <p:nvPr/>
        </p:nvSpPr>
        <p:spPr>
          <a:xfrm>
            <a:off x="9075191" y="1828800"/>
            <a:ext cx="2567864" cy="1325880"/>
          </a:xfrm>
          <a:prstGeom prst="roundRect">
            <a:avLst>
              <a:gd name="adj" fmla="val 6897"/>
            </a:avLst>
          </a:prstGeom>
          <a:solidFill>
            <a:srgbClr val="112038"/>
          </a:solidFill>
          <a:ln w="9525">
            <a:solidFill>
              <a:srgbClr val="243A5E"/>
            </a:solidFill>
            <a:prstDash val="solid"/>
          </a:ln>
        </p:spPr>
      </p:sp>
      <p:sp>
        <p:nvSpPr>
          <p:cNvPr id="16" name="txt_21_13"/>
          <p:cNvSpPr txBox="1"/>
          <p:nvPr/>
        </p:nvSpPr>
        <p:spPr>
          <a:xfrm>
            <a:off x="9303791" y="1993392"/>
            <a:ext cx="2110664" cy="594360"/>
          </a:xfrm>
          <a:prstGeom prst="rect">
            <a:avLst/>
          </a:prstGeom>
          <a:noFill/>
          <a:ln/>
        </p:spPr>
        <p:txBody>
          <a:bodyPr wrap="square" lIns="0" tIns="0" rIns="0" bIns="0" rtlCol="0" anchor="t"/>
          <a:lstStyle/>
          <a:p>
            <a:pPr indent="0" marL="0">
              <a:buNone/>
            </a:pPr>
            <a:r>
              <a:rPr lang="en-US" sz="3000" b="1" dirty="0">
                <a:solidFill>
                  <a:srgbClr val="F5A524"/>
                </a:solidFill>
                <a:latin typeface="Calibri" pitchFamily="34" charset="0"/>
                <a:ea typeface="Calibri" pitchFamily="34" charset="-122"/>
                <a:cs typeface="Calibri" pitchFamily="34" charset="-120"/>
              </a:rPr>
              <a:t>63 / 63</a:t>
            </a:r>
            <a:endParaRPr lang="en-US" sz="3000" dirty="0"/>
          </a:p>
        </p:txBody>
      </p:sp>
      <p:sp>
        <p:nvSpPr>
          <p:cNvPr id="17" name="txt_21_14"/>
          <p:cNvSpPr txBox="1"/>
          <p:nvPr/>
        </p:nvSpPr>
        <p:spPr>
          <a:xfrm>
            <a:off x="9303791" y="2651760"/>
            <a:ext cx="2110664" cy="411480"/>
          </a:xfrm>
          <a:prstGeom prst="rect">
            <a:avLst/>
          </a:prstGeom>
          <a:noFill/>
          <a:ln/>
        </p:spPr>
        <p:txBody>
          <a:bodyPr wrap="square" lIns="0" tIns="0" rIns="0" bIns="0" rtlCol="0" anchor="t"/>
          <a:lstStyle/>
          <a:p>
            <a:pPr indent="0" marL="0">
              <a:buNone/>
            </a:pPr>
            <a:r>
              <a:rPr lang="en-US" sz="1000" b="1" spc="100" kern="0" dirty="0">
                <a:solidFill>
                  <a:srgbClr val="AEBBCF"/>
                </a:solidFill>
                <a:latin typeface="Calibri" pitchFamily="34" charset="0"/>
                <a:ea typeface="Calibri" pitchFamily="34" charset="-122"/>
                <a:cs typeface="Calibri" pitchFamily="34" charset="-120"/>
              </a:rPr>
              <a:t>AUTOMATED TESTS PASSING</a:t>
            </a:r>
            <a:endParaRPr lang="en-US" sz="1000" dirty="0"/>
          </a:p>
        </p:txBody>
      </p:sp>
      <p:sp>
        <p:nvSpPr>
          <p:cNvPr id="18" name="shp_21_15"/>
          <p:cNvSpPr/>
          <p:nvPr/>
        </p:nvSpPr>
        <p:spPr>
          <a:xfrm>
            <a:off x="548640" y="3383280"/>
            <a:ext cx="5410048" cy="2697480"/>
          </a:xfrm>
          <a:prstGeom prst="roundRect">
            <a:avLst>
              <a:gd name="adj" fmla="val 3390"/>
            </a:avLst>
          </a:prstGeom>
          <a:solidFill>
            <a:srgbClr val="112038"/>
          </a:solidFill>
          <a:ln w="9525">
            <a:solidFill>
              <a:srgbClr val="243A5E"/>
            </a:solidFill>
            <a:prstDash val="solid"/>
          </a:ln>
        </p:spPr>
      </p:sp>
      <p:sp>
        <p:nvSpPr>
          <p:cNvPr id="19" name="shp_21_16"/>
          <p:cNvSpPr/>
          <p:nvPr/>
        </p:nvSpPr>
        <p:spPr>
          <a:xfrm>
            <a:off x="822960" y="3584448"/>
            <a:ext cx="530352" cy="530352"/>
          </a:xfrm>
          <a:prstGeom prst="ellipse">
            <a:avLst/>
          </a:prstGeom>
          <a:solidFill>
            <a:srgbClr val="3B2A0C"/>
          </a:solidFill>
          <a:ln w="9525">
            <a:solidFill>
              <a:srgbClr val="F5A524"/>
            </a:solidFill>
            <a:prstDash val="solid"/>
          </a:ln>
        </p:spPr>
      </p:sp>
      <p:pic>
        <p:nvPicPr>
          <p:cNvPr id="20" name="img_21_17" descr="preencoded.png">    </p:cNvPr>
          <p:cNvPicPr>
            <a:picLocks noChangeAspect="1"/>
          </p:cNvPicPr>
          <p:nvPr/>
        </p:nvPicPr>
        <p:blipFill>
          <a:blip r:embed="rId1"/>
          <a:stretch>
            <a:fillRect/>
          </a:stretch>
        </p:blipFill>
        <p:spPr>
          <a:xfrm>
            <a:off x="950244" y="3711732"/>
            <a:ext cx="275783" cy="275783"/>
          </a:xfrm>
          <a:prstGeom prst="rect">
            <a:avLst/>
          </a:prstGeom>
        </p:spPr>
      </p:pic>
      <p:sp>
        <p:nvSpPr>
          <p:cNvPr id="21" name="txt_21_18"/>
          <p:cNvSpPr txBox="1"/>
          <p:nvPr/>
        </p:nvSpPr>
        <p:spPr>
          <a:xfrm>
            <a:off x="1508760" y="3584448"/>
            <a:ext cx="4221328" cy="53035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 shippers</a:t>
            </a:r>
            <a:endParaRPr lang="en-US" sz="1700" dirty="0"/>
          </a:p>
        </p:txBody>
      </p:sp>
      <p:sp>
        <p:nvSpPr>
          <p:cNvPr id="22" name="txt_21_19"/>
          <p:cNvSpPr txBox="1"/>
          <p:nvPr/>
        </p:nvSpPr>
        <p:spPr>
          <a:xfrm>
            <a:off x="822960" y="4315968"/>
            <a:ext cx="4861408" cy="164592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F1F5F9"/>
                </a:solidFill>
                <a:latin typeface="Calibri" pitchFamily="34" charset="0"/>
                <a:ea typeface="Calibri" pitchFamily="34" charset="-122"/>
                <a:cs typeface="Calibri" pitchFamily="34" charset="-120"/>
              </a:rPr>
              <a:t>Competing carrier options in seconds, not a two-day email thread.</a:t>
            </a:r>
            <a:endParaRPr lang="en-US" sz="1350" dirty="0"/>
          </a:p>
          <a:p>
            <a:pPr marL="177800" indent="-177800">
              <a:spcAft>
                <a:spcPts val="1000"/>
              </a:spcAft>
              <a:buSzPct val="100000"/>
              <a:buChar char="▸"/>
            </a:pPr>
            <a:r>
              <a:rPr lang="en-US" sz="1350" dirty="0">
                <a:solidFill>
                  <a:srgbClr val="F1F5F9"/>
                </a:solidFill>
                <a:latin typeface="Calibri" pitchFamily="34" charset="0"/>
                <a:ea typeface="Calibri" pitchFamily="34" charset="-122"/>
                <a:cs typeface="Calibri" pitchFamily="34" charset="-120"/>
              </a:rPr>
              <a:t>Weather delay probability and customs holds visible before booking.</a:t>
            </a:r>
            <a:endParaRPr lang="en-US" sz="1350" dirty="0"/>
          </a:p>
          <a:p>
            <a:pPr marL="177800" indent="-177800">
              <a:spcAft>
                <a:spcPts val="1000"/>
              </a:spcAft>
              <a:buSzPct val="100000"/>
              <a:buChar char="▸"/>
            </a:pPr>
            <a:r>
              <a:rPr lang="en-US" sz="1350" dirty="0">
                <a:solidFill>
                  <a:srgbClr val="F1F5F9"/>
                </a:solidFill>
                <a:latin typeface="Calibri" pitchFamily="34" charset="0"/>
                <a:ea typeface="Calibri" pitchFamily="34" charset="-122"/>
                <a:cs typeface="Calibri" pitchFamily="34" charset="-120"/>
              </a:rPr>
              <a:t>Line-item cost build-up — surcharges and margin, not one opaque number.</a:t>
            </a:r>
            <a:endParaRPr lang="en-US" sz="1350" dirty="0"/>
          </a:p>
        </p:txBody>
      </p:sp>
      <p:sp>
        <p:nvSpPr>
          <p:cNvPr id="23" name="shp_21_20"/>
          <p:cNvSpPr/>
          <p:nvPr/>
        </p:nvSpPr>
        <p:spPr>
          <a:xfrm>
            <a:off x="6233008" y="3383280"/>
            <a:ext cx="5410048" cy="2697480"/>
          </a:xfrm>
          <a:prstGeom prst="roundRect">
            <a:avLst>
              <a:gd name="adj" fmla="val 3390"/>
            </a:avLst>
          </a:prstGeom>
          <a:solidFill>
            <a:srgbClr val="112038"/>
          </a:solidFill>
          <a:ln w="9525">
            <a:solidFill>
              <a:srgbClr val="243A5E"/>
            </a:solidFill>
            <a:prstDash val="solid"/>
          </a:ln>
        </p:spPr>
      </p:sp>
      <p:sp>
        <p:nvSpPr>
          <p:cNvPr id="24" name="shp_21_21"/>
          <p:cNvSpPr/>
          <p:nvPr/>
        </p:nvSpPr>
        <p:spPr>
          <a:xfrm>
            <a:off x="6507328" y="3584448"/>
            <a:ext cx="530352" cy="530352"/>
          </a:xfrm>
          <a:prstGeom prst="ellipse">
            <a:avLst/>
          </a:prstGeom>
          <a:solidFill>
            <a:srgbClr val="3B2A0C"/>
          </a:solidFill>
          <a:ln w="9525">
            <a:solidFill>
              <a:srgbClr val="F5A524"/>
            </a:solidFill>
            <a:prstDash val="solid"/>
          </a:ln>
        </p:spPr>
      </p:sp>
      <p:pic>
        <p:nvPicPr>
          <p:cNvPr id="25" name="img_21_22" descr="preencoded.png">    </p:cNvPr>
          <p:cNvPicPr>
            <a:picLocks noChangeAspect="1"/>
          </p:cNvPicPr>
          <p:nvPr/>
        </p:nvPicPr>
        <p:blipFill>
          <a:blip r:embed="rId2"/>
          <a:stretch>
            <a:fillRect/>
          </a:stretch>
        </p:blipFill>
        <p:spPr>
          <a:xfrm>
            <a:off x="6634612" y="3711732"/>
            <a:ext cx="275783" cy="275783"/>
          </a:xfrm>
          <a:prstGeom prst="rect">
            <a:avLst/>
          </a:prstGeom>
        </p:spPr>
      </p:pic>
      <p:sp>
        <p:nvSpPr>
          <p:cNvPr id="26" name="txt_21_23"/>
          <p:cNvSpPr txBox="1"/>
          <p:nvPr/>
        </p:nvSpPr>
        <p:spPr>
          <a:xfrm>
            <a:off x="7193128" y="3584448"/>
            <a:ext cx="4221328" cy="53035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 carriers, customs &amp; the business</a:t>
            </a:r>
            <a:endParaRPr lang="en-US" sz="1700" dirty="0"/>
          </a:p>
        </p:txBody>
      </p:sp>
      <p:sp>
        <p:nvSpPr>
          <p:cNvPr id="27" name="txt_21_24"/>
          <p:cNvSpPr txBox="1"/>
          <p:nvPr/>
        </p:nvSpPr>
        <p:spPr>
          <a:xfrm>
            <a:off x="6507328" y="4315968"/>
            <a:ext cx="4861408" cy="164592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F1F5F9"/>
                </a:solidFill>
                <a:latin typeface="Calibri" pitchFamily="34" charset="0"/>
                <a:ea typeface="Calibri" pitchFamily="34" charset="-122"/>
                <a:cs typeface="Calibri" pitchFamily="34" charset="-120"/>
              </a:rPr>
              <a:t>AI drafts, named humans approve — the margin floor is never silently breached.</a:t>
            </a:r>
            <a:endParaRPr lang="en-US" sz="1350" dirty="0"/>
          </a:p>
          <a:p>
            <a:pPr marL="177800" indent="-177800">
              <a:spcAft>
                <a:spcPts val="1000"/>
              </a:spcAft>
              <a:buSzPct val="100000"/>
              <a:buChar char="▸"/>
            </a:pPr>
            <a:r>
              <a:rPr lang="en-US" sz="1350" dirty="0">
                <a:solidFill>
                  <a:srgbClr val="F1F5F9"/>
                </a:solidFill>
                <a:latin typeface="Calibri" pitchFamily="34" charset="0"/>
                <a:ea typeface="Calibri" pitchFamily="34" charset="-122"/>
                <a:cs typeface="Calibri" pitchFamily="34" charset="-120"/>
              </a:rPr>
              <a:t>Fewer border holds: paperwork is checked at quote time, not at the port.</a:t>
            </a:r>
            <a:endParaRPr lang="en-US" sz="1350" dirty="0"/>
          </a:p>
          <a:p>
            <a:pPr marL="177800" indent="-177800">
              <a:spcAft>
                <a:spcPts val="1000"/>
              </a:spcAft>
              <a:buSzPct val="100000"/>
              <a:buChar char="▸"/>
            </a:pPr>
            <a:r>
              <a:rPr lang="en-US" sz="1350" dirty="0">
                <a:solidFill>
                  <a:srgbClr val="F1F5F9"/>
                </a:solidFill>
                <a:latin typeface="Calibri" pitchFamily="34" charset="0"/>
                <a:ea typeface="Calibri" pitchFamily="34" charset="-122"/>
                <a:cs typeface="Calibri" pitchFamily="34" charset="-120"/>
              </a:rPr>
              <a:t>Every price, revision and clearance leaves an immutable audit trail.</a:t>
            </a:r>
            <a:endParaRPr lang="en-US" sz="1350" dirty="0"/>
          </a:p>
        </p:txBody>
      </p:sp>
      <p:sp>
        <p:nvSpPr>
          <p:cNvPr id="28" name="txt_21_25"/>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29" name="txt_21_26"/>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21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76" fill="hold">
                      <p:stCondLst>
                        <p:cond delay="indefinite"/>
                      </p:stCondLst>
                      <p:childTnLst>
                        <p:par>
                          <p:cTn id="77" fill="hold">
                            <p:stCondLst>
                              <p:cond delay="0"/>
                            </p:stCondLst>
                            <p:childTnLst>
                              <p:par>
                                <p:cTn id="20" presetID="42" presetClass="entr" presetSubtype="0" fill="hold" grpId="0" nodeType="clickEffect" decel="100000">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decel="10000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decel="100000">
                                  <p:stCondLst>
                                    <p:cond delay="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1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5" presetID="42" presetClass="entr" presetSubtype="0" fill="hold" grpId="0" nodeType="withEffect" decel="100000">
                                  <p:stCondLst>
                                    <p:cond delay="18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decel="100000">
                                  <p:stCondLst>
                                    <p:cond delay="3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decel="100000">
                                  <p:stCondLst>
                                    <p:cond delay="36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decel="100000">
                                  <p:stCondLst>
                                    <p:cond delay="36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decel="100000">
                                  <p:stCondLst>
                                    <p:cond delay="5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decel="100000">
                                  <p:stCondLst>
                                    <p:cond delay="5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decel="100000">
                                  <p:stCondLst>
                                    <p:cond delay="54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82" presetID="42" presetClass="entr" presetSubtype="0" fill="hold" grpId="0" nodeType="clickEffect" decel="100000">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00"/>
                                        <p:tgtEl>
                                          <p:spTgt spid="18"/>
                                        </p:tgtEl>
                                      </p:cBhvr>
                                    </p:animEffect>
                                    <p:anim calcmode="lin" valueType="num">
                                      <p:cBhvr>
                                        <p:cTn id="80" dur="500" fill="hold"/>
                                        <p:tgtEl>
                                          <p:spTgt spid="18"/>
                                        </p:tgtEl>
                                        <p:attrNameLst>
                                          <p:attrName>ppt_x</p:attrName>
                                        </p:attrNameLst>
                                      </p:cBhvr>
                                      <p:tavLst>
                                        <p:tav tm="0">
                                          <p:val>
                                            <p:strVal val="#ppt_x"/>
                                          </p:val>
                                        </p:tav>
                                        <p:tav tm="100000">
                                          <p:val>
                                            <p:strVal val="#ppt_x"/>
                                          </p:val>
                                        </p:tav>
                                      </p:tavLst>
                                    </p:anim>
                                    <p:anim calcmode="lin" valueType="num">
                                      <p:cBhvr>
                                        <p:cTn id="81" dur="500" fill="hold"/>
                                        <p:tgtEl>
                                          <p:spTgt spid="18"/>
                                        </p:tgtEl>
                                        <p:attrNameLst>
                                          <p:attrName>ppt_y</p:attrName>
                                        </p:attrNameLst>
                                      </p:cBhvr>
                                      <p:tavLst>
                                        <p:tav tm="0">
                                          <p:val>
                                            <p:strVal val="#ppt_y+0.05"/>
                                          </p:val>
                                        </p:tav>
                                        <p:tav tm="100000">
                                          <p:val>
                                            <p:strVal val="#ppt_y"/>
                                          </p:val>
                                        </p:tav>
                                      </p:tavLst>
                                    </p:anim>
                                  </p:childTnLst>
                                </p:cTn>
                              </p:par>
                              <p:par>
                                <p:cTn id="87" presetID="42" presetClass="entr" presetSubtype="0" fill="hold" grpId="0" nodeType="withEffect" decel="100000">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anim calcmode="lin" valueType="num">
                                      <p:cBhvr>
                                        <p:cTn id="85" dur="500" fill="hold"/>
                                        <p:tgtEl>
                                          <p:spTgt spid="19"/>
                                        </p:tgtEl>
                                        <p:attrNameLst>
                                          <p:attrName>ppt_x</p:attrName>
                                        </p:attrNameLst>
                                      </p:cBhvr>
                                      <p:tavLst>
                                        <p:tav tm="0">
                                          <p:val>
                                            <p:strVal val="#ppt_x"/>
                                          </p:val>
                                        </p:tav>
                                        <p:tav tm="100000">
                                          <p:val>
                                            <p:strVal val="#ppt_x"/>
                                          </p:val>
                                        </p:tav>
                                      </p:tavLst>
                                    </p:anim>
                                    <p:anim calcmode="lin" valueType="num">
                                      <p:cBhvr>
                                        <p:cTn id="86" dur="500" fill="hold"/>
                                        <p:tgtEl>
                                          <p:spTgt spid="19"/>
                                        </p:tgtEl>
                                        <p:attrNameLst>
                                          <p:attrName>ppt_y</p:attrName>
                                        </p:attrNameLst>
                                      </p:cBhvr>
                                      <p:tavLst>
                                        <p:tav tm="0">
                                          <p:val>
                                            <p:strVal val="#ppt_y+0.05"/>
                                          </p:val>
                                        </p:tav>
                                        <p:tav tm="100000">
                                          <p:val>
                                            <p:strVal val="#ppt_y"/>
                                          </p:val>
                                        </p:tav>
                                      </p:tavLst>
                                    </p:anim>
                                  </p:childTnLst>
                                </p:cTn>
                              </p:par>
                              <p:par>
                                <p:cTn id="92" presetID="42" presetClass="entr" presetSubtype="0" fill="hold" grpId="0" nodeType="withEffect" decel="100000">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00"/>
                                        <p:tgtEl>
                                          <p:spTgt spid="20"/>
                                        </p:tgtEl>
                                      </p:cBhvr>
                                    </p:animEffect>
                                    <p:anim calcmode="lin" valueType="num">
                                      <p:cBhvr>
                                        <p:cTn id="90" dur="500" fill="hold"/>
                                        <p:tgtEl>
                                          <p:spTgt spid="20"/>
                                        </p:tgtEl>
                                        <p:attrNameLst>
                                          <p:attrName>ppt_x</p:attrName>
                                        </p:attrNameLst>
                                      </p:cBhvr>
                                      <p:tavLst>
                                        <p:tav tm="0">
                                          <p:val>
                                            <p:strVal val="#ppt_x"/>
                                          </p:val>
                                        </p:tav>
                                        <p:tav tm="100000">
                                          <p:val>
                                            <p:strVal val="#ppt_x"/>
                                          </p:val>
                                        </p:tav>
                                      </p:tavLst>
                                    </p:anim>
                                    <p:anim calcmode="lin" valueType="num">
                                      <p:cBhvr>
                                        <p:cTn id="91" dur="500" fill="hold"/>
                                        <p:tgtEl>
                                          <p:spTgt spid="20"/>
                                        </p:tgtEl>
                                        <p:attrNameLst>
                                          <p:attrName>ppt_y</p:attrName>
                                        </p:attrNameLst>
                                      </p:cBhvr>
                                      <p:tavLst>
                                        <p:tav tm="0">
                                          <p:val>
                                            <p:strVal val="#ppt_y+0.05"/>
                                          </p:val>
                                        </p:tav>
                                        <p:tav tm="100000">
                                          <p:val>
                                            <p:strVal val="#ppt_y"/>
                                          </p:val>
                                        </p:tav>
                                      </p:tavLst>
                                    </p:anim>
                                  </p:childTnLst>
                                </p:cTn>
                              </p:par>
                              <p:par>
                                <p:cTn id="97" presetID="42" presetClass="entr" presetSubtype="0" fill="hold" grpId="0" nodeType="withEffect" decel="100000">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00"/>
                                        <p:tgtEl>
                                          <p:spTgt spid="21"/>
                                        </p:tgtEl>
                                      </p:cBhvr>
                                    </p:animEffect>
                                    <p:anim calcmode="lin" valueType="num">
                                      <p:cBhvr>
                                        <p:cTn id="95" dur="500" fill="hold"/>
                                        <p:tgtEl>
                                          <p:spTgt spid="21"/>
                                        </p:tgtEl>
                                        <p:attrNameLst>
                                          <p:attrName>ppt_x</p:attrName>
                                        </p:attrNameLst>
                                      </p:cBhvr>
                                      <p:tavLst>
                                        <p:tav tm="0">
                                          <p:val>
                                            <p:strVal val="#ppt_x"/>
                                          </p:val>
                                        </p:tav>
                                        <p:tav tm="100000">
                                          <p:val>
                                            <p:strVal val="#ppt_x"/>
                                          </p:val>
                                        </p:tav>
                                      </p:tavLst>
                                    </p:anim>
                                    <p:anim calcmode="lin" valueType="num">
                                      <p:cBhvr>
                                        <p:cTn id="96" dur="500" fill="hold"/>
                                        <p:tgtEl>
                                          <p:spTgt spid="21"/>
                                        </p:tgtEl>
                                        <p:attrNameLst>
                                          <p:attrName>ppt_y</p:attrName>
                                        </p:attrNameLst>
                                      </p:cBhvr>
                                      <p:tavLst>
                                        <p:tav tm="0">
                                          <p:val>
                                            <p:strVal val="#ppt_y+0.05"/>
                                          </p:val>
                                        </p:tav>
                                        <p:tav tm="100000">
                                          <p:val>
                                            <p:strVal val="#ppt_y"/>
                                          </p:val>
                                        </p:tav>
                                      </p:tavLst>
                                    </p:anim>
                                  </p:childTnLst>
                                </p:cTn>
                              </p:par>
                              <p:par>
                                <p:cTn id="100" presetID="10" presetClass="entr" presetSubtype="0" fill="hold" grpId="0" nodeType="withEffect" decel="100000">
                                  <p:stCondLst>
                                    <p:cond delay="25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00"/>
                                        <p:tgtEl>
                                          <p:spTgt spid="22"/>
                                        </p:tgtEl>
                                      </p:cBhvr>
                                    </p:animEffect>
                                  </p:childTnLst>
                                </p:cTn>
                              </p:par>
                            </p:childTnLst>
                          </p:cTn>
                        </p:par>
                      </p:childTnLst>
                    </p:cTn>
                  </p:par>
                  <p:par>
                    <p:cTn id="126" fill="hold">
                      <p:stCondLst>
                        <p:cond delay="indefinite"/>
                      </p:stCondLst>
                      <p:childTnLst>
                        <p:par>
                          <p:cTn id="127" fill="hold">
                            <p:stCondLst>
                              <p:cond delay="0"/>
                            </p:stCondLst>
                            <p:childTnLst>
                              <p:par>
                                <p:cTn id="107" presetID="42" presetClass="entr" presetSubtype="0" fill="hold" grpId="0" nodeType="clickEffect" decel="100000">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500"/>
                                        <p:tgtEl>
                                          <p:spTgt spid="23"/>
                                        </p:tgtEl>
                                      </p:cBhvr>
                                    </p:animEffect>
                                    <p:anim calcmode="lin" valueType="num">
                                      <p:cBhvr>
                                        <p:cTn id="105" dur="500" fill="hold"/>
                                        <p:tgtEl>
                                          <p:spTgt spid="23"/>
                                        </p:tgtEl>
                                        <p:attrNameLst>
                                          <p:attrName>ppt_x</p:attrName>
                                        </p:attrNameLst>
                                      </p:cBhvr>
                                      <p:tavLst>
                                        <p:tav tm="0">
                                          <p:val>
                                            <p:strVal val="#ppt_x"/>
                                          </p:val>
                                        </p:tav>
                                        <p:tav tm="100000">
                                          <p:val>
                                            <p:strVal val="#ppt_x"/>
                                          </p:val>
                                        </p:tav>
                                      </p:tavLst>
                                    </p:anim>
                                    <p:anim calcmode="lin" valueType="num">
                                      <p:cBhvr>
                                        <p:cTn id="106" dur="500" fill="hold"/>
                                        <p:tgtEl>
                                          <p:spTgt spid="23"/>
                                        </p:tgtEl>
                                        <p:attrNameLst>
                                          <p:attrName>ppt_y</p:attrName>
                                        </p:attrNameLst>
                                      </p:cBhvr>
                                      <p:tavLst>
                                        <p:tav tm="0">
                                          <p:val>
                                            <p:strVal val="#ppt_y+0.05"/>
                                          </p:val>
                                        </p:tav>
                                        <p:tav tm="100000">
                                          <p:val>
                                            <p:strVal val="#ppt_y"/>
                                          </p:val>
                                        </p:tav>
                                      </p:tavLst>
                                    </p:anim>
                                  </p:childTnLst>
                                </p:cTn>
                              </p:par>
                              <p:par>
                                <p:cTn id="112" presetID="42" presetClass="entr" presetSubtype="0" fill="hold" grpId="0" nodeType="withEffect" decel="100000">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00"/>
                                        <p:tgtEl>
                                          <p:spTgt spid="24"/>
                                        </p:tgtEl>
                                      </p:cBhvr>
                                    </p:animEffect>
                                    <p:anim calcmode="lin" valueType="num">
                                      <p:cBhvr>
                                        <p:cTn id="110" dur="500" fill="hold"/>
                                        <p:tgtEl>
                                          <p:spTgt spid="24"/>
                                        </p:tgtEl>
                                        <p:attrNameLst>
                                          <p:attrName>ppt_x</p:attrName>
                                        </p:attrNameLst>
                                      </p:cBhvr>
                                      <p:tavLst>
                                        <p:tav tm="0">
                                          <p:val>
                                            <p:strVal val="#ppt_x"/>
                                          </p:val>
                                        </p:tav>
                                        <p:tav tm="100000">
                                          <p:val>
                                            <p:strVal val="#ppt_x"/>
                                          </p:val>
                                        </p:tav>
                                      </p:tavLst>
                                    </p:anim>
                                    <p:anim calcmode="lin" valueType="num">
                                      <p:cBhvr>
                                        <p:cTn id="111" dur="500" fill="hold"/>
                                        <p:tgtEl>
                                          <p:spTgt spid="24"/>
                                        </p:tgtEl>
                                        <p:attrNameLst>
                                          <p:attrName>ppt_y</p:attrName>
                                        </p:attrNameLst>
                                      </p:cBhvr>
                                      <p:tavLst>
                                        <p:tav tm="0">
                                          <p:val>
                                            <p:strVal val="#ppt_y+0.05"/>
                                          </p:val>
                                        </p:tav>
                                        <p:tav tm="100000">
                                          <p:val>
                                            <p:strVal val="#ppt_y"/>
                                          </p:val>
                                        </p:tav>
                                      </p:tavLst>
                                    </p:anim>
                                  </p:childTnLst>
                                </p:cTn>
                              </p:par>
                              <p:par>
                                <p:cTn id="117" presetID="42" presetClass="entr" presetSubtype="0" fill="hold" grpId="0" nodeType="withEffect" decel="100000">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00"/>
                                        <p:tgtEl>
                                          <p:spTgt spid="25"/>
                                        </p:tgtEl>
                                      </p:cBhvr>
                                    </p:animEffect>
                                    <p:anim calcmode="lin" valueType="num">
                                      <p:cBhvr>
                                        <p:cTn id="115" dur="500" fill="hold"/>
                                        <p:tgtEl>
                                          <p:spTgt spid="25"/>
                                        </p:tgtEl>
                                        <p:attrNameLst>
                                          <p:attrName>ppt_x</p:attrName>
                                        </p:attrNameLst>
                                      </p:cBhvr>
                                      <p:tavLst>
                                        <p:tav tm="0">
                                          <p:val>
                                            <p:strVal val="#ppt_x"/>
                                          </p:val>
                                        </p:tav>
                                        <p:tav tm="100000">
                                          <p:val>
                                            <p:strVal val="#ppt_x"/>
                                          </p:val>
                                        </p:tav>
                                      </p:tavLst>
                                    </p:anim>
                                    <p:anim calcmode="lin" valueType="num">
                                      <p:cBhvr>
                                        <p:cTn id="116" dur="500" fill="hold"/>
                                        <p:tgtEl>
                                          <p:spTgt spid="25"/>
                                        </p:tgtEl>
                                        <p:attrNameLst>
                                          <p:attrName>ppt_y</p:attrName>
                                        </p:attrNameLst>
                                      </p:cBhvr>
                                      <p:tavLst>
                                        <p:tav tm="0">
                                          <p:val>
                                            <p:strVal val="#ppt_y+0.05"/>
                                          </p:val>
                                        </p:tav>
                                        <p:tav tm="100000">
                                          <p:val>
                                            <p:strVal val="#ppt_y"/>
                                          </p:val>
                                        </p:tav>
                                      </p:tavLst>
                                    </p:anim>
                                  </p:childTnLst>
                                </p:cTn>
                              </p:par>
                              <p:par>
                                <p:cTn id="122" presetID="42" presetClass="entr" presetSubtype="0" fill="hold" grpId="0" nodeType="withEffect" decel="100000">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500"/>
                                        <p:tgtEl>
                                          <p:spTgt spid="26"/>
                                        </p:tgtEl>
                                      </p:cBhvr>
                                    </p:animEffect>
                                    <p:anim calcmode="lin" valueType="num">
                                      <p:cBhvr>
                                        <p:cTn id="120" dur="500" fill="hold"/>
                                        <p:tgtEl>
                                          <p:spTgt spid="26"/>
                                        </p:tgtEl>
                                        <p:attrNameLst>
                                          <p:attrName>ppt_x</p:attrName>
                                        </p:attrNameLst>
                                      </p:cBhvr>
                                      <p:tavLst>
                                        <p:tav tm="0">
                                          <p:val>
                                            <p:strVal val="#ppt_x"/>
                                          </p:val>
                                        </p:tav>
                                        <p:tav tm="100000">
                                          <p:val>
                                            <p:strVal val="#ppt_x"/>
                                          </p:val>
                                        </p:tav>
                                      </p:tavLst>
                                    </p:anim>
                                    <p:anim calcmode="lin" valueType="num">
                                      <p:cBhvr>
                                        <p:cTn id="121" dur="500" fill="hold"/>
                                        <p:tgtEl>
                                          <p:spTgt spid="26"/>
                                        </p:tgtEl>
                                        <p:attrNameLst>
                                          <p:attrName>ppt_y</p:attrName>
                                        </p:attrNameLst>
                                      </p:cBhvr>
                                      <p:tavLst>
                                        <p:tav tm="0">
                                          <p:val>
                                            <p:strVal val="#ppt_y+0.05"/>
                                          </p:val>
                                        </p:tav>
                                        <p:tav tm="100000">
                                          <p:val>
                                            <p:strVal val="#ppt_y"/>
                                          </p:val>
                                        </p:tav>
                                      </p:tavLst>
                                    </p:anim>
                                  </p:childTnLst>
                                </p:cTn>
                              </p:par>
                              <p:par>
                                <p:cTn id="125" presetID="10" presetClass="entr" presetSubtype="0" fill="hold" grpId="0" nodeType="withEffect" decel="100000">
                                  <p:stCondLst>
                                    <p:cond delay="25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p:bgPr>
    </p:bg>
    <p:spTree>
      <p:nvGrpSpPr>
        <p:cNvPr id="1" name=""/>
        <p:cNvGrpSpPr/>
        <p:nvPr/>
      </p:nvGrpSpPr>
      <p:grpSpPr>
        <a:xfrm>
          <a:off x="0" y="0"/>
          <a:ext cx="0" cy="0"/>
          <a:chOff x="0" y="0"/>
          <a:chExt cx="0" cy="0"/>
        </a:xfrm>
      </p:grpSpPr>
      <p:sp>
        <p:nvSpPr>
          <p:cNvPr id="3" name="txt_22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ENGINEERING STORY</a:t>
            </a:r>
            <a:endParaRPr lang="en-US" sz="1100" dirty="0"/>
          </a:p>
        </p:txBody>
      </p:sp>
      <p:sp>
        <p:nvSpPr>
          <p:cNvPr id="4" name="txt_22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Challenges We Faced &amp; How We Solved Them</a:t>
            </a:r>
            <a:endParaRPr lang="en-US" sz="3200" dirty="0"/>
          </a:p>
        </p:txBody>
      </p:sp>
      <p:sp>
        <p:nvSpPr>
          <p:cNvPr id="5" name="txt_22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Every fix landed with a test — that is why the suite still passes 63 / 63.</a:t>
            </a:r>
            <a:endParaRPr lang="en-US" sz="1500" dirty="0"/>
          </a:p>
        </p:txBody>
      </p:sp>
      <p:sp>
        <p:nvSpPr>
          <p:cNvPr id="6" name="txt_22_3"/>
          <p:cNvSpPr txBox="1"/>
          <p:nvPr/>
        </p:nvSpPr>
        <p:spPr>
          <a:xfrm>
            <a:off x="777240" y="1810512"/>
            <a:ext cx="32004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CHALLENGE</a:t>
            </a:r>
            <a:endParaRPr lang="en-US" sz="1050" dirty="0"/>
          </a:p>
        </p:txBody>
      </p:sp>
      <p:sp>
        <p:nvSpPr>
          <p:cNvPr id="7" name="txt_22_4"/>
          <p:cNvSpPr txBox="1"/>
          <p:nvPr/>
        </p:nvSpPr>
        <p:spPr>
          <a:xfrm>
            <a:off x="4069080" y="1810512"/>
            <a:ext cx="32004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WHAT IT COST US</a:t>
            </a:r>
            <a:endParaRPr lang="en-US" sz="1050" dirty="0"/>
          </a:p>
        </p:txBody>
      </p:sp>
      <p:sp>
        <p:nvSpPr>
          <p:cNvPr id="8" name="txt_22_5"/>
          <p:cNvSpPr txBox="1"/>
          <p:nvPr/>
        </p:nvSpPr>
        <p:spPr>
          <a:xfrm>
            <a:off x="8321040" y="1810512"/>
            <a:ext cx="32004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HOW WE SOLVED IT</a:t>
            </a:r>
            <a:endParaRPr lang="en-US" sz="1050" dirty="0"/>
          </a:p>
        </p:txBody>
      </p:sp>
      <p:sp>
        <p:nvSpPr>
          <p:cNvPr id="9" name="shp_22_6"/>
          <p:cNvSpPr/>
          <p:nvPr/>
        </p:nvSpPr>
        <p:spPr>
          <a:xfrm>
            <a:off x="548640" y="2130552"/>
            <a:ext cx="11094415" cy="868680"/>
          </a:xfrm>
          <a:prstGeom prst="roundRect">
            <a:avLst>
              <a:gd name="adj" fmla="val 10526"/>
            </a:avLst>
          </a:prstGeom>
          <a:solidFill>
            <a:srgbClr val="112038"/>
          </a:solidFill>
          <a:ln w="9525">
            <a:solidFill>
              <a:srgbClr val="243A5E"/>
            </a:solidFill>
            <a:prstDash val="solid"/>
          </a:ln>
        </p:spPr>
      </p:sp>
      <p:pic>
        <p:nvPicPr>
          <p:cNvPr id="10" name="img_22_7" descr="preencoded.png">    </p:cNvPr>
          <p:cNvPicPr>
            <a:picLocks noChangeAspect="1"/>
          </p:cNvPicPr>
          <p:nvPr/>
        </p:nvPicPr>
        <p:blipFill>
          <a:blip r:embed="rId1"/>
          <a:stretch>
            <a:fillRect/>
          </a:stretch>
        </p:blipFill>
        <p:spPr>
          <a:xfrm>
            <a:off x="777240" y="2404872"/>
            <a:ext cx="320040" cy="320040"/>
          </a:xfrm>
          <a:prstGeom prst="rect">
            <a:avLst/>
          </a:prstGeom>
        </p:spPr>
      </p:pic>
      <p:sp>
        <p:nvSpPr>
          <p:cNvPr id="11" name="txt_22_8"/>
          <p:cNvSpPr txBox="1"/>
          <p:nvPr/>
        </p:nvSpPr>
        <p:spPr>
          <a:xfrm>
            <a:off x="1280160" y="2130552"/>
            <a:ext cx="260604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External APIs fail</a:t>
            </a:r>
            <a:endParaRPr lang="en-US" sz="1500" dirty="0"/>
          </a:p>
        </p:txBody>
      </p:sp>
      <p:sp>
        <p:nvSpPr>
          <p:cNvPr id="12" name="txt_22_9"/>
          <p:cNvSpPr txBox="1"/>
          <p:nvPr/>
        </p:nvSpPr>
        <p:spPr>
          <a:xfrm>
            <a:off x="4069080" y="2130552"/>
            <a:ext cx="3429000" cy="868680"/>
          </a:xfrm>
          <a:prstGeom prst="rect">
            <a:avLst/>
          </a:prstGeom>
          <a:noFill/>
          <a:ln/>
        </p:spPr>
        <p:txBody>
          <a:bodyPr wrap="square" lIns="0" tIns="0" rIns="0" bIns="0" rtlCol="0" anchor="ctr"/>
          <a:lstStyle/>
          <a:p>
            <a:pPr indent="0" marL="0">
              <a:buNone/>
            </a:pPr>
            <a:r>
              <a:rPr lang="en-US" sz="1250" dirty="0">
                <a:solidFill>
                  <a:srgbClr val="AEBBCF"/>
                </a:solidFill>
                <a:latin typeface="Calibri" pitchFamily="34" charset="0"/>
                <a:ea typeface="Calibri" pitchFamily="34" charset="-122"/>
                <a:cs typeface="Calibri" pitchFamily="34" charset="-120"/>
              </a:rPr>
              <a:t>Open-Meteo goes down; a demo cannot.</a:t>
            </a:r>
            <a:endParaRPr lang="en-US" sz="1250" dirty="0"/>
          </a:p>
        </p:txBody>
      </p:sp>
      <p:pic>
        <p:nvPicPr>
          <p:cNvPr id="13" name="img_22_10" descr="preencoded.png">    </p:cNvPr>
          <p:cNvPicPr>
            <a:picLocks noChangeAspect="1"/>
          </p:cNvPicPr>
          <p:nvPr/>
        </p:nvPicPr>
        <p:blipFill>
          <a:blip r:embed="rId2"/>
          <a:stretch>
            <a:fillRect/>
          </a:stretch>
        </p:blipFill>
        <p:spPr>
          <a:xfrm>
            <a:off x="7909560" y="2414016"/>
            <a:ext cx="292608" cy="292608"/>
          </a:xfrm>
          <a:prstGeom prst="rect">
            <a:avLst/>
          </a:prstGeom>
        </p:spPr>
      </p:pic>
      <p:sp>
        <p:nvSpPr>
          <p:cNvPr id="14" name="txt_22_11"/>
          <p:cNvSpPr txBox="1"/>
          <p:nvPr/>
        </p:nvSpPr>
        <p:spPr>
          <a:xfrm>
            <a:off x="8321040" y="2130552"/>
            <a:ext cx="3093415" cy="86868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Seasonal fallback + 6-hour geohash cache; the offline path has its own test.</a:t>
            </a:r>
            <a:endParaRPr lang="en-US" sz="1250" dirty="0"/>
          </a:p>
        </p:txBody>
      </p:sp>
      <p:sp>
        <p:nvSpPr>
          <p:cNvPr id="15" name="shp_22_12"/>
          <p:cNvSpPr/>
          <p:nvPr/>
        </p:nvSpPr>
        <p:spPr>
          <a:xfrm>
            <a:off x="548640" y="3136392"/>
            <a:ext cx="11094415" cy="868680"/>
          </a:xfrm>
          <a:prstGeom prst="roundRect">
            <a:avLst>
              <a:gd name="adj" fmla="val 10526"/>
            </a:avLst>
          </a:prstGeom>
          <a:solidFill>
            <a:srgbClr val="112038"/>
          </a:solidFill>
          <a:ln w="9525">
            <a:solidFill>
              <a:srgbClr val="243A5E"/>
            </a:solidFill>
            <a:prstDash val="solid"/>
          </a:ln>
        </p:spPr>
      </p:sp>
      <p:pic>
        <p:nvPicPr>
          <p:cNvPr id="16" name="img_22_13" descr="preencoded.png">    </p:cNvPr>
          <p:cNvPicPr>
            <a:picLocks noChangeAspect="1"/>
          </p:cNvPicPr>
          <p:nvPr/>
        </p:nvPicPr>
        <p:blipFill>
          <a:blip r:embed="rId3"/>
          <a:stretch>
            <a:fillRect/>
          </a:stretch>
        </p:blipFill>
        <p:spPr>
          <a:xfrm>
            <a:off x="777240" y="3410712"/>
            <a:ext cx="320040" cy="320040"/>
          </a:xfrm>
          <a:prstGeom prst="rect">
            <a:avLst/>
          </a:prstGeom>
        </p:spPr>
      </p:pic>
      <p:sp>
        <p:nvSpPr>
          <p:cNvPr id="17" name="txt_22_14"/>
          <p:cNvSpPr txBox="1"/>
          <p:nvPr/>
        </p:nvSpPr>
        <p:spPr>
          <a:xfrm>
            <a:off x="1280160" y="3136392"/>
            <a:ext cx="260604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Multi-tenant isolation</a:t>
            </a:r>
            <a:endParaRPr lang="en-US" sz="1500" dirty="0"/>
          </a:p>
        </p:txBody>
      </p:sp>
      <p:sp>
        <p:nvSpPr>
          <p:cNvPr id="18" name="txt_22_15"/>
          <p:cNvSpPr txBox="1"/>
          <p:nvPr/>
        </p:nvSpPr>
        <p:spPr>
          <a:xfrm>
            <a:off x="4069080" y="3136392"/>
            <a:ext cx="3429000" cy="868680"/>
          </a:xfrm>
          <a:prstGeom prst="rect">
            <a:avLst/>
          </a:prstGeom>
          <a:noFill/>
          <a:ln/>
        </p:spPr>
        <p:txBody>
          <a:bodyPr wrap="square" lIns="0" tIns="0" rIns="0" bIns="0" rtlCol="0" anchor="ctr"/>
          <a:lstStyle/>
          <a:p>
            <a:pPr indent="0" marL="0">
              <a:buNone/>
            </a:pPr>
            <a:r>
              <a:rPr lang="en-US" sz="1250" dirty="0">
                <a:solidFill>
                  <a:srgbClr val="AEBBCF"/>
                </a:solidFill>
                <a:latin typeface="Calibri" pitchFamily="34" charset="0"/>
                <a:ea typeface="Calibri" pitchFamily="34" charset="-122"/>
                <a:cs typeface="Calibri" pitchFamily="34" charset="-120"/>
              </a:rPr>
              <a:t>Competing carriers share one database.</a:t>
            </a:r>
            <a:endParaRPr lang="en-US" sz="1250" dirty="0"/>
          </a:p>
        </p:txBody>
      </p:sp>
      <p:pic>
        <p:nvPicPr>
          <p:cNvPr id="19" name="img_22_16" descr="preencoded.png">    </p:cNvPr>
          <p:cNvPicPr>
            <a:picLocks noChangeAspect="1"/>
          </p:cNvPicPr>
          <p:nvPr/>
        </p:nvPicPr>
        <p:blipFill>
          <a:blip r:embed="rId4"/>
          <a:stretch>
            <a:fillRect/>
          </a:stretch>
        </p:blipFill>
        <p:spPr>
          <a:xfrm>
            <a:off x="7909560" y="3419856"/>
            <a:ext cx="292608" cy="292608"/>
          </a:xfrm>
          <a:prstGeom prst="rect">
            <a:avLst/>
          </a:prstGeom>
        </p:spPr>
      </p:pic>
      <p:sp>
        <p:nvSpPr>
          <p:cNvPr id="20" name="txt_22_17"/>
          <p:cNvSpPr txBox="1"/>
          <p:nvPr/>
        </p:nvSpPr>
        <p:spPr>
          <a:xfrm>
            <a:off x="8321040" y="3136392"/>
            <a:ext cx="3093415" cy="86868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Tenant-scoped querysets at the ORM layer; 22 booking tests assert the negative cases.</a:t>
            </a:r>
            <a:endParaRPr lang="en-US" sz="1250" dirty="0"/>
          </a:p>
        </p:txBody>
      </p:sp>
      <p:sp>
        <p:nvSpPr>
          <p:cNvPr id="21" name="shp_22_18"/>
          <p:cNvSpPr/>
          <p:nvPr/>
        </p:nvSpPr>
        <p:spPr>
          <a:xfrm>
            <a:off x="548640" y="4142232"/>
            <a:ext cx="11094415" cy="868680"/>
          </a:xfrm>
          <a:prstGeom prst="roundRect">
            <a:avLst>
              <a:gd name="adj" fmla="val 10526"/>
            </a:avLst>
          </a:prstGeom>
          <a:solidFill>
            <a:srgbClr val="112038"/>
          </a:solidFill>
          <a:ln w="9525">
            <a:solidFill>
              <a:srgbClr val="243A5E"/>
            </a:solidFill>
            <a:prstDash val="solid"/>
          </a:ln>
        </p:spPr>
      </p:sp>
      <p:pic>
        <p:nvPicPr>
          <p:cNvPr id="22" name="img_22_19" descr="preencoded.png">    </p:cNvPr>
          <p:cNvPicPr>
            <a:picLocks noChangeAspect="1"/>
          </p:cNvPicPr>
          <p:nvPr/>
        </p:nvPicPr>
        <p:blipFill>
          <a:blip r:embed="rId5"/>
          <a:stretch>
            <a:fillRect/>
          </a:stretch>
        </p:blipFill>
        <p:spPr>
          <a:xfrm>
            <a:off x="777240" y="4416552"/>
            <a:ext cx="320040" cy="320040"/>
          </a:xfrm>
          <a:prstGeom prst="rect">
            <a:avLst/>
          </a:prstGeom>
        </p:spPr>
      </p:pic>
      <p:sp>
        <p:nvSpPr>
          <p:cNvPr id="23" name="txt_22_20"/>
          <p:cNvSpPr txBox="1"/>
          <p:nvPr/>
        </p:nvSpPr>
        <p:spPr>
          <a:xfrm>
            <a:off x="1280160" y="4142232"/>
            <a:ext cx="260604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Customs retrieval quality</a:t>
            </a:r>
            <a:endParaRPr lang="en-US" sz="1500" dirty="0"/>
          </a:p>
        </p:txBody>
      </p:sp>
      <p:sp>
        <p:nvSpPr>
          <p:cNvPr id="24" name="txt_22_21"/>
          <p:cNvSpPr txBox="1"/>
          <p:nvPr/>
        </p:nvSpPr>
        <p:spPr>
          <a:xfrm>
            <a:off x="4069080" y="4142232"/>
            <a:ext cx="3429000" cy="868680"/>
          </a:xfrm>
          <a:prstGeom prst="rect">
            <a:avLst/>
          </a:prstGeom>
          <a:noFill/>
          <a:ln/>
        </p:spPr>
        <p:txBody>
          <a:bodyPr wrap="square" lIns="0" tIns="0" rIns="0" bIns="0" rtlCol="0" anchor="ctr"/>
          <a:lstStyle/>
          <a:p>
            <a:pPr indent="0" marL="0">
              <a:buNone/>
            </a:pPr>
            <a:r>
              <a:rPr lang="en-US" sz="1250" dirty="0">
                <a:solidFill>
                  <a:srgbClr val="AEBBCF"/>
                </a:solidFill>
                <a:latin typeface="Calibri" pitchFamily="34" charset="0"/>
                <a:ea typeface="Calibri" pitchFamily="34" charset="-122"/>
                <a:cs typeface="Calibri" pitchFamily="34" charset="-120"/>
              </a:rPr>
              <a:t>Keyword search misses legal meaning; a model that invents a rule is worse than none.</a:t>
            </a:r>
            <a:endParaRPr lang="en-US" sz="1250" dirty="0"/>
          </a:p>
        </p:txBody>
      </p:sp>
      <p:pic>
        <p:nvPicPr>
          <p:cNvPr id="25" name="img_22_22" descr="preencoded.png">    </p:cNvPr>
          <p:cNvPicPr>
            <a:picLocks noChangeAspect="1"/>
          </p:cNvPicPr>
          <p:nvPr/>
        </p:nvPicPr>
        <p:blipFill>
          <a:blip r:embed="rId6"/>
          <a:stretch>
            <a:fillRect/>
          </a:stretch>
        </p:blipFill>
        <p:spPr>
          <a:xfrm>
            <a:off x="7909560" y="4425696"/>
            <a:ext cx="292608" cy="292608"/>
          </a:xfrm>
          <a:prstGeom prst="rect">
            <a:avLst/>
          </a:prstGeom>
        </p:spPr>
      </p:pic>
      <p:sp>
        <p:nvSpPr>
          <p:cNvPr id="26" name="txt_22_23"/>
          <p:cNvSpPr txBox="1"/>
          <p:nvPr/>
        </p:nvSpPr>
        <p:spPr>
          <a:xfrm>
            <a:off x="8321040" y="4142232"/>
            <a:ext cx="3093415" cy="86868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BM25 + TF-IDF fused by RRF, citation-required generation, held to a 50-scenario benchmark.</a:t>
            </a:r>
            <a:endParaRPr lang="en-US" sz="1250" dirty="0"/>
          </a:p>
        </p:txBody>
      </p:sp>
      <p:sp>
        <p:nvSpPr>
          <p:cNvPr id="27" name="shp_22_24"/>
          <p:cNvSpPr/>
          <p:nvPr/>
        </p:nvSpPr>
        <p:spPr>
          <a:xfrm>
            <a:off x="548640" y="5148072"/>
            <a:ext cx="11094415" cy="868680"/>
          </a:xfrm>
          <a:prstGeom prst="roundRect">
            <a:avLst>
              <a:gd name="adj" fmla="val 10526"/>
            </a:avLst>
          </a:prstGeom>
          <a:solidFill>
            <a:srgbClr val="112038"/>
          </a:solidFill>
          <a:ln w="9525">
            <a:solidFill>
              <a:srgbClr val="243A5E"/>
            </a:solidFill>
            <a:prstDash val="solid"/>
          </a:ln>
        </p:spPr>
      </p:sp>
      <p:pic>
        <p:nvPicPr>
          <p:cNvPr id="28" name="img_22_25" descr="preencoded.png">    </p:cNvPr>
          <p:cNvPicPr>
            <a:picLocks noChangeAspect="1"/>
          </p:cNvPicPr>
          <p:nvPr/>
        </p:nvPicPr>
        <p:blipFill>
          <a:blip r:embed="rId7"/>
          <a:stretch>
            <a:fillRect/>
          </a:stretch>
        </p:blipFill>
        <p:spPr>
          <a:xfrm>
            <a:off x="777240" y="5422392"/>
            <a:ext cx="320040" cy="320040"/>
          </a:xfrm>
          <a:prstGeom prst="rect">
            <a:avLst/>
          </a:prstGeom>
        </p:spPr>
      </p:pic>
      <p:sp>
        <p:nvSpPr>
          <p:cNvPr id="29" name="txt_22_26"/>
          <p:cNvSpPr txBox="1"/>
          <p:nvPr/>
        </p:nvSpPr>
        <p:spPr>
          <a:xfrm>
            <a:off x="1280160" y="5148072"/>
            <a:ext cx="260604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Negotiation without data loss</a:t>
            </a:r>
            <a:endParaRPr lang="en-US" sz="1500" dirty="0"/>
          </a:p>
        </p:txBody>
      </p:sp>
      <p:sp>
        <p:nvSpPr>
          <p:cNvPr id="30" name="txt_22_27"/>
          <p:cNvSpPr txBox="1"/>
          <p:nvPr/>
        </p:nvSpPr>
        <p:spPr>
          <a:xfrm>
            <a:off x="4069080" y="5148072"/>
            <a:ext cx="3429000" cy="868680"/>
          </a:xfrm>
          <a:prstGeom prst="rect">
            <a:avLst/>
          </a:prstGeom>
          <a:noFill/>
          <a:ln/>
        </p:spPr>
        <p:txBody>
          <a:bodyPr wrap="square" lIns="0" tIns="0" rIns="0" bIns="0" rtlCol="0" anchor="ctr"/>
          <a:lstStyle/>
          <a:p>
            <a:pPr indent="0" marL="0">
              <a:buNone/>
            </a:pPr>
            <a:r>
              <a:rPr lang="en-US" sz="1250" dirty="0">
                <a:solidFill>
                  <a:srgbClr val="AEBBCF"/>
                </a:solidFill>
                <a:latin typeface="Calibri" pitchFamily="34" charset="0"/>
                <a:ea typeface="Calibri" pitchFamily="34" charset="-122"/>
                <a:cs typeface="Calibri" pitchFamily="34" charset="-120"/>
              </a:rPr>
              <a:t>A counter-offer that overwrites the quote destroys the audit trail.</a:t>
            </a:r>
            <a:endParaRPr lang="en-US" sz="1250" dirty="0"/>
          </a:p>
        </p:txBody>
      </p:sp>
      <p:pic>
        <p:nvPicPr>
          <p:cNvPr id="31" name="img_22_28" descr="preencoded.png">    </p:cNvPr>
          <p:cNvPicPr>
            <a:picLocks noChangeAspect="1"/>
          </p:cNvPicPr>
          <p:nvPr/>
        </p:nvPicPr>
        <p:blipFill>
          <a:blip r:embed="rId8"/>
          <a:stretch>
            <a:fillRect/>
          </a:stretch>
        </p:blipFill>
        <p:spPr>
          <a:xfrm>
            <a:off x="7909560" y="5431536"/>
            <a:ext cx="292608" cy="292608"/>
          </a:xfrm>
          <a:prstGeom prst="rect">
            <a:avLst/>
          </a:prstGeom>
        </p:spPr>
      </p:pic>
      <p:sp>
        <p:nvSpPr>
          <p:cNvPr id="32" name="txt_22_29"/>
          <p:cNvSpPr txBox="1"/>
          <p:nvPr/>
        </p:nvSpPr>
        <p:spPr>
          <a:xfrm>
            <a:off x="8321040" y="5148072"/>
            <a:ext cx="3093415" cy="86868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Revisions are append-only records; the original quote is never mutated.</a:t>
            </a:r>
            <a:endParaRPr lang="en-US" sz="1250" dirty="0"/>
          </a:p>
        </p:txBody>
      </p:sp>
      <p:sp>
        <p:nvSpPr>
          <p:cNvPr id="33" name="txt_22_30"/>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4" name="txt_22_31"/>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22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18" presetID="10" presetClass="entr" presetSubtype="0" fill="hold" grpId="0" nodeType="afterEffect" decel="100000">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21" presetID="10" presetClass="entr" presetSubtype="0" fill="hold" grpId="0" nodeType="withEffect" decel="100000">
                                  <p:stCondLst>
                                    <p:cond delay="5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4" presetID="10" presetClass="entr" presetSubtype="0" fill="hold" grpId="0" nodeType="withEffect" decel="100000">
                                  <p:stCondLst>
                                    <p:cond delay="5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31" presetID="42" presetClass="entr" presetSubtype="0" fill="hold" grpId="0" nodeType="clickEffect" decel="100000">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ppt_x</p:attrName>
                                        </p:attrNameLst>
                                      </p:cBhvr>
                                      <p:tavLst>
                                        <p:tav tm="0">
                                          <p:val>
                                            <p:strVal val="#ppt_x"/>
                                          </p:val>
                                        </p:tav>
                                        <p:tav tm="100000">
                                          <p:val>
                                            <p:strVal val="#ppt_x"/>
                                          </p:val>
                                        </p:tav>
                                      </p:tavLst>
                                    </p:anim>
                                    <p:anim calcmode="lin" valueType="num">
                                      <p:cBhvr>
                                        <p:cTn id="30" dur="500" fill="hold"/>
                                        <p:tgtEl>
                                          <p:spTgt spid="9"/>
                                        </p:tgtEl>
                                        <p:attrNameLst>
                                          <p:attrName>ppt_y</p:attrName>
                                        </p:attrNameLst>
                                      </p:cBhvr>
                                      <p:tavLst>
                                        <p:tav tm="0">
                                          <p:val>
                                            <p:strVal val="#ppt_y+0.05"/>
                                          </p:val>
                                        </p:tav>
                                        <p:tav tm="100000">
                                          <p:val>
                                            <p:strVal val="#ppt_y"/>
                                          </p:val>
                                        </p:tav>
                                      </p:tavLst>
                                    </p:anim>
                                  </p:childTnLst>
                                </p:cTn>
                              </p:par>
                              <p:par>
                                <p:cTn id="36" presetID="42" presetClass="entr" presetSubtype="0" fill="hold" grpId="0" nodeType="withEffect" decel="100000">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anim calcmode="lin" valueType="num">
                                      <p:cBhvr>
                                        <p:cTn id="34" dur="500" fill="hold"/>
                                        <p:tgtEl>
                                          <p:spTgt spid="10"/>
                                        </p:tgtEl>
                                        <p:attrNameLst>
                                          <p:attrName>ppt_x</p:attrName>
                                        </p:attrNameLst>
                                      </p:cBhvr>
                                      <p:tavLst>
                                        <p:tav tm="0">
                                          <p:val>
                                            <p:strVal val="#ppt_x"/>
                                          </p:val>
                                        </p:tav>
                                        <p:tav tm="100000">
                                          <p:val>
                                            <p:strVal val="#ppt_x"/>
                                          </p:val>
                                        </p:tav>
                                      </p:tavLst>
                                    </p:anim>
                                    <p:anim calcmode="lin" valueType="num">
                                      <p:cBhvr>
                                        <p:cTn id="35" dur="500" fill="hold"/>
                                        <p:tgtEl>
                                          <p:spTgt spid="10"/>
                                        </p:tgtEl>
                                        <p:attrNameLst>
                                          <p:attrName>ppt_y</p:attrName>
                                        </p:attrNameLst>
                                      </p:cBhvr>
                                      <p:tavLst>
                                        <p:tav tm="0">
                                          <p:val>
                                            <p:strVal val="#ppt_y+0.05"/>
                                          </p:val>
                                        </p:tav>
                                        <p:tav tm="100000">
                                          <p:val>
                                            <p:strVal val="#ppt_y"/>
                                          </p:val>
                                        </p:tav>
                                      </p:tavLst>
                                    </p:anim>
                                  </p:childTnLst>
                                </p:cTn>
                              </p:par>
                              <p:par>
                                <p:cTn id="41" presetID="42" presetClass="entr" presetSubtype="0" fill="hold" grpId="0" nodeType="withEffect" decel="100000">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anim calcmode="lin" valueType="num">
                                      <p:cBhvr>
                                        <p:cTn id="39" dur="500" fill="hold"/>
                                        <p:tgtEl>
                                          <p:spTgt spid="11"/>
                                        </p:tgtEl>
                                        <p:attrNameLst>
                                          <p:attrName>ppt_x</p:attrName>
                                        </p:attrNameLst>
                                      </p:cBhvr>
                                      <p:tavLst>
                                        <p:tav tm="0">
                                          <p:val>
                                            <p:strVal val="#ppt_x"/>
                                          </p:val>
                                        </p:tav>
                                        <p:tav tm="100000">
                                          <p:val>
                                            <p:strVal val="#ppt_x"/>
                                          </p:val>
                                        </p:tav>
                                      </p:tavLst>
                                    </p:anim>
                                    <p:anim calcmode="lin" valueType="num">
                                      <p:cBhvr>
                                        <p:cTn id="40" dur="500" fill="hold"/>
                                        <p:tgtEl>
                                          <p:spTgt spid="11"/>
                                        </p:tgtEl>
                                        <p:attrNameLst>
                                          <p:attrName>ppt_y</p:attrName>
                                        </p:attrNameLst>
                                      </p:cBhvr>
                                      <p:tavLst>
                                        <p:tav tm="0">
                                          <p:val>
                                            <p:strVal val="#ppt_y+0.05"/>
                                          </p:val>
                                        </p:tav>
                                        <p:tav tm="100000">
                                          <p:val>
                                            <p:strVal val="#ppt_y"/>
                                          </p:val>
                                        </p:tav>
                                      </p:tavLst>
                                    </p:anim>
                                  </p:childTnLst>
                                </p:cTn>
                              </p:par>
                              <p:par>
                                <p:cTn id="46" presetID="42" presetClass="entr" presetSubtype="0" fill="hold" grpId="0" nodeType="withEffect" decel="100000">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anim calcmode="lin" valueType="num">
                                      <p:cBhvr>
                                        <p:cTn id="44" dur="500" fill="hold"/>
                                        <p:tgtEl>
                                          <p:spTgt spid="12"/>
                                        </p:tgtEl>
                                        <p:attrNameLst>
                                          <p:attrName>ppt_x</p:attrName>
                                        </p:attrNameLst>
                                      </p:cBhvr>
                                      <p:tavLst>
                                        <p:tav tm="0">
                                          <p:val>
                                            <p:strVal val="#ppt_x"/>
                                          </p:val>
                                        </p:tav>
                                        <p:tav tm="100000">
                                          <p:val>
                                            <p:strVal val="#ppt_x"/>
                                          </p:val>
                                        </p:tav>
                                      </p:tavLst>
                                    </p:anim>
                                    <p:anim calcmode="lin" valueType="num">
                                      <p:cBhvr>
                                        <p:cTn id="45" dur="500" fill="hold"/>
                                        <p:tgtEl>
                                          <p:spTgt spid="12"/>
                                        </p:tgtEl>
                                        <p:attrNameLst>
                                          <p:attrName>ppt_y</p:attrName>
                                        </p:attrNameLst>
                                      </p:cBhvr>
                                      <p:tavLst>
                                        <p:tav tm="0">
                                          <p:val>
                                            <p:strVal val="#ppt_y+0.05"/>
                                          </p:val>
                                        </p:tav>
                                        <p:tav tm="100000">
                                          <p:val>
                                            <p:strVal val="#ppt_y"/>
                                          </p:val>
                                        </p:tav>
                                      </p:tavLst>
                                    </p:anim>
                                  </p:childTnLst>
                                </p:cTn>
                              </p:par>
                              <p:par>
                                <p:cTn id="51" presetID="53" presetClass="entr" presetSubtype="16" fill="hold" grpId="0" nodeType="withEffect" decel="100000">
                                  <p:stCondLst>
                                    <p:cond delay="450"/>
                                  </p:stCondLst>
                                  <p:childTnLst>
                                    <p:set>
                                      <p:cBhvr>
                                        <p:cTn id="47" dur="1" fill="hold">
                                          <p:stCondLst>
                                            <p:cond delay="0"/>
                                          </p:stCondLst>
                                        </p:cTn>
                                        <p:tgtEl>
                                          <p:spTgt spid="13"/>
                                        </p:tgtEl>
                                        <p:attrNameLst>
                                          <p:attrName>style.visibility</p:attrName>
                                        </p:attrNameLst>
                                      </p:cBhvr>
                                      <p:to>
                                        <p:strVal val="visible"/>
                                      </p:to>
                                    </p:set>
                                    <p:anim calcmode="lin" valueType="num">
                                      <p:cBhvr>
                                        <p:cTn id="48" dur="350" fill="hold"/>
                                        <p:tgtEl>
                                          <p:spTgt spid="13"/>
                                        </p:tgtEl>
                                        <p:attrNameLst>
                                          <p:attrName>ppt_w</p:attrName>
                                        </p:attrNameLst>
                                      </p:cBhvr>
                                      <p:tavLst>
                                        <p:tav tm="0">
                                          <p:val>
                                            <p:strVal val="#ppt_w*0.70"/>
                                          </p:val>
                                        </p:tav>
                                        <p:tav tm="100000">
                                          <p:val>
                                            <p:strVal val="#ppt_w"/>
                                          </p:val>
                                        </p:tav>
                                      </p:tavLst>
                                    </p:anim>
                                    <p:anim calcmode="lin" valueType="num">
                                      <p:cBhvr>
                                        <p:cTn id="49" dur="350" fill="hold"/>
                                        <p:tgtEl>
                                          <p:spTgt spid="13"/>
                                        </p:tgtEl>
                                        <p:attrNameLst>
                                          <p:attrName>ppt_h</p:attrName>
                                        </p:attrNameLst>
                                      </p:cBhvr>
                                      <p:tavLst>
                                        <p:tav tm="0">
                                          <p:val>
                                            <p:strVal val="#ppt_h*0.70"/>
                                          </p:val>
                                        </p:tav>
                                        <p:tav tm="100000">
                                          <p:val>
                                            <p:strVal val="#ppt_h"/>
                                          </p:val>
                                        </p:tav>
                                      </p:tavLst>
                                    </p:anim>
                                    <p:animEffect transition="in" filter="fade">
                                      <p:cBhvr>
                                        <p:cTn id="50" dur="350"/>
                                        <p:tgtEl>
                                          <p:spTgt spid="13"/>
                                        </p:tgtEl>
                                      </p:cBhvr>
                                    </p:animEffect>
                                  </p:childTnLst>
                                </p:cTn>
                              </p:par>
                              <p:par>
                                <p:cTn id="54" presetID="10" presetClass="entr" presetSubtype="0" fill="hold" grpId="0" nodeType="withEffect" decel="100000">
                                  <p:stCondLst>
                                    <p:cond delay="45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childTnLst>
                          </p:cTn>
                        </p:par>
                      </p:childTnLst>
                    </p:cTn>
                  </p:par>
                  <p:par>
                    <p:cTn id="85" fill="hold">
                      <p:stCondLst>
                        <p:cond delay="indefinite"/>
                      </p:stCondLst>
                      <p:childTnLst>
                        <p:par>
                          <p:cTn id="86" fill="hold">
                            <p:stCondLst>
                              <p:cond delay="0"/>
                            </p:stCondLst>
                            <p:childTnLst>
                              <p:par>
                                <p:cTn id="61" presetID="42" presetClass="entr" presetSubtype="0" fill="hold" grpId="0" nodeType="clickEffect" decel="100000">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strVal val="#ppt_x"/>
                                          </p:val>
                                        </p:tav>
                                        <p:tav tm="100000">
                                          <p:val>
                                            <p:strVal val="#ppt_x"/>
                                          </p:val>
                                        </p:tav>
                                      </p:tavLst>
                                    </p:anim>
                                    <p:anim calcmode="lin" valueType="num">
                                      <p:cBhvr>
                                        <p:cTn id="60" dur="500" fill="hold"/>
                                        <p:tgtEl>
                                          <p:spTgt spid="15"/>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decel="100000">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anim calcmode="lin" valueType="num">
                                      <p:cBhvr>
                                        <p:cTn id="64" dur="500" fill="hold"/>
                                        <p:tgtEl>
                                          <p:spTgt spid="16"/>
                                        </p:tgtEl>
                                        <p:attrNameLst>
                                          <p:attrName>ppt_x</p:attrName>
                                        </p:attrNameLst>
                                      </p:cBhvr>
                                      <p:tavLst>
                                        <p:tav tm="0">
                                          <p:val>
                                            <p:strVal val="#ppt_x"/>
                                          </p:val>
                                        </p:tav>
                                        <p:tav tm="100000">
                                          <p:val>
                                            <p:strVal val="#ppt_x"/>
                                          </p:val>
                                        </p:tav>
                                      </p:tavLst>
                                    </p:anim>
                                    <p:anim calcmode="lin" valueType="num">
                                      <p:cBhvr>
                                        <p:cTn id="65" dur="500" fill="hold"/>
                                        <p:tgtEl>
                                          <p:spTgt spid="16"/>
                                        </p:tgtEl>
                                        <p:attrNameLst>
                                          <p:attrName>ppt_y</p:attrName>
                                        </p:attrNameLst>
                                      </p:cBhvr>
                                      <p:tavLst>
                                        <p:tav tm="0">
                                          <p:val>
                                            <p:strVal val="#ppt_y+0.05"/>
                                          </p:val>
                                        </p:tav>
                                        <p:tav tm="100000">
                                          <p:val>
                                            <p:strVal val="#ppt_y"/>
                                          </p:val>
                                        </p:tav>
                                      </p:tavLst>
                                    </p:anim>
                                  </p:childTnLst>
                                </p:cTn>
                              </p:par>
                              <p:par>
                                <p:cTn id="71" presetID="42" presetClass="entr" presetSubtype="0" fill="hold" grpId="0" nodeType="withEffect" decel="100000">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p:cTn id="69" dur="500" fill="hold"/>
                                        <p:tgtEl>
                                          <p:spTgt spid="17"/>
                                        </p:tgtEl>
                                        <p:attrNameLst>
                                          <p:attrName>ppt_x</p:attrName>
                                        </p:attrNameLst>
                                      </p:cBhvr>
                                      <p:tavLst>
                                        <p:tav tm="0">
                                          <p:val>
                                            <p:strVal val="#ppt_x"/>
                                          </p:val>
                                        </p:tav>
                                        <p:tav tm="100000">
                                          <p:val>
                                            <p:strVal val="#ppt_x"/>
                                          </p:val>
                                        </p:tav>
                                      </p:tavLst>
                                    </p:anim>
                                    <p:anim calcmode="lin" valueType="num">
                                      <p:cBhvr>
                                        <p:cTn id="70" dur="500" fill="hold"/>
                                        <p:tgtEl>
                                          <p:spTgt spid="17"/>
                                        </p:tgtEl>
                                        <p:attrNameLst>
                                          <p:attrName>ppt_y</p:attrName>
                                        </p:attrNameLst>
                                      </p:cBhvr>
                                      <p:tavLst>
                                        <p:tav tm="0">
                                          <p:val>
                                            <p:strVal val="#ppt_y+0.05"/>
                                          </p:val>
                                        </p:tav>
                                        <p:tav tm="100000">
                                          <p:val>
                                            <p:strVal val="#ppt_y"/>
                                          </p:val>
                                        </p:tav>
                                      </p:tavLst>
                                    </p:anim>
                                  </p:childTnLst>
                                </p:cTn>
                              </p:par>
                              <p:par>
                                <p:cTn id="76" presetID="42" presetClass="entr" presetSubtype="0" fill="hold" grpId="0" nodeType="withEffect" decel="100000">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anim calcmode="lin" valueType="num">
                                      <p:cBhvr>
                                        <p:cTn id="74" dur="500" fill="hold"/>
                                        <p:tgtEl>
                                          <p:spTgt spid="18"/>
                                        </p:tgtEl>
                                        <p:attrNameLst>
                                          <p:attrName>ppt_x</p:attrName>
                                        </p:attrNameLst>
                                      </p:cBhvr>
                                      <p:tavLst>
                                        <p:tav tm="0">
                                          <p:val>
                                            <p:strVal val="#ppt_x"/>
                                          </p:val>
                                        </p:tav>
                                        <p:tav tm="100000">
                                          <p:val>
                                            <p:strVal val="#ppt_x"/>
                                          </p:val>
                                        </p:tav>
                                      </p:tavLst>
                                    </p:anim>
                                    <p:anim calcmode="lin" valueType="num">
                                      <p:cBhvr>
                                        <p:cTn id="75" dur="500" fill="hold"/>
                                        <p:tgtEl>
                                          <p:spTgt spid="18"/>
                                        </p:tgtEl>
                                        <p:attrNameLst>
                                          <p:attrName>ppt_y</p:attrName>
                                        </p:attrNameLst>
                                      </p:cBhvr>
                                      <p:tavLst>
                                        <p:tav tm="0">
                                          <p:val>
                                            <p:strVal val="#ppt_y+0.05"/>
                                          </p:val>
                                        </p:tav>
                                        <p:tav tm="100000">
                                          <p:val>
                                            <p:strVal val="#ppt_y"/>
                                          </p:val>
                                        </p:tav>
                                      </p:tavLst>
                                    </p:anim>
                                  </p:childTnLst>
                                </p:cTn>
                              </p:par>
                              <p:par>
                                <p:cTn id="81" presetID="53" presetClass="entr" presetSubtype="16" fill="hold" grpId="0" nodeType="withEffect" decel="100000">
                                  <p:stCondLst>
                                    <p:cond delay="450"/>
                                  </p:stCondLst>
                                  <p:childTnLst>
                                    <p:set>
                                      <p:cBhvr>
                                        <p:cTn id="77" dur="1" fill="hold">
                                          <p:stCondLst>
                                            <p:cond delay="0"/>
                                          </p:stCondLst>
                                        </p:cTn>
                                        <p:tgtEl>
                                          <p:spTgt spid="19"/>
                                        </p:tgtEl>
                                        <p:attrNameLst>
                                          <p:attrName>style.visibility</p:attrName>
                                        </p:attrNameLst>
                                      </p:cBhvr>
                                      <p:to>
                                        <p:strVal val="visible"/>
                                      </p:to>
                                    </p:set>
                                    <p:anim calcmode="lin" valueType="num">
                                      <p:cBhvr>
                                        <p:cTn id="78" dur="350" fill="hold"/>
                                        <p:tgtEl>
                                          <p:spTgt spid="19"/>
                                        </p:tgtEl>
                                        <p:attrNameLst>
                                          <p:attrName>ppt_w</p:attrName>
                                        </p:attrNameLst>
                                      </p:cBhvr>
                                      <p:tavLst>
                                        <p:tav tm="0">
                                          <p:val>
                                            <p:strVal val="#ppt_w*0.70"/>
                                          </p:val>
                                        </p:tav>
                                        <p:tav tm="100000">
                                          <p:val>
                                            <p:strVal val="#ppt_w"/>
                                          </p:val>
                                        </p:tav>
                                      </p:tavLst>
                                    </p:anim>
                                    <p:anim calcmode="lin" valueType="num">
                                      <p:cBhvr>
                                        <p:cTn id="79" dur="350" fill="hold"/>
                                        <p:tgtEl>
                                          <p:spTgt spid="19"/>
                                        </p:tgtEl>
                                        <p:attrNameLst>
                                          <p:attrName>ppt_h</p:attrName>
                                        </p:attrNameLst>
                                      </p:cBhvr>
                                      <p:tavLst>
                                        <p:tav tm="0">
                                          <p:val>
                                            <p:strVal val="#ppt_h*0.70"/>
                                          </p:val>
                                        </p:tav>
                                        <p:tav tm="100000">
                                          <p:val>
                                            <p:strVal val="#ppt_h"/>
                                          </p:val>
                                        </p:tav>
                                      </p:tavLst>
                                    </p:anim>
                                    <p:animEffect transition="in" filter="fade">
                                      <p:cBhvr>
                                        <p:cTn id="80" dur="350"/>
                                        <p:tgtEl>
                                          <p:spTgt spid="19"/>
                                        </p:tgtEl>
                                      </p:cBhvr>
                                    </p:animEffect>
                                  </p:childTnLst>
                                </p:cTn>
                              </p:par>
                              <p:par>
                                <p:cTn id="84" presetID="10" presetClass="entr" presetSubtype="0" fill="hold" grpId="0" nodeType="withEffect" decel="100000">
                                  <p:stCondLst>
                                    <p:cond delay="45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childTnLst>
                          </p:cTn>
                        </p:par>
                      </p:childTnLst>
                    </p:cTn>
                  </p:par>
                  <p:par>
                    <p:cTn id="115" fill="hold">
                      <p:stCondLst>
                        <p:cond delay="indefinite"/>
                      </p:stCondLst>
                      <p:childTnLst>
                        <p:par>
                          <p:cTn id="116" fill="hold">
                            <p:stCondLst>
                              <p:cond delay="0"/>
                            </p:stCondLst>
                            <p:childTnLst>
                              <p:par>
                                <p:cTn id="91" presetID="42" presetClass="entr" presetSubtype="0" fill="hold" grpId="0" nodeType="clickEffect" decel="100000">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anim calcmode="lin" valueType="num">
                                      <p:cBhvr>
                                        <p:cTn id="89" dur="500" fill="hold"/>
                                        <p:tgtEl>
                                          <p:spTgt spid="21"/>
                                        </p:tgtEl>
                                        <p:attrNameLst>
                                          <p:attrName>ppt_x</p:attrName>
                                        </p:attrNameLst>
                                      </p:cBhvr>
                                      <p:tavLst>
                                        <p:tav tm="0">
                                          <p:val>
                                            <p:strVal val="#ppt_x"/>
                                          </p:val>
                                        </p:tav>
                                        <p:tav tm="100000">
                                          <p:val>
                                            <p:strVal val="#ppt_x"/>
                                          </p:val>
                                        </p:tav>
                                      </p:tavLst>
                                    </p:anim>
                                    <p:anim calcmode="lin" valueType="num">
                                      <p:cBhvr>
                                        <p:cTn id="90" dur="500" fill="hold"/>
                                        <p:tgtEl>
                                          <p:spTgt spid="21"/>
                                        </p:tgtEl>
                                        <p:attrNameLst>
                                          <p:attrName>ppt_y</p:attrName>
                                        </p:attrNameLst>
                                      </p:cBhvr>
                                      <p:tavLst>
                                        <p:tav tm="0">
                                          <p:val>
                                            <p:strVal val="#ppt_y+0.05"/>
                                          </p:val>
                                        </p:tav>
                                        <p:tav tm="100000">
                                          <p:val>
                                            <p:strVal val="#ppt_y"/>
                                          </p:val>
                                        </p:tav>
                                      </p:tavLst>
                                    </p:anim>
                                  </p:childTnLst>
                                </p:cTn>
                              </p:par>
                              <p:par>
                                <p:cTn id="96" presetID="42" presetClass="entr" presetSubtype="0" fill="hold" grpId="0" nodeType="withEffect" decel="100000">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anim calcmode="lin" valueType="num">
                                      <p:cBhvr>
                                        <p:cTn id="94" dur="500" fill="hold"/>
                                        <p:tgtEl>
                                          <p:spTgt spid="22"/>
                                        </p:tgtEl>
                                        <p:attrNameLst>
                                          <p:attrName>ppt_x</p:attrName>
                                        </p:attrNameLst>
                                      </p:cBhvr>
                                      <p:tavLst>
                                        <p:tav tm="0">
                                          <p:val>
                                            <p:strVal val="#ppt_x"/>
                                          </p:val>
                                        </p:tav>
                                        <p:tav tm="100000">
                                          <p:val>
                                            <p:strVal val="#ppt_x"/>
                                          </p:val>
                                        </p:tav>
                                      </p:tavLst>
                                    </p:anim>
                                    <p:anim calcmode="lin" valueType="num">
                                      <p:cBhvr>
                                        <p:cTn id="95" dur="500" fill="hold"/>
                                        <p:tgtEl>
                                          <p:spTgt spid="22"/>
                                        </p:tgtEl>
                                        <p:attrNameLst>
                                          <p:attrName>ppt_y</p:attrName>
                                        </p:attrNameLst>
                                      </p:cBhvr>
                                      <p:tavLst>
                                        <p:tav tm="0">
                                          <p:val>
                                            <p:strVal val="#ppt_y+0.05"/>
                                          </p:val>
                                        </p:tav>
                                        <p:tav tm="100000">
                                          <p:val>
                                            <p:strVal val="#ppt_y"/>
                                          </p:val>
                                        </p:tav>
                                      </p:tavLst>
                                    </p:anim>
                                  </p:childTnLst>
                                </p:cTn>
                              </p:par>
                              <p:par>
                                <p:cTn id="101" presetID="42" presetClass="entr" presetSubtype="0" fill="hold" grpId="0" nodeType="withEffect" decel="100000">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00"/>
                                        <p:tgtEl>
                                          <p:spTgt spid="23"/>
                                        </p:tgtEl>
                                      </p:cBhvr>
                                    </p:animEffect>
                                    <p:anim calcmode="lin" valueType="num">
                                      <p:cBhvr>
                                        <p:cTn id="99" dur="500" fill="hold"/>
                                        <p:tgtEl>
                                          <p:spTgt spid="23"/>
                                        </p:tgtEl>
                                        <p:attrNameLst>
                                          <p:attrName>ppt_x</p:attrName>
                                        </p:attrNameLst>
                                      </p:cBhvr>
                                      <p:tavLst>
                                        <p:tav tm="0">
                                          <p:val>
                                            <p:strVal val="#ppt_x"/>
                                          </p:val>
                                        </p:tav>
                                        <p:tav tm="100000">
                                          <p:val>
                                            <p:strVal val="#ppt_x"/>
                                          </p:val>
                                        </p:tav>
                                      </p:tavLst>
                                    </p:anim>
                                    <p:anim calcmode="lin" valueType="num">
                                      <p:cBhvr>
                                        <p:cTn id="100" dur="500" fill="hold"/>
                                        <p:tgtEl>
                                          <p:spTgt spid="23"/>
                                        </p:tgtEl>
                                        <p:attrNameLst>
                                          <p:attrName>ppt_y</p:attrName>
                                        </p:attrNameLst>
                                      </p:cBhvr>
                                      <p:tavLst>
                                        <p:tav tm="0">
                                          <p:val>
                                            <p:strVal val="#ppt_y+0.05"/>
                                          </p:val>
                                        </p:tav>
                                        <p:tav tm="100000">
                                          <p:val>
                                            <p:strVal val="#ppt_y"/>
                                          </p:val>
                                        </p:tav>
                                      </p:tavLst>
                                    </p:anim>
                                  </p:childTnLst>
                                </p:cTn>
                              </p:par>
                              <p:par>
                                <p:cTn id="106" presetID="42" presetClass="entr" presetSubtype="0" fill="hold" grpId="0" nodeType="withEffect" decel="100000">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anim calcmode="lin" valueType="num">
                                      <p:cBhvr>
                                        <p:cTn id="104" dur="500" fill="hold"/>
                                        <p:tgtEl>
                                          <p:spTgt spid="24"/>
                                        </p:tgtEl>
                                        <p:attrNameLst>
                                          <p:attrName>ppt_x</p:attrName>
                                        </p:attrNameLst>
                                      </p:cBhvr>
                                      <p:tavLst>
                                        <p:tav tm="0">
                                          <p:val>
                                            <p:strVal val="#ppt_x"/>
                                          </p:val>
                                        </p:tav>
                                        <p:tav tm="100000">
                                          <p:val>
                                            <p:strVal val="#ppt_x"/>
                                          </p:val>
                                        </p:tav>
                                      </p:tavLst>
                                    </p:anim>
                                    <p:anim calcmode="lin" valueType="num">
                                      <p:cBhvr>
                                        <p:cTn id="105" dur="500" fill="hold"/>
                                        <p:tgtEl>
                                          <p:spTgt spid="24"/>
                                        </p:tgtEl>
                                        <p:attrNameLst>
                                          <p:attrName>ppt_y</p:attrName>
                                        </p:attrNameLst>
                                      </p:cBhvr>
                                      <p:tavLst>
                                        <p:tav tm="0">
                                          <p:val>
                                            <p:strVal val="#ppt_y+0.05"/>
                                          </p:val>
                                        </p:tav>
                                        <p:tav tm="100000">
                                          <p:val>
                                            <p:strVal val="#ppt_y"/>
                                          </p:val>
                                        </p:tav>
                                      </p:tavLst>
                                    </p:anim>
                                  </p:childTnLst>
                                </p:cTn>
                              </p:par>
                              <p:par>
                                <p:cTn id="111" presetID="53" presetClass="entr" presetSubtype="16" fill="hold" grpId="0" nodeType="withEffect" decel="100000">
                                  <p:stCondLst>
                                    <p:cond delay="450"/>
                                  </p:stCondLst>
                                  <p:childTnLst>
                                    <p:set>
                                      <p:cBhvr>
                                        <p:cTn id="107" dur="1" fill="hold">
                                          <p:stCondLst>
                                            <p:cond delay="0"/>
                                          </p:stCondLst>
                                        </p:cTn>
                                        <p:tgtEl>
                                          <p:spTgt spid="25"/>
                                        </p:tgtEl>
                                        <p:attrNameLst>
                                          <p:attrName>style.visibility</p:attrName>
                                        </p:attrNameLst>
                                      </p:cBhvr>
                                      <p:to>
                                        <p:strVal val="visible"/>
                                      </p:to>
                                    </p:set>
                                    <p:anim calcmode="lin" valueType="num">
                                      <p:cBhvr>
                                        <p:cTn id="108" dur="350" fill="hold"/>
                                        <p:tgtEl>
                                          <p:spTgt spid="25"/>
                                        </p:tgtEl>
                                        <p:attrNameLst>
                                          <p:attrName>ppt_w</p:attrName>
                                        </p:attrNameLst>
                                      </p:cBhvr>
                                      <p:tavLst>
                                        <p:tav tm="0">
                                          <p:val>
                                            <p:strVal val="#ppt_w*0.70"/>
                                          </p:val>
                                        </p:tav>
                                        <p:tav tm="100000">
                                          <p:val>
                                            <p:strVal val="#ppt_w"/>
                                          </p:val>
                                        </p:tav>
                                      </p:tavLst>
                                    </p:anim>
                                    <p:anim calcmode="lin" valueType="num">
                                      <p:cBhvr>
                                        <p:cTn id="109" dur="350" fill="hold"/>
                                        <p:tgtEl>
                                          <p:spTgt spid="25"/>
                                        </p:tgtEl>
                                        <p:attrNameLst>
                                          <p:attrName>ppt_h</p:attrName>
                                        </p:attrNameLst>
                                      </p:cBhvr>
                                      <p:tavLst>
                                        <p:tav tm="0">
                                          <p:val>
                                            <p:strVal val="#ppt_h*0.70"/>
                                          </p:val>
                                        </p:tav>
                                        <p:tav tm="100000">
                                          <p:val>
                                            <p:strVal val="#ppt_h"/>
                                          </p:val>
                                        </p:tav>
                                      </p:tavLst>
                                    </p:anim>
                                    <p:animEffect transition="in" filter="fade">
                                      <p:cBhvr>
                                        <p:cTn id="110" dur="350"/>
                                        <p:tgtEl>
                                          <p:spTgt spid="25"/>
                                        </p:tgtEl>
                                      </p:cBhvr>
                                    </p:animEffect>
                                  </p:childTnLst>
                                </p:cTn>
                              </p:par>
                              <p:par>
                                <p:cTn id="114" presetID="10" presetClass="entr" presetSubtype="0" fill="hold" grpId="0" nodeType="withEffect" decel="100000">
                                  <p:stCondLst>
                                    <p:cond delay="45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500"/>
                                        <p:tgtEl>
                                          <p:spTgt spid="26"/>
                                        </p:tgtEl>
                                      </p:cBhvr>
                                    </p:animEffect>
                                  </p:childTnLst>
                                </p:cTn>
                              </p:par>
                            </p:childTnLst>
                          </p:cTn>
                        </p:par>
                      </p:childTnLst>
                    </p:cTn>
                  </p:par>
                  <p:par>
                    <p:cTn id="145" fill="hold">
                      <p:stCondLst>
                        <p:cond delay="indefinite"/>
                      </p:stCondLst>
                      <p:childTnLst>
                        <p:par>
                          <p:cTn id="146" fill="hold">
                            <p:stCondLst>
                              <p:cond delay="0"/>
                            </p:stCondLst>
                            <p:childTnLst>
                              <p:par>
                                <p:cTn id="121" presetID="42" presetClass="entr" presetSubtype="0" fill="hold" grpId="0" nodeType="clickEffect" decel="100000">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00"/>
                                        <p:tgtEl>
                                          <p:spTgt spid="27"/>
                                        </p:tgtEl>
                                      </p:cBhvr>
                                    </p:animEffect>
                                    <p:anim calcmode="lin" valueType="num">
                                      <p:cBhvr>
                                        <p:cTn id="119" dur="500" fill="hold"/>
                                        <p:tgtEl>
                                          <p:spTgt spid="27"/>
                                        </p:tgtEl>
                                        <p:attrNameLst>
                                          <p:attrName>ppt_x</p:attrName>
                                        </p:attrNameLst>
                                      </p:cBhvr>
                                      <p:tavLst>
                                        <p:tav tm="0">
                                          <p:val>
                                            <p:strVal val="#ppt_x"/>
                                          </p:val>
                                        </p:tav>
                                        <p:tav tm="100000">
                                          <p:val>
                                            <p:strVal val="#ppt_x"/>
                                          </p:val>
                                        </p:tav>
                                      </p:tavLst>
                                    </p:anim>
                                    <p:anim calcmode="lin" valueType="num">
                                      <p:cBhvr>
                                        <p:cTn id="120" dur="500" fill="hold"/>
                                        <p:tgtEl>
                                          <p:spTgt spid="27"/>
                                        </p:tgtEl>
                                        <p:attrNameLst>
                                          <p:attrName>ppt_y</p:attrName>
                                        </p:attrNameLst>
                                      </p:cBhvr>
                                      <p:tavLst>
                                        <p:tav tm="0">
                                          <p:val>
                                            <p:strVal val="#ppt_y+0.05"/>
                                          </p:val>
                                        </p:tav>
                                        <p:tav tm="100000">
                                          <p:val>
                                            <p:strVal val="#ppt_y"/>
                                          </p:val>
                                        </p:tav>
                                      </p:tavLst>
                                    </p:anim>
                                  </p:childTnLst>
                                </p:cTn>
                              </p:par>
                              <p:par>
                                <p:cTn id="126" presetID="42" presetClass="entr" presetSubtype="0" fill="hold" grpId="0" nodeType="withEffect" decel="100000">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500"/>
                                        <p:tgtEl>
                                          <p:spTgt spid="28"/>
                                        </p:tgtEl>
                                      </p:cBhvr>
                                    </p:animEffect>
                                    <p:anim calcmode="lin" valueType="num">
                                      <p:cBhvr>
                                        <p:cTn id="124" dur="500" fill="hold"/>
                                        <p:tgtEl>
                                          <p:spTgt spid="28"/>
                                        </p:tgtEl>
                                        <p:attrNameLst>
                                          <p:attrName>ppt_x</p:attrName>
                                        </p:attrNameLst>
                                      </p:cBhvr>
                                      <p:tavLst>
                                        <p:tav tm="0">
                                          <p:val>
                                            <p:strVal val="#ppt_x"/>
                                          </p:val>
                                        </p:tav>
                                        <p:tav tm="100000">
                                          <p:val>
                                            <p:strVal val="#ppt_x"/>
                                          </p:val>
                                        </p:tav>
                                      </p:tavLst>
                                    </p:anim>
                                    <p:anim calcmode="lin" valueType="num">
                                      <p:cBhvr>
                                        <p:cTn id="125" dur="500" fill="hold"/>
                                        <p:tgtEl>
                                          <p:spTgt spid="28"/>
                                        </p:tgtEl>
                                        <p:attrNameLst>
                                          <p:attrName>ppt_y</p:attrName>
                                        </p:attrNameLst>
                                      </p:cBhvr>
                                      <p:tavLst>
                                        <p:tav tm="0">
                                          <p:val>
                                            <p:strVal val="#ppt_y+0.05"/>
                                          </p:val>
                                        </p:tav>
                                        <p:tav tm="100000">
                                          <p:val>
                                            <p:strVal val="#ppt_y"/>
                                          </p:val>
                                        </p:tav>
                                      </p:tavLst>
                                    </p:anim>
                                  </p:childTnLst>
                                </p:cTn>
                              </p:par>
                              <p:par>
                                <p:cTn id="131" presetID="42" presetClass="entr" presetSubtype="0" fill="hold" grpId="0" nodeType="withEffect" decel="100000">
                                  <p:stCondLst>
                                    <p:cond delay="0"/>
                                  </p:stCondLst>
                                  <p:childTnLst>
                                    <p:set>
                                      <p:cBhvr>
                                        <p:cTn id="127" dur="1" fill="hold">
                                          <p:stCondLst>
                                            <p:cond delay="0"/>
                                          </p:stCondLst>
                                        </p:cTn>
                                        <p:tgtEl>
                                          <p:spTgt spid="29"/>
                                        </p:tgtEl>
                                        <p:attrNameLst>
                                          <p:attrName>style.visibility</p:attrName>
                                        </p:attrNameLst>
                                      </p:cBhvr>
                                      <p:to>
                                        <p:strVal val="visible"/>
                                      </p:to>
                                    </p:set>
                                    <p:animEffect transition="in" filter="fade">
                                      <p:cBhvr>
                                        <p:cTn id="128" dur="500"/>
                                        <p:tgtEl>
                                          <p:spTgt spid="29"/>
                                        </p:tgtEl>
                                      </p:cBhvr>
                                    </p:animEffect>
                                    <p:anim calcmode="lin" valueType="num">
                                      <p:cBhvr>
                                        <p:cTn id="129" dur="500" fill="hold"/>
                                        <p:tgtEl>
                                          <p:spTgt spid="29"/>
                                        </p:tgtEl>
                                        <p:attrNameLst>
                                          <p:attrName>ppt_x</p:attrName>
                                        </p:attrNameLst>
                                      </p:cBhvr>
                                      <p:tavLst>
                                        <p:tav tm="0">
                                          <p:val>
                                            <p:strVal val="#ppt_x"/>
                                          </p:val>
                                        </p:tav>
                                        <p:tav tm="100000">
                                          <p:val>
                                            <p:strVal val="#ppt_x"/>
                                          </p:val>
                                        </p:tav>
                                      </p:tavLst>
                                    </p:anim>
                                    <p:anim calcmode="lin" valueType="num">
                                      <p:cBhvr>
                                        <p:cTn id="130" dur="500" fill="hold"/>
                                        <p:tgtEl>
                                          <p:spTgt spid="29"/>
                                        </p:tgtEl>
                                        <p:attrNameLst>
                                          <p:attrName>ppt_y</p:attrName>
                                        </p:attrNameLst>
                                      </p:cBhvr>
                                      <p:tavLst>
                                        <p:tav tm="0">
                                          <p:val>
                                            <p:strVal val="#ppt_y+0.05"/>
                                          </p:val>
                                        </p:tav>
                                        <p:tav tm="100000">
                                          <p:val>
                                            <p:strVal val="#ppt_y"/>
                                          </p:val>
                                        </p:tav>
                                      </p:tavLst>
                                    </p:anim>
                                  </p:childTnLst>
                                </p:cTn>
                              </p:par>
                              <p:par>
                                <p:cTn id="136" presetID="42" presetClass="entr" presetSubtype="0" fill="hold" grpId="0" nodeType="withEffect" decel="100000">
                                  <p:stCondLst>
                                    <p:cond delay="0"/>
                                  </p:stCondLst>
                                  <p:childTnLst>
                                    <p:set>
                                      <p:cBhvr>
                                        <p:cTn id="132" dur="1" fill="hold">
                                          <p:stCondLst>
                                            <p:cond delay="0"/>
                                          </p:stCondLst>
                                        </p:cTn>
                                        <p:tgtEl>
                                          <p:spTgt spid="30"/>
                                        </p:tgtEl>
                                        <p:attrNameLst>
                                          <p:attrName>style.visibility</p:attrName>
                                        </p:attrNameLst>
                                      </p:cBhvr>
                                      <p:to>
                                        <p:strVal val="visible"/>
                                      </p:to>
                                    </p:set>
                                    <p:animEffect transition="in" filter="fade">
                                      <p:cBhvr>
                                        <p:cTn id="133" dur="500"/>
                                        <p:tgtEl>
                                          <p:spTgt spid="30"/>
                                        </p:tgtEl>
                                      </p:cBhvr>
                                    </p:animEffect>
                                    <p:anim calcmode="lin" valueType="num">
                                      <p:cBhvr>
                                        <p:cTn id="134" dur="500" fill="hold"/>
                                        <p:tgtEl>
                                          <p:spTgt spid="30"/>
                                        </p:tgtEl>
                                        <p:attrNameLst>
                                          <p:attrName>ppt_x</p:attrName>
                                        </p:attrNameLst>
                                      </p:cBhvr>
                                      <p:tavLst>
                                        <p:tav tm="0">
                                          <p:val>
                                            <p:strVal val="#ppt_x"/>
                                          </p:val>
                                        </p:tav>
                                        <p:tav tm="100000">
                                          <p:val>
                                            <p:strVal val="#ppt_x"/>
                                          </p:val>
                                        </p:tav>
                                      </p:tavLst>
                                    </p:anim>
                                    <p:anim calcmode="lin" valueType="num">
                                      <p:cBhvr>
                                        <p:cTn id="135" dur="500" fill="hold"/>
                                        <p:tgtEl>
                                          <p:spTgt spid="30"/>
                                        </p:tgtEl>
                                        <p:attrNameLst>
                                          <p:attrName>ppt_y</p:attrName>
                                        </p:attrNameLst>
                                      </p:cBhvr>
                                      <p:tavLst>
                                        <p:tav tm="0">
                                          <p:val>
                                            <p:strVal val="#ppt_y+0.05"/>
                                          </p:val>
                                        </p:tav>
                                        <p:tav tm="100000">
                                          <p:val>
                                            <p:strVal val="#ppt_y"/>
                                          </p:val>
                                        </p:tav>
                                      </p:tavLst>
                                    </p:anim>
                                  </p:childTnLst>
                                </p:cTn>
                              </p:par>
                              <p:par>
                                <p:cTn id="141" presetID="53" presetClass="entr" presetSubtype="16" fill="hold" grpId="0" nodeType="withEffect" decel="100000">
                                  <p:stCondLst>
                                    <p:cond delay="450"/>
                                  </p:stCondLst>
                                  <p:childTnLst>
                                    <p:set>
                                      <p:cBhvr>
                                        <p:cTn id="137" dur="1" fill="hold">
                                          <p:stCondLst>
                                            <p:cond delay="0"/>
                                          </p:stCondLst>
                                        </p:cTn>
                                        <p:tgtEl>
                                          <p:spTgt spid="31"/>
                                        </p:tgtEl>
                                        <p:attrNameLst>
                                          <p:attrName>style.visibility</p:attrName>
                                        </p:attrNameLst>
                                      </p:cBhvr>
                                      <p:to>
                                        <p:strVal val="visible"/>
                                      </p:to>
                                    </p:set>
                                    <p:anim calcmode="lin" valueType="num">
                                      <p:cBhvr>
                                        <p:cTn id="138" dur="350" fill="hold"/>
                                        <p:tgtEl>
                                          <p:spTgt spid="31"/>
                                        </p:tgtEl>
                                        <p:attrNameLst>
                                          <p:attrName>ppt_w</p:attrName>
                                        </p:attrNameLst>
                                      </p:cBhvr>
                                      <p:tavLst>
                                        <p:tav tm="0">
                                          <p:val>
                                            <p:strVal val="#ppt_w*0.70"/>
                                          </p:val>
                                        </p:tav>
                                        <p:tav tm="100000">
                                          <p:val>
                                            <p:strVal val="#ppt_w"/>
                                          </p:val>
                                        </p:tav>
                                      </p:tavLst>
                                    </p:anim>
                                    <p:anim calcmode="lin" valueType="num">
                                      <p:cBhvr>
                                        <p:cTn id="139" dur="350" fill="hold"/>
                                        <p:tgtEl>
                                          <p:spTgt spid="31"/>
                                        </p:tgtEl>
                                        <p:attrNameLst>
                                          <p:attrName>ppt_h</p:attrName>
                                        </p:attrNameLst>
                                      </p:cBhvr>
                                      <p:tavLst>
                                        <p:tav tm="0">
                                          <p:val>
                                            <p:strVal val="#ppt_h*0.70"/>
                                          </p:val>
                                        </p:tav>
                                        <p:tav tm="100000">
                                          <p:val>
                                            <p:strVal val="#ppt_h"/>
                                          </p:val>
                                        </p:tav>
                                      </p:tavLst>
                                    </p:anim>
                                    <p:animEffect transition="in" filter="fade">
                                      <p:cBhvr>
                                        <p:cTn id="140" dur="350"/>
                                        <p:tgtEl>
                                          <p:spTgt spid="31"/>
                                        </p:tgtEl>
                                      </p:cBhvr>
                                    </p:animEffect>
                                  </p:childTnLst>
                                </p:cTn>
                              </p:par>
                              <p:par>
                                <p:cTn id="144" presetID="10" presetClass="entr" presetSubtype="0" fill="hold" grpId="0" nodeType="withEffect" decel="100000">
                                  <p:stCondLst>
                                    <p:cond delay="450"/>
                                  </p:stCondLst>
                                  <p:childTnLst>
                                    <p:set>
                                      <p:cBhvr>
                                        <p:cTn id="142" dur="1" fill="hold">
                                          <p:stCondLst>
                                            <p:cond delay="0"/>
                                          </p:stCondLst>
                                        </p:cTn>
                                        <p:tgtEl>
                                          <p:spTgt spid="32"/>
                                        </p:tgtEl>
                                        <p:attrNameLst>
                                          <p:attrName>style.visibility</p:attrName>
                                        </p:attrNameLst>
                                      </p:cBhvr>
                                      <p:to>
                                        <p:strVal val="visible"/>
                                      </p:to>
                                    </p:set>
                                    <p:animEffect transition="in" filter="fade">
                                      <p:cBhvr>
                                        <p:cTn id="14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p:bgPr>
    </p:bg>
    <p:spTree>
      <p:nvGrpSpPr>
        <p:cNvPr id="1" name=""/>
        <p:cNvGrpSpPr/>
        <p:nvPr/>
      </p:nvGrpSpPr>
      <p:grpSpPr>
        <a:xfrm>
          <a:off x="0" y="0"/>
          <a:ext cx="0" cy="0"/>
          <a:chOff x="0" y="0"/>
          <a:chExt cx="0" cy="0"/>
        </a:xfrm>
      </p:grpSpPr>
      <p:sp>
        <p:nvSpPr>
          <p:cNvPr id="3" name="txt_23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ROADMAP</a:t>
            </a:r>
            <a:endParaRPr lang="en-US" sz="1100" dirty="0"/>
          </a:p>
        </p:txBody>
      </p:sp>
      <p:sp>
        <p:nvSpPr>
          <p:cNvPr id="4" name="txt_23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What's Next</a:t>
            </a:r>
            <a:endParaRPr lang="en-US" sz="3200" dirty="0"/>
          </a:p>
        </p:txBody>
      </p:sp>
      <p:sp>
        <p:nvSpPr>
          <p:cNvPr id="5" name="txt_23_2"/>
          <p:cNvSpPr txBox="1"/>
          <p:nvPr/>
        </p:nvSpPr>
        <p:spPr>
          <a:xfrm>
            <a:off x="548640" y="1280160"/>
            <a:ext cx="11094415" cy="384048"/>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Four additions, in rough order of impact — each one a new service beside the existing four.</a:t>
            </a:r>
            <a:endParaRPr lang="en-US" sz="1500" dirty="0"/>
          </a:p>
        </p:txBody>
      </p:sp>
      <p:sp>
        <p:nvSpPr>
          <p:cNvPr id="6" name="shp_23_3"/>
          <p:cNvSpPr/>
          <p:nvPr/>
        </p:nvSpPr>
        <p:spPr>
          <a:xfrm>
            <a:off x="1832572" y="2240280"/>
            <a:ext cx="8526551" cy="0"/>
          </a:xfrm>
          <a:prstGeom prst="line">
            <a:avLst/>
          </a:prstGeom>
          <a:noFill/>
          <a:ln w="25400">
            <a:solidFill>
              <a:srgbClr val="243A5E"/>
            </a:solidFill>
            <a:prstDash val="solid"/>
          </a:ln>
        </p:spPr>
      </p:sp>
      <p:sp>
        <p:nvSpPr>
          <p:cNvPr id="7" name="shp_23_4"/>
          <p:cNvSpPr/>
          <p:nvPr/>
        </p:nvSpPr>
        <p:spPr>
          <a:xfrm>
            <a:off x="1603972" y="2011680"/>
            <a:ext cx="457200" cy="457200"/>
          </a:xfrm>
          <a:prstGeom prst="ellipse">
            <a:avLst/>
          </a:prstGeom>
          <a:solidFill>
            <a:srgbClr val="F5A524"/>
          </a:solidFill>
          <a:ln w="12700">
            <a:solidFill>
              <a:srgbClr val="F5A524"/>
            </a:solidFill>
            <a:prstDash val="solid"/>
          </a:ln>
        </p:spPr>
      </p:sp>
      <p:sp>
        <p:nvSpPr>
          <p:cNvPr id="8" name="txt_23_5"/>
          <p:cNvSpPr txBox="1"/>
          <p:nvPr/>
        </p:nvSpPr>
        <p:spPr>
          <a:xfrm>
            <a:off x="1603972" y="2011680"/>
            <a:ext cx="457200" cy="45720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01</a:t>
            </a:r>
            <a:endParaRPr lang="en-US" sz="1200" dirty="0"/>
          </a:p>
        </p:txBody>
      </p:sp>
      <p:sp>
        <p:nvSpPr>
          <p:cNvPr id="9" name="shp_23_6"/>
          <p:cNvSpPr/>
          <p:nvPr/>
        </p:nvSpPr>
        <p:spPr>
          <a:xfrm>
            <a:off x="548640" y="2743200"/>
            <a:ext cx="2567864" cy="2423160"/>
          </a:xfrm>
          <a:prstGeom prst="roundRect">
            <a:avLst>
              <a:gd name="adj" fmla="val 3774"/>
            </a:avLst>
          </a:prstGeom>
          <a:solidFill>
            <a:srgbClr val="112038"/>
          </a:solidFill>
          <a:ln w="9525">
            <a:solidFill>
              <a:srgbClr val="243A5E"/>
            </a:solidFill>
            <a:prstDash val="solid"/>
          </a:ln>
        </p:spPr>
      </p:sp>
      <p:sp>
        <p:nvSpPr>
          <p:cNvPr id="10" name="shp_23_7"/>
          <p:cNvSpPr/>
          <p:nvPr/>
        </p:nvSpPr>
        <p:spPr>
          <a:xfrm>
            <a:off x="822960" y="2971800"/>
            <a:ext cx="566928" cy="566928"/>
          </a:xfrm>
          <a:prstGeom prst="ellipse">
            <a:avLst/>
          </a:prstGeom>
          <a:solidFill>
            <a:srgbClr val="3B2A0C"/>
          </a:solidFill>
          <a:ln w="9525">
            <a:solidFill>
              <a:srgbClr val="F5A524"/>
            </a:solidFill>
            <a:prstDash val="solid"/>
          </a:ln>
        </p:spPr>
      </p:sp>
      <p:pic>
        <p:nvPicPr>
          <p:cNvPr id="11" name="img_23_8" descr="preencoded.png">    </p:cNvPr>
          <p:cNvPicPr>
            <a:picLocks noChangeAspect="1"/>
          </p:cNvPicPr>
          <p:nvPr/>
        </p:nvPicPr>
        <p:blipFill>
          <a:blip r:embed="rId1"/>
          <a:stretch>
            <a:fillRect/>
          </a:stretch>
        </p:blipFill>
        <p:spPr>
          <a:xfrm>
            <a:off x="959023" y="3107863"/>
            <a:ext cx="294803" cy="294803"/>
          </a:xfrm>
          <a:prstGeom prst="rect">
            <a:avLst/>
          </a:prstGeom>
        </p:spPr>
      </p:pic>
      <p:sp>
        <p:nvSpPr>
          <p:cNvPr id="12" name="txt_23_9"/>
          <p:cNvSpPr txBox="1"/>
          <p:nvPr/>
        </p:nvSpPr>
        <p:spPr>
          <a:xfrm>
            <a:off x="822960" y="3703320"/>
            <a:ext cx="2110664" cy="347472"/>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Live vessel tracking</a:t>
            </a:r>
            <a:endParaRPr lang="en-US" sz="1700" dirty="0"/>
          </a:p>
        </p:txBody>
      </p:sp>
      <p:sp>
        <p:nvSpPr>
          <p:cNvPr id="13" name="txt_23_10"/>
          <p:cNvSpPr txBox="1"/>
          <p:nvPr/>
        </p:nvSpPr>
        <p:spPr>
          <a:xfrm>
            <a:off x="822960" y="4114800"/>
            <a:ext cx="2110664" cy="128016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AIS transponder feeds turn our waypoints into real positions and rolling ETAs.</a:t>
            </a:r>
            <a:endParaRPr lang="en-US" sz="1300" dirty="0"/>
          </a:p>
        </p:txBody>
      </p:sp>
      <p:sp>
        <p:nvSpPr>
          <p:cNvPr id="14" name="shp_23_11"/>
          <p:cNvSpPr/>
          <p:nvPr/>
        </p:nvSpPr>
        <p:spPr>
          <a:xfrm>
            <a:off x="4446156" y="2011680"/>
            <a:ext cx="457200" cy="457200"/>
          </a:xfrm>
          <a:prstGeom prst="ellipse">
            <a:avLst/>
          </a:prstGeom>
          <a:solidFill>
            <a:srgbClr val="F5A524"/>
          </a:solidFill>
          <a:ln w="12700">
            <a:solidFill>
              <a:srgbClr val="F5A524"/>
            </a:solidFill>
            <a:prstDash val="solid"/>
          </a:ln>
        </p:spPr>
      </p:sp>
      <p:sp>
        <p:nvSpPr>
          <p:cNvPr id="15" name="txt_23_12"/>
          <p:cNvSpPr txBox="1"/>
          <p:nvPr/>
        </p:nvSpPr>
        <p:spPr>
          <a:xfrm>
            <a:off x="4446156" y="2011680"/>
            <a:ext cx="457200" cy="45720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02</a:t>
            </a:r>
            <a:endParaRPr lang="en-US" sz="1200" dirty="0"/>
          </a:p>
        </p:txBody>
      </p:sp>
      <p:sp>
        <p:nvSpPr>
          <p:cNvPr id="16" name="shp_23_13"/>
          <p:cNvSpPr/>
          <p:nvPr/>
        </p:nvSpPr>
        <p:spPr>
          <a:xfrm>
            <a:off x="3390824" y="2743200"/>
            <a:ext cx="2567864" cy="2423160"/>
          </a:xfrm>
          <a:prstGeom prst="roundRect">
            <a:avLst>
              <a:gd name="adj" fmla="val 3774"/>
            </a:avLst>
          </a:prstGeom>
          <a:solidFill>
            <a:srgbClr val="112038"/>
          </a:solidFill>
          <a:ln w="9525">
            <a:solidFill>
              <a:srgbClr val="243A5E"/>
            </a:solidFill>
            <a:prstDash val="solid"/>
          </a:ln>
        </p:spPr>
      </p:sp>
      <p:sp>
        <p:nvSpPr>
          <p:cNvPr id="17" name="shp_23_14"/>
          <p:cNvSpPr/>
          <p:nvPr/>
        </p:nvSpPr>
        <p:spPr>
          <a:xfrm>
            <a:off x="3665144" y="2971800"/>
            <a:ext cx="566928" cy="566928"/>
          </a:xfrm>
          <a:prstGeom prst="ellipse">
            <a:avLst/>
          </a:prstGeom>
          <a:solidFill>
            <a:srgbClr val="3B2A0C"/>
          </a:solidFill>
          <a:ln w="9525">
            <a:solidFill>
              <a:srgbClr val="F5A524"/>
            </a:solidFill>
            <a:prstDash val="solid"/>
          </a:ln>
        </p:spPr>
      </p:sp>
      <p:pic>
        <p:nvPicPr>
          <p:cNvPr id="18" name="img_23_15" descr="preencoded.png">    </p:cNvPr>
          <p:cNvPicPr>
            <a:picLocks noChangeAspect="1"/>
          </p:cNvPicPr>
          <p:nvPr/>
        </p:nvPicPr>
        <p:blipFill>
          <a:blip r:embed="rId2"/>
          <a:stretch>
            <a:fillRect/>
          </a:stretch>
        </p:blipFill>
        <p:spPr>
          <a:xfrm>
            <a:off x="3801207" y="3107863"/>
            <a:ext cx="294803" cy="294803"/>
          </a:xfrm>
          <a:prstGeom prst="rect">
            <a:avLst/>
          </a:prstGeom>
        </p:spPr>
      </p:pic>
      <p:sp>
        <p:nvSpPr>
          <p:cNvPr id="19" name="txt_23_16"/>
          <p:cNvSpPr txBox="1"/>
          <p:nvPr/>
        </p:nvSpPr>
        <p:spPr>
          <a:xfrm>
            <a:off x="3665144" y="3703320"/>
            <a:ext cx="2110664" cy="347472"/>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Document OCR</a:t>
            </a:r>
            <a:endParaRPr lang="en-US" sz="1700" dirty="0"/>
          </a:p>
        </p:txBody>
      </p:sp>
      <p:sp>
        <p:nvSpPr>
          <p:cNvPr id="20" name="txt_23_17"/>
          <p:cNvSpPr txBox="1"/>
          <p:nvPr/>
        </p:nvSpPr>
        <p:spPr>
          <a:xfrm>
            <a:off x="3665144" y="4114800"/>
            <a:ext cx="2110664" cy="128016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Read the bill of lading and invoice; extract HS code, weight and value automatically.</a:t>
            </a:r>
            <a:endParaRPr lang="en-US" sz="1300" dirty="0"/>
          </a:p>
        </p:txBody>
      </p:sp>
      <p:sp>
        <p:nvSpPr>
          <p:cNvPr id="21" name="shp_23_18"/>
          <p:cNvSpPr/>
          <p:nvPr/>
        </p:nvSpPr>
        <p:spPr>
          <a:xfrm>
            <a:off x="7288339" y="2011680"/>
            <a:ext cx="457200" cy="457200"/>
          </a:xfrm>
          <a:prstGeom prst="ellipse">
            <a:avLst/>
          </a:prstGeom>
          <a:solidFill>
            <a:srgbClr val="F5A524"/>
          </a:solidFill>
          <a:ln w="12700">
            <a:solidFill>
              <a:srgbClr val="F5A524"/>
            </a:solidFill>
            <a:prstDash val="solid"/>
          </a:ln>
        </p:spPr>
      </p:sp>
      <p:sp>
        <p:nvSpPr>
          <p:cNvPr id="22" name="txt_23_19"/>
          <p:cNvSpPr txBox="1"/>
          <p:nvPr/>
        </p:nvSpPr>
        <p:spPr>
          <a:xfrm>
            <a:off x="7288339" y="2011680"/>
            <a:ext cx="457200" cy="45720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03</a:t>
            </a:r>
            <a:endParaRPr lang="en-US" sz="1200" dirty="0"/>
          </a:p>
        </p:txBody>
      </p:sp>
      <p:sp>
        <p:nvSpPr>
          <p:cNvPr id="23" name="shp_23_20"/>
          <p:cNvSpPr/>
          <p:nvPr/>
        </p:nvSpPr>
        <p:spPr>
          <a:xfrm>
            <a:off x="6233008" y="2743200"/>
            <a:ext cx="2567864" cy="2423160"/>
          </a:xfrm>
          <a:prstGeom prst="roundRect">
            <a:avLst>
              <a:gd name="adj" fmla="val 3774"/>
            </a:avLst>
          </a:prstGeom>
          <a:solidFill>
            <a:srgbClr val="112038"/>
          </a:solidFill>
          <a:ln w="9525">
            <a:solidFill>
              <a:srgbClr val="243A5E"/>
            </a:solidFill>
            <a:prstDash val="solid"/>
          </a:ln>
        </p:spPr>
      </p:sp>
      <p:sp>
        <p:nvSpPr>
          <p:cNvPr id="24" name="shp_23_21"/>
          <p:cNvSpPr/>
          <p:nvPr/>
        </p:nvSpPr>
        <p:spPr>
          <a:xfrm>
            <a:off x="6507328" y="2971800"/>
            <a:ext cx="566928" cy="566928"/>
          </a:xfrm>
          <a:prstGeom prst="ellipse">
            <a:avLst/>
          </a:prstGeom>
          <a:solidFill>
            <a:srgbClr val="3B2A0C"/>
          </a:solidFill>
          <a:ln w="9525">
            <a:solidFill>
              <a:srgbClr val="F5A524"/>
            </a:solidFill>
            <a:prstDash val="solid"/>
          </a:ln>
        </p:spPr>
      </p:sp>
      <p:pic>
        <p:nvPicPr>
          <p:cNvPr id="25" name="img_23_22" descr="preencoded.png">    </p:cNvPr>
          <p:cNvPicPr>
            <a:picLocks noChangeAspect="1"/>
          </p:cNvPicPr>
          <p:nvPr/>
        </p:nvPicPr>
        <p:blipFill>
          <a:blip r:embed="rId3"/>
          <a:stretch>
            <a:fillRect/>
          </a:stretch>
        </p:blipFill>
        <p:spPr>
          <a:xfrm>
            <a:off x="6643390" y="3107863"/>
            <a:ext cx="294803" cy="294803"/>
          </a:xfrm>
          <a:prstGeom prst="rect">
            <a:avLst/>
          </a:prstGeom>
        </p:spPr>
      </p:pic>
      <p:sp>
        <p:nvSpPr>
          <p:cNvPr id="26" name="txt_23_23"/>
          <p:cNvSpPr txBox="1"/>
          <p:nvPr/>
        </p:nvSpPr>
        <p:spPr>
          <a:xfrm>
            <a:off x="6507328" y="3703320"/>
            <a:ext cx="2110664" cy="347472"/>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Carbon &amp; ESG scoring</a:t>
            </a:r>
            <a:endParaRPr lang="en-US" sz="1700" dirty="0"/>
          </a:p>
        </p:txBody>
      </p:sp>
      <p:sp>
        <p:nvSpPr>
          <p:cNvPr id="27" name="txt_23_24"/>
          <p:cNvSpPr txBox="1"/>
          <p:nvPr/>
        </p:nvSpPr>
        <p:spPr>
          <a:xfrm>
            <a:off x="6507328" y="4114800"/>
            <a:ext cx="2110664" cy="128016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CO₂ per lane from distance, vessel class and load factor; greener option at booking.</a:t>
            </a:r>
            <a:endParaRPr lang="en-US" sz="1300" dirty="0"/>
          </a:p>
        </p:txBody>
      </p:sp>
      <p:sp>
        <p:nvSpPr>
          <p:cNvPr id="28" name="shp_23_25"/>
          <p:cNvSpPr/>
          <p:nvPr/>
        </p:nvSpPr>
        <p:spPr>
          <a:xfrm>
            <a:off x="10130523" y="2011680"/>
            <a:ext cx="457200" cy="457200"/>
          </a:xfrm>
          <a:prstGeom prst="ellipse">
            <a:avLst/>
          </a:prstGeom>
          <a:solidFill>
            <a:srgbClr val="F5A524"/>
          </a:solidFill>
          <a:ln w="12700">
            <a:solidFill>
              <a:srgbClr val="F5A524"/>
            </a:solidFill>
            <a:prstDash val="solid"/>
          </a:ln>
        </p:spPr>
      </p:sp>
      <p:sp>
        <p:nvSpPr>
          <p:cNvPr id="29" name="txt_23_26"/>
          <p:cNvSpPr txBox="1"/>
          <p:nvPr/>
        </p:nvSpPr>
        <p:spPr>
          <a:xfrm>
            <a:off x="10130523" y="2011680"/>
            <a:ext cx="457200" cy="45720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04</a:t>
            </a:r>
            <a:endParaRPr lang="en-US" sz="1200" dirty="0"/>
          </a:p>
        </p:txBody>
      </p:sp>
      <p:sp>
        <p:nvSpPr>
          <p:cNvPr id="30" name="shp_23_27"/>
          <p:cNvSpPr/>
          <p:nvPr/>
        </p:nvSpPr>
        <p:spPr>
          <a:xfrm>
            <a:off x="9075191" y="2743200"/>
            <a:ext cx="2567864" cy="2423160"/>
          </a:xfrm>
          <a:prstGeom prst="roundRect">
            <a:avLst>
              <a:gd name="adj" fmla="val 3774"/>
            </a:avLst>
          </a:prstGeom>
          <a:solidFill>
            <a:srgbClr val="112038"/>
          </a:solidFill>
          <a:ln w="9525">
            <a:solidFill>
              <a:srgbClr val="243A5E"/>
            </a:solidFill>
            <a:prstDash val="solid"/>
          </a:ln>
        </p:spPr>
      </p:sp>
      <p:sp>
        <p:nvSpPr>
          <p:cNvPr id="31" name="shp_23_28"/>
          <p:cNvSpPr/>
          <p:nvPr/>
        </p:nvSpPr>
        <p:spPr>
          <a:xfrm>
            <a:off x="9349511" y="2971800"/>
            <a:ext cx="566928" cy="566928"/>
          </a:xfrm>
          <a:prstGeom prst="ellipse">
            <a:avLst/>
          </a:prstGeom>
          <a:solidFill>
            <a:srgbClr val="3B2A0C"/>
          </a:solidFill>
          <a:ln w="9525">
            <a:solidFill>
              <a:srgbClr val="F5A524"/>
            </a:solidFill>
            <a:prstDash val="solid"/>
          </a:ln>
        </p:spPr>
      </p:sp>
      <p:pic>
        <p:nvPicPr>
          <p:cNvPr id="32" name="img_23_29" descr="preencoded.png">    </p:cNvPr>
          <p:cNvPicPr>
            <a:picLocks noChangeAspect="1"/>
          </p:cNvPicPr>
          <p:nvPr/>
        </p:nvPicPr>
        <p:blipFill>
          <a:blip r:embed="rId4"/>
          <a:stretch>
            <a:fillRect/>
          </a:stretch>
        </p:blipFill>
        <p:spPr>
          <a:xfrm>
            <a:off x="9485574" y="3107863"/>
            <a:ext cx="294803" cy="294803"/>
          </a:xfrm>
          <a:prstGeom prst="rect">
            <a:avLst/>
          </a:prstGeom>
        </p:spPr>
      </p:pic>
      <p:sp>
        <p:nvSpPr>
          <p:cNvPr id="33" name="txt_23_30"/>
          <p:cNvSpPr txBox="1"/>
          <p:nvPr/>
        </p:nvSpPr>
        <p:spPr>
          <a:xfrm>
            <a:off x="9349511" y="3703320"/>
            <a:ext cx="2110664" cy="347472"/>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Model retraining loop</a:t>
            </a:r>
            <a:endParaRPr lang="en-US" sz="1700" dirty="0"/>
          </a:p>
        </p:txBody>
      </p:sp>
      <p:sp>
        <p:nvSpPr>
          <p:cNvPr id="34" name="txt_23_31"/>
          <p:cNvSpPr txBox="1"/>
          <p:nvPr/>
        </p:nvSpPr>
        <p:spPr>
          <a:xfrm>
            <a:off x="9349511" y="4114800"/>
            <a:ext cx="2110664" cy="1280160"/>
          </a:xfrm>
          <a:prstGeom prst="rect">
            <a:avLst/>
          </a:prstGeom>
          <a:noFill/>
          <a:ln/>
        </p:spPr>
        <p:txBody>
          <a:bodyPr wrap="square" lIns="0" tIns="0" rIns="0" bIns="0" rtlCol="0" anchor="t"/>
          <a:lstStyle/>
          <a:p>
            <a:pPr indent="0" marL="0">
              <a:buNone/>
            </a:pPr>
            <a:r>
              <a:rPr lang="en-US" sz="1300" dirty="0">
                <a:solidFill>
                  <a:srgbClr val="AEBBCF"/>
                </a:solidFill>
                <a:latin typeface="Calibri" pitchFamily="34" charset="0"/>
                <a:ea typeface="Calibri" pitchFamily="34" charset="-122"/>
                <a:cs typeface="Calibri" pitchFamily="34" charset="-120"/>
              </a:rPr>
              <a:t>Feed booked-vs-predicted rates back into the GBR so it tracks the spot market.</a:t>
            </a:r>
            <a:endParaRPr lang="en-US" sz="1300" dirty="0"/>
          </a:p>
        </p:txBody>
      </p:sp>
      <p:sp>
        <p:nvSpPr>
          <p:cNvPr id="35" name="txt_23_32"/>
          <p:cNvSpPr txBox="1"/>
          <p:nvPr/>
        </p:nvSpPr>
        <p:spPr>
          <a:xfrm>
            <a:off x="548640" y="5486400"/>
            <a:ext cx="11094415" cy="365760"/>
          </a:xfrm>
          <a:prstGeom prst="rect">
            <a:avLst/>
          </a:prstGeom>
          <a:noFill/>
          <a:ln/>
        </p:spPr>
        <p:txBody>
          <a:bodyPr wrap="square" lIns="0" tIns="0" rIns="0" bIns="0" rtlCol="0" anchor="t"/>
          <a:lstStyle/>
          <a:p>
            <a:pPr algn="ctr" indent="0" marL="0">
              <a:buNone/>
            </a:pPr>
            <a:r>
              <a:rPr lang="en-US" sz="1500" i="1" dirty="0">
                <a:solidFill>
                  <a:srgbClr val="F5A524"/>
                </a:solidFill>
                <a:latin typeface="Calibri" pitchFamily="34" charset="0"/>
                <a:ea typeface="Calibri" pitchFamily="34" charset="-122"/>
                <a:cs typeface="Calibri" pitchFamily="34" charset="-120"/>
              </a:rPr>
              <a:t>Additive, not a rewrite — the payoff of building modular from day one.</a:t>
            </a:r>
            <a:endParaRPr lang="en-US" sz="1500" dirty="0"/>
          </a:p>
        </p:txBody>
      </p:sp>
      <p:sp>
        <p:nvSpPr>
          <p:cNvPr id="36" name="txt_23_33"/>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37" name="txt_23_34"/>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23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par>
                                <p:cTn id="13" presetID="10" presetClass="entr" presetSubtype="0" fill="hold" grpId="0" nodeType="withEffect" decel="100000">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18" presetID="22" presetClass="entr" presetSubtype="8" fill="hold" grpId="0" nodeType="afterEffect" decel="100000">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1000"/>
                                        <p:tgtEl>
                                          <p:spTgt spid="6"/>
                                        </p:tgtEl>
                                      </p:cBhvr>
                                    </p:animEffect>
                                  </p:childTnLst>
                                </p:cTn>
                              </p:par>
                            </p:childTnLst>
                          </p:cTn>
                        </p:par>
                      </p:childTnLst>
                    </p:cTn>
                  </p:par>
                  <p:par>
                    <p:cTn id="54" fill="hold">
                      <p:stCondLst>
                        <p:cond delay="indefinite"/>
                      </p:stCondLst>
                      <p:childTnLst>
                        <p:par>
                          <p:cTn id="55" fill="hold">
                            <p:stCondLst>
                              <p:cond delay="0"/>
                            </p:stCondLst>
                            <p:childTnLst>
                              <p:par>
                                <p:cTn id="25" presetID="53" presetClass="entr" presetSubtype="16" fill="hold" grpId="0" nodeType="clickEffect" decel="100000">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350" fill="hold"/>
                                        <p:tgtEl>
                                          <p:spTgt spid="7"/>
                                        </p:tgtEl>
                                        <p:attrNameLst>
                                          <p:attrName>ppt_w</p:attrName>
                                        </p:attrNameLst>
                                      </p:cBhvr>
                                      <p:tavLst>
                                        <p:tav tm="0">
                                          <p:val>
                                            <p:strVal val="#ppt_w*0.70"/>
                                          </p:val>
                                        </p:tav>
                                        <p:tav tm="100000">
                                          <p:val>
                                            <p:strVal val="#ppt_w"/>
                                          </p:val>
                                        </p:tav>
                                      </p:tavLst>
                                    </p:anim>
                                    <p:anim calcmode="lin" valueType="num">
                                      <p:cBhvr>
                                        <p:cTn id="23" dur="350" fill="hold"/>
                                        <p:tgtEl>
                                          <p:spTgt spid="7"/>
                                        </p:tgtEl>
                                        <p:attrNameLst>
                                          <p:attrName>ppt_h</p:attrName>
                                        </p:attrNameLst>
                                      </p:cBhvr>
                                      <p:tavLst>
                                        <p:tav tm="0">
                                          <p:val>
                                            <p:strVal val="#ppt_h*0.70"/>
                                          </p:val>
                                        </p:tav>
                                        <p:tav tm="100000">
                                          <p:val>
                                            <p:strVal val="#ppt_h"/>
                                          </p:val>
                                        </p:tav>
                                      </p:tavLst>
                                    </p:anim>
                                    <p:animEffect transition="in" filter="fade">
                                      <p:cBhvr>
                                        <p:cTn id="24" dur="350"/>
                                        <p:tgtEl>
                                          <p:spTgt spid="7"/>
                                        </p:tgtEl>
                                      </p:cBhvr>
                                    </p:animEffect>
                                  </p:childTnLst>
                                </p:cTn>
                              </p:par>
                              <p:par>
                                <p:cTn id="30" presetID="53" presetClass="entr" presetSubtype="16" fill="hold" grpId="0" nodeType="withEffect" decel="100000">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350" fill="hold"/>
                                        <p:tgtEl>
                                          <p:spTgt spid="8"/>
                                        </p:tgtEl>
                                        <p:attrNameLst>
                                          <p:attrName>ppt_w</p:attrName>
                                        </p:attrNameLst>
                                      </p:cBhvr>
                                      <p:tavLst>
                                        <p:tav tm="0">
                                          <p:val>
                                            <p:strVal val="#ppt_w*0.70"/>
                                          </p:val>
                                        </p:tav>
                                        <p:tav tm="100000">
                                          <p:val>
                                            <p:strVal val="#ppt_w"/>
                                          </p:val>
                                        </p:tav>
                                      </p:tavLst>
                                    </p:anim>
                                    <p:anim calcmode="lin" valueType="num">
                                      <p:cBhvr>
                                        <p:cTn id="28" dur="350" fill="hold"/>
                                        <p:tgtEl>
                                          <p:spTgt spid="8"/>
                                        </p:tgtEl>
                                        <p:attrNameLst>
                                          <p:attrName>ppt_h</p:attrName>
                                        </p:attrNameLst>
                                      </p:cBhvr>
                                      <p:tavLst>
                                        <p:tav tm="0">
                                          <p:val>
                                            <p:strVal val="#ppt_h*0.70"/>
                                          </p:val>
                                        </p:tav>
                                        <p:tav tm="100000">
                                          <p:val>
                                            <p:strVal val="#ppt_h"/>
                                          </p:val>
                                        </p:tav>
                                      </p:tavLst>
                                    </p:anim>
                                    <p:animEffect transition="in" filter="fade">
                                      <p:cBhvr>
                                        <p:cTn id="29" dur="350"/>
                                        <p:tgtEl>
                                          <p:spTgt spid="8"/>
                                        </p:tgtEl>
                                      </p:cBhvr>
                                    </p:animEffect>
                                  </p:childTnLst>
                                </p:cTn>
                              </p:par>
                              <p:par>
                                <p:cTn id="35" presetID="42" presetClass="entr" presetSubtype="0" fill="hold" grpId="0" nodeType="withEffect" decel="100000">
                                  <p:stCondLst>
                                    <p:cond delay="1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decel="100000">
                                  <p:stCondLst>
                                    <p:cond delay="1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0.05"/>
                                          </p:val>
                                        </p:tav>
                                        <p:tav tm="100000">
                                          <p:val>
                                            <p:strVal val="#ppt_y"/>
                                          </p:val>
                                        </p:tav>
                                      </p:tavLst>
                                    </p:anim>
                                  </p:childTnLst>
                                </p:cTn>
                              </p:par>
                              <p:par>
                                <p:cTn id="45" presetID="42" presetClass="entr" presetSubtype="0" fill="hold" grpId="0" nodeType="withEffect" decel="100000">
                                  <p:stCondLst>
                                    <p:cond delay="1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decel="100000">
                                  <p:stCondLst>
                                    <p:cond delay="15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05"/>
                                          </p:val>
                                        </p:tav>
                                        <p:tav tm="100000">
                                          <p:val>
                                            <p:strVal val="#ppt_y"/>
                                          </p:val>
                                        </p:tav>
                                      </p:tavLst>
                                    </p:anim>
                                  </p:childTnLst>
                                </p:cTn>
                              </p:par>
                              <p:par>
                                <p:cTn id="53" presetID="10" presetClass="entr" presetSubtype="0" fill="hold" grpId="0" nodeType="withEffect" decel="100000">
                                  <p:stCondLst>
                                    <p:cond delay="35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89" fill="hold">
                      <p:stCondLst>
                        <p:cond delay="indefinite"/>
                      </p:stCondLst>
                      <p:childTnLst>
                        <p:par>
                          <p:cTn id="90" fill="hold">
                            <p:stCondLst>
                              <p:cond delay="0"/>
                            </p:stCondLst>
                            <p:childTnLst>
                              <p:par>
                                <p:cTn id="60" presetID="53" presetClass="entr" presetSubtype="16" fill="hold" grpId="0" nodeType="clickEffect" decel="100000">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350" fill="hold"/>
                                        <p:tgtEl>
                                          <p:spTgt spid="14"/>
                                        </p:tgtEl>
                                        <p:attrNameLst>
                                          <p:attrName>ppt_w</p:attrName>
                                        </p:attrNameLst>
                                      </p:cBhvr>
                                      <p:tavLst>
                                        <p:tav tm="0">
                                          <p:val>
                                            <p:strVal val="#ppt_w*0.70"/>
                                          </p:val>
                                        </p:tav>
                                        <p:tav tm="100000">
                                          <p:val>
                                            <p:strVal val="#ppt_w"/>
                                          </p:val>
                                        </p:tav>
                                      </p:tavLst>
                                    </p:anim>
                                    <p:anim calcmode="lin" valueType="num">
                                      <p:cBhvr>
                                        <p:cTn id="58" dur="350" fill="hold"/>
                                        <p:tgtEl>
                                          <p:spTgt spid="14"/>
                                        </p:tgtEl>
                                        <p:attrNameLst>
                                          <p:attrName>ppt_h</p:attrName>
                                        </p:attrNameLst>
                                      </p:cBhvr>
                                      <p:tavLst>
                                        <p:tav tm="0">
                                          <p:val>
                                            <p:strVal val="#ppt_h*0.70"/>
                                          </p:val>
                                        </p:tav>
                                        <p:tav tm="100000">
                                          <p:val>
                                            <p:strVal val="#ppt_h"/>
                                          </p:val>
                                        </p:tav>
                                      </p:tavLst>
                                    </p:anim>
                                    <p:animEffect transition="in" filter="fade">
                                      <p:cBhvr>
                                        <p:cTn id="59" dur="350"/>
                                        <p:tgtEl>
                                          <p:spTgt spid="14"/>
                                        </p:tgtEl>
                                      </p:cBhvr>
                                    </p:animEffect>
                                  </p:childTnLst>
                                </p:cTn>
                              </p:par>
                              <p:par>
                                <p:cTn id="65" presetID="53" presetClass="entr" presetSubtype="16" fill="hold" grpId="0" nodeType="withEffect" decel="100000">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350" fill="hold"/>
                                        <p:tgtEl>
                                          <p:spTgt spid="15"/>
                                        </p:tgtEl>
                                        <p:attrNameLst>
                                          <p:attrName>ppt_w</p:attrName>
                                        </p:attrNameLst>
                                      </p:cBhvr>
                                      <p:tavLst>
                                        <p:tav tm="0">
                                          <p:val>
                                            <p:strVal val="#ppt_w*0.70"/>
                                          </p:val>
                                        </p:tav>
                                        <p:tav tm="100000">
                                          <p:val>
                                            <p:strVal val="#ppt_w"/>
                                          </p:val>
                                        </p:tav>
                                      </p:tavLst>
                                    </p:anim>
                                    <p:anim calcmode="lin" valueType="num">
                                      <p:cBhvr>
                                        <p:cTn id="63" dur="350" fill="hold"/>
                                        <p:tgtEl>
                                          <p:spTgt spid="15"/>
                                        </p:tgtEl>
                                        <p:attrNameLst>
                                          <p:attrName>ppt_h</p:attrName>
                                        </p:attrNameLst>
                                      </p:cBhvr>
                                      <p:tavLst>
                                        <p:tav tm="0">
                                          <p:val>
                                            <p:strVal val="#ppt_h*0.70"/>
                                          </p:val>
                                        </p:tav>
                                        <p:tav tm="100000">
                                          <p:val>
                                            <p:strVal val="#ppt_h"/>
                                          </p:val>
                                        </p:tav>
                                      </p:tavLst>
                                    </p:anim>
                                    <p:animEffect transition="in" filter="fade">
                                      <p:cBhvr>
                                        <p:cTn id="64" dur="350"/>
                                        <p:tgtEl>
                                          <p:spTgt spid="15"/>
                                        </p:tgtEl>
                                      </p:cBhvr>
                                    </p:animEffect>
                                  </p:childTnLst>
                                </p:cTn>
                              </p:par>
                              <p:par>
                                <p:cTn id="70" presetID="42" presetClass="entr" presetSubtype="0" fill="hold" grpId="0" nodeType="withEffect" decel="100000">
                                  <p:stCondLst>
                                    <p:cond delay="15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decel="100000">
                                  <p:stCondLst>
                                    <p:cond delay="15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0.05"/>
                                          </p:val>
                                        </p:tav>
                                        <p:tav tm="100000">
                                          <p:val>
                                            <p:strVal val="#ppt_y"/>
                                          </p:val>
                                        </p:tav>
                                      </p:tavLst>
                                    </p:anim>
                                  </p:childTnLst>
                                </p:cTn>
                              </p:par>
                              <p:par>
                                <p:cTn id="80" presetID="42" presetClass="entr" presetSubtype="0" fill="hold" grpId="0" nodeType="withEffect" decel="100000">
                                  <p:stCondLst>
                                    <p:cond delay="15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decel="100000">
                                  <p:stCondLst>
                                    <p:cond delay="15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0.05"/>
                                          </p:val>
                                        </p:tav>
                                        <p:tav tm="100000">
                                          <p:val>
                                            <p:strVal val="#ppt_y"/>
                                          </p:val>
                                        </p:tav>
                                      </p:tavLst>
                                    </p:anim>
                                  </p:childTnLst>
                                </p:cTn>
                              </p:par>
                              <p:par>
                                <p:cTn id="88" presetID="10" presetClass="entr" presetSubtype="0" fill="hold" grpId="0" nodeType="withEffect" decel="100000">
                                  <p:stCondLst>
                                    <p:cond delay="35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childTnLst>
                                </p:cTn>
                              </p:par>
                            </p:childTnLst>
                          </p:cTn>
                        </p:par>
                      </p:childTnLst>
                    </p:cTn>
                  </p:par>
                  <p:par>
                    <p:cTn id="124" fill="hold">
                      <p:stCondLst>
                        <p:cond delay="indefinite"/>
                      </p:stCondLst>
                      <p:childTnLst>
                        <p:par>
                          <p:cTn id="125" fill="hold">
                            <p:stCondLst>
                              <p:cond delay="0"/>
                            </p:stCondLst>
                            <p:childTnLst>
                              <p:par>
                                <p:cTn id="95" presetID="53" presetClass="entr" presetSubtype="16" fill="hold" grpId="0" nodeType="clickEffect" decel="100000">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p:cTn id="92" dur="350" fill="hold"/>
                                        <p:tgtEl>
                                          <p:spTgt spid="21"/>
                                        </p:tgtEl>
                                        <p:attrNameLst>
                                          <p:attrName>ppt_w</p:attrName>
                                        </p:attrNameLst>
                                      </p:cBhvr>
                                      <p:tavLst>
                                        <p:tav tm="0">
                                          <p:val>
                                            <p:strVal val="#ppt_w*0.70"/>
                                          </p:val>
                                        </p:tav>
                                        <p:tav tm="100000">
                                          <p:val>
                                            <p:strVal val="#ppt_w"/>
                                          </p:val>
                                        </p:tav>
                                      </p:tavLst>
                                    </p:anim>
                                    <p:anim calcmode="lin" valueType="num">
                                      <p:cBhvr>
                                        <p:cTn id="93" dur="350" fill="hold"/>
                                        <p:tgtEl>
                                          <p:spTgt spid="21"/>
                                        </p:tgtEl>
                                        <p:attrNameLst>
                                          <p:attrName>ppt_h</p:attrName>
                                        </p:attrNameLst>
                                      </p:cBhvr>
                                      <p:tavLst>
                                        <p:tav tm="0">
                                          <p:val>
                                            <p:strVal val="#ppt_h*0.70"/>
                                          </p:val>
                                        </p:tav>
                                        <p:tav tm="100000">
                                          <p:val>
                                            <p:strVal val="#ppt_h"/>
                                          </p:val>
                                        </p:tav>
                                      </p:tavLst>
                                    </p:anim>
                                    <p:animEffect transition="in" filter="fade">
                                      <p:cBhvr>
                                        <p:cTn id="94" dur="350"/>
                                        <p:tgtEl>
                                          <p:spTgt spid="21"/>
                                        </p:tgtEl>
                                      </p:cBhvr>
                                    </p:animEffect>
                                  </p:childTnLst>
                                </p:cTn>
                              </p:par>
                              <p:par>
                                <p:cTn id="100" presetID="53" presetClass="entr" presetSubtype="16" fill="hold" grpId="0" nodeType="withEffect" decel="100000">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p:cTn id="97" dur="350" fill="hold"/>
                                        <p:tgtEl>
                                          <p:spTgt spid="22"/>
                                        </p:tgtEl>
                                        <p:attrNameLst>
                                          <p:attrName>ppt_w</p:attrName>
                                        </p:attrNameLst>
                                      </p:cBhvr>
                                      <p:tavLst>
                                        <p:tav tm="0">
                                          <p:val>
                                            <p:strVal val="#ppt_w*0.70"/>
                                          </p:val>
                                        </p:tav>
                                        <p:tav tm="100000">
                                          <p:val>
                                            <p:strVal val="#ppt_w"/>
                                          </p:val>
                                        </p:tav>
                                      </p:tavLst>
                                    </p:anim>
                                    <p:anim calcmode="lin" valueType="num">
                                      <p:cBhvr>
                                        <p:cTn id="98" dur="350" fill="hold"/>
                                        <p:tgtEl>
                                          <p:spTgt spid="22"/>
                                        </p:tgtEl>
                                        <p:attrNameLst>
                                          <p:attrName>ppt_h</p:attrName>
                                        </p:attrNameLst>
                                      </p:cBhvr>
                                      <p:tavLst>
                                        <p:tav tm="0">
                                          <p:val>
                                            <p:strVal val="#ppt_h*0.70"/>
                                          </p:val>
                                        </p:tav>
                                        <p:tav tm="100000">
                                          <p:val>
                                            <p:strVal val="#ppt_h"/>
                                          </p:val>
                                        </p:tav>
                                      </p:tavLst>
                                    </p:anim>
                                    <p:animEffect transition="in" filter="fade">
                                      <p:cBhvr>
                                        <p:cTn id="99" dur="350"/>
                                        <p:tgtEl>
                                          <p:spTgt spid="22"/>
                                        </p:tgtEl>
                                      </p:cBhvr>
                                    </p:animEffect>
                                  </p:childTnLst>
                                </p:cTn>
                              </p:par>
                              <p:par>
                                <p:cTn id="105" presetID="42" presetClass="entr" presetSubtype="0" fill="hold" grpId="0" nodeType="withEffect" decel="100000">
                                  <p:stCondLst>
                                    <p:cond delay="15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0.05"/>
                                          </p:val>
                                        </p:tav>
                                        <p:tav tm="100000">
                                          <p:val>
                                            <p:strVal val="#ppt_y"/>
                                          </p:val>
                                        </p:tav>
                                      </p:tavLst>
                                    </p:anim>
                                  </p:childTnLst>
                                </p:cTn>
                              </p:par>
                              <p:par>
                                <p:cTn id="110" presetID="42" presetClass="entr" presetSubtype="0" fill="hold" grpId="0" nodeType="withEffect" decel="100000">
                                  <p:stCondLst>
                                    <p:cond delay="15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0.05"/>
                                          </p:val>
                                        </p:tav>
                                        <p:tav tm="100000">
                                          <p:val>
                                            <p:strVal val="#ppt_y"/>
                                          </p:val>
                                        </p:tav>
                                      </p:tavLst>
                                    </p:anim>
                                  </p:childTnLst>
                                </p:cTn>
                              </p:par>
                              <p:par>
                                <p:cTn id="115" presetID="42" presetClass="entr" presetSubtype="0" fill="hold" grpId="0" nodeType="withEffect" decel="100000">
                                  <p:stCondLst>
                                    <p:cond delay="15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0.05"/>
                                          </p:val>
                                        </p:tav>
                                        <p:tav tm="100000">
                                          <p:val>
                                            <p:strVal val="#ppt_y"/>
                                          </p:val>
                                        </p:tav>
                                      </p:tavLst>
                                    </p:anim>
                                  </p:childTnLst>
                                </p:cTn>
                              </p:par>
                              <p:par>
                                <p:cTn id="120" presetID="42" presetClass="entr" presetSubtype="0" fill="hold" grpId="0" nodeType="withEffect" decel="100000">
                                  <p:stCondLst>
                                    <p:cond delay="15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0.05"/>
                                          </p:val>
                                        </p:tav>
                                        <p:tav tm="100000">
                                          <p:val>
                                            <p:strVal val="#ppt_y"/>
                                          </p:val>
                                        </p:tav>
                                      </p:tavLst>
                                    </p:anim>
                                  </p:childTnLst>
                                </p:cTn>
                              </p:par>
                              <p:par>
                                <p:cTn id="123" presetID="10" presetClass="entr" presetSubtype="0" fill="hold" grpId="0" nodeType="withEffect" decel="100000">
                                  <p:stCondLst>
                                    <p:cond delay="35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childTnLst>
                          </p:cTn>
                        </p:par>
                      </p:childTnLst>
                    </p:cTn>
                  </p:par>
                  <p:par>
                    <p:cTn id="159" fill="hold">
                      <p:stCondLst>
                        <p:cond delay="indefinite"/>
                      </p:stCondLst>
                      <p:childTnLst>
                        <p:par>
                          <p:cTn id="160" fill="hold">
                            <p:stCondLst>
                              <p:cond delay="0"/>
                            </p:stCondLst>
                            <p:childTnLst>
                              <p:par>
                                <p:cTn id="130" presetID="53" presetClass="entr" presetSubtype="16" fill="hold" grpId="0" nodeType="clickEffect" decel="100000">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p:cTn id="127" dur="350" fill="hold"/>
                                        <p:tgtEl>
                                          <p:spTgt spid="28"/>
                                        </p:tgtEl>
                                        <p:attrNameLst>
                                          <p:attrName>ppt_w</p:attrName>
                                        </p:attrNameLst>
                                      </p:cBhvr>
                                      <p:tavLst>
                                        <p:tav tm="0">
                                          <p:val>
                                            <p:strVal val="#ppt_w*0.70"/>
                                          </p:val>
                                        </p:tav>
                                        <p:tav tm="100000">
                                          <p:val>
                                            <p:strVal val="#ppt_w"/>
                                          </p:val>
                                        </p:tav>
                                      </p:tavLst>
                                    </p:anim>
                                    <p:anim calcmode="lin" valueType="num">
                                      <p:cBhvr>
                                        <p:cTn id="128" dur="350" fill="hold"/>
                                        <p:tgtEl>
                                          <p:spTgt spid="28"/>
                                        </p:tgtEl>
                                        <p:attrNameLst>
                                          <p:attrName>ppt_h</p:attrName>
                                        </p:attrNameLst>
                                      </p:cBhvr>
                                      <p:tavLst>
                                        <p:tav tm="0">
                                          <p:val>
                                            <p:strVal val="#ppt_h*0.70"/>
                                          </p:val>
                                        </p:tav>
                                        <p:tav tm="100000">
                                          <p:val>
                                            <p:strVal val="#ppt_h"/>
                                          </p:val>
                                        </p:tav>
                                      </p:tavLst>
                                    </p:anim>
                                    <p:animEffect transition="in" filter="fade">
                                      <p:cBhvr>
                                        <p:cTn id="129" dur="350"/>
                                        <p:tgtEl>
                                          <p:spTgt spid="28"/>
                                        </p:tgtEl>
                                      </p:cBhvr>
                                    </p:animEffect>
                                  </p:childTnLst>
                                </p:cTn>
                              </p:par>
                              <p:par>
                                <p:cTn id="135" presetID="53" presetClass="entr" presetSubtype="16" fill="hold" grpId="0" nodeType="withEffect" decel="100000">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350" fill="hold"/>
                                        <p:tgtEl>
                                          <p:spTgt spid="29"/>
                                        </p:tgtEl>
                                        <p:attrNameLst>
                                          <p:attrName>ppt_w</p:attrName>
                                        </p:attrNameLst>
                                      </p:cBhvr>
                                      <p:tavLst>
                                        <p:tav tm="0">
                                          <p:val>
                                            <p:strVal val="#ppt_w*0.70"/>
                                          </p:val>
                                        </p:tav>
                                        <p:tav tm="100000">
                                          <p:val>
                                            <p:strVal val="#ppt_w"/>
                                          </p:val>
                                        </p:tav>
                                      </p:tavLst>
                                    </p:anim>
                                    <p:anim calcmode="lin" valueType="num">
                                      <p:cBhvr>
                                        <p:cTn id="133" dur="350" fill="hold"/>
                                        <p:tgtEl>
                                          <p:spTgt spid="29"/>
                                        </p:tgtEl>
                                        <p:attrNameLst>
                                          <p:attrName>ppt_h</p:attrName>
                                        </p:attrNameLst>
                                      </p:cBhvr>
                                      <p:tavLst>
                                        <p:tav tm="0">
                                          <p:val>
                                            <p:strVal val="#ppt_h*0.70"/>
                                          </p:val>
                                        </p:tav>
                                        <p:tav tm="100000">
                                          <p:val>
                                            <p:strVal val="#ppt_h"/>
                                          </p:val>
                                        </p:tav>
                                      </p:tavLst>
                                    </p:anim>
                                    <p:animEffect transition="in" filter="fade">
                                      <p:cBhvr>
                                        <p:cTn id="134" dur="350"/>
                                        <p:tgtEl>
                                          <p:spTgt spid="29"/>
                                        </p:tgtEl>
                                      </p:cBhvr>
                                    </p:animEffect>
                                  </p:childTnLst>
                                </p:cTn>
                              </p:par>
                              <p:par>
                                <p:cTn id="140" presetID="42" presetClass="entr" presetSubtype="0" fill="hold" grpId="0" nodeType="withEffect" decel="100000">
                                  <p:stCondLst>
                                    <p:cond delay="15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0.05"/>
                                          </p:val>
                                        </p:tav>
                                        <p:tav tm="100000">
                                          <p:val>
                                            <p:strVal val="#ppt_y"/>
                                          </p:val>
                                        </p:tav>
                                      </p:tavLst>
                                    </p:anim>
                                  </p:childTnLst>
                                </p:cTn>
                              </p:par>
                              <p:par>
                                <p:cTn id="145" presetID="42" presetClass="entr" presetSubtype="0" fill="hold" grpId="0" nodeType="withEffect" decel="100000">
                                  <p:stCondLst>
                                    <p:cond delay="15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0.05"/>
                                          </p:val>
                                        </p:tav>
                                        <p:tav tm="100000">
                                          <p:val>
                                            <p:strVal val="#ppt_y"/>
                                          </p:val>
                                        </p:tav>
                                      </p:tavLst>
                                    </p:anim>
                                  </p:childTnLst>
                                </p:cTn>
                              </p:par>
                              <p:par>
                                <p:cTn id="150" presetID="42" presetClass="entr" presetSubtype="0" fill="hold" grpId="0" nodeType="withEffect" decel="100000">
                                  <p:stCondLst>
                                    <p:cond delay="15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0.05"/>
                                          </p:val>
                                        </p:tav>
                                        <p:tav tm="100000">
                                          <p:val>
                                            <p:strVal val="#ppt_y"/>
                                          </p:val>
                                        </p:tav>
                                      </p:tavLst>
                                    </p:anim>
                                  </p:childTnLst>
                                </p:cTn>
                              </p:par>
                              <p:par>
                                <p:cTn id="155" presetID="42" presetClass="entr" presetSubtype="0" fill="hold" grpId="0" nodeType="withEffect" decel="100000">
                                  <p:stCondLst>
                                    <p:cond delay="15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0.05"/>
                                          </p:val>
                                        </p:tav>
                                        <p:tav tm="100000">
                                          <p:val>
                                            <p:strVal val="#ppt_y"/>
                                          </p:val>
                                        </p:tav>
                                      </p:tavLst>
                                    </p:anim>
                                  </p:childTnLst>
                                </p:cTn>
                              </p:par>
                              <p:par>
                                <p:cTn id="158" presetID="10" presetClass="entr" presetSubtype="0" fill="hold" grpId="0" nodeType="withEffect" decel="100000">
                                  <p:stCondLst>
                                    <p:cond delay="35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childTnLst>
                                </p:cTn>
                              </p:par>
                            </p:childTnLst>
                          </p:cTn>
                        </p:par>
                      </p:childTnLst>
                    </p:cTn>
                  </p:par>
                  <p:par>
                    <p:cTn id="164" fill="hold">
                      <p:stCondLst>
                        <p:cond delay="indefinite"/>
                      </p:stCondLst>
                      <p:childTnLst>
                        <p:par>
                          <p:cTn id="165" fill="hold">
                            <p:stCondLst>
                              <p:cond delay="0"/>
                            </p:stCondLst>
                            <p:childTnLst>
                              <p:par>
                                <p:cTn id="163" presetID="10" presetClass="entr" presetSubtype="0" fill="hold" grpId="0" nodeType="clickEffect" decel="100000">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3" grpId="0" animBg="1"/>
      <p:bldP spid="34" grpId="0" animBg="1"/>
      <p:bldP spid="3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p:bgPr>
    </p:bg>
    <p:spTree>
      <p:nvGrpSpPr>
        <p:cNvPr id="1" name=""/>
        <p:cNvGrpSpPr/>
        <p:nvPr/>
      </p:nvGrpSpPr>
      <p:grpSpPr>
        <a:xfrm>
          <a:off x="0" y="0"/>
          <a:ext cx="0" cy="0"/>
          <a:chOff x="0" y="0"/>
          <a:chExt cx="0" cy="0"/>
        </a:xfrm>
      </p:grpSpPr>
      <p:sp>
        <p:nvSpPr>
          <p:cNvPr id="3" name="txt_24_0"/>
          <p:cNvSpPr txBox="1"/>
          <p:nvPr/>
        </p:nvSpPr>
        <p:spPr>
          <a:xfrm>
            <a:off x="548640" y="411480"/>
            <a:ext cx="7315200" cy="256032"/>
          </a:xfrm>
          <a:prstGeom prst="rect">
            <a:avLst/>
          </a:prstGeom>
          <a:noFill/>
          <a:ln/>
        </p:spPr>
        <p:txBody>
          <a:bodyPr wrap="square" lIns="0" tIns="0" rIns="0" bIns="0" rtlCol="0" anchor="t"/>
          <a:lstStyle/>
          <a:p>
            <a:pPr indent="0" marL="0">
              <a:buNone/>
            </a:pPr>
            <a:r>
              <a:rPr lang="en-US" sz="1100" b="1" spc="300" kern="0" dirty="0">
                <a:solidFill>
                  <a:srgbClr val="F5A524"/>
                </a:solidFill>
                <a:latin typeface="Calibri" pitchFamily="34" charset="0"/>
                <a:ea typeface="Calibri" pitchFamily="34" charset="-122"/>
                <a:cs typeface="Calibri" pitchFamily="34" charset="-120"/>
              </a:rPr>
              <a:t>CONCLUSION</a:t>
            </a:r>
            <a:endParaRPr lang="en-US" sz="1100" dirty="0"/>
          </a:p>
        </p:txBody>
      </p:sp>
      <p:sp>
        <p:nvSpPr>
          <p:cNvPr id="4" name="txt_24_1"/>
          <p:cNvSpPr txBox="1"/>
          <p:nvPr/>
        </p:nvSpPr>
        <p:spPr>
          <a:xfrm>
            <a:off x="548640" y="676656"/>
            <a:ext cx="11094415"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What We Learned</a:t>
            </a:r>
            <a:endParaRPr lang="en-US" sz="3200" dirty="0"/>
          </a:p>
        </p:txBody>
      </p:sp>
      <p:sp>
        <p:nvSpPr>
          <p:cNvPr id="5" name="shp_24_2"/>
          <p:cNvSpPr/>
          <p:nvPr/>
        </p:nvSpPr>
        <p:spPr>
          <a:xfrm>
            <a:off x="548640" y="1691640"/>
            <a:ext cx="3515258" cy="4114800"/>
          </a:xfrm>
          <a:prstGeom prst="roundRect">
            <a:avLst>
              <a:gd name="adj" fmla="val 2601"/>
            </a:avLst>
          </a:prstGeom>
          <a:solidFill>
            <a:srgbClr val="112038"/>
          </a:solidFill>
          <a:ln w="9525">
            <a:solidFill>
              <a:srgbClr val="243A5E"/>
            </a:solidFill>
            <a:prstDash val="solid"/>
          </a:ln>
        </p:spPr>
      </p:sp>
      <p:sp>
        <p:nvSpPr>
          <p:cNvPr id="6" name="txt_24_3"/>
          <p:cNvSpPr txBox="1"/>
          <p:nvPr/>
        </p:nvSpPr>
        <p:spPr>
          <a:xfrm>
            <a:off x="914400" y="1828800"/>
            <a:ext cx="1828800" cy="914400"/>
          </a:xfrm>
          <a:prstGeom prst="rect">
            <a:avLst/>
          </a:prstGeom>
          <a:noFill/>
          <a:ln/>
        </p:spPr>
        <p:txBody>
          <a:bodyPr wrap="square" lIns="0" tIns="0" rIns="0" bIns="0" rtlCol="0" anchor="t"/>
          <a:lstStyle/>
          <a:p>
            <a:pPr indent="0" marL="0">
              <a:buNone/>
            </a:pPr>
            <a:r>
              <a:rPr lang="en-US" sz="5400" b="1" dirty="0">
                <a:solidFill>
                  <a:srgbClr val="F5A524"/>
                </a:solidFill>
                <a:latin typeface="Calibri" pitchFamily="34" charset="0"/>
                <a:ea typeface="Calibri" pitchFamily="34" charset="-122"/>
                <a:cs typeface="Calibri" pitchFamily="34" charset="-120"/>
              </a:rPr>
              <a:t>01</a:t>
            </a:r>
            <a:endParaRPr lang="en-US" sz="5400" dirty="0"/>
          </a:p>
        </p:txBody>
      </p:sp>
      <p:sp>
        <p:nvSpPr>
          <p:cNvPr id="7" name="txt_24_4"/>
          <p:cNvSpPr txBox="1"/>
          <p:nvPr/>
        </p:nvSpPr>
        <p:spPr>
          <a:xfrm>
            <a:off x="914400" y="2926080"/>
            <a:ext cx="2783738"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AI earns trust only when it shows its working</a:t>
            </a:r>
            <a:endParaRPr lang="en-US" sz="2000" dirty="0"/>
          </a:p>
        </p:txBody>
      </p:sp>
      <p:sp>
        <p:nvSpPr>
          <p:cNvPr id="8" name="txt_24_5"/>
          <p:cNvSpPr txBox="1"/>
          <p:nvPr/>
        </p:nvSpPr>
        <p:spPr>
          <a:xfrm>
            <a:off x="914400" y="3977640"/>
            <a:ext cx="2783738" cy="1645920"/>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The rule price beside the ML price, factor-level risk bars, and a citation under every customs rule — that is what made people use it.</a:t>
            </a:r>
            <a:endParaRPr lang="en-US" sz="1500" dirty="0"/>
          </a:p>
        </p:txBody>
      </p:sp>
      <p:sp>
        <p:nvSpPr>
          <p:cNvPr id="9" name="shp_24_6"/>
          <p:cNvSpPr/>
          <p:nvPr/>
        </p:nvSpPr>
        <p:spPr>
          <a:xfrm>
            <a:off x="4338218" y="1691640"/>
            <a:ext cx="3515258" cy="4114800"/>
          </a:xfrm>
          <a:prstGeom prst="roundRect">
            <a:avLst>
              <a:gd name="adj" fmla="val 2601"/>
            </a:avLst>
          </a:prstGeom>
          <a:solidFill>
            <a:srgbClr val="112038"/>
          </a:solidFill>
          <a:ln w="9525">
            <a:solidFill>
              <a:srgbClr val="243A5E"/>
            </a:solidFill>
            <a:prstDash val="solid"/>
          </a:ln>
        </p:spPr>
      </p:sp>
      <p:sp>
        <p:nvSpPr>
          <p:cNvPr id="10" name="txt_24_7"/>
          <p:cNvSpPr txBox="1"/>
          <p:nvPr/>
        </p:nvSpPr>
        <p:spPr>
          <a:xfrm>
            <a:off x="4703978" y="1828800"/>
            <a:ext cx="1828800" cy="914400"/>
          </a:xfrm>
          <a:prstGeom prst="rect">
            <a:avLst/>
          </a:prstGeom>
          <a:noFill/>
          <a:ln/>
        </p:spPr>
        <p:txBody>
          <a:bodyPr wrap="square" lIns="0" tIns="0" rIns="0" bIns="0" rtlCol="0" anchor="t"/>
          <a:lstStyle/>
          <a:p>
            <a:pPr indent="0" marL="0">
              <a:buNone/>
            </a:pPr>
            <a:r>
              <a:rPr lang="en-US" sz="5400" b="1" dirty="0">
                <a:solidFill>
                  <a:srgbClr val="F5A524"/>
                </a:solidFill>
                <a:latin typeface="Calibri" pitchFamily="34" charset="0"/>
                <a:ea typeface="Calibri" pitchFamily="34" charset="-122"/>
                <a:cs typeface="Calibri" pitchFamily="34" charset="-120"/>
              </a:rPr>
              <a:t>02</a:t>
            </a:r>
            <a:endParaRPr lang="en-US" sz="5400" dirty="0"/>
          </a:p>
        </p:txBody>
      </p:sp>
      <p:sp>
        <p:nvSpPr>
          <p:cNvPr id="11" name="txt_24_8"/>
          <p:cNvSpPr txBox="1"/>
          <p:nvPr/>
        </p:nvSpPr>
        <p:spPr>
          <a:xfrm>
            <a:off x="4703978" y="2926080"/>
            <a:ext cx="2783738"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Design for the integration that is down</a:t>
            </a:r>
            <a:endParaRPr lang="en-US" sz="2000" dirty="0"/>
          </a:p>
        </p:txBody>
      </p:sp>
      <p:sp>
        <p:nvSpPr>
          <p:cNvPr id="12" name="txt_24_9"/>
          <p:cNvSpPr txBox="1"/>
          <p:nvPr/>
        </p:nvSpPr>
        <p:spPr>
          <a:xfrm>
            <a:off x="4703978" y="3977640"/>
            <a:ext cx="2783738" cy="1645920"/>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Fallbacks, caches and an offline test are not defensive extras; on the day of the demo they are the product.</a:t>
            </a:r>
            <a:endParaRPr lang="en-US" sz="1500" dirty="0"/>
          </a:p>
        </p:txBody>
      </p:sp>
      <p:sp>
        <p:nvSpPr>
          <p:cNvPr id="13" name="shp_24_10"/>
          <p:cNvSpPr/>
          <p:nvPr/>
        </p:nvSpPr>
        <p:spPr>
          <a:xfrm>
            <a:off x="8127797" y="1691640"/>
            <a:ext cx="3515258" cy="4114800"/>
          </a:xfrm>
          <a:prstGeom prst="roundRect">
            <a:avLst>
              <a:gd name="adj" fmla="val 2601"/>
            </a:avLst>
          </a:prstGeom>
          <a:solidFill>
            <a:srgbClr val="112038"/>
          </a:solidFill>
          <a:ln w="9525">
            <a:solidFill>
              <a:srgbClr val="243A5E"/>
            </a:solidFill>
            <a:prstDash val="solid"/>
          </a:ln>
        </p:spPr>
      </p:sp>
      <p:sp>
        <p:nvSpPr>
          <p:cNvPr id="14" name="txt_24_11"/>
          <p:cNvSpPr txBox="1"/>
          <p:nvPr/>
        </p:nvSpPr>
        <p:spPr>
          <a:xfrm>
            <a:off x="8493557" y="1828800"/>
            <a:ext cx="1828800" cy="914400"/>
          </a:xfrm>
          <a:prstGeom prst="rect">
            <a:avLst/>
          </a:prstGeom>
          <a:noFill/>
          <a:ln/>
        </p:spPr>
        <p:txBody>
          <a:bodyPr wrap="square" lIns="0" tIns="0" rIns="0" bIns="0" rtlCol="0" anchor="t"/>
          <a:lstStyle/>
          <a:p>
            <a:pPr indent="0" marL="0">
              <a:buNone/>
            </a:pPr>
            <a:r>
              <a:rPr lang="en-US" sz="5400" b="1" dirty="0">
                <a:solidFill>
                  <a:srgbClr val="F5A524"/>
                </a:solidFill>
                <a:latin typeface="Calibri" pitchFamily="34" charset="0"/>
                <a:ea typeface="Calibri" pitchFamily="34" charset="-122"/>
                <a:cs typeface="Calibri" pitchFamily="34" charset="-120"/>
              </a:rPr>
              <a:t>03</a:t>
            </a:r>
            <a:endParaRPr lang="en-US" sz="5400" dirty="0"/>
          </a:p>
        </p:txBody>
      </p:sp>
      <p:sp>
        <p:nvSpPr>
          <p:cNvPr id="15" name="txt_24_12"/>
          <p:cNvSpPr txBox="1"/>
          <p:nvPr/>
        </p:nvSpPr>
        <p:spPr>
          <a:xfrm>
            <a:off x="8493557" y="2926080"/>
            <a:ext cx="2783738"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Ship the whole loop, not the demo slice</a:t>
            </a:r>
            <a:endParaRPr lang="en-US" sz="2000" dirty="0"/>
          </a:p>
        </p:txBody>
      </p:sp>
      <p:sp>
        <p:nvSpPr>
          <p:cNvPr id="16" name="txt_24_13"/>
          <p:cNvSpPr txBox="1"/>
          <p:nvPr/>
        </p:nvSpPr>
        <p:spPr>
          <a:xfrm>
            <a:off x="8493557" y="3977640"/>
            <a:ext cx="2783738" cy="1645920"/>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The quote was the easy half. Approvals, revisions, clearance, booking and the audit trail are what make it a system.</a:t>
            </a:r>
            <a:endParaRPr lang="en-US" sz="1500" dirty="0"/>
          </a:p>
        </p:txBody>
      </p:sp>
      <p:sp>
        <p:nvSpPr>
          <p:cNvPr id="17" name="txt_24_14"/>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b="1" dirty="0">
                <a:solidFill>
                  <a:srgbClr val="AEBBCF"/>
                </a:solidFill>
                <a:latin typeface="Calibri" pitchFamily="34" charset="0"/>
                <a:ea typeface="Calibri" pitchFamily="34" charset="-122"/>
                <a:cs typeface="Calibri" pitchFamily="34" charset="-120"/>
              </a:rPr>
              <a:t>FreightAI</a:t>
            </a:r>
            <a:pPr indent="0" marL="0">
              <a:buNone/>
            </a:pPr>
            <a:r>
              <a:rPr lang="en-US" sz="1000" dirty="0">
                <a:solidFill>
                  <a:srgbClr val="71819A"/>
                </a:solidFill>
                <a:latin typeface="Calibri" pitchFamily="34" charset="0"/>
                <a:ea typeface="Calibri" pitchFamily="34" charset="-122"/>
                <a:cs typeface="Calibri" pitchFamily="34" charset="-120"/>
              </a:rPr>
              <a:t>   Agentic AI for Maritime Freight Pricing</a:t>
            </a:r>
            <a:endParaRPr lang="en-US" sz="1000" dirty="0"/>
          </a:p>
        </p:txBody>
      </p:sp>
      <p:sp>
        <p:nvSpPr>
          <p:cNvPr id="18" name="txt_24_15"/>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1000" dirty="0">
                <a:solidFill>
                  <a:srgbClr val="71819A"/>
                </a:solidFill>
                <a:latin typeface="Calibri" pitchFamily="34" charset="0"/>
                <a:ea typeface="Calibri" pitchFamily="34" charset="-122"/>
                <a:cs typeface="Calibri" pitchFamily="34" charset="-120"/>
              </a:rPr>
              <a:t>24 / 25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cond evt="onBegin" delay="0">
                          <p:tn val="2"/>
                        </p:cond>
                      </p:stCondLst>
                      <p:childTnLst>
                        <p:par>
                          <p:cTn id="12"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10" presetID="42" presetClass="entr" presetSubtype="0" fill="hold" grpId="0" nodeType="withEffect" decel="100000">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17" presetID="42" presetClass="entr" presetSubtype="0" fill="hold" grpId="0" nodeType="clickEffect" decel="100000">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0.05"/>
                                          </p:val>
                                        </p:tav>
                                        <p:tav tm="100000">
                                          <p:val>
                                            <p:strVal val="#ppt_y"/>
                                          </p:val>
                                        </p:tav>
                                      </p:tavLst>
                                    </p:anim>
                                  </p:childTnLst>
                                </p:cTn>
                              </p:par>
                              <p:par>
                                <p:cTn id="22" presetID="53" presetClass="entr" presetSubtype="16" fill="hold" grpId="0" nodeType="withEffect" decel="100000">
                                  <p:stCondLst>
                                    <p:cond delay="10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strVal val="#ppt_w*0.70"/>
                                          </p:val>
                                        </p:tav>
                                        <p:tav tm="100000">
                                          <p:val>
                                            <p:strVal val="#ppt_w"/>
                                          </p:val>
                                        </p:tav>
                                      </p:tavLst>
                                    </p:anim>
                                    <p:anim calcmode="lin" valueType="num">
                                      <p:cBhvr>
                                        <p:cTn id="20" dur="500" fill="hold"/>
                                        <p:tgtEl>
                                          <p:spTgt spid="6"/>
                                        </p:tgtEl>
                                        <p:attrNameLst>
                                          <p:attrName>ppt_h</p:attrName>
                                        </p:attrNameLst>
                                      </p:cBhvr>
                                      <p:tavLst>
                                        <p:tav tm="0">
                                          <p:val>
                                            <p:strVal val="#ppt_h*0.70"/>
                                          </p:val>
                                        </p:tav>
                                        <p:tav tm="100000">
                                          <p:val>
                                            <p:strVal val="#ppt_h"/>
                                          </p:val>
                                        </p:tav>
                                      </p:tavLst>
                                    </p:anim>
                                    <p:animEffect transition="in" filter="fade">
                                      <p:cBhvr>
                                        <p:cTn id="21" dur="500"/>
                                        <p:tgtEl>
                                          <p:spTgt spid="6"/>
                                        </p:tgtEl>
                                      </p:cBhvr>
                                    </p:animEffect>
                                  </p:childTnLst>
                                </p:cTn>
                              </p:par>
                              <p:par>
                                <p:cTn id="27" presetID="42" presetClass="entr" presetSubtype="0" fill="hold" grpId="0" nodeType="withEffect" decel="100000">
                                  <p:stCondLst>
                                    <p:cond delay="2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fill="hold"/>
                                        <p:tgtEl>
                                          <p:spTgt spid="7"/>
                                        </p:tgtEl>
                                        <p:attrNameLst>
                                          <p:attrName>ppt_x</p:attrName>
                                        </p:attrNameLst>
                                      </p:cBhvr>
                                      <p:tavLst>
                                        <p:tav tm="0">
                                          <p:val>
                                            <p:strVal val="#ppt_x"/>
                                          </p:val>
                                        </p:tav>
                                        <p:tav tm="100000">
                                          <p:val>
                                            <p:strVal val="#ppt_x"/>
                                          </p:val>
                                        </p:tav>
                                      </p:tavLst>
                                    </p:anim>
                                    <p:anim calcmode="lin" valueType="num">
                                      <p:cBhvr>
                                        <p:cTn id="26" dur="500" fill="hold"/>
                                        <p:tgtEl>
                                          <p:spTgt spid="7"/>
                                        </p:tgtEl>
                                        <p:attrNameLst>
                                          <p:attrName>ppt_y</p:attrName>
                                        </p:attrNameLst>
                                      </p:cBhvr>
                                      <p:tavLst>
                                        <p:tav tm="0">
                                          <p:val>
                                            <p:strVal val="#ppt_y+0.05"/>
                                          </p:val>
                                        </p:tav>
                                        <p:tav tm="100000">
                                          <p:val>
                                            <p:strVal val="#ppt_y"/>
                                          </p:val>
                                        </p:tav>
                                      </p:tavLst>
                                    </p:anim>
                                  </p:childTnLst>
                                </p:cTn>
                              </p:par>
                              <p:par>
                                <p:cTn id="30" presetID="10" presetClass="entr" presetSubtype="0" fill="hold" grpId="0" nodeType="withEffect" decel="100000">
                                  <p:stCondLst>
                                    <p:cond delay="40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37" presetID="42" presetClass="entr" presetSubtype="0" fill="hold" grpId="0" nodeType="clickEffect" decel="100000">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anim calcmode="lin" valueType="num">
                                      <p:cBhvr>
                                        <p:cTn id="35" dur="500" fill="hold"/>
                                        <p:tgtEl>
                                          <p:spTgt spid="9"/>
                                        </p:tgtEl>
                                        <p:attrNameLst>
                                          <p:attrName>ppt_x</p:attrName>
                                        </p:attrNameLst>
                                      </p:cBhvr>
                                      <p:tavLst>
                                        <p:tav tm="0">
                                          <p:val>
                                            <p:strVal val="#ppt_x"/>
                                          </p:val>
                                        </p:tav>
                                        <p:tav tm="100000">
                                          <p:val>
                                            <p:strVal val="#ppt_x"/>
                                          </p:val>
                                        </p:tav>
                                      </p:tavLst>
                                    </p:anim>
                                    <p:anim calcmode="lin" valueType="num">
                                      <p:cBhvr>
                                        <p:cTn id="36" dur="500" fill="hold"/>
                                        <p:tgtEl>
                                          <p:spTgt spid="9"/>
                                        </p:tgtEl>
                                        <p:attrNameLst>
                                          <p:attrName>ppt_y</p:attrName>
                                        </p:attrNameLst>
                                      </p:cBhvr>
                                      <p:tavLst>
                                        <p:tav tm="0">
                                          <p:val>
                                            <p:strVal val="#ppt_y+0.05"/>
                                          </p:val>
                                        </p:tav>
                                        <p:tav tm="100000">
                                          <p:val>
                                            <p:strVal val="#ppt_y"/>
                                          </p:val>
                                        </p:tav>
                                      </p:tavLst>
                                    </p:anim>
                                  </p:childTnLst>
                                </p:cTn>
                              </p:par>
                              <p:par>
                                <p:cTn id="42" presetID="53" presetClass="entr" presetSubtype="16" fill="hold" grpId="0" nodeType="withEffect" decel="100000">
                                  <p:stCondLst>
                                    <p:cond delay="10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strVal val="#ppt_w*0.70"/>
                                          </p:val>
                                        </p:tav>
                                        <p:tav tm="100000">
                                          <p:val>
                                            <p:strVal val="#ppt_w"/>
                                          </p:val>
                                        </p:tav>
                                      </p:tavLst>
                                    </p:anim>
                                    <p:anim calcmode="lin" valueType="num">
                                      <p:cBhvr>
                                        <p:cTn id="40" dur="500" fill="hold"/>
                                        <p:tgtEl>
                                          <p:spTgt spid="10"/>
                                        </p:tgtEl>
                                        <p:attrNameLst>
                                          <p:attrName>ppt_h</p:attrName>
                                        </p:attrNameLst>
                                      </p:cBhvr>
                                      <p:tavLst>
                                        <p:tav tm="0">
                                          <p:val>
                                            <p:strVal val="#ppt_h*0.70"/>
                                          </p:val>
                                        </p:tav>
                                        <p:tav tm="100000">
                                          <p:val>
                                            <p:strVal val="#ppt_h"/>
                                          </p:val>
                                        </p:tav>
                                      </p:tavLst>
                                    </p:anim>
                                    <p:animEffect transition="in" filter="fade">
                                      <p:cBhvr>
                                        <p:cTn id="41" dur="500"/>
                                        <p:tgtEl>
                                          <p:spTgt spid="10"/>
                                        </p:tgtEl>
                                      </p:cBhvr>
                                    </p:animEffect>
                                  </p:childTnLst>
                                </p:cTn>
                              </p:par>
                              <p:par>
                                <p:cTn id="47" presetID="42" presetClass="entr" presetSubtype="0" fill="hold" grpId="0" nodeType="withEffect" decel="100000">
                                  <p:stCondLst>
                                    <p:cond delay="2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anim calcmode="lin" valueType="num">
                                      <p:cBhvr>
                                        <p:cTn id="45" dur="500" fill="hold"/>
                                        <p:tgtEl>
                                          <p:spTgt spid="11"/>
                                        </p:tgtEl>
                                        <p:attrNameLst>
                                          <p:attrName>ppt_x</p:attrName>
                                        </p:attrNameLst>
                                      </p:cBhvr>
                                      <p:tavLst>
                                        <p:tav tm="0">
                                          <p:val>
                                            <p:strVal val="#ppt_x"/>
                                          </p:val>
                                        </p:tav>
                                        <p:tav tm="100000">
                                          <p:val>
                                            <p:strVal val="#ppt_x"/>
                                          </p:val>
                                        </p:tav>
                                      </p:tavLst>
                                    </p:anim>
                                    <p:anim calcmode="lin" valueType="num">
                                      <p:cBhvr>
                                        <p:cTn id="46" dur="500" fill="hold"/>
                                        <p:tgtEl>
                                          <p:spTgt spid="11"/>
                                        </p:tgtEl>
                                        <p:attrNameLst>
                                          <p:attrName>ppt_y</p:attrName>
                                        </p:attrNameLst>
                                      </p:cBhvr>
                                      <p:tavLst>
                                        <p:tav tm="0">
                                          <p:val>
                                            <p:strVal val="#ppt_y+0.05"/>
                                          </p:val>
                                        </p:tav>
                                        <p:tav tm="100000">
                                          <p:val>
                                            <p:strVal val="#ppt_y"/>
                                          </p:val>
                                        </p:tav>
                                      </p:tavLst>
                                    </p:anim>
                                  </p:childTnLst>
                                </p:cTn>
                              </p:par>
                              <p:par>
                                <p:cTn id="50" presetID="10" presetClass="entr" presetSubtype="0" fill="hold" grpId="0" nodeType="withEffect" decel="100000">
                                  <p:stCondLst>
                                    <p:cond delay="40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par>
                    <p:cTn id="71" fill="hold">
                      <p:stCondLst>
                        <p:cond delay="indefinite"/>
                      </p:stCondLst>
                      <p:childTnLst>
                        <p:par>
                          <p:cTn id="72" fill="hold">
                            <p:stCondLst>
                              <p:cond delay="0"/>
                            </p:stCondLst>
                            <p:childTnLst>
                              <p:par>
                                <p:cTn id="57" presetID="42" presetClass="entr" presetSubtype="0" fill="hold" grpId="0" nodeType="clickEffect" decel="100000">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anim calcmode="lin" valueType="num">
                                      <p:cBhvr>
                                        <p:cTn id="55" dur="500" fill="hold"/>
                                        <p:tgtEl>
                                          <p:spTgt spid="13"/>
                                        </p:tgtEl>
                                        <p:attrNameLst>
                                          <p:attrName>ppt_x</p:attrName>
                                        </p:attrNameLst>
                                      </p:cBhvr>
                                      <p:tavLst>
                                        <p:tav tm="0">
                                          <p:val>
                                            <p:strVal val="#ppt_x"/>
                                          </p:val>
                                        </p:tav>
                                        <p:tav tm="100000">
                                          <p:val>
                                            <p:strVal val="#ppt_x"/>
                                          </p:val>
                                        </p:tav>
                                      </p:tavLst>
                                    </p:anim>
                                    <p:anim calcmode="lin" valueType="num">
                                      <p:cBhvr>
                                        <p:cTn id="56" dur="500" fill="hold"/>
                                        <p:tgtEl>
                                          <p:spTgt spid="13"/>
                                        </p:tgtEl>
                                        <p:attrNameLst>
                                          <p:attrName>ppt_y</p:attrName>
                                        </p:attrNameLst>
                                      </p:cBhvr>
                                      <p:tavLst>
                                        <p:tav tm="0">
                                          <p:val>
                                            <p:strVal val="#ppt_y+0.05"/>
                                          </p:val>
                                        </p:tav>
                                        <p:tav tm="100000">
                                          <p:val>
                                            <p:strVal val="#ppt_y"/>
                                          </p:val>
                                        </p:tav>
                                      </p:tavLst>
                                    </p:anim>
                                  </p:childTnLst>
                                </p:cTn>
                              </p:par>
                              <p:par>
                                <p:cTn id="62" presetID="53" presetClass="entr" presetSubtype="16" fill="hold" grpId="0" nodeType="withEffect" decel="100000">
                                  <p:stCondLst>
                                    <p:cond delay="100"/>
                                  </p:stCondLst>
                                  <p:childTnLst>
                                    <p:set>
                                      <p:cBhvr>
                                        <p:cTn id="58" dur="1" fill="hold">
                                          <p:stCondLst>
                                            <p:cond delay="0"/>
                                          </p:stCondLst>
                                        </p:cTn>
                                        <p:tgtEl>
                                          <p:spTgt spid="14"/>
                                        </p:tgtEl>
                                        <p:attrNameLst>
                                          <p:attrName>style.visibility</p:attrName>
                                        </p:attrNameLst>
                                      </p:cBhvr>
                                      <p:to>
                                        <p:strVal val="visible"/>
                                      </p:to>
                                    </p:set>
                                    <p:anim calcmode="lin" valueType="num">
                                      <p:cBhvr>
                                        <p:cTn id="59" dur="500" fill="hold"/>
                                        <p:tgtEl>
                                          <p:spTgt spid="14"/>
                                        </p:tgtEl>
                                        <p:attrNameLst>
                                          <p:attrName>ppt_w</p:attrName>
                                        </p:attrNameLst>
                                      </p:cBhvr>
                                      <p:tavLst>
                                        <p:tav tm="0">
                                          <p:val>
                                            <p:strVal val="#ppt_w*0.70"/>
                                          </p:val>
                                        </p:tav>
                                        <p:tav tm="100000">
                                          <p:val>
                                            <p:strVal val="#ppt_w"/>
                                          </p:val>
                                        </p:tav>
                                      </p:tavLst>
                                    </p:anim>
                                    <p:anim calcmode="lin" valueType="num">
                                      <p:cBhvr>
                                        <p:cTn id="60" dur="500" fill="hold"/>
                                        <p:tgtEl>
                                          <p:spTgt spid="14"/>
                                        </p:tgtEl>
                                        <p:attrNameLst>
                                          <p:attrName>ppt_h</p:attrName>
                                        </p:attrNameLst>
                                      </p:cBhvr>
                                      <p:tavLst>
                                        <p:tav tm="0">
                                          <p:val>
                                            <p:strVal val="#ppt_h*0.70"/>
                                          </p:val>
                                        </p:tav>
                                        <p:tav tm="100000">
                                          <p:val>
                                            <p:strVal val="#ppt_h"/>
                                          </p:val>
                                        </p:tav>
                                      </p:tavLst>
                                    </p:anim>
                                    <p:animEffect transition="in" filter="fade">
                                      <p:cBhvr>
                                        <p:cTn id="61" dur="500"/>
                                        <p:tgtEl>
                                          <p:spTgt spid="14"/>
                                        </p:tgtEl>
                                      </p:cBhvr>
                                    </p:animEffect>
                                  </p:childTnLst>
                                </p:cTn>
                              </p:par>
                              <p:par>
                                <p:cTn id="67" presetID="42" presetClass="entr" presetSubtype="0" fill="hold" grpId="0" nodeType="withEffect" decel="100000">
                                  <p:stCondLst>
                                    <p:cond delay="20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anim calcmode="lin" valueType="num">
                                      <p:cBhvr>
                                        <p:cTn id="65" dur="500" fill="hold"/>
                                        <p:tgtEl>
                                          <p:spTgt spid="15"/>
                                        </p:tgtEl>
                                        <p:attrNameLst>
                                          <p:attrName>ppt_x</p:attrName>
                                        </p:attrNameLst>
                                      </p:cBhvr>
                                      <p:tavLst>
                                        <p:tav tm="0">
                                          <p:val>
                                            <p:strVal val="#ppt_x"/>
                                          </p:val>
                                        </p:tav>
                                        <p:tav tm="100000">
                                          <p:val>
                                            <p:strVal val="#ppt_x"/>
                                          </p:val>
                                        </p:tav>
                                      </p:tavLst>
                                    </p:anim>
                                    <p:anim calcmode="lin" valueType="num">
                                      <p:cBhvr>
                                        <p:cTn id="66" dur="500" fill="hold"/>
                                        <p:tgtEl>
                                          <p:spTgt spid="15"/>
                                        </p:tgtEl>
                                        <p:attrNameLst>
                                          <p:attrName>ppt_y</p:attrName>
                                        </p:attrNameLst>
                                      </p:cBhvr>
                                      <p:tavLst>
                                        <p:tav tm="0">
                                          <p:val>
                                            <p:strVal val="#ppt_y+0.05"/>
                                          </p:val>
                                        </p:tav>
                                        <p:tav tm="100000">
                                          <p:val>
                                            <p:strVal val="#ppt_y"/>
                                          </p:val>
                                        </p:tav>
                                      </p:tavLst>
                                    </p:anim>
                                  </p:childTnLst>
                                </p:cTn>
                              </p:par>
                              <p:par>
                                <p:cTn id="70" presetID="10" presetClass="entr" presetSubtype="0" fill="hold" grpId="0" nodeType="withEffect" decel="100000">
                                  <p:stCondLst>
                                    <p:cond delay="4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p:bgPr>
    </p:bg>
    <p:spTree>
      <p:nvGrpSpPr>
        <p:cNvPr id="1" name=""/>
        <p:cNvGrpSpPr/>
        <p:nvPr/>
      </p:nvGrpSpPr>
      <p:grpSpPr>
        <a:xfrm>
          <a:off x="0" y="0"/>
          <a:ext cx="0" cy="0"/>
          <a:chOff x="0" y="0"/>
          <a:chExt cx="0" cy="0"/>
        </a:xfrm>
      </p:grpSpPr>
      <p:pic>
        <p:nvPicPr>
          <p:cNvPr id="3" name="img_25_0" descr="/private/tmp/claude-501/-Users-nareshramavath-Downloads/8e612fae-240f-42aa-9685-f77b61758c75/scratchpad/orig/ppt/media/image24.png">    </p:cNvPr>
          <p:cNvPicPr>
            <a:picLocks noChangeAspect="1"/>
          </p:cNvPicPr>
          <p:nvPr/>
        </p:nvPicPr>
        <p:blipFill>
          <a:blip r:embed="rId1"/>
          <a:stretch>
            <a:fillRect/>
          </a:stretch>
        </p:blipFill>
        <p:spPr>
          <a:xfrm>
            <a:off x="0" y="0"/>
            <a:ext cx="12191695" cy="6858000"/>
          </a:xfrm>
          <a:prstGeom prst="rect">
            <a:avLst/>
          </a:prstGeom>
        </p:spPr>
      </p:pic>
      <p:sp>
        <p:nvSpPr>
          <p:cNvPr id="4" name="shp_25_1"/>
          <p:cNvSpPr/>
          <p:nvPr/>
        </p:nvSpPr>
        <p:spPr>
          <a:xfrm>
            <a:off x="0" y="0"/>
            <a:ext cx="12191695" cy="6858000"/>
          </a:xfrm>
          <a:prstGeom prst="rect">
            <a:avLst/>
          </a:prstGeom>
          <a:solidFill>
            <a:srgbClr val="0A1628">
              <a:alpha val="65000"/>
            </a:srgbClr>
          </a:solidFill>
          <a:ln w="12700">
            <a:solidFill>
              <a:srgbClr val="0A1628"/>
            </a:solidFill>
            <a:prstDash val="solid"/>
          </a:ln>
        </p:spPr>
      </p:sp>
      <p:sp>
        <p:nvSpPr>
          <p:cNvPr id="5" name="shp_25_2"/>
          <p:cNvSpPr/>
          <p:nvPr/>
        </p:nvSpPr>
        <p:spPr>
          <a:xfrm>
            <a:off x="548640" y="502920"/>
            <a:ext cx="2103120" cy="603504"/>
          </a:xfrm>
          <a:prstGeom prst="roundRect">
            <a:avLst>
              <a:gd name="adj" fmla="val 15152"/>
            </a:avLst>
          </a:prstGeom>
          <a:solidFill>
            <a:srgbClr val="FFFFFF"/>
          </a:solidFill>
          <a:ln w="9525">
            <a:solidFill>
              <a:srgbClr val="FFFFFF"/>
            </a:solidFill>
            <a:prstDash val="solid"/>
          </a:ln>
        </p:spPr>
      </p:sp>
      <p:pic>
        <p:nvPicPr>
          <p:cNvPr id="6" name="img_25_3" descr="/private/tmp/claude-501/-Users-nareshramavath-Downloads/8e612fae-240f-42aa-9685-f77b61758c75/scratchpad/orig/ppt/media/image2.png">    </p:cNvPr>
          <p:cNvPicPr>
            <a:picLocks noChangeAspect="1"/>
          </p:cNvPicPr>
          <p:nvPr/>
        </p:nvPicPr>
        <p:blipFill>
          <a:blip r:embed="rId2"/>
          <a:stretch>
            <a:fillRect/>
          </a:stretch>
        </p:blipFill>
        <p:spPr>
          <a:xfrm>
            <a:off x="685800" y="557784"/>
            <a:ext cx="1828800" cy="498348"/>
          </a:xfrm>
          <a:prstGeom prst="rect">
            <a:avLst/>
          </a:prstGeom>
        </p:spPr>
      </p:pic>
      <p:sp>
        <p:nvSpPr>
          <p:cNvPr id="7" name="txt_25_4"/>
          <p:cNvSpPr txBox="1"/>
          <p:nvPr/>
        </p:nvSpPr>
        <p:spPr>
          <a:xfrm>
            <a:off x="548640" y="1417320"/>
            <a:ext cx="7315200" cy="914400"/>
          </a:xfrm>
          <a:prstGeom prst="rect">
            <a:avLst/>
          </a:prstGeom>
          <a:noFill/>
          <a:ln/>
        </p:spPr>
        <p:txBody>
          <a:bodyPr wrap="square" lIns="0" tIns="0" rIns="0" bIns="0" rtlCol="0" anchor="t"/>
          <a:lstStyle/>
          <a:p>
            <a:pPr indent="0" marL="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8" name="txt_25_5"/>
          <p:cNvSpPr txBox="1"/>
          <p:nvPr/>
        </p:nvSpPr>
        <p:spPr>
          <a:xfrm>
            <a:off x="548640" y="2331720"/>
            <a:ext cx="7315200" cy="548640"/>
          </a:xfrm>
          <a:prstGeom prst="rect">
            <a:avLst/>
          </a:prstGeom>
          <a:noFill/>
          <a:ln/>
        </p:spPr>
        <p:txBody>
          <a:bodyPr wrap="square" lIns="0" tIns="0" rIns="0" bIns="0" rtlCol="0" anchor="t"/>
          <a:lstStyle/>
          <a:p>
            <a:pPr indent="0" marL="0">
              <a:buNone/>
            </a:pPr>
            <a:r>
              <a:rPr lang="en-US" sz="3000" dirty="0">
                <a:solidFill>
                  <a:srgbClr val="F5A524"/>
                </a:solidFill>
                <a:latin typeface="Calibri" pitchFamily="34" charset="0"/>
                <a:ea typeface="Calibri" pitchFamily="34" charset="-122"/>
                <a:cs typeface="Calibri" pitchFamily="34" charset="-120"/>
              </a:rPr>
              <a:t>Questions?</a:t>
            </a:r>
            <a:endParaRPr lang="en-US" sz="3000" dirty="0"/>
          </a:p>
        </p:txBody>
      </p:sp>
      <p:sp>
        <p:nvSpPr>
          <p:cNvPr id="9" name="txt_25_6"/>
          <p:cNvSpPr txBox="1"/>
          <p:nvPr/>
        </p:nvSpPr>
        <p:spPr>
          <a:xfrm>
            <a:off x="548640" y="2926080"/>
            <a:ext cx="7589520" cy="365760"/>
          </a:xfrm>
          <a:prstGeom prst="rect">
            <a:avLst/>
          </a:prstGeom>
          <a:noFill/>
          <a:ln/>
        </p:spPr>
        <p:txBody>
          <a:bodyPr wrap="square" lIns="0" tIns="0" rIns="0" bIns="0" rtlCol="0" anchor="t"/>
          <a:lstStyle/>
          <a:p>
            <a:pPr indent="0" marL="0">
              <a:buNone/>
            </a:pPr>
            <a:r>
              <a:rPr lang="en-US" sz="1500" dirty="0">
                <a:solidFill>
                  <a:srgbClr val="AEBBCF"/>
                </a:solidFill>
                <a:latin typeface="Calibri" pitchFamily="34" charset="0"/>
                <a:ea typeface="Calibri" pitchFamily="34" charset="-122"/>
                <a:cs typeface="Calibri" pitchFamily="34" charset="-120"/>
              </a:rPr>
              <a:t>FreightAI — Agentic AI for Maritime Freight Pricing and Route Optimization</a:t>
            </a:r>
            <a:endParaRPr lang="en-US" sz="1500" dirty="0"/>
          </a:p>
        </p:txBody>
      </p:sp>
      <p:sp>
        <p:nvSpPr>
          <p:cNvPr id="10" name="txt_25_7"/>
          <p:cNvSpPr txBox="1"/>
          <p:nvPr/>
        </p:nvSpPr>
        <p:spPr>
          <a:xfrm>
            <a:off x="548640" y="3703320"/>
            <a:ext cx="4572000" cy="228600"/>
          </a:xfrm>
          <a:prstGeom prst="rect">
            <a:avLst/>
          </a:prstGeom>
          <a:noFill/>
          <a:ln/>
        </p:spPr>
        <p:txBody>
          <a:bodyPr wrap="square" lIns="0" tIns="0" rIns="0" bIns="0" rtlCol="0" anchor="t"/>
          <a:lstStyle/>
          <a:p>
            <a:pPr indent="0" marL="0">
              <a:buNone/>
            </a:pPr>
            <a:r>
              <a:rPr lang="en-US" sz="1050" b="1" spc="250" kern="0" dirty="0">
                <a:solidFill>
                  <a:srgbClr val="F5A524"/>
                </a:solidFill>
                <a:latin typeface="Calibri" pitchFamily="34" charset="0"/>
                <a:ea typeface="Calibri" pitchFamily="34" charset="-122"/>
                <a:cs typeface="Calibri" pitchFamily="34" charset="-120"/>
              </a:rPr>
              <a:t>GROUP 1 · THE TEAM</a:t>
            </a:r>
            <a:endParaRPr lang="en-US" sz="1050" dirty="0"/>
          </a:p>
        </p:txBody>
      </p:sp>
      <p:sp>
        <p:nvSpPr>
          <p:cNvPr id="11" name="txt_25_8"/>
          <p:cNvSpPr txBox="1"/>
          <p:nvPr/>
        </p:nvSpPr>
        <p:spPr>
          <a:xfrm>
            <a:off x="548640" y="4023360"/>
            <a:ext cx="34747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Naresh Ramavath</a:t>
            </a:r>
            <a:endParaRPr lang="en-US" sz="1400" dirty="0"/>
          </a:p>
        </p:txBody>
      </p:sp>
      <p:sp>
        <p:nvSpPr>
          <p:cNvPr id="12" name="txt_25_9"/>
          <p:cNvSpPr txBox="1"/>
          <p:nvPr/>
        </p:nvSpPr>
        <p:spPr>
          <a:xfrm>
            <a:off x="548640" y="4279392"/>
            <a:ext cx="3474720" cy="237744"/>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Team Lead · System Architect · RAG</a:t>
            </a:r>
            <a:endParaRPr lang="en-US" sz="1100" dirty="0"/>
          </a:p>
        </p:txBody>
      </p:sp>
      <p:sp>
        <p:nvSpPr>
          <p:cNvPr id="13" name="txt_25_10"/>
          <p:cNvSpPr txBox="1"/>
          <p:nvPr/>
        </p:nvSpPr>
        <p:spPr>
          <a:xfrm>
            <a:off x="4114800" y="4023360"/>
            <a:ext cx="34747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Nutan Jadhav</a:t>
            </a:r>
            <a:endParaRPr lang="en-US" sz="1400" dirty="0"/>
          </a:p>
        </p:txBody>
      </p:sp>
      <p:sp>
        <p:nvSpPr>
          <p:cNvPr id="14" name="txt_25_11"/>
          <p:cNvSpPr txBox="1"/>
          <p:nvPr/>
        </p:nvSpPr>
        <p:spPr>
          <a:xfrm>
            <a:off x="4114800" y="4279392"/>
            <a:ext cx="3474720" cy="237744"/>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Frontend Lead Engineer</a:t>
            </a:r>
            <a:endParaRPr lang="en-US" sz="1100" dirty="0"/>
          </a:p>
        </p:txBody>
      </p:sp>
      <p:sp>
        <p:nvSpPr>
          <p:cNvPr id="15" name="txt_25_12"/>
          <p:cNvSpPr txBox="1"/>
          <p:nvPr/>
        </p:nvSpPr>
        <p:spPr>
          <a:xfrm>
            <a:off x="548640" y="4626864"/>
            <a:ext cx="34747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Biswajit Pradhan</a:t>
            </a:r>
            <a:endParaRPr lang="en-US" sz="1400" dirty="0"/>
          </a:p>
        </p:txBody>
      </p:sp>
      <p:sp>
        <p:nvSpPr>
          <p:cNvPr id="16" name="txt_25_13"/>
          <p:cNvSpPr txBox="1"/>
          <p:nvPr/>
        </p:nvSpPr>
        <p:spPr>
          <a:xfrm>
            <a:off x="548640" y="4882896"/>
            <a:ext cx="3474720" cy="237744"/>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Machine Learning Engineer</a:t>
            </a:r>
            <a:endParaRPr lang="en-US" sz="1100" dirty="0"/>
          </a:p>
        </p:txBody>
      </p:sp>
      <p:sp>
        <p:nvSpPr>
          <p:cNvPr id="17" name="txt_25_14"/>
          <p:cNvSpPr txBox="1"/>
          <p:nvPr/>
        </p:nvSpPr>
        <p:spPr>
          <a:xfrm>
            <a:off x="4114800" y="4626864"/>
            <a:ext cx="34747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Syona Jain</a:t>
            </a:r>
            <a:endParaRPr lang="en-US" sz="1400" dirty="0"/>
          </a:p>
        </p:txBody>
      </p:sp>
      <p:sp>
        <p:nvSpPr>
          <p:cNvPr id="18" name="txt_25_15"/>
          <p:cNvSpPr txBox="1"/>
          <p:nvPr/>
        </p:nvSpPr>
        <p:spPr>
          <a:xfrm>
            <a:off x="4114800" y="4882896"/>
            <a:ext cx="3474720" cy="237744"/>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Frontend Lead Engineer · UI/UX</a:t>
            </a:r>
            <a:endParaRPr lang="en-US" sz="1100" dirty="0"/>
          </a:p>
        </p:txBody>
      </p:sp>
      <p:sp>
        <p:nvSpPr>
          <p:cNvPr id="19" name="txt_25_16"/>
          <p:cNvSpPr txBox="1"/>
          <p:nvPr/>
        </p:nvSpPr>
        <p:spPr>
          <a:xfrm>
            <a:off x="548640" y="5230368"/>
            <a:ext cx="34747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Arpita Dash</a:t>
            </a:r>
            <a:endParaRPr lang="en-US" sz="1400" dirty="0"/>
          </a:p>
        </p:txBody>
      </p:sp>
      <p:sp>
        <p:nvSpPr>
          <p:cNvPr id="20" name="txt_25_17"/>
          <p:cNvSpPr txBox="1"/>
          <p:nvPr/>
        </p:nvSpPr>
        <p:spPr>
          <a:xfrm>
            <a:off x="548640" y="5486400"/>
            <a:ext cx="3474720" cy="237744"/>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Backend &amp; Telemetry Developer</a:t>
            </a:r>
            <a:endParaRPr lang="en-US" sz="1100" dirty="0"/>
          </a:p>
        </p:txBody>
      </p:sp>
      <p:sp>
        <p:nvSpPr>
          <p:cNvPr id="21" name="txt_25_18"/>
          <p:cNvSpPr txBox="1"/>
          <p:nvPr/>
        </p:nvSpPr>
        <p:spPr>
          <a:xfrm>
            <a:off x="4114800" y="5230368"/>
            <a:ext cx="34747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Ishanvi Chavan</a:t>
            </a:r>
            <a:endParaRPr lang="en-US" sz="1400" dirty="0"/>
          </a:p>
        </p:txBody>
      </p:sp>
      <p:sp>
        <p:nvSpPr>
          <p:cNvPr id="22" name="txt_25_19"/>
          <p:cNvSpPr txBox="1"/>
          <p:nvPr/>
        </p:nvSpPr>
        <p:spPr>
          <a:xfrm>
            <a:off x="4114800" y="5486400"/>
            <a:ext cx="3474720" cy="237744"/>
          </a:xfrm>
          <a:prstGeom prst="rect">
            <a:avLst/>
          </a:prstGeom>
          <a:noFill/>
          <a:ln/>
        </p:spPr>
        <p:txBody>
          <a:bodyPr wrap="square" lIns="0" tIns="0" rIns="0" bIns="0" rtlCol="0" anchor="t"/>
          <a:lstStyle/>
          <a:p>
            <a:pPr indent="0" marL="0">
              <a:buNone/>
            </a:pPr>
            <a:r>
              <a:rPr lang="en-US" sz="1100" dirty="0">
                <a:solidFill>
                  <a:srgbClr val="AEBBCF"/>
                </a:solidFill>
                <a:latin typeface="Calibri" pitchFamily="34" charset="0"/>
                <a:ea typeface="Calibri" pitchFamily="34" charset="-122"/>
                <a:cs typeface="Calibri" pitchFamily="34" charset="-120"/>
              </a:rPr>
              <a:t>QA &amp; DevOps Specialist</a:t>
            </a:r>
            <a:endParaRPr lang="en-US" sz="1100" dirty="0"/>
          </a:p>
        </p:txBody>
      </p:sp>
      <p:sp>
        <p:nvSpPr>
          <p:cNvPr id="23" name="shp_25_20"/>
          <p:cNvSpPr/>
          <p:nvPr/>
        </p:nvSpPr>
        <p:spPr>
          <a:xfrm>
            <a:off x="8595360" y="2011680"/>
            <a:ext cx="3047695" cy="3611880"/>
          </a:xfrm>
          <a:prstGeom prst="roundRect">
            <a:avLst>
              <a:gd name="adj" fmla="val 3000"/>
            </a:avLst>
          </a:prstGeom>
          <a:solidFill>
            <a:srgbClr val="FFFFFF"/>
          </a:solidFill>
          <a:ln w="9525">
            <a:solidFill>
              <a:srgbClr val="FFFFFF"/>
            </a:solidFill>
            <a:prstDash val="solid"/>
          </a:ln>
        </p:spPr>
      </p:sp>
      <p:pic>
        <p:nvPicPr>
          <p:cNvPr id="24" name="img_25_21" descr="/private/tmp/claude-501/-Users-nareshramavath-Downloads/8e612fae-240f-42aa-9685-f77b61758c75/scratchpad/orig/ppt/media/image25.png">    </p:cNvPr>
          <p:cNvPicPr>
            <a:picLocks noChangeAspect="1"/>
          </p:cNvPicPr>
          <p:nvPr/>
        </p:nvPicPr>
        <p:blipFill>
          <a:blip r:embed="rId3"/>
          <a:stretch>
            <a:fillRect/>
          </a:stretch>
        </p:blipFill>
        <p:spPr>
          <a:xfrm>
            <a:off x="8979408" y="2240280"/>
            <a:ext cx="2286000" cy="2286000"/>
          </a:xfrm>
          <a:prstGeom prst="rect">
            <a:avLst/>
          </a:prstGeom>
        </p:spPr>
      </p:pic>
      <p:sp>
        <p:nvSpPr>
          <p:cNvPr id="25" name="txt_25_22"/>
          <p:cNvSpPr txBox="1"/>
          <p:nvPr/>
        </p:nvSpPr>
        <p:spPr>
          <a:xfrm>
            <a:off x="8595360" y="4636008"/>
            <a:ext cx="3047695" cy="274320"/>
          </a:xfrm>
          <a:prstGeom prst="rect">
            <a:avLst/>
          </a:prstGeom>
          <a:noFill/>
          <a:ln/>
        </p:spPr>
        <p:txBody>
          <a:bodyPr wrap="square" lIns="0" tIns="0" rIns="0" bIns="0" rtlCol="0" anchor="t"/>
          <a:lstStyle/>
          <a:p>
            <a:pPr algn="ctr" indent="0" marL="0">
              <a:buNone/>
            </a:pPr>
            <a:r>
              <a:rPr lang="en-US" sz="1300" b="1" dirty="0">
                <a:solidFill>
                  <a:srgbClr val="0A1628"/>
                </a:solidFill>
                <a:latin typeface="Calibri" pitchFamily="34" charset="0"/>
                <a:ea typeface="Calibri" pitchFamily="34" charset="-122"/>
                <a:cs typeface="Calibri" pitchFamily="34" charset="-120"/>
              </a:rPr>
              <a:t>Scan to open the live app</a:t>
            </a:r>
            <a:endParaRPr lang="en-US" sz="1300" dirty="0"/>
          </a:p>
        </p:txBody>
      </p:sp>
      <p:sp>
        <p:nvSpPr>
          <p:cNvPr id="26" name="txt_25_23"/>
          <p:cNvSpPr txBox="1"/>
          <p:nvPr/>
        </p:nvSpPr>
        <p:spPr>
          <a:xfrm>
            <a:off x="8732520" y="4937760"/>
            <a:ext cx="2773375" cy="457200"/>
          </a:xfrm>
          <a:prstGeom prst="rect">
            <a:avLst/>
          </a:prstGeom>
          <a:noFill/>
          <a:ln/>
        </p:spPr>
        <p:txBody>
          <a:bodyPr wrap="square" lIns="0" tIns="0" rIns="0" bIns="0" rtlCol="0" anchor="t"/>
          <a:lstStyle/>
          <a:p>
            <a:pPr algn="ctr" indent="0" marL="0">
              <a:buNone/>
            </a:pPr>
            <a:r>
              <a:rPr lang="en-US" sz="1000" dirty="0">
                <a:solidFill>
                  <a:srgbClr val="334155"/>
                </a:solidFill>
                <a:latin typeface="Calibri" pitchFamily="34" charset="0"/>
                <a:ea typeface="Calibri" pitchFamily="34" charset="-122"/>
                <a:cs typeface="Calibri" pitchFamily="34" charset="-120"/>
              </a:rPr>
              <a:t>freight-quote-generation-system-grp.vercel.app</a:t>
            </a:r>
            <a:endParaRPr lang="en-US" sz="1000" dirty="0"/>
          </a:p>
        </p:txBody>
      </p:sp>
      <p:sp>
        <p:nvSpPr>
          <p:cNvPr id="27" name="txt_25_24"/>
          <p:cNvSpPr txBox="1"/>
          <p:nvPr/>
        </p:nvSpPr>
        <p:spPr>
          <a:xfrm>
            <a:off x="548640" y="6382512"/>
            <a:ext cx="8229600" cy="256032"/>
          </a:xfrm>
          <a:prstGeom prst="rect">
            <a:avLst/>
          </a:prstGeom>
          <a:noFill/>
          <a:ln/>
        </p:spPr>
        <p:txBody>
          <a:bodyPr wrap="square" lIns="0" tIns="0" rIns="0" bIns="0" rtlCol="0" anchor="t"/>
          <a:lstStyle/>
          <a:p>
            <a:pPr indent="0" marL="0">
              <a:buNone/>
            </a:pPr>
            <a:r>
              <a:rPr lang="en-US" sz="1100" dirty="0">
                <a:solidFill>
                  <a:srgbClr val="71819A"/>
                </a:solidFill>
                <a:latin typeface="Calibri" pitchFamily="34" charset="0"/>
                <a:ea typeface="Calibri" pitchFamily="34" charset="-122"/>
                <a:cs typeface="Calibri" pitchFamily="34" charset="-120"/>
              </a:rPr>
              <a:t>Mentor: Bala  ·  Infosys Springboard Virtual Internship 7.0</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85" fill="hold">
                            <p:stCondLst>
                              <p:cond delay="0"/>
                            </p:stCondLst>
                            <p:childTnLst>
                              <p:par>
                                <p:cTn id="5" presetID="10" presetClass="entr" presetSubtype="0" fill="hold" grpId="0" nodeType="afterEffect" decel="100000">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childTnLst>
                                </p:cTn>
                              </p:par>
                              <p:par>
                                <p:cTn id="8" presetID="10" presetClass="entr" presetSubtype="0" fill="hold" grpId="0" nodeType="withEffect" decel="100000">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13" presetID="42" presetClass="entr" presetSubtype="0" fill="hold" grpId="0" nodeType="withEffect" decel="100000">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anim calcmode="lin" valueType="num">
                                      <p:cBhvr>
                                        <p:cTn id="11" dur="700" fill="hold"/>
                                        <p:tgtEl>
                                          <p:spTgt spid="7"/>
                                        </p:tgtEl>
                                        <p:attrNameLst>
                                          <p:attrName>ppt_x</p:attrName>
                                        </p:attrNameLst>
                                      </p:cBhvr>
                                      <p:tavLst>
                                        <p:tav tm="0">
                                          <p:val>
                                            <p:strVal val="#ppt_x"/>
                                          </p:val>
                                        </p:tav>
                                        <p:tav tm="100000">
                                          <p:val>
                                            <p:strVal val="#ppt_x"/>
                                          </p:val>
                                        </p:tav>
                                      </p:tavLst>
                                    </p:anim>
                                    <p:anim calcmode="lin" valueType="num">
                                      <p:cBhvr>
                                        <p:cTn id="12" dur="700" fill="hold"/>
                                        <p:tgtEl>
                                          <p:spTgt spid="7"/>
                                        </p:tgtEl>
                                        <p:attrNameLst>
                                          <p:attrName>ppt_y</p:attrName>
                                        </p:attrNameLst>
                                      </p:cBhvr>
                                      <p:tavLst>
                                        <p:tav tm="0">
                                          <p:val>
                                            <p:strVal val="#ppt_y+0.05"/>
                                          </p:val>
                                        </p:tav>
                                        <p:tav tm="100000">
                                          <p:val>
                                            <p:strVal val="#ppt_y"/>
                                          </p:val>
                                        </p:tav>
                                      </p:tavLst>
                                    </p:anim>
                                  </p:childTnLst>
                                </p:cTn>
                              </p:par>
                              <p:par>
                                <p:cTn id="18" presetID="42" presetClass="entr" presetSubtype="0" fill="hold" grpId="0" nodeType="withEffect" decel="100000">
                                  <p:stCondLst>
                                    <p:cond delay="6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anim calcmode="lin" valueType="num">
                                      <p:cBhvr>
                                        <p:cTn id="16" dur="500" fill="hold"/>
                                        <p:tgtEl>
                                          <p:spTgt spid="8"/>
                                        </p:tgtEl>
                                        <p:attrNameLst>
                                          <p:attrName>ppt_x</p:attrName>
                                        </p:attrNameLst>
                                      </p:cBhvr>
                                      <p:tavLst>
                                        <p:tav tm="0">
                                          <p:val>
                                            <p:strVal val="#ppt_x"/>
                                          </p:val>
                                        </p:tav>
                                        <p:tav tm="100000">
                                          <p:val>
                                            <p:strVal val="#ppt_x"/>
                                          </p:val>
                                        </p:tav>
                                      </p:tavLst>
                                    </p:anim>
                                    <p:anim calcmode="lin" valueType="num">
                                      <p:cBhvr>
                                        <p:cTn id="17" dur="500" fill="hold"/>
                                        <p:tgtEl>
                                          <p:spTgt spid="8"/>
                                        </p:tgtEl>
                                        <p:attrNameLst>
                                          <p:attrName>ppt_y</p:attrName>
                                        </p:attrNameLst>
                                      </p:cBhvr>
                                      <p:tavLst>
                                        <p:tav tm="0">
                                          <p:val>
                                            <p:strVal val="#ppt_y+0.05"/>
                                          </p:val>
                                        </p:tav>
                                        <p:tav tm="100000">
                                          <p:val>
                                            <p:strVal val="#ppt_y"/>
                                          </p:val>
                                        </p:tav>
                                      </p:tavLst>
                                    </p:anim>
                                  </p:childTnLst>
                                </p:cTn>
                              </p:par>
                              <p:par>
                                <p:cTn id="21" presetID="10" presetClass="entr" presetSubtype="0" fill="hold" grpId="0" nodeType="withEffect" decel="100000">
                                  <p:stCondLst>
                                    <p:cond delay="8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4" presetID="10" presetClass="entr" presetSubtype="0" fill="hold" grpId="0" nodeType="withEffect" decel="100000">
                                  <p:stCondLst>
                                    <p:cond delay="10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7" presetID="10" presetClass="entr" presetSubtype="0" fill="hold" grpId="0" nodeType="withEffect" decel="100000">
                                  <p:stCondLst>
                                    <p:cond delay="11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30" presetID="10" presetClass="entr" presetSubtype="0" fill="hold" grpId="0" nodeType="withEffect" decel="100000">
                                  <p:stCondLst>
                                    <p:cond delay="11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3" presetID="10" presetClass="entr" presetSubtype="0" fill="hold" grpId="0" nodeType="withEffect" decel="100000">
                                  <p:stCondLst>
                                    <p:cond delay="119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6" presetID="10" presetClass="entr" presetSubtype="0" fill="hold" grpId="0" nodeType="withEffect" decel="100000">
                                  <p:stCondLst>
                                    <p:cond delay="119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9" presetID="10" presetClass="entr" presetSubtype="0" fill="hold" grpId="0" nodeType="withEffect" decel="100000">
                                  <p:stCondLst>
                                    <p:cond delay="128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42" presetID="10" presetClass="entr" presetSubtype="0" fill="hold" grpId="0" nodeType="withEffect" decel="100000">
                                  <p:stCondLst>
                                    <p:cond delay="128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5" presetID="10" presetClass="entr" presetSubtype="0" fill="hold" grpId="0" nodeType="withEffect" decel="100000">
                                  <p:stCondLst>
                                    <p:cond delay="137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8" presetID="10" presetClass="entr" presetSubtype="0" fill="hold" grpId="0" nodeType="withEffect" decel="100000">
                                  <p:stCondLst>
                                    <p:cond delay="137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51" presetID="10" presetClass="entr" presetSubtype="0" fill="hold" grpId="0" nodeType="withEffect" decel="100000">
                                  <p:stCondLst>
                                    <p:cond delay="146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4" presetID="10" presetClass="entr" presetSubtype="0" fill="hold" grpId="0" nodeType="withEffect" decel="100000">
                                  <p:stCondLst>
                                    <p:cond delay="146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7" presetID="10" presetClass="entr" presetSubtype="0" fill="hold" grpId="0" nodeType="withEffect" decel="100000">
                                  <p:stCondLst>
                                    <p:cond delay="155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60" presetID="10" presetClass="entr" presetSubtype="0" fill="hold" grpId="0" nodeType="withEffect" decel="100000">
                                  <p:stCondLst>
                                    <p:cond delay="155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5" presetID="53" presetClass="entr" presetSubtype="16" fill="hold" grpId="0" nodeType="withEffect" decel="100000">
                                  <p:stCondLst>
                                    <p:cond delay="1400"/>
                                  </p:stCondLst>
                                  <p:childTnLst>
                                    <p:set>
                                      <p:cBhvr>
                                        <p:cTn id="61" dur="1" fill="hold">
                                          <p:stCondLst>
                                            <p:cond delay="0"/>
                                          </p:stCondLst>
                                        </p:cTn>
                                        <p:tgtEl>
                                          <p:spTgt spid="23"/>
                                        </p:tgtEl>
                                        <p:attrNameLst>
                                          <p:attrName>style.visibility</p:attrName>
                                        </p:attrNameLst>
                                      </p:cBhvr>
                                      <p:to>
                                        <p:strVal val="visible"/>
                                      </p:to>
                                    </p:set>
                                    <p:anim calcmode="lin" valueType="num">
                                      <p:cBhvr>
                                        <p:cTn id="62" dur="600" fill="hold"/>
                                        <p:tgtEl>
                                          <p:spTgt spid="23"/>
                                        </p:tgtEl>
                                        <p:attrNameLst>
                                          <p:attrName>ppt_w</p:attrName>
                                        </p:attrNameLst>
                                      </p:cBhvr>
                                      <p:tavLst>
                                        <p:tav tm="0">
                                          <p:val>
                                            <p:strVal val="#ppt_w*0.70"/>
                                          </p:val>
                                        </p:tav>
                                        <p:tav tm="100000">
                                          <p:val>
                                            <p:strVal val="#ppt_w"/>
                                          </p:val>
                                        </p:tav>
                                      </p:tavLst>
                                    </p:anim>
                                    <p:anim calcmode="lin" valueType="num">
                                      <p:cBhvr>
                                        <p:cTn id="63" dur="600" fill="hold"/>
                                        <p:tgtEl>
                                          <p:spTgt spid="23"/>
                                        </p:tgtEl>
                                        <p:attrNameLst>
                                          <p:attrName>ppt_h</p:attrName>
                                        </p:attrNameLst>
                                      </p:cBhvr>
                                      <p:tavLst>
                                        <p:tav tm="0">
                                          <p:val>
                                            <p:strVal val="#ppt_h*0.70"/>
                                          </p:val>
                                        </p:tav>
                                        <p:tav tm="100000">
                                          <p:val>
                                            <p:strVal val="#ppt_h"/>
                                          </p:val>
                                        </p:tav>
                                      </p:tavLst>
                                    </p:anim>
                                    <p:animEffect transition="in" filter="fade">
                                      <p:cBhvr>
                                        <p:cTn id="64" dur="600"/>
                                        <p:tgtEl>
                                          <p:spTgt spid="23"/>
                                        </p:tgtEl>
                                      </p:cBhvr>
                                    </p:animEffect>
                                  </p:childTnLst>
                                </p:cTn>
                              </p:par>
                              <p:par>
                                <p:cTn id="70" presetID="53" presetClass="entr" presetSubtype="16" fill="hold" grpId="0" nodeType="withEffect" decel="100000">
                                  <p:stCondLst>
                                    <p:cond delay="1400"/>
                                  </p:stCondLst>
                                  <p:childTnLst>
                                    <p:set>
                                      <p:cBhvr>
                                        <p:cTn id="66" dur="1" fill="hold">
                                          <p:stCondLst>
                                            <p:cond delay="0"/>
                                          </p:stCondLst>
                                        </p:cTn>
                                        <p:tgtEl>
                                          <p:spTgt spid="24"/>
                                        </p:tgtEl>
                                        <p:attrNameLst>
                                          <p:attrName>style.visibility</p:attrName>
                                        </p:attrNameLst>
                                      </p:cBhvr>
                                      <p:to>
                                        <p:strVal val="visible"/>
                                      </p:to>
                                    </p:set>
                                    <p:anim calcmode="lin" valueType="num">
                                      <p:cBhvr>
                                        <p:cTn id="67" dur="600" fill="hold"/>
                                        <p:tgtEl>
                                          <p:spTgt spid="24"/>
                                        </p:tgtEl>
                                        <p:attrNameLst>
                                          <p:attrName>ppt_w</p:attrName>
                                        </p:attrNameLst>
                                      </p:cBhvr>
                                      <p:tavLst>
                                        <p:tav tm="0">
                                          <p:val>
                                            <p:strVal val="#ppt_w*0.70"/>
                                          </p:val>
                                        </p:tav>
                                        <p:tav tm="100000">
                                          <p:val>
                                            <p:strVal val="#ppt_w"/>
                                          </p:val>
                                        </p:tav>
                                      </p:tavLst>
                                    </p:anim>
                                    <p:anim calcmode="lin" valueType="num">
                                      <p:cBhvr>
                                        <p:cTn id="68" dur="600" fill="hold"/>
                                        <p:tgtEl>
                                          <p:spTgt spid="24"/>
                                        </p:tgtEl>
                                        <p:attrNameLst>
                                          <p:attrName>ppt_h</p:attrName>
                                        </p:attrNameLst>
                                      </p:cBhvr>
                                      <p:tavLst>
                                        <p:tav tm="0">
                                          <p:val>
                                            <p:strVal val="#ppt_h*0.70"/>
                                          </p:val>
                                        </p:tav>
                                        <p:tav tm="100000">
                                          <p:val>
                                            <p:strVal val="#ppt_h"/>
                                          </p:val>
                                        </p:tav>
                                      </p:tavLst>
                                    </p:anim>
                                    <p:animEffect transition="in" filter="fade">
                                      <p:cBhvr>
                                        <p:cTn id="69" dur="600"/>
                                        <p:tgtEl>
                                          <p:spTgt spid="24"/>
                                        </p:tgtEl>
                                      </p:cBhvr>
                                    </p:animEffect>
                                  </p:childTnLst>
                                </p:cTn>
                              </p:par>
                              <p:par>
                                <p:cTn id="75" presetID="53" presetClass="entr" presetSubtype="16" fill="hold" grpId="0" nodeType="withEffect" decel="100000">
                                  <p:stCondLst>
                                    <p:cond delay="1400"/>
                                  </p:stCondLst>
                                  <p:childTnLst>
                                    <p:set>
                                      <p:cBhvr>
                                        <p:cTn id="71" dur="1" fill="hold">
                                          <p:stCondLst>
                                            <p:cond delay="0"/>
                                          </p:stCondLst>
                                        </p:cTn>
                                        <p:tgtEl>
                                          <p:spTgt spid="25"/>
                                        </p:tgtEl>
                                        <p:attrNameLst>
                                          <p:attrName>style.visibility</p:attrName>
                                        </p:attrNameLst>
                                      </p:cBhvr>
                                      <p:to>
                                        <p:strVal val="visible"/>
                                      </p:to>
                                    </p:set>
                                    <p:anim calcmode="lin" valueType="num">
                                      <p:cBhvr>
                                        <p:cTn id="72" dur="600" fill="hold"/>
                                        <p:tgtEl>
                                          <p:spTgt spid="25"/>
                                        </p:tgtEl>
                                        <p:attrNameLst>
                                          <p:attrName>ppt_w</p:attrName>
                                        </p:attrNameLst>
                                      </p:cBhvr>
                                      <p:tavLst>
                                        <p:tav tm="0">
                                          <p:val>
                                            <p:strVal val="#ppt_w*0.70"/>
                                          </p:val>
                                        </p:tav>
                                        <p:tav tm="100000">
                                          <p:val>
                                            <p:strVal val="#ppt_w"/>
                                          </p:val>
                                        </p:tav>
                                      </p:tavLst>
                                    </p:anim>
                                    <p:anim calcmode="lin" valueType="num">
                                      <p:cBhvr>
                                        <p:cTn id="73" dur="600" fill="hold"/>
                                        <p:tgtEl>
                                          <p:spTgt spid="25"/>
                                        </p:tgtEl>
                                        <p:attrNameLst>
                                          <p:attrName>ppt_h</p:attrName>
                                        </p:attrNameLst>
                                      </p:cBhvr>
                                      <p:tavLst>
                                        <p:tav tm="0">
                                          <p:val>
                                            <p:strVal val="#ppt_h*0.70"/>
                                          </p:val>
                                        </p:tav>
                                        <p:tav tm="100000">
                                          <p:val>
                                            <p:strVal val="#ppt_h"/>
                                          </p:val>
                                        </p:tav>
                                      </p:tavLst>
                                    </p:anim>
                                    <p:animEffect transition="in" filter="fade">
                                      <p:cBhvr>
                                        <p:cTn id="74" dur="600"/>
                                        <p:tgtEl>
                                          <p:spTgt spid="25"/>
                                        </p:tgtEl>
                                      </p:cBhvr>
                                    </p:animEffect>
                                  </p:childTnLst>
                                </p:cTn>
                              </p:par>
                              <p:par>
                                <p:cTn id="80" presetID="53" presetClass="entr" presetSubtype="16" fill="hold" grpId="0" nodeType="withEffect" decel="100000">
                                  <p:stCondLst>
                                    <p:cond delay="1400"/>
                                  </p:stCondLst>
                                  <p:childTnLst>
                                    <p:set>
                                      <p:cBhvr>
                                        <p:cTn id="76" dur="1" fill="hold">
                                          <p:stCondLst>
                                            <p:cond delay="0"/>
                                          </p:stCondLst>
                                        </p:cTn>
                                        <p:tgtEl>
                                          <p:spTgt spid="26"/>
                                        </p:tgtEl>
                                        <p:attrNameLst>
                                          <p:attrName>style.visibility</p:attrName>
                                        </p:attrNameLst>
                                      </p:cBhvr>
                                      <p:to>
                                        <p:strVal val="visible"/>
                                      </p:to>
                                    </p:set>
                                    <p:anim calcmode="lin" valueType="num">
                                      <p:cBhvr>
                                        <p:cTn id="77" dur="600" fill="hold"/>
                                        <p:tgtEl>
                                          <p:spTgt spid="26"/>
                                        </p:tgtEl>
                                        <p:attrNameLst>
                                          <p:attrName>ppt_w</p:attrName>
                                        </p:attrNameLst>
                                      </p:cBhvr>
                                      <p:tavLst>
                                        <p:tav tm="0">
                                          <p:val>
                                            <p:strVal val="#ppt_w*0.70"/>
                                          </p:val>
                                        </p:tav>
                                        <p:tav tm="100000">
                                          <p:val>
                                            <p:strVal val="#ppt_w"/>
                                          </p:val>
                                        </p:tav>
                                      </p:tavLst>
                                    </p:anim>
                                    <p:anim calcmode="lin" valueType="num">
                                      <p:cBhvr>
                                        <p:cTn id="78" dur="600" fill="hold"/>
                                        <p:tgtEl>
                                          <p:spTgt spid="26"/>
                                        </p:tgtEl>
                                        <p:attrNameLst>
                                          <p:attrName>ppt_h</p:attrName>
                                        </p:attrNameLst>
                                      </p:cBhvr>
                                      <p:tavLst>
                                        <p:tav tm="0">
                                          <p:val>
                                            <p:strVal val="#ppt_h*0.70"/>
                                          </p:val>
                                        </p:tav>
                                        <p:tav tm="100000">
                                          <p:val>
                                            <p:strVal val="#ppt_h"/>
                                          </p:val>
                                        </p:tav>
                                      </p:tavLst>
                                    </p:anim>
                                    <p:animEffect transition="in" filter="fade">
                                      <p:cBhvr>
                                        <p:cTn id="79" dur="600"/>
                                        <p:tgtEl>
                                          <p:spTgt spid="26"/>
                                        </p:tgtEl>
                                      </p:cBhvr>
                                    </p:animEffect>
                                  </p:childTnLst>
                                </p:cTn>
                              </p:par>
                              <p:par>
                                <p:cTn id="83" presetID="10" presetClass="entr" presetSubtype="0" fill="hold" grpId="0" nodeType="withEffect" decel="100000">
                                  <p:stCondLst>
                                    <p:cond delay="19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FreightAI — Agentic AI for Maritime Freight Pricing</dc:title>
  <dc:subject>PptxGenJS Presentation</dc:subject>
  <dc:creator>Group 1 · Infosys Springboard</dc:creator>
  <cp:lastModifiedBy>Group 1 · Infosys Springboard</cp:lastModifiedBy>
  <cp:revision>1</cp:revision>
  <dcterms:created xsi:type="dcterms:W3CDTF">2026-09-24T07:46:33Z</dcterms:created>
  <dcterms:modified xsi:type="dcterms:W3CDTF">2026-09-24T07:46:33Z</dcterms:modified>
</cp:coreProperties>
</file>